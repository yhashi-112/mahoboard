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80" r:id="rId3"/>
    <p:sldId id="295" r:id="rId4"/>
    <p:sldId id="294" r:id="rId5"/>
    <p:sldId id="258" r:id="rId6"/>
    <p:sldId id="278" r:id="rId7"/>
    <p:sldId id="292" r:id="rId8"/>
    <p:sldId id="293" r:id="rId9"/>
    <p:sldId id="283" r:id="rId10"/>
    <p:sldId id="282" r:id="rId11"/>
    <p:sldId id="284" r:id="rId12"/>
    <p:sldId id="289" r:id="rId13"/>
    <p:sldId id="291" r:id="rId14"/>
    <p:sldId id="281" r:id="rId15"/>
    <p:sldId id="288" r:id="rId16"/>
    <p:sldId id="287" r:id="rId17"/>
    <p:sldId id="290" r:id="rId1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538"/>
    <p:restoredTop sz="93630"/>
  </p:normalViewPr>
  <p:slideViewPr>
    <p:cSldViewPr snapToGrid="0">
      <p:cViewPr varScale="1">
        <p:scale>
          <a:sx n="48" d="100"/>
          <a:sy n="48" d="100"/>
        </p:scale>
        <p:origin x="224" y="161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04C761-8069-7841-ACDA-AB0F463787F0}" type="datetimeFigureOut">
              <a:rPr kumimoji="1" lang="ja-JP" altLang="en-US" smtClean="0"/>
              <a:t>2026/2/10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6CB60D-A68C-D74B-8949-411CD6AAB588}" type="slidenum">
              <a:rPr kumimoji="1" lang="ja-JP" altLang="en-US" smtClean="0"/>
              <a:t>‹#›</a:t>
            </a:fld>
            <a:endParaRPr kumimoji="1" lang="ja-JP" altLang="en-US"/>
          </a:p>
        </p:txBody>
      </p:sp>
    </p:spTree>
    <p:extLst>
      <p:ext uri="{BB962C8B-B14F-4D97-AF65-F5344CB8AC3E}">
        <p14:creationId xmlns:p14="http://schemas.microsoft.com/office/powerpoint/2010/main" val="80217026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A56CB60D-A68C-D74B-8949-411CD6AAB588}" type="slidenum">
              <a:rPr kumimoji="1" lang="ja-JP" altLang="en-US" smtClean="0"/>
              <a:t>2</a:t>
            </a:fld>
            <a:endParaRPr kumimoji="1" lang="ja-JP" altLang="en-US"/>
          </a:p>
        </p:txBody>
      </p:sp>
    </p:spTree>
    <p:extLst>
      <p:ext uri="{BB962C8B-B14F-4D97-AF65-F5344CB8AC3E}">
        <p14:creationId xmlns:p14="http://schemas.microsoft.com/office/powerpoint/2010/main" val="2858684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9FC8B-DCD9-89A7-3173-C5D656E0FC4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A3D1085-5481-F666-0139-0101C85188D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F82DF77-0264-8347-0594-34DADAAD0FC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1153EF7-5536-F125-532C-49116B86A976}"/>
              </a:ext>
            </a:extLst>
          </p:cNvPr>
          <p:cNvSpPr>
            <a:spLocks noGrp="1"/>
          </p:cNvSpPr>
          <p:nvPr>
            <p:ph type="sldNum" sz="quarter" idx="5"/>
          </p:nvPr>
        </p:nvSpPr>
        <p:spPr/>
        <p:txBody>
          <a:bodyPr/>
          <a:lstStyle/>
          <a:p>
            <a:fld id="{A56CB60D-A68C-D74B-8949-411CD6AAB588}" type="slidenum">
              <a:rPr kumimoji="1" lang="ja-JP" altLang="en-US" smtClean="0"/>
              <a:t>4</a:t>
            </a:fld>
            <a:endParaRPr kumimoji="1" lang="ja-JP" altLang="en-US"/>
          </a:p>
        </p:txBody>
      </p:sp>
    </p:spTree>
    <p:extLst>
      <p:ext uri="{BB962C8B-B14F-4D97-AF65-F5344CB8AC3E}">
        <p14:creationId xmlns:p14="http://schemas.microsoft.com/office/powerpoint/2010/main" val="2897880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C6335-7FD9-1DBA-745E-C5D00E6D5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653CFF-A52D-0EA7-B7D8-E4F866C9AA84}"/>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6E004111-564D-B423-8080-01BC89EB87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84782A-4014-BC23-25DF-B2D6C501A73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5045210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82156-D565-EB4B-AB80-4B5AD8971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1E72E-8891-9BD5-E513-93E87598549C}"/>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9BDF81E1-0116-38EC-7DA1-D29337C486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E4DED9-BEB6-C750-AC86-A2C4C24C2AF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107344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AAD0B-7346-D2BB-FE96-29F66612A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7BE34-3125-992C-4A9D-56A4C2A52AE3}"/>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04C00881-C4DA-B168-C540-AF1D5013EC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EC242B-6563-31E0-E65E-85EBC220D5F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140490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5182F-FE1D-7BFF-2C15-76B4BD4F4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7BA6B-A119-81AA-C2C7-812885CA94FF}"/>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933D3022-0DF0-F221-71D1-93CCE7C0F3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2476AE-C1C2-0694-5635-B6678C2323EB}"/>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343172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BCE91-D3DD-87C3-0BC2-D014AE2EDC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7B9DF-1869-8D46-9D99-9EDDDF3C4CD8}"/>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93C94273-F14B-FA80-EAAB-72C1FA6338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7D7438-4C22-9C1D-285C-08557E6C44E4}"/>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216513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DF313-6C7E-2545-A876-2365B0426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500DD-9D79-5421-C720-81B02EAC79E2}"/>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3ED97060-CB8D-7637-A064-8D984E0D54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EE8375-8F08-93BF-A543-ED86E657937E}"/>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8120115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BF65E-BA83-10B5-B4A7-5C122C32F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CB9AD-A117-DE35-A265-0FA0CF93F142}"/>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1FEDE326-A6DC-27F2-4592-43F870F689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8EB083-ADDE-3AF9-FEEB-FADF1A71B058}"/>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618031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830339-46D6-4277-BA0B-2F9D53503A0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FF29102-F716-180D-36D7-09199B26B3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716B0DF-F498-93F2-0B5E-85AEB429C35F}"/>
              </a:ext>
            </a:extLst>
          </p:cNvPr>
          <p:cNvSpPr>
            <a:spLocks noGrp="1"/>
          </p:cNvSpPr>
          <p:nvPr>
            <p:ph type="dt" sz="half" idx="10"/>
          </p:nvPr>
        </p:nvSpPr>
        <p:spPr/>
        <p:txBody>
          <a:bodyPr/>
          <a:lstStyle/>
          <a:p>
            <a:fld id="{F0EDC2ED-78CE-704F-B9CF-B6C276EAC7B1}"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3B1D021C-1B87-C694-3021-A027121414F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53025E9-DB71-2BBD-C017-0822301A7ED6}"/>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240194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19E432-9E8A-46F6-B02B-389F4A7A505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0D282F3-CCC7-3B03-F0C3-0E4CDB93AB9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8361813-F3BE-89EE-E07A-ED12AFAF6035}"/>
              </a:ext>
            </a:extLst>
          </p:cNvPr>
          <p:cNvSpPr>
            <a:spLocks noGrp="1"/>
          </p:cNvSpPr>
          <p:nvPr>
            <p:ph type="dt" sz="half" idx="10"/>
          </p:nvPr>
        </p:nvSpPr>
        <p:spPr/>
        <p:txBody>
          <a:bodyPr/>
          <a:lstStyle/>
          <a:p>
            <a:fld id="{F0EDC2ED-78CE-704F-B9CF-B6C276EAC7B1}"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CC89BE28-15CF-D1FB-FB88-A6BDEA7FF4A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779DDD-60F7-8236-29A8-FBBFCB3F1A33}"/>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3085971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9C0E51-FC30-49C8-1575-1776521A86E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593340D-A5A3-F1A9-9044-DC874E809B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92F5A62-24C7-5913-B010-EFCE0E4C89A9}"/>
              </a:ext>
            </a:extLst>
          </p:cNvPr>
          <p:cNvSpPr>
            <a:spLocks noGrp="1"/>
          </p:cNvSpPr>
          <p:nvPr>
            <p:ph type="dt" sz="half" idx="10"/>
          </p:nvPr>
        </p:nvSpPr>
        <p:spPr/>
        <p:txBody>
          <a:bodyPr/>
          <a:lstStyle/>
          <a:p>
            <a:fld id="{F0EDC2ED-78CE-704F-B9CF-B6C276EAC7B1}"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502EB73D-179B-B70E-F4DC-3AFEF3A50B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7E456E9-E15E-87FE-0A83-9400214E5146}"/>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636649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D5DC18-777E-849C-7405-7C8995D9417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4D4C793-F70D-7615-2398-FB07390B669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4DB491E-34EF-8608-1968-551CC31F2A6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D2FCE4D-6FAE-92E2-0D26-EF49B653540A}"/>
              </a:ext>
            </a:extLst>
          </p:cNvPr>
          <p:cNvSpPr>
            <a:spLocks noGrp="1"/>
          </p:cNvSpPr>
          <p:nvPr>
            <p:ph type="dt" sz="half" idx="10"/>
          </p:nvPr>
        </p:nvSpPr>
        <p:spPr/>
        <p:txBody>
          <a:bodyPr/>
          <a:lstStyle/>
          <a:p>
            <a:fld id="{F0EDC2ED-78CE-704F-B9CF-B6C276EAC7B1}"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EEF069CA-1609-02C4-FDFC-15945E950EE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9B46B30-FB5F-88EC-BE3B-E283210D8414}"/>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951830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E65559-50CD-89E1-7705-968B78749970}"/>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11471B9-E600-D256-3AEB-2291FD40FB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96F8F25-B6C1-B010-2109-09EB0312EFD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464AA5B-1DD0-A887-F588-A0D9418FA1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5ECE7D2-0275-BC69-12EB-A16217DF91F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3795171-119A-FA6C-3F41-BD7FFB34918F}"/>
              </a:ext>
            </a:extLst>
          </p:cNvPr>
          <p:cNvSpPr>
            <a:spLocks noGrp="1"/>
          </p:cNvSpPr>
          <p:nvPr>
            <p:ph type="dt" sz="half" idx="10"/>
          </p:nvPr>
        </p:nvSpPr>
        <p:spPr/>
        <p:txBody>
          <a:bodyPr/>
          <a:lstStyle/>
          <a:p>
            <a:fld id="{F0EDC2ED-78CE-704F-B9CF-B6C276EAC7B1}" type="datetimeFigureOut">
              <a:rPr kumimoji="1" lang="ja-JP" altLang="en-US" smtClean="0"/>
              <a:t>2026/2/10</a:t>
            </a:fld>
            <a:endParaRPr kumimoji="1" lang="ja-JP" altLang="en-US"/>
          </a:p>
        </p:txBody>
      </p:sp>
      <p:sp>
        <p:nvSpPr>
          <p:cNvPr id="8" name="フッター プレースホルダー 7">
            <a:extLst>
              <a:ext uri="{FF2B5EF4-FFF2-40B4-BE49-F238E27FC236}">
                <a16:creationId xmlns:a16="http://schemas.microsoft.com/office/drawing/2014/main" id="{B790B717-67BF-ADA2-10AF-640A2A692E5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F532569-976A-E88A-024F-D63300FB724F}"/>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2559372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4B603E-179A-0B78-6D94-18FAC7FDF9F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2B70F68-8898-CF19-C0A5-B838B3CFBDD4}"/>
              </a:ext>
            </a:extLst>
          </p:cNvPr>
          <p:cNvSpPr>
            <a:spLocks noGrp="1"/>
          </p:cNvSpPr>
          <p:nvPr>
            <p:ph type="dt" sz="half" idx="10"/>
          </p:nvPr>
        </p:nvSpPr>
        <p:spPr/>
        <p:txBody>
          <a:bodyPr/>
          <a:lstStyle/>
          <a:p>
            <a:fld id="{F0EDC2ED-78CE-704F-B9CF-B6C276EAC7B1}" type="datetimeFigureOut">
              <a:rPr kumimoji="1" lang="ja-JP" altLang="en-US" smtClean="0"/>
              <a:t>2026/2/10</a:t>
            </a:fld>
            <a:endParaRPr kumimoji="1" lang="ja-JP" altLang="en-US"/>
          </a:p>
        </p:txBody>
      </p:sp>
      <p:sp>
        <p:nvSpPr>
          <p:cNvPr id="4" name="フッター プレースホルダー 3">
            <a:extLst>
              <a:ext uri="{FF2B5EF4-FFF2-40B4-BE49-F238E27FC236}">
                <a16:creationId xmlns:a16="http://schemas.microsoft.com/office/drawing/2014/main" id="{8E2D8B50-2C42-7C2B-E01F-58941E77F6B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569F158-0F79-EE96-52CB-A2856E3E11D1}"/>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827315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0B61648-1385-E05D-ADB1-E518E7BD5616}"/>
              </a:ext>
            </a:extLst>
          </p:cNvPr>
          <p:cNvSpPr>
            <a:spLocks noGrp="1"/>
          </p:cNvSpPr>
          <p:nvPr>
            <p:ph type="dt" sz="half" idx="10"/>
          </p:nvPr>
        </p:nvSpPr>
        <p:spPr/>
        <p:txBody>
          <a:bodyPr/>
          <a:lstStyle/>
          <a:p>
            <a:fld id="{F0EDC2ED-78CE-704F-B9CF-B6C276EAC7B1}" type="datetimeFigureOut">
              <a:rPr kumimoji="1" lang="ja-JP" altLang="en-US" smtClean="0"/>
              <a:t>2026/2/10</a:t>
            </a:fld>
            <a:endParaRPr kumimoji="1" lang="ja-JP" altLang="en-US"/>
          </a:p>
        </p:txBody>
      </p:sp>
      <p:sp>
        <p:nvSpPr>
          <p:cNvPr id="3" name="フッター プレースホルダー 2">
            <a:extLst>
              <a:ext uri="{FF2B5EF4-FFF2-40B4-BE49-F238E27FC236}">
                <a16:creationId xmlns:a16="http://schemas.microsoft.com/office/drawing/2014/main" id="{1DEDBB0B-C937-EAAE-7268-8A157FEA334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BB7BF27-3AEB-4A74-5109-DB1FF3E92BE7}"/>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306442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CE4F8D-1A1C-21CC-E6A3-972898E3390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A2AD3C0-BEBF-33FB-E262-94424E3920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6EA911E-BA29-295E-72C3-3A1002C28D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C9509C9-9715-1A84-88D8-738AB63BBA3F}"/>
              </a:ext>
            </a:extLst>
          </p:cNvPr>
          <p:cNvSpPr>
            <a:spLocks noGrp="1"/>
          </p:cNvSpPr>
          <p:nvPr>
            <p:ph type="dt" sz="half" idx="10"/>
          </p:nvPr>
        </p:nvSpPr>
        <p:spPr/>
        <p:txBody>
          <a:bodyPr/>
          <a:lstStyle/>
          <a:p>
            <a:fld id="{F0EDC2ED-78CE-704F-B9CF-B6C276EAC7B1}"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40672CC2-CE30-5A5E-1019-59B9032E7C2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034605E-FC5D-D795-85A7-FA40CB47EEC8}"/>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59348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F1B432-6391-49C8-94DB-68688FD242F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E381A48-8DF2-4C01-15EA-86C377305B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19E80A8-7F3C-1B16-F301-304B34333C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4567EEB-3E2F-BA71-738D-1CAA5BBDBE29}"/>
              </a:ext>
            </a:extLst>
          </p:cNvPr>
          <p:cNvSpPr>
            <a:spLocks noGrp="1"/>
          </p:cNvSpPr>
          <p:nvPr>
            <p:ph type="dt" sz="half" idx="10"/>
          </p:nvPr>
        </p:nvSpPr>
        <p:spPr/>
        <p:txBody>
          <a:bodyPr/>
          <a:lstStyle/>
          <a:p>
            <a:fld id="{F0EDC2ED-78CE-704F-B9CF-B6C276EAC7B1}"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1B979F1E-27A6-11BE-9A74-23DCFBED065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5C99564-6796-72AE-6C76-AA48A68B255C}"/>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300761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110623-3828-40C1-79F1-3FFF14981C5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76800EF-8DE9-11A0-CA7D-4045A4F278B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9418228-000C-75AD-3AAC-4FA190EB4829}"/>
              </a:ext>
            </a:extLst>
          </p:cNvPr>
          <p:cNvSpPr>
            <a:spLocks noGrp="1"/>
          </p:cNvSpPr>
          <p:nvPr>
            <p:ph type="dt" sz="half" idx="10"/>
          </p:nvPr>
        </p:nvSpPr>
        <p:spPr/>
        <p:txBody>
          <a:bodyPr/>
          <a:lstStyle/>
          <a:p>
            <a:fld id="{F0EDC2ED-78CE-704F-B9CF-B6C276EAC7B1}"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811BDB23-AC6B-F9F9-B15A-54FF9D0380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3BA07DA-2CCD-789E-C887-81921E2CA205}"/>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116437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4C6E1B8-D660-8BA9-EC66-1401AF215AC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05849D8-B9D7-4F5E-58AE-8F4F06B88B9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F379AAF-838F-6370-817E-15C07AA98556}"/>
              </a:ext>
            </a:extLst>
          </p:cNvPr>
          <p:cNvSpPr>
            <a:spLocks noGrp="1"/>
          </p:cNvSpPr>
          <p:nvPr>
            <p:ph type="dt" sz="half" idx="10"/>
          </p:nvPr>
        </p:nvSpPr>
        <p:spPr/>
        <p:txBody>
          <a:bodyPr/>
          <a:lstStyle/>
          <a:p>
            <a:fld id="{F0EDC2ED-78CE-704F-B9CF-B6C276EAC7B1}"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B822060D-B74C-959B-B9C0-AC92470A2DE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0AC1F19-6EA8-E796-88E8-74C5F7B17C11}"/>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2597801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8754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60331C9-DB52-AE3F-EABF-AF1CA41C04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0CC16E7-8849-16BD-23EA-F4AA71AE7B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B1C562B-07E2-7792-EFD4-B36B79E652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EDC2ED-78CE-704F-B9CF-B6C276EAC7B1}"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FB40BC85-BB42-2C36-1212-5923C14C68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9CFF141-E2C1-8C9D-722C-07B588FAEC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129036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4249646-67A8-E2A9-9884-1164DE52AF02}"/>
              </a:ext>
            </a:extLst>
          </p:cNvPr>
          <p:cNvSpPr txBox="1"/>
          <p:nvPr/>
        </p:nvSpPr>
        <p:spPr>
          <a:xfrm>
            <a:off x="855624" y="1061278"/>
            <a:ext cx="10480753" cy="2400657"/>
          </a:xfrm>
          <a:prstGeom prst="rect">
            <a:avLst/>
          </a:prstGeom>
          <a:noFill/>
        </p:spPr>
        <p:txBody>
          <a:bodyPr wrap="none" rtlCol="0">
            <a:spAutoFit/>
          </a:bodyPr>
          <a:lstStyle/>
          <a:p>
            <a:pPr algn="ctr"/>
            <a:r>
              <a:rPr kumimoji="1" lang="ja-JP" altLang="en-US" sz="3600">
                <a:latin typeface="MS UI Gothic" panose="020B0600070205080204" pitchFamily="34" charset="-128"/>
                <a:ea typeface="MS UI Gothic" panose="020B0600070205080204" pitchFamily="34" charset="-128"/>
              </a:rPr>
              <a:t>生成系</a:t>
            </a:r>
            <a:r>
              <a:rPr kumimoji="1" lang="en-US" altLang="ja-JP" sz="3600" dirty="0">
                <a:latin typeface="MS UI Gothic" panose="020B0600070205080204" pitchFamily="34" charset="-128"/>
                <a:ea typeface="MS UI Gothic" panose="020B0600070205080204" pitchFamily="34" charset="-128"/>
              </a:rPr>
              <a:t>AI</a:t>
            </a:r>
            <a:r>
              <a:rPr kumimoji="1" lang="ja-JP" altLang="en-US" sz="3600">
                <a:latin typeface="MS UI Gothic" panose="020B0600070205080204" pitchFamily="34" charset="-128"/>
                <a:ea typeface="MS UI Gothic" panose="020B0600070205080204" pitchFamily="34" charset="-128"/>
              </a:rPr>
              <a:t>を活用した即時質問応答型学習支援システム</a:t>
            </a:r>
            <a:endParaRPr kumimoji="1" lang="en-US" altLang="ja-JP" sz="3600" dirty="0">
              <a:latin typeface="MS UI Gothic" panose="020B0600070205080204" pitchFamily="34" charset="-128"/>
              <a:ea typeface="MS UI Gothic" panose="020B0600070205080204" pitchFamily="34" charset="-128"/>
            </a:endParaRPr>
          </a:p>
          <a:p>
            <a:pPr algn="ctr"/>
            <a:endParaRPr kumimoji="1" lang="en-US" altLang="ja-JP" sz="900" dirty="0">
              <a:latin typeface="MS UI Gothic" panose="020B0600070205080204" pitchFamily="34" charset="-128"/>
              <a:ea typeface="MS UI Gothic" panose="020B0600070205080204" pitchFamily="34" charset="-128"/>
            </a:endParaRPr>
          </a:p>
          <a:p>
            <a:pPr algn="ctr"/>
            <a:r>
              <a:rPr lang="ja-JP" altLang="en-US" sz="6000">
                <a:latin typeface="MS UI Gothic" panose="020B0600070205080204" pitchFamily="34" charset="-128"/>
                <a:ea typeface="MS UI Gothic" panose="020B0600070205080204" pitchFamily="34" charset="-128"/>
              </a:rPr>
              <a:t>🪄「魔法の黒板」🪄</a:t>
            </a:r>
            <a:endParaRPr lang="en-US" altLang="ja-JP" sz="6000" dirty="0">
              <a:latin typeface="MS UI Gothic" panose="020B0600070205080204" pitchFamily="34" charset="-128"/>
              <a:ea typeface="MS UI Gothic" panose="020B0600070205080204" pitchFamily="34" charset="-128"/>
            </a:endParaRPr>
          </a:p>
          <a:p>
            <a:pPr algn="ctr"/>
            <a:endParaRPr lang="en-US" altLang="ja-JP" sz="900" dirty="0">
              <a:latin typeface="MS UI Gothic" panose="020B0600070205080204" pitchFamily="34" charset="-128"/>
              <a:ea typeface="MS UI Gothic" panose="020B0600070205080204" pitchFamily="34" charset="-128"/>
            </a:endParaRPr>
          </a:p>
          <a:p>
            <a:pPr algn="ctr"/>
            <a:r>
              <a:rPr kumimoji="1" lang="ja-JP" altLang="en-US" sz="3600">
                <a:latin typeface="MS UI Gothic" panose="020B0600070205080204" pitchFamily="34" charset="-128"/>
                <a:ea typeface="MS UI Gothic" panose="020B0600070205080204" pitchFamily="34" charset="-128"/>
              </a:rPr>
              <a:t>の開発と薬学教育における教育効果の検証</a:t>
            </a:r>
          </a:p>
        </p:txBody>
      </p:sp>
      <p:sp>
        <p:nvSpPr>
          <p:cNvPr id="5" name="テキスト ボックス 4">
            <a:extLst>
              <a:ext uri="{FF2B5EF4-FFF2-40B4-BE49-F238E27FC236}">
                <a16:creationId xmlns:a16="http://schemas.microsoft.com/office/drawing/2014/main" id="{5EB372F0-7B2A-A458-C6A8-E29774EF3EC0}"/>
              </a:ext>
            </a:extLst>
          </p:cNvPr>
          <p:cNvSpPr txBox="1"/>
          <p:nvPr/>
        </p:nvSpPr>
        <p:spPr>
          <a:xfrm>
            <a:off x="3855642" y="4254500"/>
            <a:ext cx="4480714" cy="1338828"/>
          </a:xfrm>
          <a:prstGeom prst="rect">
            <a:avLst/>
          </a:prstGeom>
          <a:noFill/>
        </p:spPr>
        <p:txBody>
          <a:bodyPr wrap="none" rtlCol="0">
            <a:spAutoFit/>
          </a:bodyPr>
          <a:lstStyle/>
          <a:p>
            <a:pPr algn="ctr"/>
            <a:r>
              <a:rPr lang="en-US" altLang="ja-JP" sz="3600" dirty="0" err="1">
                <a:latin typeface="MS UI Gothic" panose="020B0600070205080204" pitchFamily="34" charset="-128"/>
                <a:ea typeface="MS UI Gothic" panose="020B0600070205080204" pitchFamily="34" charset="-128"/>
                <a:cs typeface="Yu Gothic" pitchFamily="34" charset="-120"/>
              </a:rPr>
              <a:t>神戸学院大学</a:t>
            </a:r>
            <a:r>
              <a:rPr lang="en-US" altLang="ja-JP" sz="3600" dirty="0">
                <a:latin typeface="MS UI Gothic" panose="020B0600070205080204" pitchFamily="34" charset="-128"/>
                <a:ea typeface="MS UI Gothic" panose="020B0600070205080204" pitchFamily="34" charset="-128"/>
                <a:cs typeface="Yu Gothic" pitchFamily="34" charset="-120"/>
              </a:rPr>
              <a:t> </a:t>
            </a:r>
            <a:r>
              <a:rPr lang="en-US" altLang="ja-JP" sz="3600" dirty="0" err="1">
                <a:latin typeface="MS UI Gothic" panose="020B0600070205080204" pitchFamily="34" charset="-128"/>
                <a:ea typeface="MS UI Gothic" panose="020B0600070205080204" pitchFamily="34" charset="-128"/>
                <a:cs typeface="Yu Gothic" pitchFamily="34" charset="-120"/>
              </a:rPr>
              <a:t>薬学部</a:t>
            </a:r>
            <a:endParaRPr lang="en-US" altLang="ja-JP" sz="3600" dirty="0">
              <a:latin typeface="MS UI Gothic" panose="020B0600070205080204" pitchFamily="34" charset="-128"/>
              <a:ea typeface="MS UI Gothic" panose="020B0600070205080204" pitchFamily="34" charset="-128"/>
              <a:cs typeface="Yu Gothic" pitchFamily="34" charset="-120"/>
            </a:endParaRPr>
          </a:p>
          <a:p>
            <a:pPr algn="ctr"/>
            <a:endParaRPr lang="en-US" altLang="ja-JP" sz="900" dirty="0">
              <a:latin typeface="MS UI Gothic" panose="020B0600070205080204" pitchFamily="34" charset="-128"/>
              <a:ea typeface="MS UI Gothic" panose="020B0600070205080204" pitchFamily="34" charset="-128"/>
            </a:endParaRPr>
          </a:p>
          <a:p>
            <a:pPr algn="ctr"/>
            <a:r>
              <a:rPr lang="en-US" altLang="ja-JP" sz="3600" dirty="0" err="1">
                <a:latin typeface="MS UI Gothic" panose="020B0600070205080204" pitchFamily="34" charset="-128"/>
                <a:ea typeface="MS UI Gothic" panose="020B0600070205080204" pitchFamily="34" charset="-128"/>
                <a:cs typeface="Yu Gothic" pitchFamily="34" charset="-120"/>
              </a:rPr>
              <a:t>橋本</a:t>
            </a:r>
            <a:r>
              <a:rPr lang="en-US" altLang="ja-JP" sz="3600" dirty="0">
                <a:latin typeface="MS UI Gothic" panose="020B0600070205080204" pitchFamily="34" charset="-128"/>
                <a:ea typeface="MS UI Gothic" panose="020B0600070205080204" pitchFamily="34" charset="-128"/>
                <a:cs typeface="Yu Gothic" pitchFamily="34" charset="-120"/>
              </a:rPr>
              <a:t> </a:t>
            </a:r>
            <a:r>
              <a:rPr lang="en-US" altLang="ja-JP" sz="3600" dirty="0" err="1">
                <a:latin typeface="MS UI Gothic" panose="020B0600070205080204" pitchFamily="34" charset="-128"/>
                <a:ea typeface="MS UI Gothic" panose="020B0600070205080204" pitchFamily="34" charset="-128"/>
                <a:cs typeface="Yu Gothic" pitchFamily="34" charset="-120"/>
              </a:rPr>
              <a:t>保彦</a:t>
            </a:r>
            <a:r>
              <a:rPr lang="ja-JP" altLang="en-US" sz="3600">
                <a:latin typeface="MS UI Gothic" panose="020B0600070205080204" pitchFamily="34" charset="-128"/>
                <a:ea typeface="MS UI Gothic" panose="020B0600070205080204" pitchFamily="34" charset="-128"/>
                <a:cs typeface="Yu Gothic" pitchFamily="34" charset="-120"/>
              </a:rPr>
              <a:t>、</a:t>
            </a:r>
            <a:r>
              <a:rPr lang="en-US" altLang="ja-JP" sz="3600" dirty="0" err="1">
                <a:latin typeface="MS UI Gothic" panose="020B0600070205080204" pitchFamily="34" charset="-128"/>
                <a:ea typeface="MS UI Gothic" panose="020B0600070205080204" pitchFamily="34" charset="-128"/>
                <a:cs typeface="Yu Gothic" pitchFamily="34" charset="-120"/>
              </a:rPr>
              <a:t>辰見</a:t>
            </a:r>
            <a:r>
              <a:rPr lang="en-US" altLang="ja-JP" sz="3600" dirty="0">
                <a:latin typeface="MS UI Gothic" panose="020B0600070205080204" pitchFamily="34" charset="-128"/>
                <a:ea typeface="MS UI Gothic" panose="020B0600070205080204" pitchFamily="34" charset="-128"/>
                <a:cs typeface="Yu Gothic" pitchFamily="34" charset="-120"/>
              </a:rPr>
              <a:t> </a:t>
            </a:r>
            <a:r>
              <a:rPr lang="en-US" altLang="ja-JP" sz="3600" dirty="0" err="1">
                <a:latin typeface="MS UI Gothic" panose="020B0600070205080204" pitchFamily="34" charset="-128"/>
                <a:ea typeface="MS UI Gothic" panose="020B0600070205080204" pitchFamily="34" charset="-128"/>
                <a:cs typeface="Yu Gothic" pitchFamily="34" charset="-120"/>
              </a:rPr>
              <a:t>明俊</a:t>
            </a:r>
            <a:endParaRPr kumimoji="1" lang="ja-JP" altLang="en-US" sz="3600"/>
          </a:p>
        </p:txBody>
      </p:sp>
    </p:spTree>
    <p:extLst>
      <p:ext uri="{BB962C8B-B14F-4D97-AF65-F5344CB8AC3E}">
        <p14:creationId xmlns:p14="http://schemas.microsoft.com/office/powerpoint/2010/main" val="3505997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テキスト ボックス 21">
            <a:extLst>
              <a:ext uri="{FF2B5EF4-FFF2-40B4-BE49-F238E27FC236}">
                <a16:creationId xmlns:a16="http://schemas.microsoft.com/office/drawing/2014/main" id="{91A6FB52-7DD1-1FA1-9623-86F9E3B7D5A5}"/>
              </a:ext>
            </a:extLst>
          </p:cNvPr>
          <p:cNvSpPr txBox="1"/>
          <p:nvPr/>
        </p:nvSpPr>
        <p:spPr>
          <a:xfrm>
            <a:off x="540659" y="251650"/>
            <a:ext cx="4270721"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研究の意義・発展性（その</a:t>
            </a:r>
            <a:r>
              <a:rPr kumimoji="1" lang="en-US" altLang="ja-JP" sz="2800" dirty="0">
                <a:latin typeface="MS UI Gothic" panose="020B0600070205080204" pitchFamily="34" charset="-128"/>
                <a:ea typeface="MS UI Gothic" panose="020B0600070205080204" pitchFamily="34" charset="-128"/>
              </a:rPr>
              <a:t>1</a:t>
            </a:r>
            <a:r>
              <a:rPr kumimoji="1" lang="ja-JP" altLang="en-US" sz="2800">
                <a:latin typeface="MS UI Gothic" panose="020B0600070205080204" pitchFamily="34" charset="-128"/>
                <a:ea typeface="MS UI Gothic" panose="020B0600070205080204" pitchFamily="34" charset="-128"/>
              </a:rPr>
              <a:t>）</a:t>
            </a:r>
          </a:p>
        </p:txBody>
      </p:sp>
      <p:sp>
        <p:nvSpPr>
          <p:cNvPr id="23" name="テキスト ボックス 22">
            <a:extLst>
              <a:ext uri="{FF2B5EF4-FFF2-40B4-BE49-F238E27FC236}">
                <a16:creationId xmlns:a16="http://schemas.microsoft.com/office/drawing/2014/main" id="{976775A6-C560-F319-E64E-5EE9EE687D0A}"/>
              </a:ext>
            </a:extLst>
          </p:cNvPr>
          <p:cNvSpPr txBox="1"/>
          <p:nvPr/>
        </p:nvSpPr>
        <p:spPr>
          <a:xfrm>
            <a:off x="540659" y="861247"/>
            <a:ext cx="7346883"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背景：学生の学習における「つまずき」の問題</a:t>
            </a:r>
          </a:p>
        </p:txBody>
      </p:sp>
      <p:sp>
        <p:nvSpPr>
          <p:cNvPr id="26" name="角丸四角形 25">
            <a:extLst>
              <a:ext uri="{FF2B5EF4-FFF2-40B4-BE49-F238E27FC236}">
                <a16:creationId xmlns:a16="http://schemas.microsoft.com/office/drawing/2014/main" id="{320DC6A6-534E-3210-924D-E4D9E571A32A}"/>
              </a:ext>
            </a:extLst>
          </p:cNvPr>
          <p:cNvSpPr/>
          <p:nvPr/>
        </p:nvSpPr>
        <p:spPr>
          <a:xfrm>
            <a:off x="2802261" y="1643394"/>
            <a:ext cx="6591195" cy="584776"/>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a:solidFill>
                  <a:schemeClr val="tx1"/>
                </a:solidFill>
                <a:latin typeface="MS UI Gothic" panose="020B0600070205080204" pitchFamily="34" charset="-128"/>
                <a:ea typeface="MS UI Gothic" panose="020B0600070205080204" pitchFamily="34" charset="-128"/>
              </a:rPr>
              <a:t>成績不振　→　反転講義・演習問題の導入</a:t>
            </a:r>
          </a:p>
        </p:txBody>
      </p:sp>
      <p:sp>
        <p:nvSpPr>
          <p:cNvPr id="29" name="円形吹き出し 28">
            <a:extLst>
              <a:ext uri="{FF2B5EF4-FFF2-40B4-BE49-F238E27FC236}">
                <a16:creationId xmlns:a16="http://schemas.microsoft.com/office/drawing/2014/main" id="{7BC083D8-DA7A-A3D5-4F0D-8B85641872AD}"/>
              </a:ext>
            </a:extLst>
          </p:cNvPr>
          <p:cNvSpPr/>
          <p:nvPr/>
        </p:nvSpPr>
        <p:spPr>
          <a:xfrm>
            <a:off x="9026291" y="271384"/>
            <a:ext cx="1650732" cy="1250714"/>
          </a:xfrm>
          <a:prstGeom prst="wedgeEllipseCallout">
            <a:avLst>
              <a:gd name="adj1" fmla="val -67723"/>
              <a:gd name="adj2" fmla="val 66269"/>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solidFill>
                  <a:schemeClr val="bg1"/>
                </a:solidFill>
                <a:latin typeface="MS UI Gothic" panose="020B0600070205080204" pitchFamily="34" charset="-128"/>
                <a:ea typeface="MS UI Gothic" panose="020B0600070205080204" pitchFamily="34" charset="-128"/>
              </a:rPr>
              <a:t>成績の</a:t>
            </a:r>
            <a:endParaRPr lang="en-US" altLang="ja-JP" sz="2400" dirty="0">
              <a:solidFill>
                <a:schemeClr val="bg1"/>
              </a:solidFill>
              <a:latin typeface="MS UI Gothic" panose="020B0600070205080204" pitchFamily="34" charset="-128"/>
              <a:ea typeface="MS UI Gothic" panose="020B0600070205080204" pitchFamily="34" charset="-128"/>
            </a:endParaRPr>
          </a:p>
          <a:p>
            <a:pPr algn="ctr"/>
            <a:r>
              <a:rPr lang="ja-JP" altLang="en-US" sz="2400">
                <a:solidFill>
                  <a:schemeClr val="bg1"/>
                </a:solidFill>
                <a:latin typeface="MS UI Gothic" panose="020B0600070205080204" pitchFamily="34" charset="-128"/>
                <a:ea typeface="MS UI Gothic" panose="020B0600070205080204" pitchFamily="34" charset="-128"/>
              </a:rPr>
              <a:t>二極化</a:t>
            </a:r>
            <a:endParaRPr kumimoji="1" lang="ja-JP" altLang="en-US" sz="2400">
              <a:solidFill>
                <a:schemeClr val="bg1"/>
              </a:solidFill>
              <a:latin typeface="MS UI Gothic" panose="020B0600070205080204" pitchFamily="34" charset="-128"/>
              <a:ea typeface="MS UI Gothic" panose="020B0600070205080204" pitchFamily="34" charset="-128"/>
            </a:endParaRPr>
          </a:p>
        </p:txBody>
      </p:sp>
      <p:sp>
        <p:nvSpPr>
          <p:cNvPr id="30" name="角丸四角形 29">
            <a:extLst>
              <a:ext uri="{FF2B5EF4-FFF2-40B4-BE49-F238E27FC236}">
                <a16:creationId xmlns:a16="http://schemas.microsoft.com/office/drawing/2014/main" id="{33A5F859-8062-685D-914A-65E4C71915C1}"/>
              </a:ext>
            </a:extLst>
          </p:cNvPr>
          <p:cNvSpPr/>
          <p:nvPr/>
        </p:nvSpPr>
        <p:spPr>
          <a:xfrm>
            <a:off x="1264901" y="3346543"/>
            <a:ext cx="3714087" cy="123111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a:solidFill>
                  <a:schemeClr val="tx1"/>
                </a:solidFill>
                <a:latin typeface="MS UI Gothic" panose="020B0600070205080204" pitchFamily="34" charset="-128"/>
                <a:ea typeface="MS UI Gothic" panose="020B0600070205080204" pitchFamily="34" charset="-128"/>
              </a:rPr>
              <a:t>教員</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・「学生の困りがわからない」</a:t>
            </a:r>
            <a:endParaRPr kumimoji="1" lang="ja-JP" altLang="en-US" sz="2400">
              <a:solidFill>
                <a:schemeClr val="tx1"/>
              </a:solidFill>
              <a:latin typeface="MS UI Gothic" panose="020B0600070205080204" pitchFamily="34" charset="-128"/>
              <a:ea typeface="MS UI Gothic" panose="020B0600070205080204" pitchFamily="34" charset="-128"/>
            </a:endParaRPr>
          </a:p>
        </p:txBody>
      </p:sp>
      <p:sp>
        <p:nvSpPr>
          <p:cNvPr id="32" name="角丸四角形 31">
            <a:extLst>
              <a:ext uri="{FF2B5EF4-FFF2-40B4-BE49-F238E27FC236}">
                <a16:creationId xmlns:a16="http://schemas.microsoft.com/office/drawing/2014/main" id="{3B970D38-64FD-AF60-9F14-FD4D88410ACD}"/>
              </a:ext>
            </a:extLst>
          </p:cNvPr>
          <p:cNvSpPr/>
          <p:nvPr/>
        </p:nvSpPr>
        <p:spPr>
          <a:xfrm>
            <a:off x="6911928" y="3346543"/>
            <a:ext cx="4917837" cy="2388269"/>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a:solidFill>
                  <a:schemeClr val="tx1"/>
                </a:solidFill>
                <a:latin typeface="MS UI Gothic" panose="020B0600070205080204" pitchFamily="34" charset="-128"/>
                <a:ea typeface="MS UI Gothic" panose="020B0600070205080204" pitchFamily="34" charset="-128"/>
              </a:rPr>
              <a:t>学生の声</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「先生に聞きにく」</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a:t>
            </a:r>
            <a:r>
              <a:rPr kumimoji="1" lang="ja-JP" altLang="en-US" sz="2400">
                <a:solidFill>
                  <a:schemeClr val="tx1"/>
                </a:solidFill>
                <a:latin typeface="MS UI Gothic" panose="020B0600070205080204" pitchFamily="34" charset="-128"/>
                <a:ea typeface="MS UI Gothic" panose="020B0600070205080204" pitchFamily="34" charset="-128"/>
              </a:rPr>
              <a:t>何度も質問して怒られないか不安」</a:t>
            </a:r>
            <a:endParaRPr kumimoji="1"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「疑問が未解決のまま試験を受けた」</a:t>
            </a:r>
            <a:endParaRPr kumimoji="1" lang="en-US" altLang="ja-JP" sz="2400" dirty="0">
              <a:solidFill>
                <a:schemeClr val="tx1"/>
              </a:solidFill>
              <a:latin typeface="MS UI Gothic" panose="020B0600070205080204" pitchFamily="34" charset="-128"/>
              <a:ea typeface="MS UI Gothic" panose="020B0600070205080204" pitchFamily="34" charset="-128"/>
            </a:endParaRPr>
          </a:p>
          <a:p>
            <a:r>
              <a:rPr kumimoji="1" lang="ja-JP" altLang="en-US" sz="2400">
                <a:solidFill>
                  <a:schemeClr val="tx1"/>
                </a:solidFill>
                <a:latin typeface="MS UI Gothic" panose="020B0600070205080204" pitchFamily="34" charset="-128"/>
                <a:ea typeface="MS UI Gothic" panose="020B0600070205080204" pitchFamily="34" charset="-128"/>
              </a:rPr>
              <a:t>「夜中に疑問が生じても解決しない」</a:t>
            </a:r>
          </a:p>
        </p:txBody>
      </p:sp>
      <p:cxnSp>
        <p:nvCxnSpPr>
          <p:cNvPr id="34" name="直線矢印コネクタ 33">
            <a:extLst>
              <a:ext uri="{FF2B5EF4-FFF2-40B4-BE49-F238E27FC236}">
                <a16:creationId xmlns:a16="http://schemas.microsoft.com/office/drawing/2014/main" id="{261C6848-A484-3EDD-1FA7-949D2366909D}"/>
              </a:ext>
            </a:extLst>
          </p:cNvPr>
          <p:cNvCxnSpPr>
            <a:cxnSpLocks/>
          </p:cNvCxnSpPr>
          <p:nvPr/>
        </p:nvCxnSpPr>
        <p:spPr>
          <a:xfrm flipH="1">
            <a:off x="3121945" y="2228170"/>
            <a:ext cx="2975914" cy="1118373"/>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直線矢印コネクタ 35">
            <a:extLst>
              <a:ext uri="{FF2B5EF4-FFF2-40B4-BE49-F238E27FC236}">
                <a16:creationId xmlns:a16="http://schemas.microsoft.com/office/drawing/2014/main" id="{2E6EA73E-175F-A940-B0AE-AFE21E3638EC}"/>
              </a:ext>
            </a:extLst>
          </p:cNvPr>
          <p:cNvCxnSpPr>
            <a:cxnSpLocks/>
          </p:cNvCxnSpPr>
          <p:nvPr/>
        </p:nvCxnSpPr>
        <p:spPr>
          <a:xfrm>
            <a:off x="6205077" y="2228170"/>
            <a:ext cx="3272988" cy="1118373"/>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37" name="テキスト ボックス 36">
            <a:extLst>
              <a:ext uri="{FF2B5EF4-FFF2-40B4-BE49-F238E27FC236}">
                <a16:creationId xmlns:a16="http://schemas.microsoft.com/office/drawing/2014/main" id="{6627012B-C330-40F6-BFAD-CEA605E81E48}"/>
              </a:ext>
            </a:extLst>
          </p:cNvPr>
          <p:cNvSpPr txBox="1"/>
          <p:nvPr/>
        </p:nvSpPr>
        <p:spPr>
          <a:xfrm>
            <a:off x="3462793" y="2556524"/>
            <a:ext cx="2294218" cy="461665"/>
          </a:xfrm>
          <a:prstGeom prst="rect">
            <a:avLst/>
          </a:prstGeom>
          <a:solidFill>
            <a:schemeClr val="tx1"/>
          </a:solidFill>
          <a:ln>
            <a:solidFill>
              <a:schemeClr val="bg1"/>
            </a:solidFill>
          </a:ln>
        </p:spPr>
        <p:txBody>
          <a:bodyPr wrap="none" rtlCol="0">
            <a:spAutoFit/>
          </a:bodyPr>
          <a:lstStyle/>
          <a:p>
            <a:r>
              <a:rPr lang="ja-JP" altLang="en-US" sz="2400">
                <a:solidFill>
                  <a:schemeClr val="bg1"/>
                </a:solidFill>
                <a:latin typeface="MS UI Gothic" panose="020B0600070205080204" pitchFamily="34" charset="-128"/>
                <a:ea typeface="MS UI Gothic" panose="020B0600070205080204" pitchFamily="34" charset="-128"/>
              </a:rPr>
              <a:t>教員「</a:t>
            </a:r>
            <a:r>
              <a:rPr kumimoji="1" lang="ja-JP" altLang="en-US" sz="2400">
                <a:solidFill>
                  <a:schemeClr val="bg1"/>
                </a:solidFill>
                <a:latin typeface="MS UI Gothic" panose="020B0600070205080204" pitchFamily="34" charset="-128"/>
                <a:ea typeface="MS UI Gothic" panose="020B0600070205080204" pitchFamily="34" charset="-128"/>
              </a:rPr>
              <a:t>対策は？」</a:t>
            </a:r>
          </a:p>
        </p:txBody>
      </p:sp>
      <p:sp>
        <p:nvSpPr>
          <p:cNvPr id="38" name="テキスト ボックス 37">
            <a:extLst>
              <a:ext uri="{FF2B5EF4-FFF2-40B4-BE49-F238E27FC236}">
                <a16:creationId xmlns:a16="http://schemas.microsoft.com/office/drawing/2014/main" id="{C0E3DB65-6341-3623-3243-773BDD3EE6B7}"/>
              </a:ext>
            </a:extLst>
          </p:cNvPr>
          <p:cNvSpPr txBox="1"/>
          <p:nvPr/>
        </p:nvSpPr>
        <p:spPr>
          <a:xfrm>
            <a:off x="6550993" y="2556524"/>
            <a:ext cx="2581156" cy="461665"/>
          </a:xfrm>
          <a:prstGeom prst="rect">
            <a:avLst/>
          </a:prstGeom>
          <a:solidFill>
            <a:schemeClr val="tx1"/>
          </a:solidFill>
          <a:ln>
            <a:solidFill>
              <a:schemeClr val="bg1"/>
            </a:solidFill>
          </a:ln>
        </p:spPr>
        <p:txBody>
          <a:bodyPr wrap="none" rtlCol="0">
            <a:spAutoFit/>
          </a:bodyPr>
          <a:lstStyle/>
          <a:p>
            <a:r>
              <a:rPr kumimoji="1" lang="ja-JP" altLang="en-US" sz="2400">
                <a:solidFill>
                  <a:schemeClr val="bg1"/>
                </a:solidFill>
                <a:latin typeface="MS UI Gothic" panose="020B0600070205080204" pitchFamily="34" charset="-128"/>
                <a:ea typeface="MS UI Gothic" panose="020B0600070205080204" pitchFamily="34" charset="-128"/>
              </a:rPr>
              <a:t>成績不振者に面談</a:t>
            </a:r>
          </a:p>
        </p:txBody>
      </p:sp>
      <p:sp>
        <p:nvSpPr>
          <p:cNvPr id="41" name="円形吹き出し 40">
            <a:extLst>
              <a:ext uri="{FF2B5EF4-FFF2-40B4-BE49-F238E27FC236}">
                <a16:creationId xmlns:a16="http://schemas.microsoft.com/office/drawing/2014/main" id="{544900A4-96CB-7BD2-2BB0-CFA4099F1611}"/>
              </a:ext>
            </a:extLst>
          </p:cNvPr>
          <p:cNvSpPr/>
          <p:nvPr/>
        </p:nvSpPr>
        <p:spPr>
          <a:xfrm>
            <a:off x="9478986" y="2013365"/>
            <a:ext cx="1650732" cy="1250714"/>
          </a:xfrm>
          <a:prstGeom prst="wedgeEllipseCallout">
            <a:avLst>
              <a:gd name="adj1" fmla="val -67723"/>
              <a:gd name="adj2" fmla="val 66269"/>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solidFill>
                  <a:schemeClr val="bg1"/>
                </a:solidFill>
                <a:latin typeface="MS UI Gothic" panose="020B0600070205080204" pitchFamily="34" charset="-128"/>
                <a:ea typeface="MS UI Gothic" panose="020B0600070205080204" pitchFamily="34" charset="-128"/>
              </a:rPr>
              <a:t>心理的障壁</a:t>
            </a:r>
            <a:endParaRPr lang="en-US" altLang="ja-JP" sz="2400" dirty="0">
              <a:solidFill>
                <a:schemeClr val="bg1"/>
              </a:solidFill>
              <a:latin typeface="MS UI Gothic" panose="020B0600070205080204" pitchFamily="34" charset="-128"/>
              <a:ea typeface="MS UI Gothic" panose="020B0600070205080204" pitchFamily="34" charset="-128"/>
            </a:endParaRPr>
          </a:p>
        </p:txBody>
      </p:sp>
      <p:sp>
        <p:nvSpPr>
          <p:cNvPr id="42" name="円形吹き出し 41">
            <a:extLst>
              <a:ext uri="{FF2B5EF4-FFF2-40B4-BE49-F238E27FC236}">
                <a16:creationId xmlns:a16="http://schemas.microsoft.com/office/drawing/2014/main" id="{2A751D31-70DF-6164-C94A-A47EC4038ABF}"/>
              </a:ext>
            </a:extLst>
          </p:cNvPr>
          <p:cNvSpPr/>
          <p:nvPr/>
        </p:nvSpPr>
        <p:spPr>
          <a:xfrm>
            <a:off x="10399959" y="2964130"/>
            <a:ext cx="1650732" cy="1250714"/>
          </a:xfrm>
          <a:prstGeom prst="wedgeEllipseCallout">
            <a:avLst>
              <a:gd name="adj1" fmla="val -67723"/>
              <a:gd name="adj2" fmla="val 66269"/>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solidFill>
                  <a:schemeClr val="bg1"/>
                </a:solidFill>
                <a:latin typeface="MS UI Gothic" panose="020B0600070205080204" pitchFamily="34" charset="-128"/>
                <a:ea typeface="MS UI Gothic" panose="020B0600070205080204" pitchFamily="34" charset="-128"/>
              </a:rPr>
              <a:t>時間的制約</a:t>
            </a:r>
            <a:endParaRPr lang="en-US" altLang="ja-JP" sz="2400" dirty="0">
              <a:solidFill>
                <a:schemeClr val="bg1"/>
              </a:solidFill>
              <a:latin typeface="MS UI Gothic" panose="020B0600070205080204" pitchFamily="34" charset="-128"/>
              <a:ea typeface="MS UI Gothic" panose="020B0600070205080204" pitchFamily="34" charset="-128"/>
            </a:endParaRPr>
          </a:p>
        </p:txBody>
      </p:sp>
      <p:sp>
        <p:nvSpPr>
          <p:cNvPr id="43" name="角丸四角形 42">
            <a:extLst>
              <a:ext uri="{FF2B5EF4-FFF2-40B4-BE49-F238E27FC236}">
                <a16:creationId xmlns:a16="http://schemas.microsoft.com/office/drawing/2014/main" id="{97D77103-DBF0-0C3D-7465-D9A1B6BC12CD}"/>
              </a:ext>
            </a:extLst>
          </p:cNvPr>
          <p:cNvSpPr/>
          <p:nvPr/>
        </p:nvSpPr>
        <p:spPr>
          <a:xfrm>
            <a:off x="1421812" y="4718928"/>
            <a:ext cx="4674188" cy="2031767"/>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800">
                <a:solidFill>
                  <a:srgbClr val="FFFF00"/>
                </a:solidFill>
                <a:latin typeface="MS UI Gothic" panose="020B0600070205080204" pitchFamily="34" charset="-128"/>
                <a:ea typeface="MS UI Gothic" panose="020B0600070205080204" pitchFamily="34" charset="-128"/>
              </a:rPr>
              <a:t>解決策</a:t>
            </a:r>
            <a:endParaRPr kumimoji="1" lang="en-US" altLang="ja-JP" sz="2800" dirty="0">
              <a:solidFill>
                <a:srgbClr val="FFFF00"/>
              </a:solidFill>
              <a:latin typeface="MS UI Gothic" panose="020B0600070205080204" pitchFamily="34" charset="-128"/>
              <a:ea typeface="MS UI Gothic" panose="020B0600070205080204" pitchFamily="34" charset="-128"/>
            </a:endParaRPr>
          </a:p>
          <a:p>
            <a:r>
              <a:rPr lang="ja-JP" altLang="en-US" sz="2800">
                <a:solidFill>
                  <a:srgbClr val="FFFF00"/>
                </a:solidFill>
                <a:latin typeface="MS UI Gothic" panose="020B0600070205080204" pitchFamily="34" charset="-128"/>
                <a:ea typeface="MS UI Gothic" panose="020B0600070205080204" pitchFamily="34" charset="-128"/>
              </a:rPr>
              <a:t>・学生のモバイルで学習できる</a:t>
            </a:r>
            <a:endParaRPr lang="en-US" altLang="ja-JP" sz="2800" dirty="0">
              <a:solidFill>
                <a:srgbClr val="FFFF00"/>
              </a:solidFill>
              <a:latin typeface="MS UI Gothic" panose="020B0600070205080204" pitchFamily="34" charset="-128"/>
              <a:ea typeface="MS UI Gothic" panose="020B0600070205080204" pitchFamily="34" charset="-128"/>
            </a:endParaRPr>
          </a:p>
          <a:p>
            <a:r>
              <a:rPr kumimoji="1" lang="ja-JP" altLang="en-US" sz="2800">
                <a:solidFill>
                  <a:srgbClr val="FFFF00"/>
                </a:solidFill>
                <a:latin typeface="MS UI Gothic" panose="020B0600070205080204" pitchFamily="34" charset="-128"/>
                <a:ea typeface="MS UI Gothic" panose="020B0600070205080204" pitchFamily="34" charset="-128"/>
              </a:rPr>
              <a:t>・</a:t>
            </a:r>
            <a:r>
              <a:rPr kumimoji="1" lang="en-US" altLang="ja-JP" sz="2800" dirty="0">
                <a:solidFill>
                  <a:srgbClr val="FFFF00"/>
                </a:solidFill>
                <a:latin typeface="MS UI Gothic" panose="020B0600070205080204" pitchFamily="34" charset="-128"/>
                <a:ea typeface="MS UI Gothic" panose="020B0600070205080204" pitchFamily="34" charset="-128"/>
              </a:rPr>
              <a:t>24</a:t>
            </a:r>
            <a:r>
              <a:rPr kumimoji="1" lang="ja-JP" altLang="en-US" sz="2800">
                <a:solidFill>
                  <a:srgbClr val="FFFF00"/>
                </a:solidFill>
                <a:latin typeface="MS UI Gothic" panose="020B0600070205080204" pitchFamily="34" charset="-128"/>
                <a:ea typeface="MS UI Gothic" panose="020B0600070205080204" pitchFamily="34" charset="-128"/>
              </a:rPr>
              <a:t>時間いつでも質問対応</a:t>
            </a:r>
            <a:endParaRPr kumimoji="1" lang="en-US" altLang="ja-JP" sz="2800" dirty="0">
              <a:solidFill>
                <a:srgbClr val="FFFF00"/>
              </a:solidFill>
              <a:latin typeface="MS UI Gothic" panose="020B0600070205080204" pitchFamily="34" charset="-128"/>
              <a:ea typeface="MS UI Gothic" panose="020B0600070205080204" pitchFamily="34" charset="-128"/>
            </a:endParaRPr>
          </a:p>
          <a:p>
            <a:r>
              <a:rPr lang="ja-JP" altLang="en-US" sz="2800">
                <a:solidFill>
                  <a:srgbClr val="FFFF00"/>
                </a:solidFill>
                <a:latin typeface="MS UI Gothic" panose="020B0600070205080204" pitchFamily="34" charset="-128"/>
                <a:ea typeface="MS UI Gothic" panose="020B0600070205080204" pitchFamily="34" charset="-128"/>
              </a:rPr>
              <a:t>・学生の学習状況の把握</a:t>
            </a:r>
            <a:endParaRPr kumimoji="1" lang="ja-JP" altLang="en-US" sz="2800">
              <a:solidFill>
                <a:srgbClr val="FFFF00"/>
              </a:solidFill>
              <a:latin typeface="MS UI Gothic" panose="020B0600070205080204" pitchFamily="34" charset="-128"/>
              <a:ea typeface="MS UI Gothic" panose="020B0600070205080204"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 descr="A_digital_illustration_showcases_a_magical_setting.png">
            <a:extLst>
              <a:ext uri="{FF2B5EF4-FFF2-40B4-BE49-F238E27FC236}">
                <a16:creationId xmlns:a16="http://schemas.microsoft.com/office/drawing/2014/main" id="{7EC360DB-2BB5-CF69-D886-7B2C7BAF2341}"/>
              </a:ext>
            </a:extLst>
          </p:cNvPr>
          <p:cNvPicPr>
            <a:picLocks noChangeAspect="1"/>
          </p:cNvPicPr>
          <p:nvPr/>
        </p:nvPicPr>
        <p:blipFill>
          <a:blip r:embed="rId2"/>
          <a:stretch>
            <a:fillRect/>
          </a:stretch>
        </p:blipFill>
        <p:spPr>
          <a:xfrm>
            <a:off x="0" y="0"/>
            <a:ext cx="12188952" cy="6858000"/>
          </a:xfrm>
          <a:prstGeom prst="rect">
            <a:avLst/>
          </a:prstGeom>
        </p:spPr>
      </p:pic>
      <p:sp>
        <p:nvSpPr>
          <p:cNvPr id="6" name="TextBox 2">
            <a:extLst>
              <a:ext uri="{FF2B5EF4-FFF2-40B4-BE49-F238E27FC236}">
                <a16:creationId xmlns:a16="http://schemas.microsoft.com/office/drawing/2014/main" id="{1ECC22E1-9A57-0ADD-CA77-CA17CA0E5601}"/>
              </a:ext>
            </a:extLst>
          </p:cNvPr>
          <p:cNvSpPr txBox="1"/>
          <p:nvPr/>
        </p:nvSpPr>
        <p:spPr>
          <a:xfrm>
            <a:off x="1828800" y="3840480"/>
            <a:ext cx="8503920" cy="914400"/>
          </a:xfrm>
          <a:prstGeom prst="rect">
            <a:avLst/>
          </a:prstGeom>
          <a:noFill/>
        </p:spPr>
        <p:txBody>
          <a:bodyPr wrap="none">
            <a:spAutoFit/>
          </a:bodyPr>
          <a:lstStyle/>
          <a:p>
            <a:pPr algn="ctr"/>
            <a:r>
              <a:rPr sz="2800" dirty="0" err="1">
                <a:solidFill>
                  <a:srgbClr val="FFFFFF"/>
                </a:solidFill>
                <a:latin typeface="MS Mincho"/>
              </a:rPr>
              <a:t>AIを活用した学習支援システム</a:t>
            </a:r>
            <a:endParaRPr sz="2800" dirty="0">
              <a:solidFill>
                <a:srgbClr val="FFFFFF"/>
              </a:solidFill>
              <a:latin typeface="MS Minch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38EE4-4D70-69DC-9B4E-1F126B0993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2AAC028-5293-1946-D9F8-B8622F863B7B}"/>
              </a:ext>
            </a:extLst>
          </p:cNvPr>
          <p:cNvSpPr txBox="1"/>
          <p:nvPr/>
        </p:nvSpPr>
        <p:spPr>
          <a:xfrm>
            <a:off x="381000" y="1657350"/>
            <a:ext cx="2068195" cy="451342"/>
          </a:xfrm>
          <a:prstGeom prst="rect">
            <a:avLst/>
          </a:prstGeom>
          <a:noFill/>
        </p:spPr>
        <p:txBody>
          <a:bodyPr wrap="none">
            <a:spAutoFit/>
          </a:bodyPr>
          <a:lstStyle/>
          <a:p>
            <a:pPr>
              <a:defRPr sz="2800" b="1">
                <a:solidFill>
                  <a:srgbClr val="C80000"/>
                </a:solidFill>
              </a:defRPr>
            </a:pPr>
            <a:r>
              <a:rPr sz="2333" dirty="0"/>
              <a:t>📊 </a:t>
            </a:r>
            <a:r>
              <a:rPr sz="2333" dirty="0" err="1">
                <a:solidFill>
                  <a:schemeClr val="bg1"/>
                </a:solidFill>
              </a:rPr>
              <a:t>課題の発見</a:t>
            </a:r>
            <a:endParaRPr sz="2333" dirty="0">
              <a:solidFill>
                <a:schemeClr val="bg1"/>
              </a:solidFill>
            </a:endParaRPr>
          </a:p>
        </p:txBody>
      </p:sp>
      <p:sp>
        <p:nvSpPr>
          <p:cNvPr id="5" name="Rectangle 4">
            <a:extLst>
              <a:ext uri="{FF2B5EF4-FFF2-40B4-BE49-F238E27FC236}">
                <a16:creationId xmlns:a16="http://schemas.microsoft.com/office/drawing/2014/main" id="{E03CB9FC-5269-9D82-4791-7A7412B1B5FE}"/>
              </a:ext>
            </a:extLst>
          </p:cNvPr>
          <p:cNvSpPr/>
          <p:nvPr/>
        </p:nvSpPr>
        <p:spPr>
          <a:xfrm>
            <a:off x="381000" y="2114550"/>
            <a:ext cx="5334000" cy="533400"/>
          </a:xfrm>
          <a:prstGeom prst="rect">
            <a:avLst/>
          </a:prstGeom>
          <a:solidFill>
            <a:srgbClr val="FFC8C8"/>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b="1"/>
            </a:pPr>
            <a:r>
              <a:rPr dirty="0" err="1">
                <a:solidFill>
                  <a:schemeClr val="tx1"/>
                </a:solidFill>
                <a:latin typeface="MS UI Gothic" panose="020B0600070205080204" pitchFamily="34" charset="-128"/>
                <a:ea typeface="MS UI Gothic" panose="020B0600070205080204" pitchFamily="34" charset="-128"/>
              </a:rPr>
              <a:t>成績不振の顕在化</a:t>
            </a:r>
            <a:endParaRPr dirty="0">
              <a:solidFill>
                <a:schemeClr val="tx1"/>
              </a:solidFill>
              <a:latin typeface="MS UI Gothic" panose="020B0600070205080204" pitchFamily="34" charset="-128"/>
              <a:ea typeface="MS UI Gothic" panose="020B0600070205080204" pitchFamily="34" charset="-128"/>
            </a:endParaRPr>
          </a:p>
        </p:txBody>
      </p:sp>
      <p:sp>
        <p:nvSpPr>
          <p:cNvPr id="6" name="Rectangle 5">
            <a:extLst>
              <a:ext uri="{FF2B5EF4-FFF2-40B4-BE49-F238E27FC236}">
                <a16:creationId xmlns:a16="http://schemas.microsoft.com/office/drawing/2014/main" id="{F421DB0D-0C08-7687-E2E6-9B2BA46BA4C3}"/>
              </a:ext>
            </a:extLst>
          </p:cNvPr>
          <p:cNvSpPr/>
          <p:nvPr/>
        </p:nvSpPr>
        <p:spPr>
          <a:xfrm>
            <a:off x="381000" y="2762250"/>
            <a:ext cx="5334000" cy="533400"/>
          </a:xfrm>
          <a:prstGeom prst="rect">
            <a:avLst/>
          </a:prstGeom>
          <a:solidFill>
            <a:srgbClr val="FFDCB4"/>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b="1"/>
            </a:pPr>
            <a:r>
              <a:rPr>
                <a:solidFill>
                  <a:schemeClr val="tx1"/>
                </a:solidFill>
                <a:latin typeface="MS UI Gothic" panose="020B0600070205080204" pitchFamily="34" charset="-128"/>
                <a:ea typeface="MS UI Gothic" panose="020B0600070205080204" pitchFamily="34" charset="-128"/>
              </a:rPr>
              <a:t>反転講義導入→成績の二極化</a:t>
            </a:r>
          </a:p>
        </p:txBody>
      </p:sp>
      <p:sp>
        <p:nvSpPr>
          <p:cNvPr id="7" name="Rectangle 6">
            <a:extLst>
              <a:ext uri="{FF2B5EF4-FFF2-40B4-BE49-F238E27FC236}">
                <a16:creationId xmlns:a16="http://schemas.microsoft.com/office/drawing/2014/main" id="{806011E0-65CF-A148-50E1-10502C87D76D}"/>
              </a:ext>
            </a:extLst>
          </p:cNvPr>
          <p:cNvSpPr/>
          <p:nvPr/>
        </p:nvSpPr>
        <p:spPr>
          <a:xfrm>
            <a:off x="381000" y="3409950"/>
            <a:ext cx="5334000" cy="533400"/>
          </a:xfrm>
          <a:prstGeom prst="rect">
            <a:avLst/>
          </a:prstGeom>
          <a:solidFill>
            <a:srgbClr val="C8E6FF"/>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b="1"/>
            </a:pPr>
            <a:r>
              <a:rPr>
                <a:solidFill>
                  <a:schemeClr val="tx1"/>
                </a:solidFill>
                <a:latin typeface="MS UI Gothic" panose="020B0600070205080204" pitchFamily="34" charset="-128"/>
                <a:ea typeface="MS UI Gothic" panose="020B0600070205080204" pitchFamily="34" charset="-128"/>
              </a:rPr>
              <a:t>学生面談実施→本質的課題発見</a:t>
            </a:r>
          </a:p>
        </p:txBody>
      </p:sp>
      <p:sp>
        <p:nvSpPr>
          <p:cNvPr id="8" name="TextBox 7">
            <a:extLst>
              <a:ext uri="{FF2B5EF4-FFF2-40B4-BE49-F238E27FC236}">
                <a16:creationId xmlns:a16="http://schemas.microsoft.com/office/drawing/2014/main" id="{B220C555-F19C-6F7B-C593-EFEEDDF448E8}"/>
              </a:ext>
            </a:extLst>
          </p:cNvPr>
          <p:cNvSpPr txBox="1"/>
          <p:nvPr/>
        </p:nvSpPr>
        <p:spPr>
          <a:xfrm>
            <a:off x="381000" y="4095750"/>
            <a:ext cx="1616148" cy="430887"/>
          </a:xfrm>
          <a:prstGeom prst="rect">
            <a:avLst/>
          </a:prstGeom>
          <a:noFill/>
        </p:spPr>
        <p:txBody>
          <a:bodyPr wrap="none">
            <a:spAutoFit/>
          </a:bodyPr>
          <a:lstStyle/>
          <a:p>
            <a:pPr>
              <a:defRPr sz="2200" b="1">
                <a:solidFill>
                  <a:srgbClr val="0064C8"/>
                </a:solidFill>
              </a:defRPr>
            </a:pPr>
            <a:r>
              <a:rPr sz="1833" dirty="0"/>
              <a:t>💬 </a:t>
            </a:r>
            <a:r>
              <a:rPr dirty="0" err="1">
                <a:solidFill>
                  <a:schemeClr val="bg1"/>
                </a:solidFill>
              </a:rPr>
              <a:t>学生の声</a:t>
            </a:r>
            <a:endParaRPr dirty="0">
              <a:solidFill>
                <a:schemeClr val="bg1"/>
              </a:solidFill>
            </a:endParaRPr>
          </a:p>
        </p:txBody>
      </p:sp>
      <p:sp>
        <p:nvSpPr>
          <p:cNvPr id="9" name="Rectangle 8">
            <a:extLst>
              <a:ext uri="{FF2B5EF4-FFF2-40B4-BE49-F238E27FC236}">
                <a16:creationId xmlns:a16="http://schemas.microsoft.com/office/drawing/2014/main" id="{6EC0E950-29AE-21E3-DC03-5C82455243F1}"/>
              </a:ext>
            </a:extLst>
          </p:cNvPr>
          <p:cNvSpPr/>
          <p:nvPr/>
        </p:nvSpPr>
        <p:spPr>
          <a:xfrm>
            <a:off x="381000" y="4476750"/>
            <a:ext cx="5334000" cy="381000"/>
          </a:xfrm>
          <a:prstGeom prst="rect">
            <a:avLst/>
          </a:prstGeom>
          <a:solidFill>
            <a:srgbClr val="FFF5E6"/>
          </a:solidFill>
          <a:ln w="12700">
            <a:solidFill>
              <a:srgbClr val="C89664"/>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a:pPr>
            <a:r>
              <a:rPr dirty="0">
                <a:solidFill>
                  <a:schemeClr val="tx1"/>
                </a:solidFill>
                <a:latin typeface="MS UI Gothic" panose="020B0600070205080204" pitchFamily="34" charset="-128"/>
                <a:ea typeface="MS UI Gothic" panose="020B0600070205080204" pitchFamily="34" charset="-128"/>
              </a:rPr>
              <a:t>• </a:t>
            </a:r>
            <a:r>
              <a:rPr dirty="0" err="1">
                <a:solidFill>
                  <a:schemeClr val="tx1"/>
                </a:solidFill>
                <a:latin typeface="MS UI Gothic" panose="020B0600070205080204" pitchFamily="34" charset="-128"/>
                <a:ea typeface="MS UI Gothic" panose="020B0600070205080204" pitchFamily="34" charset="-128"/>
              </a:rPr>
              <a:t>先生に聞きにくい</a:t>
            </a:r>
            <a:r>
              <a:rPr lang="ja-JP" altLang="en-US">
                <a:solidFill>
                  <a:schemeClr val="tx1"/>
                </a:solidFill>
                <a:latin typeface="MS UI Gothic" panose="020B0600070205080204" pitchFamily="34" charset="-128"/>
                <a:ea typeface="MS UI Gothic" panose="020B0600070205080204" pitchFamily="34" charset="-128"/>
              </a:rPr>
              <a:t>（心理的抵抗）</a:t>
            </a:r>
            <a:endParaRPr dirty="0">
              <a:solidFill>
                <a:schemeClr val="tx1"/>
              </a:solidFill>
              <a:latin typeface="MS UI Gothic" panose="020B0600070205080204" pitchFamily="34" charset="-128"/>
              <a:ea typeface="MS UI Gothic" panose="020B0600070205080204" pitchFamily="34" charset="-128"/>
            </a:endParaRPr>
          </a:p>
        </p:txBody>
      </p:sp>
      <p:sp>
        <p:nvSpPr>
          <p:cNvPr id="10" name="Rectangle 9">
            <a:extLst>
              <a:ext uri="{FF2B5EF4-FFF2-40B4-BE49-F238E27FC236}">
                <a16:creationId xmlns:a16="http://schemas.microsoft.com/office/drawing/2014/main" id="{7FBE5238-BC90-7BFF-3F88-F57FC5E314FF}"/>
              </a:ext>
            </a:extLst>
          </p:cNvPr>
          <p:cNvSpPr/>
          <p:nvPr/>
        </p:nvSpPr>
        <p:spPr>
          <a:xfrm>
            <a:off x="381000" y="4933950"/>
            <a:ext cx="5334000" cy="381000"/>
          </a:xfrm>
          <a:prstGeom prst="rect">
            <a:avLst/>
          </a:prstGeom>
          <a:solidFill>
            <a:srgbClr val="FFF5E6"/>
          </a:solidFill>
          <a:ln w="12700">
            <a:solidFill>
              <a:srgbClr val="C89664"/>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a:pPr>
            <a:r>
              <a:rPr dirty="0">
                <a:solidFill>
                  <a:schemeClr val="tx1"/>
                </a:solidFill>
                <a:latin typeface="MS UI Gothic" panose="020B0600070205080204" pitchFamily="34" charset="-128"/>
                <a:ea typeface="MS UI Gothic" panose="020B0600070205080204" pitchFamily="34" charset="-128"/>
              </a:rPr>
              <a:t>• </a:t>
            </a:r>
            <a:r>
              <a:rPr dirty="0" err="1">
                <a:solidFill>
                  <a:schemeClr val="tx1"/>
                </a:solidFill>
                <a:latin typeface="MS UI Gothic" panose="020B0600070205080204" pitchFamily="34" charset="-128"/>
                <a:ea typeface="MS UI Gothic" panose="020B0600070205080204" pitchFamily="34" charset="-128"/>
              </a:rPr>
              <a:t>何度も質問して怒られないか不安</a:t>
            </a:r>
            <a:r>
              <a:rPr lang="ja-JP" altLang="en-US">
                <a:solidFill>
                  <a:schemeClr val="tx1"/>
                </a:solidFill>
                <a:latin typeface="MS UI Gothic" panose="020B0600070205080204" pitchFamily="34" charset="-128"/>
                <a:ea typeface="MS UI Gothic" panose="020B0600070205080204" pitchFamily="34" charset="-128"/>
              </a:rPr>
              <a:t>（心理的抵抗）</a:t>
            </a:r>
            <a:endParaRPr dirty="0">
              <a:solidFill>
                <a:schemeClr val="tx1"/>
              </a:solidFill>
              <a:latin typeface="MS UI Gothic" panose="020B0600070205080204" pitchFamily="34" charset="-128"/>
              <a:ea typeface="MS UI Gothic" panose="020B0600070205080204" pitchFamily="34" charset="-128"/>
            </a:endParaRPr>
          </a:p>
        </p:txBody>
      </p:sp>
      <p:sp>
        <p:nvSpPr>
          <p:cNvPr id="11" name="Rectangle 10">
            <a:extLst>
              <a:ext uri="{FF2B5EF4-FFF2-40B4-BE49-F238E27FC236}">
                <a16:creationId xmlns:a16="http://schemas.microsoft.com/office/drawing/2014/main" id="{ABC5E0BF-6D69-35D7-27D0-1FC6FF93B080}"/>
              </a:ext>
            </a:extLst>
          </p:cNvPr>
          <p:cNvSpPr/>
          <p:nvPr/>
        </p:nvSpPr>
        <p:spPr>
          <a:xfrm>
            <a:off x="381000" y="5391149"/>
            <a:ext cx="5334000" cy="381000"/>
          </a:xfrm>
          <a:prstGeom prst="rect">
            <a:avLst/>
          </a:prstGeom>
          <a:solidFill>
            <a:srgbClr val="FFF5E6"/>
          </a:solidFill>
          <a:ln w="12700">
            <a:solidFill>
              <a:srgbClr val="C89664"/>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a:pPr>
            <a:r>
              <a:rPr dirty="0">
                <a:solidFill>
                  <a:schemeClr val="tx1"/>
                </a:solidFill>
                <a:latin typeface="MS UI Gothic" panose="020B0600070205080204" pitchFamily="34" charset="-128"/>
                <a:ea typeface="MS UI Gothic" panose="020B0600070205080204" pitchFamily="34" charset="-128"/>
              </a:rPr>
              <a:t>• </a:t>
            </a:r>
            <a:r>
              <a:rPr dirty="0" err="1">
                <a:solidFill>
                  <a:schemeClr val="tx1"/>
                </a:solidFill>
                <a:latin typeface="MS UI Gothic" panose="020B0600070205080204" pitchFamily="34" charset="-128"/>
                <a:ea typeface="MS UI Gothic" panose="020B0600070205080204" pitchFamily="34" charset="-128"/>
              </a:rPr>
              <a:t>疑問が解決できず試験日を迎えた</a:t>
            </a:r>
            <a:r>
              <a:rPr lang="ja-JP" altLang="en-US">
                <a:solidFill>
                  <a:schemeClr val="tx1"/>
                </a:solidFill>
                <a:latin typeface="MS UI Gothic" panose="020B0600070205080204" pitchFamily="34" charset="-128"/>
                <a:ea typeface="MS UI Gothic" panose="020B0600070205080204" pitchFamily="34" charset="-128"/>
              </a:rPr>
              <a:t>（時間的制約）</a:t>
            </a:r>
            <a:endParaRPr lang="en-US" dirty="0">
              <a:solidFill>
                <a:schemeClr val="tx1"/>
              </a:solidFill>
              <a:latin typeface="MS UI Gothic" panose="020B0600070205080204" pitchFamily="34" charset="-128"/>
              <a:ea typeface="MS UI Gothic" panose="020B0600070205080204" pitchFamily="34" charset="-128"/>
            </a:endParaRPr>
          </a:p>
        </p:txBody>
      </p:sp>
      <p:sp>
        <p:nvSpPr>
          <p:cNvPr id="12" name="Rectangle 11">
            <a:extLst>
              <a:ext uri="{FF2B5EF4-FFF2-40B4-BE49-F238E27FC236}">
                <a16:creationId xmlns:a16="http://schemas.microsoft.com/office/drawing/2014/main" id="{67A4EC2A-70F5-6224-0E35-58EDF1027712}"/>
              </a:ext>
            </a:extLst>
          </p:cNvPr>
          <p:cNvSpPr/>
          <p:nvPr/>
        </p:nvSpPr>
        <p:spPr>
          <a:xfrm>
            <a:off x="381000" y="5848349"/>
            <a:ext cx="5334000" cy="381000"/>
          </a:xfrm>
          <a:prstGeom prst="rect">
            <a:avLst/>
          </a:prstGeom>
          <a:solidFill>
            <a:srgbClr val="FFF5E6"/>
          </a:solidFill>
          <a:ln w="12700">
            <a:solidFill>
              <a:srgbClr val="C89664"/>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a:pPr>
            <a:r>
              <a:rPr dirty="0">
                <a:solidFill>
                  <a:schemeClr val="tx1"/>
                </a:solidFill>
                <a:latin typeface="MS UI Gothic" panose="020B0600070205080204" pitchFamily="34" charset="-128"/>
                <a:ea typeface="MS UI Gothic" panose="020B0600070205080204" pitchFamily="34" charset="-128"/>
              </a:rPr>
              <a:t>• </a:t>
            </a:r>
            <a:r>
              <a:rPr dirty="0" err="1">
                <a:solidFill>
                  <a:schemeClr val="tx1"/>
                </a:solidFill>
                <a:latin typeface="MS UI Gothic" panose="020B0600070205080204" pitchFamily="34" charset="-128"/>
                <a:ea typeface="MS UI Gothic" panose="020B0600070205080204" pitchFamily="34" charset="-128"/>
              </a:rPr>
              <a:t>夜中に疑問が生じても聞けない</a:t>
            </a:r>
            <a:r>
              <a:rPr lang="ja-JP" altLang="en-US">
                <a:solidFill>
                  <a:schemeClr val="tx1"/>
                </a:solidFill>
                <a:latin typeface="MS UI Gothic" panose="020B0600070205080204" pitchFamily="34" charset="-128"/>
                <a:ea typeface="MS UI Gothic" panose="020B0600070205080204" pitchFamily="34" charset="-128"/>
              </a:rPr>
              <a:t>（時間的制約）</a:t>
            </a:r>
            <a:endParaRPr dirty="0">
              <a:solidFill>
                <a:schemeClr val="tx1"/>
              </a:solidFill>
              <a:latin typeface="MS UI Gothic" panose="020B0600070205080204" pitchFamily="34" charset="-128"/>
              <a:ea typeface="MS UI Gothic" panose="020B0600070205080204" pitchFamily="34" charset="-128"/>
            </a:endParaRPr>
          </a:p>
        </p:txBody>
      </p:sp>
      <p:sp>
        <p:nvSpPr>
          <p:cNvPr id="13" name="Rectangle 12">
            <a:extLst>
              <a:ext uri="{FF2B5EF4-FFF2-40B4-BE49-F238E27FC236}">
                <a16:creationId xmlns:a16="http://schemas.microsoft.com/office/drawing/2014/main" id="{83320491-76BC-09F5-4BC4-0D167A3BD830}"/>
              </a:ext>
            </a:extLst>
          </p:cNvPr>
          <p:cNvSpPr/>
          <p:nvPr/>
        </p:nvSpPr>
        <p:spPr>
          <a:xfrm>
            <a:off x="6096000" y="1553602"/>
            <a:ext cx="5715000" cy="1475348"/>
          </a:xfrm>
          <a:prstGeom prst="rect">
            <a:avLst/>
          </a:prstGeom>
          <a:solidFill>
            <a:srgbClr val="FFF0F0"/>
          </a:solidFill>
          <a:ln w="31750">
            <a:solidFill>
              <a:srgbClr val="C8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1000"/>
              </a:spcAft>
              <a:defRPr sz="2400" b="1">
                <a:solidFill>
                  <a:srgbClr val="C80000"/>
                </a:solidFill>
              </a:defRPr>
            </a:pPr>
            <a:r>
              <a:rPr sz="2000" dirty="0">
                <a:latin typeface="MS UI Gothic" panose="020B0600070205080204" pitchFamily="34" charset="-128"/>
                <a:ea typeface="MS UI Gothic" panose="020B0600070205080204" pitchFamily="34" charset="-128"/>
              </a:rPr>
              <a:t>⚠️ </a:t>
            </a:r>
            <a:r>
              <a:rPr sz="2000" dirty="0" err="1">
                <a:latin typeface="MS UI Gothic" panose="020B0600070205080204" pitchFamily="34" charset="-128"/>
                <a:ea typeface="MS UI Gothic" panose="020B0600070205080204" pitchFamily="34" charset="-128"/>
              </a:rPr>
              <a:t>教員側の課題認識</a:t>
            </a:r>
            <a:endParaRPr sz="2000" dirty="0">
              <a:latin typeface="MS UI Gothic" panose="020B0600070205080204" pitchFamily="34" charset="-128"/>
              <a:ea typeface="MS UI Gothic" panose="020B0600070205080204" pitchFamily="34" charset="-128"/>
            </a:endParaRPr>
          </a:p>
          <a:p>
            <a:pPr>
              <a:spcBef>
                <a:spcPts val="667"/>
              </a:spcBef>
              <a:defRPr sz="1800" b="1"/>
            </a:pPr>
            <a:r>
              <a:rPr dirty="0">
                <a:latin typeface="MS UI Gothic" panose="020B0600070205080204" pitchFamily="34" charset="-128"/>
                <a:ea typeface="MS UI Gothic" panose="020B0600070205080204" pitchFamily="34" charset="-128"/>
              </a:rPr>
              <a:t>❌ </a:t>
            </a:r>
            <a:r>
              <a:rPr dirty="0" err="1">
                <a:solidFill>
                  <a:srgbClr val="FF0000"/>
                </a:solidFill>
                <a:latin typeface="MS UI Gothic" panose="020B0600070205080204" pitchFamily="34" charset="-128"/>
                <a:ea typeface="MS UI Gothic" panose="020B0600070205080204" pitchFamily="34" charset="-128"/>
              </a:rPr>
              <a:t>学生が困っていることを把握していない</a:t>
            </a:r>
            <a:endParaRPr dirty="0">
              <a:solidFill>
                <a:srgbClr val="FF0000"/>
              </a:solidFill>
              <a:latin typeface="MS UI Gothic" panose="020B0600070205080204" pitchFamily="34" charset="-128"/>
              <a:ea typeface="MS UI Gothic" panose="020B0600070205080204" pitchFamily="34" charset="-128"/>
            </a:endParaRPr>
          </a:p>
          <a:p>
            <a:pPr>
              <a:spcBef>
                <a:spcPts val="667"/>
              </a:spcBef>
              <a:defRPr sz="1800" b="1"/>
            </a:pPr>
            <a:r>
              <a:rPr dirty="0">
                <a:solidFill>
                  <a:srgbClr val="FF0000"/>
                </a:solidFill>
                <a:latin typeface="MS UI Gothic" panose="020B0600070205080204" pitchFamily="34" charset="-128"/>
                <a:ea typeface="MS UI Gothic" panose="020B0600070205080204" pitchFamily="34" charset="-128"/>
              </a:rPr>
              <a:t>❌ </a:t>
            </a:r>
            <a:r>
              <a:rPr dirty="0" err="1">
                <a:solidFill>
                  <a:srgbClr val="FF0000"/>
                </a:solidFill>
                <a:latin typeface="MS UI Gothic" panose="020B0600070205080204" pitchFamily="34" charset="-128"/>
                <a:ea typeface="MS UI Gothic" panose="020B0600070205080204" pitchFamily="34" charset="-128"/>
              </a:rPr>
              <a:t>学習状況を把握していない</a:t>
            </a:r>
            <a:endParaRPr dirty="0">
              <a:solidFill>
                <a:srgbClr val="FF0000"/>
              </a:solidFill>
              <a:latin typeface="MS UI Gothic" panose="020B0600070205080204" pitchFamily="34" charset="-128"/>
              <a:ea typeface="MS UI Gothic" panose="020B0600070205080204" pitchFamily="34" charset="-128"/>
            </a:endParaRPr>
          </a:p>
        </p:txBody>
      </p:sp>
      <p:sp>
        <p:nvSpPr>
          <p:cNvPr id="14" name="TextBox 13">
            <a:extLst>
              <a:ext uri="{FF2B5EF4-FFF2-40B4-BE49-F238E27FC236}">
                <a16:creationId xmlns:a16="http://schemas.microsoft.com/office/drawing/2014/main" id="{B74CA6A8-A4DC-55E0-F5CA-355EA3B20589}"/>
              </a:ext>
            </a:extLst>
          </p:cNvPr>
          <p:cNvSpPr txBox="1"/>
          <p:nvPr/>
        </p:nvSpPr>
        <p:spPr>
          <a:xfrm>
            <a:off x="6096000" y="3219450"/>
            <a:ext cx="1468672" cy="451342"/>
          </a:xfrm>
          <a:prstGeom prst="rect">
            <a:avLst/>
          </a:prstGeom>
          <a:noFill/>
        </p:spPr>
        <p:txBody>
          <a:bodyPr wrap="none">
            <a:spAutoFit/>
          </a:bodyPr>
          <a:lstStyle/>
          <a:p>
            <a:pPr>
              <a:defRPr sz="2800" b="1">
                <a:solidFill>
                  <a:srgbClr val="009600"/>
                </a:solidFill>
              </a:defRPr>
            </a:pPr>
            <a:r>
              <a:rPr sz="2333" dirty="0"/>
              <a:t>💡 </a:t>
            </a:r>
            <a:r>
              <a:rPr sz="2333" dirty="0" err="1">
                <a:solidFill>
                  <a:srgbClr val="FFFF00"/>
                </a:solidFill>
              </a:rPr>
              <a:t>解決策</a:t>
            </a:r>
            <a:endParaRPr sz="2333" dirty="0">
              <a:solidFill>
                <a:srgbClr val="FFFF00"/>
              </a:solidFill>
            </a:endParaRPr>
          </a:p>
        </p:txBody>
      </p:sp>
      <p:sp>
        <p:nvSpPr>
          <p:cNvPr id="15" name="Oval 14">
            <a:extLst>
              <a:ext uri="{FF2B5EF4-FFF2-40B4-BE49-F238E27FC236}">
                <a16:creationId xmlns:a16="http://schemas.microsoft.com/office/drawing/2014/main" id="{02E17D0D-F199-D373-7157-A5AFC3D96523}"/>
              </a:ext>
            </a:extLst>
          </p:cNvPr>
          <p:cNvSpPr/>
          <p:nvPr/>
        </p:nvSpPr>
        <p:spPr>
          <a:xfrm>
            <a:off x="6096000" y="3676650"/>
            <a:ext cx="381000" cy="381000"/>
          </a:xfrm>
          <a:prstGeom prst="ellipse">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sz="1500"/>
              <a:t>①</a:t>
            </a:r>
          </a:p>
        </p:txBody>
      </p:sp>
      <p:sp>
        <p:nvSpPr>
          <p:cNvPr id="16" name="Rectangle 15">
            <a:extLst>
              <a:ext uri="{FF2B5EF4-FFF2-40B4-BE49-F238E27FC236}">
                <a16:creationId xmlns:a16="http://schemas.microsoft.com/office/drawing/2014/main" id="{DE4DA281-A4D4-C076-CC09-D76660F35A6C}"/>
              </a:ext>
            </a:extLst>
          </p:cNvPr>
          <p:cNvSpPr/>
          <p:nvPr/>
        </p:nvSpPr>
        <p:spPr>
          <a:xfrm>
            <a:off x="6553200" y="3676650"/>
            <a:ext cx="5257800" cy="381000"/>
          </a:xfrm>
          <a:prstGeom prst="rect">
            <a:avLst/>
          </a:prstGeom>
          <a:solidFill>
            <a:srgbClr val="E6F0FF"/>
          </a:solidFill>
          <a:ln w="19050">
            <a:solidFill>
              <a:srgbClr val="2962FF"/>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b="1"/>
            </a:pPr>
            <a:r>
              <a:rPr dirty="0">
                <a:solidFill>
                  <a:schemeClr val="tx1"/>
                </a:solidFill>
              </a:rPr>
              <a:t>24時間質問対応</a:t>
            </a:r>
          </a:p>
        </p:txBody>
      </p:sp>
      <p:sp>
        <p:nvSpPr>
          <p:cNvPr id="17" name="Oval 16">
            <a:extLst>
              <a:ext uri="{FF2B5EF4-FFF2-40B4-BE49-F238E27FC236}">
                <a16:creationId xmlns:a16="http://schemas.microsoft.com/office/drawing/2014/main" id="{B13CC632-762B-3BEC-8CB2-9C604EE0A8D6}"/>
              </a:ext>
            </a:extLst>
          </p:cNvPr>
          <p:cNvSpPr/>
          <p:nvPr/>
        </p:nvSpPr>
        <p:spPr>
          <a:xfrm>
            <a:off x="6096000" y="4210050"/>
            <a:ext cx="381000" cy="381000"/>
          </a:xfrm>
          <a:prstGeom prst="ellipse">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sz="1500"/>
              <a:t>②</a:t>
            </a:r>
          </a:p>
        </p:txBody>
      </p:sp>
      <p:sp>
        <p:nvSpPr>
          <p:cNvPr id="18" name="Rectangle 17">
            <a:extLst>
              <a:ext uri="{FF2B5EF4-FFF2-40B4-BE49-F238E27FC236}">
                <a16:creationId xmlns:a16="http://schemas.microsoft.com/office/drawing/2014/main" id="{59F92757-049A-9C3A-F6C1-C0A8F41B9013}"/>
              </a:ext>
            </a:extLst>
          </p:cNvPr>
          <p:cNvSpPr/>
          <p:nvPr/>
        </p:nvSpPr>
        <p:spPr>
          <a:xfrm>
            <a:off x="6553200" y="4210050"/>
            <a:ext cx="5257800" cy="381000"/>
          </a:xfrm>
          <a:prstGeom prst="rect">
            <a:avLst/>
          </a:prstGeom>
          <a:solidFill>
            <a:srgbClr val="F0FFF0"/>
          </a:solidFill>
          <a:ln w="19050">
            <a:solidFill>
              <a:srgbClr val="2962FF"/>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b="1"/>
            </a:pPr>
            <a:r>
              <a:rPr>
                <a:solidFill>
                  <a:schemeClr val="tx1"/>
                </a:solidFill>
              </a:rPr>
              <a:t>心理的安全性の確保</a:t>
            </a:r>
          </a:p>
        </p:txBody>
      </p:sp>
      <p:sp>
        <p:nvSpPr>
          <p:cNvPr id="19" name="Oval 18">
            <a:extLst>
              <a:ext uri="{FF2B5EF4-FFF2-40B4-BE49-F238E27FC236}">
                <a16:creationId xmlns:a16="http://schemas.microsoft.com/office/drawing/2014/main" id="{DC395E5B-F113-DE5F-EE76-F0EAD4ED6DC0}"/>
              </a:ext>
            </a:extLst>
          </p:cNvPr>
          <p:cNvSpPr/>
          <p:nvPr/>
        </p:nvSpPr>
        <p:spPr>
          <a:xfrm>
            <a:off x="6096000" y="4743450"/>
            <a:ext cx="381000" cy="381000"/>
          </a:xfrm>
          <a:prstGeom prst="ellipse">
            <a:avLst/>
          </a:prstGeom>
          <a:solidFill>
            <a:srgbClr val="29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sz="1500"/>
              <a:t>③</a:t>
            </a:r>
          </a:p>
        </p:txBody>
      </p:sp>
      <p:sp>
        <p:nvSpPr>
          <p:cNvPr id="20" name="Rectangle 19">
            <a:extLst>
              <a:ext uri="{FF2B5EF4-FFF2-40B4-BE49-F238E27FC236}">
                <a16:creationId xmlns:a16="http://schemas.microsoft.com/office/drawing/2014/main" id="{AB7CAF82-42C0-1734-095C-B22FDA7EC877}"/>
              </a:ext>
            </a:extLst>
          </p:cNvPr>
          <p:cNvSpPr/>
          <p:nvPr/>
        </p:nvSpPr>
        <p:spPr>
          <a:xfrm>
            <a:off x="6553200" y="4743450"/>
            <a:ext cx="5257800" cy="381000"/>
          </a:xfrm>
          <a:prstGeom prst="rect">
            <a:avLst/>
          </a:prstGeom>
          <a:solidFill>
            <a:srgbClr val="FFF5E6"/>
          </a:solidFill>
          <a:ln w="19050">
            <a:solidFill>
              <a:srgbClr val="2962FF"/>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b="1"/>
            </a:pPr>
            <a:r>
              <a:rPr>
                <a:solidFill>
                  <a:schemeClr val="tx1"/>
                </a:solidFill>
              </a:rPr>
              <a:t>学習状況の可視化</a:t>
            </a:r>
          </a:p>
        </p:txBody>
      </p:sp>
      <p:sp>
        <p:nvSpPr>
          <p:cNvPr id="21" name="Rectangle 20">
            <a:extLst>
              <a:ext uri="{FF2B5EF4-FFF2-40B4-BE49-F238E27FC236}">
                <a16:creationId xmlns:a16="http://schemas.microsoft.com/office/drawing/2014/main" id="{ACF21C3D-CDDF-B7AB-4243-D73645BC6725}"/>
              </a:ext>
            </a:extLst>
          </p:cNvPr>
          <p:cNvSpPr/>
          <p:nvPr/>
        </p:nvSpPr>
        <p:spPr>
          <a:xfrm>
            <a:off x="6096000" y="5276850"/>
            <a:ext cx="5715000" cy="1524000"/>
          </a:xfrm>
          <a:prstGeom prst="rect">
            <a:avLst/>
          </a:prstGeom>
          <a:solidFill>
            <a:schemeClr val="tx1"/>
          </a:solidFill>
          <a:ln w="38100">
            <a:solidFill>
              <a:srgbClr val="FFC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1000"/>
              </a:spcAft>
              <a:defRPr sz="3200" b="1">
                <a:solidFill>
                  <a:srgbClr val="C86400"/>
                </a:solidFill>
              </a:defRPr>
            </a:pPr>
            <a:r>
              <a:rPr sz="2667" dirty="0"/>
              <a:t>✨</a:t>
            </a:r>
            <a:r>
              <a:rPr sz="2667" dirty="0">
                <a:solidFill>
                  <a:srgbClr val="FFFF00"/>
                </a:solidFill>
              </a:rPr>
              <a:t>「</a:t>
            </a:r>
            <a:r>
              <a:rPr sz="2667" dirty="0" err="1">
                <a:solidFill>
                  <a:srgbClr val="FFFF00"/>
                </a:solidFill>
              </a:rPr>
              <a:t>魔法の黒板」の誕生</a:t>
            </a:r>
            <a:r>
              <a:rPr sz="2667" dirty="0"/>
              <a:t>✨</a:t>
            </a:r>
          </a:p>
          <a:p>
            <a:pPr algn="ctr">
              <a:defRPr sz="2000" b="1">
                <a:solidFill>
                  <a:srgbClr val="2962FF"/>
                </a:solidFill>
              </a:defRPr>
            </a:pPr>
            <a:r>
              <a:rPr sz="1667" dirty="0" err="1">
                <a:solidFill>
                  <a:schemeClr val="bg1"/>
                </a:solidFill>
              </a:rPr>
              <a:t>AI技術を活用した教育支援システム</a:t>
            </a:r>
            <a:endParaRPr sz="1667" dirty="0">
              <a:solidFill>
                <a:schemeClr val="bg1"/>
              </a:solidFill>
            </a:endParaRPr>
          </a:p>
        </p:txBody>
      </p:sp>
      <p:sp>
        <p:nvSpPr>
          <p:cNvPr id="22" name="テキスト ボックス 21">
            <a:extLst>
              <a:ext uri="{FF2B5EF4-FFF2-40B4-BE49-F238E27FC236}">
                <a16:creationId xmlns:a16="http://schemas.microsoft.com/office/drawing/2014/main" id="{623D4270-1ADA-5FD4-3559-AF8DB44A2953}"/>
              </a:ext>
            </a:extLst>
          </p:cNvPr>
          <p:cNvSpPr txBox="1"/>
          <p:nvPr/>
        </p:nvSpPr>
        <p:spPr>
          <a:xfrm>
            <a:off x="540659" y="251650"/>
            <a:ext cx="4270721"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研究の意義・発展性（その</a:t>
            </a:r>
            <a:r>
              <a:rPr kumimoji="1" lang="en-US" altLang="ja-JP" sz="2800" dirty="0">
                <a:latin typeface="MS UI Gothic" panose="020B0600070205080204" pitchFamily="34" charset="-128"/>
                <a:ea typeface="MS UI Gothic" panose="020B0600070205080204" pitchFamily="34" charset="-128"/>
              </a:rPr>
              <a:t>1</a:t>
            </a:r>
            <a:r>
              <a:rPr kumimoji="1" lang="ja-JP" altLang="en-US" sz="2800">
                <a:latin typeface="MS UI Gothic" panose="020B0600070205080204" pitchFamily="34" charset="-128"/>
                <a:ea typeface="MS UI Gothic" panose="020B0600070205080204" pitchFamily="34" charset="-128"/>
              </a:rPr>
              <a:t>）</a:t>
            </a:r>
          </a:p>
        </p:txBody>
      </p:sp>
      <p:sp>
        <p:nvSpPr>
          <p:cNvPr id="23" name="テキスト ボックス 22">
            <a:extLst>
              <a:ext uri="{FF2B5EF4-FFF2-40B4-BE49-F238E27FC236}">
                <a16:creationId xmlns:a16="http://schemas.microsoft.com/office/drawing/2014/main" id="{AA64A0BA-C81C-6942-BD70-5D750B006B09}"/>
              </a:ext>
            </a:extLst>
          </p:cNvPr>
          <p:cNvSpPr txBox="1"/>
          <p:nvPr/>
        </p:nvSpPr>
        <p:spPr>
          <a:xfrm>
            <a:off x="540659" y="861247"/>
            <a:ext cx="7346883"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背景：学生の学習における「つまずき」の問題</a:t>
            </a:r>
          </a:p>
        </p:txBody>
      </p:sp>
    </p:spTree>
    <p:extLst>
      <p:ext uri="{BB962C8B-B14F-4D97-AF65-F5344CB8AC3E}">
        <p14:creationId xmlns:p14="http://schemas.microsoft.com/office/powerpoint/2010/main" val="647242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474D6-D0DE-B8D2-CEA5-2D230A5625FD}"/>
            </a:ext>
          </a:extLst>
        </p:cNvPr>
        <p:cNvGrpSpPr/>
        <p:nvPr/>
      </p:nvGrpSpPr>
      <p:grpSpPr>
        <a:xfrm>
          <a:off x="0" y="0"/>
          <a:ext cx="0" cy="0"/>
          <a:chOff x="0" y="0"/>
          <a:chExt cx="0" cy="0"/>
        </a:xfrm>
      </p:grpSpPr>
      <p:sp>
        <p:nvSpPr>
          <p:cNvPr id="6" name="角丸四角形 5">
            <a:extLst>
              <a:ext uri="{FF2B5EF4-FFF2-40B4-BE49-F238E27FC236}">
                <a16:creationId xmlns:a16="http://schemas.microsoft.com/office/drawing/2014/main" id="{52E20E74-A02D-468C-3D6E-B00A23238465}"/>
              </a:ext>
            </a:extLst>
          </p:cNvPr>
          <p:cNvSpPr/>
          <p:nvPr/>
        </p:nvSpPr>
        <p:spPr>
          <a:xfrm>
            <a:off x="130633" y="1714497"/>
            <a:ext cx="6974188" cy="4767943"/>
          </a:xfrm>
          <a:prstGeom prst="roundRect">
            <a:avLst>
              <a:gd name="adj" fmla="val 639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D76767C8-F5DD-1E7E-7496-29775DF10787}"/>
              </a:ext>
            </a:extLst>
          </p:cNvPr>
          <p:cNvSpPr txBox="1"/>
          <p:nvPr/>
        </p:nvSpPr>
        <p:spPr>
          <a:xfrm>
            <a:off x="540659" y="251650"/>
            <a:ext cx="4270721"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研究の意義・発展性（その</a:t>
            </a:r>
            <a:r>
              <a:rPr kumimoji="1" lang="en-US" altLang="ja-JP" sz="2800" dirty="0">
                <a:latin typeface="MS UI Gothic" panose="020B0600070205080204" pitchFamily="34" charset="-128"/>
                <a:ea typeface="MS UI Gothic" panose="020B0600070205080204" pitchFamily="34" charset="-128"/>
              </a:rPr>
              <a:t>2</a:t>
            </a:r>
            <a:r>
              <a:rPr kumimoji="1" lang="ja-JP" altLang="en-US" sz="2800">
                <a:latin typeface="MS UI Gothic" panose="020B0600070205080204" pitchFamily="34" charset="-128"/>
                <a:ea typeface="MS UI Gothic" panose="020B0600070205080204" pitchFamily="34" charset="-128"/>
              </a:rPr>
              <a:t>）</a:t>
            </a:r>
          </a:p>
        </p:txBody>
      </p:sp>
      <p:sp>
        <p:nvSpPr>
          <p:cNvPr id="3" name="テキスト ボックス 2">
            <a:extLst>
              <a:ext uri="{FF2B5EF4-FFF2-40B4-BE49-F238E27FC236}">
                <a16:creationId xmlns:a16="http://schemas.microsoft.com/office/drawing/2014/main" id="{936ACB89-CE4A-1406-49BD-39857F8A2135}"/>
              </a:ext>
            </a:extLst>
          </p:cNvPr>
          <p:cNvSpPr txBox="1"/>
          <p:nvPr/>
        </p:nvSpPr>
        <p:spPr>
          <a:xfrm>
            <a:off x="540659" y="861247"/>
            <a:ext cx="5551520"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本研究の意義と将来への発展性</a:t>
            </a:r>
          </a:p>
        </p:txBody>
      </p:sp>
      <p:sp>
        <p:nvSpPr>
          <p:cNvPr id="4" name="テキスト ボックス 3">
            <a:extLst>
              <a:ext uri="{FF2B5EF4-FFF2-40B4-BE49-F238E27FC236}">
                <a16:creationId xmlns:a16="http://schemas.microsoft.com/office/drawing/2014/main" id="{231D068D-078B-E3A9-25D1-7F2FA5DF7D04}"/>
              </a:ext>
            </a:extLst>
          </p:cNvPr>
          <p:cNvSpPr txBox="1"/>
          <p:nvPr/>
        </p:nvSpPr>
        <p:spPr>
          <a:xfrm>
            <a:off x="165100" y="1943902"/>
            <a:ext cx="6058069" cy="1708160"/>
          </a:xfrm>
          <a:prstGeom prst="rect">
            <a:avLst/>
          </a:prstGeom>
          <a:noFill/>
        </p:spPr>
        <p:txBody>
          <a:bodyPr wrap="none" rtlCol="0">
            <a:spAutoFit/>
          </a:bodyPr>
          <a:lstStyle/>
          <a:p>
            <a:r>
              <a:rPr lang="en-US" altLang="ja-JP" sz="3200" dirty="0">
                <a:latin typeface="MS UI Gothic" panose="020B0600070205080204" pitchFamily="34" charset="-128"/>
                <a:ea typeface="MS UI Gothic" panose="020B0600070205080204" pitchFamily="34" charset="-128"/>
                <a:cs typeface="Yu Gothic" pitchFamily="34" charset="-120"/>
              </a:rPr>
              <a:t>🎯 </a:t>
            </a:r>
            <a:r>
              <a:rPr lang="en-US" altLang="ja-JP" sz="3200" dirty="0" err="1">
                <a:latin typeface="MS UI Gothic" panose="020B0600070205080204" pitchFamily="34" charset="-128"/>
                <a:ea typeface="MS UI Gothic" panose="020B0600070205080204" pitchFamily="34" charset="-128"/>
                <a:cs typeface="Yu Gothic" pitchFamily="34" charset="-120"/>
              </a:rPr>
              <a:t>主目的</a:t>
            </a:r>
            <a:r>
              <a:rPr lang="ja-JP" altLang="en-US" sz="3200">
                <a:latin typeface="MS UI Gothic" panose="020B0600070205080204" pitchFamily="34" charset="-128"/>
                <a:ea typeface="MS UI Gothic" panose="020B0600070205080204" pitchFamily="34" charset="-128"/>
                <a:cs typeface="Yu Gothic" pitchFamily="34" charset="-120"/>
              </a:rPr>
              <a:t>：</a:t>
            </a:r>
            <a:endParaRPr lang="en-US" altLang="ja-JP" sz="3200" dirty="0">
              <a:latin typeface="MS UI Gothic" panose="020B0600070205080204" pitchFamily="34" charset="-128"/>
              <a:ea typeface="MS UI Gothic" panose="020B0600070205080204" pitchFamily="34" charset="-128"/>
              <a:cs typeface="Yu Gothic" pitchFamily="34" charset="-120"/>
            </a:endParaRPr>
          </a:p>
          <a:p>
            <a:endParaRPr lang="en-US" altLang="ja-JP" sz="900" dirty="0">
              <a:latin typeface="MS UI Gothic" panose="020B0600070205080204" pitchFamily="34" charset="-128"/>
              <a:ea typeface="MS UI Gothic" panose="020B0600070205080204" pitchFamily="34" charset="-128"/>
              <a:cs typeface="Yu Gothic" pitchFamily="34" charset="-120"/>
            </a:endParaRPr>
          </a:p>
          <a:p>
            <a:r>
              <a:rPr lang="ja-JP" altLang="en-US" sz="3200">
                <a:latin typeface="MS UI Gothic" panose="020B0600070205080204" pitchFamily="34" charset="-128"/>
                <a:ea typeface="MS UI Gothic" panose="020B0600070205080204" pitchFamily="34" charset="-128"/>
                <a:cs typeface="Yu Gothic" pitchFamily="34" charset="-120"/>
              </a:rPr>
              <a:t>「魔法の黒板」が</a:t>
            </a:r>
            <a:r>
              <a:rPr lang="en-US" altLang="ja-JP" sz="3200" dirty="0" err="1">
                <a:latin typeface="MS UI Gothic" panose="020B0600070205080204" pitchFamily="34" charset="-128"/>
                <a:ea typeface="MS UI Gothic" panose="020B0600070205080204" pitchFamily="34" charset="-128"/>
                <a:cs typeface="Yu Gothic" pitchFamily="34" charset="-120"/>
              </a:rPr>
              <a:t>学生の学習成果に</a:t>
            </a:r>
            <a:endParaRPr lang="en-US" altLang="ja-JP" sz="3200" dirty="0">
              <a:latin typeface="MS UI Gothic" panose="020B0600070205080204" pitchFamily="34" charset="-128"/>
              <a:ea typeface="MS UI Gothic" panose="020B0600070205080204" pitchFamily="34" charset="-128"/>
              <a:cs typeface="Yu Gothic" pitchFamily="34" charset="-120"/>
            </a:endParaRPr>
          </a:p>
          <a:p>
            <a:r>
              <a:rPr lang="en-US" altLang="ja-JP" sz="3200" dirty="0" err="1">
                <a:latin typeface="MS UI Gothic" panose="020B0600070205080204" pitchFamily="34" charset="-128"/>
                <a:ea typeface="MS UI Gothic" panose="020B0600070205080204" pitchFamily="34" charset="-128"/>
                <a:cs typeface="Yu Gothic" pitchFamily="34" charset="-120"/>
              </a:rPr>
              <a:t>与える影響を明らかにする</a:t>
            </a:r>
            <a:endParaRPr lang="en-US" altLang="ja-JP" sz="3200" dirty="0">
              <a:latin typeface="MS UI Gothic" panose="020B0600070205080204" pitchFamily="34" charset="-128"/>
              <a:ea typeface="MS UI Gothic" panose="020B0600070205080204" pitchFamily="34" charset="-128"/>
            </a:endParaRPr>
          </a:p>
        </p:txBody>
      </p:sp>
      <p:sp>
        <p:nvSpPr>
          <p:cNvPr id="5" name="テキスト ボックス 4">
            <a:extLst>
              <a:ext uri="{FF2B5EF4-FFF2-40B4-BE49-F238E27FC236}">
                <a16:creationId xmlns:a16="http://schemas.microsoft.com/office/drawing/2014/main" id="{3469C74D-0316-1474-B611-3322C311D593}"/>
              </a:ext>
            </a:extLst>
          </p:cNvPr>
          <p:cNvSpPr txBox="1"/>
          <p:nvPr/>
        </p:nvSpPr>
        <p:spPr>
          <a:xfrm>
            <a:off x="165100" y="3927210"/>
            <a:ext cx="6939720" cy="2062103"/>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cs typeface="Yu Gothic" pitchFamily="34" charset="-120"/>
              </a:rPr>
              <a:t>📈</a:t>
            </a:r>
            <a:r>
              <a:rPr lang="en-US" altLang="ja-JP" sz="3200" dirty="0">
                <a:latin typeface="MS UI Gothic" panose="020B0600070205080204" pitchFamily="34" charset="-128"/>
                <a:ea typeface="MS UI Gothic" panose="020B0600070205080204" pitchFamily="34" charset="-128"/>
                <a:cs typeface="Yu Gothic" pitchFamily="34" charset="-120"/>
              </a:rPr>
              <a:t> </a:t>
            </a:r>
            <a:r>
              <a:rPr lang="ja-JP" altLang="en-US" sz="3200">
                <a:latin typeface="MS UI Gothic" panose="020B0600070205080204" pitchFamily="34" charset="-128"/>
                <a:ea typeface="MS UI Gothic" panose="020B0600070205080204" pitchFamily="34" charset="-128"/>
                <a:cs typeface="Yu Gothic" pitchFamily="34" charset="-120"/>
              </a:rPr>
              <a:t>副次的</a:t>
            </a:r>
            <a:r>
              <a:rPr lang="en-US" altLang="ja-JP" sz="3200" dirty="0" err="1">
                <a:latin typeface="MS UI Gothic" panose="020B0600070205080204" pitchFamily="34" charset="-128"/>
                <a:ea typeface="MS UI Gothic" panose="020B0600070205080204" pitchFamily="34" charset="-128"/>
                <a:cs typeface="Yu Gothic" pitchFamily="34" charset="-120"/>
              </a:rPr>
              <a:t>目的</a:t>
            </a:r>
            <a:r>
              <a:rPr lang="ja-JP" altLang="en-US" sz="3200">
                <a:latin typeface="MS UI Gothic" panose="020B0600070205080204" pitchFamily="34" charset="-128"/>
                <a:ea typeface="MS UI Gothic" panose="020B0600070205080204" pitchFamily="34" charset="-128"/>
                <a:cs typeface="Yu Gothic" pitchFamily="34" charset="-120"/>
              </a:rPr>
              <a:t>：</a:t>
            </a:r>
            <a:endParaRPr lang="en-US" altLang="ja-JP" sz="3200" dirty="0">
              <a:latin typeface="MS UI Gothic" panose="020B0600070205080204" pitchFamily="34" charset="-128"/>
              <a:ea typeface="MS UI Gothic" panose="020B0600070205080204" pitchFamily="34" charset="-128"/>
              <a:cs typeface="Yu Gothic" pitchFamily="34" charset="-120"/>
            </a:endParaRPr>
          </a:p>
          <a:p>
            <a:r>
              <a:rPr lang="ja-JP" altLang="en-US" sz="3200">
                <a:latin typeface="MS UI Gothic" panose="020B0600070205080204" pitchFamily="34" charset="-128"/>
                <a:ea typeface="MS UI Gothic" panose="020B0600070205080204" pitchFamily="34" charset="-128"/>
                <a:cs typeface="Yu Gothic" pitchFamily="34" charset="-120"/>
              </a:rPr>
              <a:t>　</a:t>
            </a:r>
            <a:r>
              <a:rPr lang="en-US" altLang="ja-JP" sz="3200" dirty="0">
                <a:latin typeface="MS UI Gothic" panose="020B0600070205080204" pitchFamily="34" charset="-128"/>
                <a:ea typeface="MS UI Gothic" panose="020B0600070205080204" pitchFamily="34" charset="-128"/>
                <a:cs typeface="Yu Gothic" pitchFamily="34" charset="-120"/>
              </a:rPr>
              <a:t>①</a:t>
            </a:r>
            <a:r>
              <a:rPr lang="en-US" altLang="ja-JP" sz="3200" dirty="0" err="1">
                <a:latin typeface="MS UI Gothic" panose="020B0600070205080204" pitchFamily="34" charset="-128"/>
                <a:ea typeface="MS UI Gothic" panose="020B0600070205080204" pitchFamily="34" charset="-128"/>
                <a:cs typeface="Yu Gothic" pitchFamily="34" charset="-120"/>
              </a:rPr>
              <a:t>学習行動・学習意欲の変化</a:t>
            </a:r>
            <a:endParaRPr lang="en-US" altLang="ja-JP" sz="3200" dirty="0">
              <a:latin typeface="MS UI Gothic" panose="020B0600070205080204" pitchFamily="34" charset="-128"/>
              <a:ea typeface="MS UI Gothic" panose="020B0600070205080204" pitchFamily="34" charset="-128"/>
              <a:cs typeface="Yu Gothic" pitchFamily="34" charset="-120"/>
            </a:endParaRPr>
          </a:p>
          <a:p>
            <a:r>
              <a:rPr lang="ja-JP" altLang="en-US" sz="3200">
                <a:latin typeface="MS UI Gothic" panose="020B0600070205080204" pitchFamily="34" charset="-128"/>
                <a:ea typeface="MS UI Gothic" panose="020B0600070205080204" pitchFamily="34" charset="-128"/>
              </a:rPr>
              <a:t>　</a:t>
            </a:r>
            <a:r>
              <a:rPr lang="en-US" altLang="ja-JP" sz="3200" dirty="0">
                <a:latin typeface="MS UI Gothic" panose="020B0600070205080204" pitchFamily="34" charset="-128"/>
                <a:ea typeface="MS UI Gothic" panose="020B0600070205080204" pitchFamily="34" charset="-128"/>
              </a:rPr>
              <a:t>②</a:t>
            </a:r>
            <a:r>
              <a:rPr lang="en-US" altLang="ja-JP" sz="3200" dirty="0">
                <a:latin typeface="MS UI Gothic" panose="020B0600070205080204" pitchFamily="34" charset="-128"/>
                <a:ea typeface="MS UI Gothic" panose="020B0600070205080204" pitchFamily="34" charset="-128"/>
                <a:cs typeface="Yu Gothic" pitchFamily="34" charset="-120"/>
              </a:rPr>
              <a:t> 「</a:t>
            </a:r>
            <a:r>
              <a:rPr lang="en-US" altLang="ja-JP" sz="3200" dirty="0" err="1">
                <a:latin typeface="MS UI Gothic" panose="020B0600070205080204" pitchFamily="34" charset="-128"/>
                <a:ea typeface="MS UI Gothic" panose="020B0600070205080204" pitchFamily="34" charset="-128"/>
                <a:cs typeface="Yu Gothic" pitchFamily="34" charset="-120"/>
              </a:rPr>
              <a:t>つまずきの地図」の作成</a:t>
            </a:r>
            <a:endParaRPr lang="en-US" altLang="ja-JP" sz="3200" dirty="0">
              <a:latin typeface="MS UI Gothic" panose="020B0600070205080204" pitchFamily="34" charset="-128"/>
              <a:ea typeface="MS UI Gothic" panose="020B0600070205080204" pitchFamily="34" charset="-128"/>
              <a:cs typeface="Yu Gothic" pitchFamily="34" charset="-120"/>
            </a:endParaRPr>
          </a:p>
          <a:p>
            <a:r>
              <a:rPr lang="ja-JP" altLang="en-US" sz="3200">
                <a:latin typeface="MS UI Gothic" panose="020B0600070205080204" pitchFamily="34" charset="-128"/>
                <a:ea typeface="MS UI Gothic" panose="020B0600070205080204" pitchFamily="34" charset="-128"/>
                <a:cs typeface="Yu Gothic" pitchFamily="34" charset="-120"/>
              </a:rPr>
              <a:t>　→　</a:t>
            </a:r>
            <a:r>
              <a:rPr lang="en-US" altLang="ja-JP" sz="3200" dirty="0" err="1">
                <a:latin typeface="MS UI Gothic" panose="020B0600070205080204" pitchFamily="34" charset="-128"/>
                <a:ea typeface="MS UI Gothic" panose="020B0600070205080204" pitchFamily="34" charset="-128"/>
                <a:cs typeface="Yu Gothic" pitchFamily="34" charset="-120"/>
              </a:rPr>
              <a:t>講義改善</a:t>
            </a:r>
            <a:r>
              <a:rPr lang="ja-JP" altLang="en-US" sz="3200">
                <a:latin typeface="MS UI Gothic" panose="020B0600070205080204" pitchFamily="34" charset="-128"/>
                <a:ea typeface="MS UI Gothic" panose="020B0600070205080204" pitchFamily="34" charset="-128"/>
                <a:cs typeface="Yu Gothic" pitchFamily="34" charset="-120"/>
              </a:rPr>
              <a:t>・演習問題作成への活用</a:t>
            </a:r>
            <a:endParaRPr lang="en-US" altLang="ja-JP" sz="3200" dirty="0">
              <a:latin typeface="MS UI Gothic" panose="020B0600070205080204" pitchFamily="34" charset="-128"/>
              <a:ea typeface="MS UI Gothic" panose="020B0600070205080204" pitchFamily="34" charset="-128"/>
            </a:endParaRPr>
          </a:p>
        </p:txBody>
      </p:sp>
      <p:sp>
        <p:nvSpPr>
          <p:cNvPr id="8" name="角丸四角形 7">
            <a:extLst>
              <a:ext uri="{FF2B5EF4-FFF2-40B4-BE49-F238E27FC236}">
                <a16:creationId xmlns:a16="http://schemas.microsoft.com/office/drawing/2014/main" id="{124925CF-C033-6D08-9539-B4297AE1C79B}"/>
              </a:ext>
            </a:extLst>
          </p:cNvPr>
          <p:cNvSpPr/>
          <p:nvPr/>
        </p:nvSpPr>
        <p:spPr>
          <a:xfrm>
            <a:off x="7298881" y="1714496"/>
            <a:ext cx="4758949" cy="4767943"/>
          </a:xfrm>
          <a:prstGeom prst="roundRect">
            <a:avLst>
              <a:gd name="adj" fmla="val 639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1D1A5FD9-52B6-B2DD-2168-B0FF8ACE76C3}"/>
              </a:ext>
            </a:extLst>
          </p:cNvPr>
          <p:cNvSpPr txBox="1"/>
          <p:nvPr/>
        </p:nvSpPr>
        <p:spPr>
          <a:xfrm>
            <a:off x="7805067" y="1943902"/>
            <a:ext cx="3316934"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🚀将来への発展性</a:t>
            </a:r>
          </a:p>
        </p:txBody>
      </p:sp>
      <p:sp>
        <p:nvSpPr>
          <p:cNvPr id="10" name="テキスト ボックス 9">
            <a:extLst>
              <a:ext uri="{FF2B5EF4-FFF2-40B4-BE49-F238E27FC236}">
                <a16:creationId xmlns:a16="http://schemas.microsoft.com/office/drawing/2014/main" id="{6A180D3E-D928-7F8F-163D-4A53F7ADE001}"/>
              </a:ext>
            </a:extLst>
          </p:cNvPr>
          <p:cNvSpPr txBox="1"/>
          <p:nvPr/>
        </p:nvSpPr>
        <p:spPr>
          <a:xfrm>
            <a:off x="7560609" y="2669923"/>
            <a:ext cx="4004622" cy="3970318"/>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★他の専門科目への発展</a:t>
            </a:r>
            <a:endParaRPr lang="en-US" altLang="ja-JP" sz="2800" dirty="0">
              <a:latin typeface="MS UI Gothic" panose="020B0600070205080204" pitchFamily="34" charset="-128"/>
              <a:ea typeface="MS UI Gothic" panose="020B0600070205080204" pitchFamily="34" charset="-128"/>
            </a:endParaRPr>
          </a:p>
          <a:p>
            <a:endParaRPr lang="en-US" altLang="ja-JP" sz="2800" dirty="0">
              <a:latin typeface="MS UI Gothic" panose="020B0600070205080204" pitchFamily="34" charset="-128"/>
              <a:ea typeface="MS UI Gothic" panose="020B0600070205080204" pitchFamily="34" charset="-128"/>
            </a:endParaRPr>
          </a:p>
          <a:p>
            <a:r>
              <a:rPr lang="ja-JP" altLang="en-US" sz="2800">
                <a:latin typeface="MS UI Gothic" panose="020B0600070205080204" pitchFamily="34" charset="-128"/>
                <a:ea typeface="MS UI Gothic" panose="020B0600070205080204" pitchFamily="34" charset="-128"/>
              </a:rPr>
              <a:t>★他大学への導入支援</a:t>
            </a:r>
            <a:endParaRPr lang="en-US" altLang="ja-JP" sz="2800" dirty="0">
              <a:latin typeface="MS UI Gothic" panose="020B0600070205080204" pitchFamily="34" charset="-128"/>
              <a:ea typeface="MS UI Gothic" panose="020B0600070205080204" pitchFamily="34" charset="-128"/>
            </a:endParaRPr>
          </a:p>
          <a:p>
            <a:endParaRPr lang="en-US" altLang="ja-JP" sz="2800" dirty="0">
              <a:latin typeface="MS UI Gothic" panose="020B0600070205080204" pitchFamily="34" charset="-128"/>
              <a:ea typeface="MS UI Gothic" panose="020B0600070205080204" pitchFamily="34" charset="-128"/>
            </a:endParaRPr>
          </a:p>
          <a:p>
            <a:r>
              <a:rPr lang="ja-JP" altLang="en-US" sz="2800">
                <a:latin typeface="MS UI Gothic" panose="020B0600070205080204" pitchFamily="34" charset="-128"/>
                <a:ea typeface="MS UI Gothic" panose="020B0600070205080204" pitchFamily="34" charset="-128"/>
              </a:rPr>
              <a:t>★</a:t>
            </a:r>
            <a:r>
              <a:rPr lang="en-US" altLang="ja-JP" sz="2800" dirty="0">
                <a:latin typeface="MS UI Gothic" panose="020B0600070205080204" pitchFamily="34" charset="-128"/>
                <a:ea typeface="MS UI Gothic" panose="020B0600070205080204" pitchFamily="34" charset="-128"/>
              </a:rPr>
              <a:t>AI</a:t>
            </a:r>
            <a:r>
              <a:rPr lang="ja-JP" altLang="en-US" sz="2800">
                <a:latin typeface="MS UI Gothic" panose="020B0600070205080204" pitchFamily="34" charset="-128"/>
                <a:ea typeface="MS UI Gothic" panose="020B0600070205080204" pitchFamily="34" charset="-128"/>
              </a:rPr>
              <a:t>教育研究の発展</a:t>
            </a:r>
            <a:endParaRPr lang="en-US" altLang="ja-JP" sz="2800" dirty="0">
              <a:latin typeface="MS UI Gothic" panose="020B0600070205080204" pitchFamily="34" charset="-128"/>
              <a:ea typeface="MS UI Gothic" panose="020B0600070205080204" pitchFamily="34" charset="-128"/>
            </a:endParaRPr>
          </a:p>
          <a:p>
            <a:r>
              <a:rPr lang="ja-JP" altLang="en-US" sz="2800">
                <a:latin typeface="MS UI Gothic" panose="020B0600070205080204" pitchFamily="34" charset="-128"/>
                <a:ea typeface="MS UI Gothic" panose="020B0600070205080204" pitchFamily="34" charset="-128"/>
              </a:rPr>
              <a:t>　（専門領域における</a:t>
            </a:r>
            <a:endParaRPr lang="en-US" altLang="ja-JP" sz="2800" dirty="0">
              <a:latin typeface="MS UI Gothic" panose="020B0600070205080204" pitchFamily="34" charset="-128"/>
              <a:ea typeface="MS UI Gothic" panose="020B0600070205080204" pitchFamily="34" charset="-128"/>
            </a:endParaRPr>
          </a:p>
          <a:p>
            <a:r>
              <a:rPr lang="ja-JP" altLang="en-US" sz="2800">
                <a:latin typeface="MS UI Gothic" panose="020B0600070205080204" pitchFamily="34" charset="-128"/>
                <a:ea typeface="MS UI Gothic" panose="020B0600070205080204" pitchFamily="34" charset="-128"/>
              </a:rPr>
              <a:t>　　　　　　　　知見の蓄積）</a:t>
            </a:r>
            <a:endParaRPr lang="en-US" altLang="ja-JP" sz="2800" dirty="0">
              <a:latin typeface="MS UI Gothic" panose="020B0600070205080204" pitchFamily="34" charset="-128"/>
              <a:ea typeface="MS UI Gothic" panose="020B0600070205080204" pitchFamily="34" charset="-128"/>
            </a:endParaRPr>
          </a:p>
          <a:p>
            <a:endParaRPr lang="en-US" altLang="ja-JP" sz="2800" dirty="0">
              <a:latin typeface="MS UI Gothic" panose="020B0600070205080204" pitchFamily="34" charset="-128"/>
              <a:ea typeface="MS UI Gothic" panose="020B0600070205080204" pitchFamily="34" charset="-128"/>
            </a:endParaRPr>
          </a:p>
          <a:p>
            <a:endParaRPr lang="en-US" altLang="ja-JP" sz="2800" dirty="0">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2566385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 14">
            <a:extLst>
              <a:ext uri="{FF2B5EF4-FFF2-40B4-BE49-F238E27FC236}">
                <a16:creationId xmlns:a16="http://schemas.microsoft.com/office/drawing/2014/main" id="{F59DFCDB-92FE-B3B3-3984-870ED357B1CC}"/>
              </a:ext>
            </a:extLst>
          </p:cNvPr>
          <p:cNvSpPr/>
          <p:nvPr/>
        </p:nvSpPr>
        <p:spPr>
          <a:xfrm>
            <a:off x="609600" y="5837692"/>
            <a:ext cx="10972800" cy="1000923"/>
          </a:xfrm>
          <a:prstGeom prst="rect">
            <a:avLst/>
          </a:prstGeom>
          <a:solidFill>
            <a:schemeClr val="accent3">
              <a:lumMod val="20000"/>
              <a:lumOff val="80000"/>
            </a:schemeClr>
          </a:solidFill>
          <a:ln/>
        </p:spPr>
        <p:txBody>
          <a:bodyPr/>
          <a:lstStyle/>
          <a:p>
            <a:endParaRPr lang="ja-JP" altLang="en-US" sz="2400"/>
          </a:p>
        </p:txBody>
      </p:sp>
      <p:sp>
        <p:nvSpPr>
          <p:cNvPr id="4" name="Shape 2"/>
          <p:cNvSpPr/>
          <p:nvPr/>
        </p:nvSpPr>
        <p:spPr>
          <a:xfrm>
            <a:off x="340778" y="1544904"/>
            <a:ext cx="4402667" cy="4216998"/>
          </a:xfrm>
          <a:prstGeom prst="rect">
            <a:avLst/>
          </a:prstGeom>
          <a:solidFill>
            <a:srgbClr val="D5F4E6"/>
          </a:solidFill>
          <a:ln w="25400">
            <a:solidFill>
              <a:srgbClr val="27AE60"/>
            </a:solidFill>
            <a:prstDash val="solid"/>
          </a:ln>
        </p:spPr>
        <p:txBody>
          <a:bodyPr/>
          <a:lstStyle/>
          <a:p>
            <a:pPr algn="ctr"/>
            <a:endParaRPr lang="en-US" altLang="ja-JP" sz="900" dirty="0">
              <a:latin typeface="MS UI Gothic" panose="020B0600070205080204" pitchFamily="34" charset="-128"/>
              <a:ea typeface="MS UI Gothic" panose="020B0600070205080204" pitchFamily="34" charset="-128"/>
            </a:endParaRPr>
          </a:p>
          <a:p>
            <a:pPr algn="ctr"/>
            <a:r>
              <a:rPr lang="ja-JP" altLang="en-US" sz="2800">
                <a:latin typeface="MS UI Gothic" panose="020B0600070205080204" pitchFamily="34" charset="-128"/>
                <a:ea typeface="MS UI Gothic" panose="020B0600070205080204" pitchFamily="34" charset="-128"/>
              </a:rPr>
              <a:t>学生入力画面</a:t>
            </a:r>
            <a:endParaRPr lang="en-US" altLang="ja-JP" sz="2800" dirty="0">
              <a:latin typeface="MS UI Gothic" panose="020B0600070205080204" pitchFamily="34" charset="-128"/>
              <a:ea typeface="MS UI Gothic" panose="020B0600070205080204" pitchFamily="34" charset="-128"/>
            </a:endParaRPr>
          </a:p>
        </p:txBody>
      </p:sp>
      <p:grpSp>
        <p:nvGrpSpPr>
          <p:cNvPr id="18" name="グループ化 17">
            <a:extLst>
              <a:ext uri="{FF2B5EF4-FFF2-40B4-BE49-F238E27FC236}">
                <a16:creationId xmlns:a16="http://schemas.microsoft.com/office/drawing/2014/main" id="{64AE10B2-167D-21C0-331A-4DAD20625D41}"/>
              </a:ext>
            </a:extLst>
          </p:cNvPr>
          <p:cNvGrpSpPr/>
          <p:nvPr/>
        </p:nvGrpSpPr>
        <p:grpSpPr>
          <a:xfrm>
            <a:off x="4808685" y="2172449"/>
            <a:ext cx="2293114" cy="2926080"/>
            <a:chOff x="4808685" y="1906675"/>
            <a:chExt cx="2293114" cy="2926080"/>
          </a:xfrm>
        </p:grpSpPr>
        <p:sp>
          <p:nvSpPr>
            <p:cNvPr id="12" name="右矢印 11">
              <a:extLst>
                <a:ext uri="{FF2B5EF4-FFF2-40B4-BE49-F238E27FC236}">
                  <a16:creationId xmlns:a16="http://schemas.microsoft.com/office/drawing/2014/main" id="{D8BE4019-F31F-0748-6936-B534D6BF21C3}"/>
                </a:ext>
              </a:extLst>
            </p:cNvPr>
            <p:cNvSpPr/>
            <p:nvPr/>
          </p:nvSpPr>
          <p:spPr>
            <a:xfrm>
              <a:off x="4808685" y="3145313"/>
              <a:ext cx="2293114" cy="484632"/>
            </a:xfrm>
            <a:prstGeom prst="rightArrow">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7" name="グループ化 16">
              <a:extLst>
                <a:ext uri="{FF2B5EF4-FFF2-40B4-BE49-F238E27FC236}">
                  <a16:creationId xmlns:a16="http://schemas.microsoft.com/office/drawing/2014/main" id="{BACAF911-815B-9E02-1541-05660B305C06}"/>
                </a:ext>
              </a:extLst>
            </p:cNvPr>
            <p:cNvGrpSpPr/>
            <p:nvPr/>
          </p:nvGrpSpPr>
          <p:grpSpPr>
            <a:xfrm>
              <a:off x="5216132" y="1906675"/>
              <a:ext cx="1463040" cy="2926080"/>
              <a:chOff x="5216132" y="1906675"/>
              <a:chExt cx="1463040" cy="2926080"/>
            </a:xfrm>
          </p:grpSpPr>
          <p:sp>
            <p:nvSpPr>
              <p:cNvPr id="6" name="Shape 4"/>
              <p:cNvSpPr/>
              <p:nvPr/>
            </p:nvSpPr>
            <p:spPr>
              <a:xfrm>
                <a:off x="5216132" y="1906675"/>
                <a:ext cx="1463040" cy="2926080"/>
              </a:xfrm>
              <a:prstGeom prst="rect">
                <a:avLst/>
              </a:prstGeom>
              <a:solidFill>
                <a:schemeClr val="accent6">
                  <a:lumMod val="40000"/>
                  <a:lumOff val="60000"/>
                </a:schemeClr>
              </a:solidFill>
              <a:ln>
                <a:solidFill>
                  <a:schemeClr val="accent6"/>
                </a:solidFill>
              </a:ln>
            </p:spPr>
            <p:txBody>
              <a:bodyPr/>
              <a:lstStyle/>
              <a:p>
                <a:endParaRPr lang="ja-JP" altLang="en-US" sz="2400"/>
              </a:p>
            </p:txBody>
          </p:sp>
          <p:sp>
            <p:nvSpPr>
              <p:cNvPr id="7" name="Text 5"/>
              <p:cNvSpPr/>
              <p:nvPr/>
            </p:nvSpPr>
            <p:spPr>
              <a:xfrm>
                <a:off x="5216132" y="3010050"/>
                <a:ext cx="1463040" cy="731520"/>
              </a:xfrm>
              <a:prstGeom prst="rect">
                <a:avLst/>
              </a:prstGeom>
              <a:noFill/>
              <a:ln/>
            </p:spPr>
            <p:txBody>
              <a:bodyPr wrap="square" rtlCol="0" anchor="ctr"/>
              <a:lstStyle/>
              <a:p>
                <a:pPr algn="ctr"/>
                <a:r>
                  <a:rPr lang="en-US" dirty="0" err="1">
                    <a:latin typeface="MS UI Gothic" panose="020B0600070205080204" pitchFamily="34" charset="-128"/>
                    <a:ea typeface="MS UI Gothic" panose="020B0600070205080204" pitchFamily="34" charset="-128"/>
                  </a:rPr>
                  <a:t>技術基盤</a:t>
                </a:r>
                <a:r>
                  <a:rPr lang="en-US" dirty="0">
                    <a:latin typeface="MS UI Gothic" panose="020B0600070205080204" pitchFamily="34" charset="-128"/>
                    <a:ea typeface="MS UI Gothic" panose="020B0600070205080204" pitchFamily="34" charset="-128"/>
                  </a:rPr>
                  <a:t>：</a:t>
                </a:r>
              </a:p>
              <a:p>
                <a:pPr algn="ctr"/>
                <a:r>
                  <a:rPr lang="en-US" dirty="0" err="1">
                    <a:latin typeface="MS UI Gothic" panose="020B0600070205080204" pitchFamily="34" charset="-128"/>
                    <a:ea typeface="MS UI Gothic" panose="020B0600070205080204" pitchFamily="34" charset="-128"/>
                  </a:rPr>
                  <a:t>AIエンジン</a:t>
                </a:r>
                <a:endParaRPr lang="en-US" dirty="0">
                  <a:latin typeface="MS UI Gothic" panose="020B0600070205080204" pitchFamily="34" charset="-128"/>
                  <a:ea typeface="MS UI Gothic" panose="020B0600070205080204" pitchFamily="34" charset="-128"/>
                </a:endParaRPr>
              </a:p>
              <a:p>
                <a:pPr algn="ctr"/>
                <a:r>
                  <a:rPr lang="en-US" dirty="0">
                    <a:latin typeface="MS UI Gothic" panose="020B0600070205080204" pitchFamily="34" charset="-128"/>
                    <a:ea typeface="MS UI Gothic" panose="020B0600070205080204" pitchFamily="34" charset="-128"/>
                  </a:rPr>
                  <a:t>RAG</a:t>
                </a:r>
              </a:p>
              <a:p>
                <a:pPr algn="ctr"/>
                <a:r>
                  <a:rPr lang="en-US" dirty="0">
                    <a:latin typeface="MS UI Gothic" panose="020B0600070205080204" pitchFamily="34" charset="-128"/>
                    <a:ea typeface="MS UI Gothic" panose="020B0600070205080204" pitchFamily="34" charset="-128"/>
                  </a:rPr>
                  <a:t>+</a:t>
                </a:r>
              </a:p>
              <a:p>
                <a:pPr algn="ctr"/>
                <a:r>
                  <a:rPr lang="en-US" dirty="0" err="1">
                    <a:latin typeface="MS UI Gothic" panose="020B0600070205080204" pitchFamily="34" charset="-128"/>
                    <a:ea typeface="MS UI Gothic" panose="020B0600070205080204" pitchFamily="34" charset="-128"/>
                  </a:rPr>
                  <a:t>知識ベース</a:t>
                </a:r>
                <a:endParaRPr lang="en-US" dirty="0">
                  <a:latin typeface="MS UI Gothic" panose="020B0600070205080204" pitchFamily="34" charset="-128"/>
                  <a:ea typeface="MS UI Gothic" panose="020B0600070205080204" pitchFamily="34" charset="-128"/>
                </a:endParaRPr>
              </a:p>
              <a:p>
                <a:pPr algn="ctr"/>
                <a:r>
                  <a:rPr lang="en-US" dirty="0">
                    <a:latin typeface="MS UI Gothic" panose="020B0600070205080204" pitchFamily="34" charset="-128"/>
                    <a:ea typeface="MS UI Gothic" panose="020B0600070205080204" pitchFamily="34" charset="-128"/>
                  </a:rPr>
                  <a:t>（</a:t>
                </a:r>
                <a:r>
                  <a:rPr lang="en-US" altLang="ja-JP" dirty="0">
                    <a:latin typeface="MS UI Gothic" panose="020B0600070205080204" pitchFamily="34" charset="-128"/>
                    <a:ea typeface="MS UI Gothic" panose="020B0600070205080204" pitchFamily="34" charset="-128"/>
                  </a:rPr>
                  <a:t>137</a:t>
                </a:r>
                <a:r>
                  <a:rPr lang="ja-JP" altLang="en-US">
                    <a:latin typeface="MS UI Gothic" panose="020B0600070205080204" pitchFamily="34" charset="-128"/>
                    <a:ea typeface="MS UI Gothic" panose="020B0600070205080204" pitchFamily="34" charset="-128"/>
                  </a:rPr>
                  <a:t>項目）</a:t>
                </a:r>
                <a:endParaRPr lang="en-US" altLang="ja-JP" dirty="0">
                  <a:latin typeface="MS UI Gothic" panose="020B0600070205080204" pitchFamily="34" charset="-128"/>
                  <a:ea typeface="MS UI Gothic" panose="020B0600070205080204" pitchFamily="34" charset="-128"/>
                </a:endParaRPr>
              </a:p>
              <a:p>
                <a:pPr algn="ctr"/>
                <a:r>
                  <a:rPr lang="ja-JP" altLang="en-US">
                    <a:latin typeface="MS UI Gothic" panose="020B0600070205080204" pitchFamily="34" charset="-128"/>
                    <a:ea typeface="MS UI Gothic" panose="020B0600070205080204" pitchFamily="34" charset="-128"/>
                  </a:rPr>
                  <a:t>著作権クリア教材</a:t>
                </a:r>
                <a:endParaRPr lang="en-US" dirty="0">
                  <a:latin typeface="MS UI Gothic" panose="020B0600070205080204" pitchFamily="34" charset="-128"/>
                  <a:ea typeface="MS UI Gothic" panose="020B0600070205080204" pitchFamily="34" charset="-128"/>
                </a:endParaRPr>
              </a:p>
            </p:txBody>
          </p:sp>
        </p:grpSp>
      </p:grpSp>
      <p:sp>
        <p:nvSpPr>
          <p:cNvPr id="8" name="Shape 6"/>
          <p:cNvSpPr/>
          <p:nvPr/>
        </p:nvSpPr>
        <p:spPr>
          <a:xfrm>
            <a:off x="7139899" y="1544904"/>
            <a:ext cx="4677834" cy="4216998"/>
          </a:xfrm>
          <a:prstGeom prst="rect">
            <a:avLst/>
          </a:prstGeom>
          <a:solidFill>
            <a:srgbClr val="FEF5E7"/>
          </a:solidFill>
          <a:ln w="25400">
            <a:solidFill>
              <a:srgbClr val="F39C12"/>
            </a:solidFill>
            <a:prstDash val="solid"/>
          </a:ln>
        </p:spPr>
        <p:txBody>
          <a:bodyPr/>
          <a:lstStyle/>
          <a:p>
            <a:pPr algn="ctr"/>
            <a:endParaRPr lang="en-US" altLang="ja-JP" sz="900" dirty="0">
              <a:latin typeface="MS UI Gothic" panose="020B0600070205080204" pitchFamily="34" charset="-128"/>
              <a:ea typeface="MS UI Gothic" panose="020B0600070205080204" pitchFamily="34" charset="-128"/>
            </a:endParaRPr>
          </a:p>
          <a:p>
            <a:pPr algn="ctr"/>
            <a:r>
              <a:rPr lang="ja-JP" altLang="en-US" sz="2800">
                <a:latin typeface="MS UI Gothic" panose="020B0600070205080204" pitchFamily="34" charset="-128"/>
                <a:ea typeface="MS UI Gothic" panose="020B0600070205080204" pitchFamily="34" charset="-128"/>
              </a:rPr>
              <a:t>教員確認画面</a:t>
            </a:r>
          </a:p>
        </p:txBody>
      </p:sp>
      <p:sp>
        <p:nvSpPr>
          <p:cNvPr id="2" name="テキスト ボックス 1">
            <a:extLst>
              <a:ext uri="{FF2B5EF4-FFF2-40B4-BE49-F238E27FC236}">
                <a16:creationId xmlns:a16="http://schemas.microsoft.com/office/drawing/2014/main" id="{3CDE7700-AFE1-DABF-3A17-3B4E06567639}"/>
              </a:ext>
            </a:extLst>
          </p:cNvPr>
          <p:cNvSpPr txBox="1"/>
          <p:nvPr/>
        </p:nvSpPr>
        <p:spPr>
          <a:xfrm>
            <a:off x="540659" y="251650"/>
            <a:ext cx="3530134"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教育・</a:t>
            </a:r>
            <a:r>
              <a:rPr kumimoji="1" lang="ja-JP" altLang="en-US" sz="2800">
                <a:latin typeface="MS UI Gothic" panose="020B0600070205080204" pitchFamily="34" charset="-128"/>
                <a:ea typeface="MS UI Gothic" panose="020B0600070205080204" pitchFamily="34" charset="-128"/>
              </a:rPr>
              <a:t>研究上の新規性</a:t>
            </a:r>
          </a:p>
        </p:txBody>
      </p:sp>
      <p:sp>
        <p:nvSpPr>
          <p:cNvPr id="3" name="テキスト ボックス 2">
            <a:extLst>
              <a:ext uri="{FF2B5EF4-FFF2-40B4-BE49-F238E27FC236}">
                <a16:creationId xmlns:a16="http://schemas.microsoft.com/office/drawing/2014/main" id="{7F0AC8C3-2F0E-4D53-83C1-319982FA814B}"/>
              </a:ext>
            </a:extLst>
          </p:cNvPr>
          <p:cNvSpPr txBox="1"/>
          <p:nvPr/>
        </p:nvSpPr>
        <p:spPr>
          <a:xfrm>
            <a:off x="540659" y="861247"/>
            <a:ext cx="5190845"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「魔法の黒板」のシステム概要</a:t>
            </a:r>
            <a:endParaRPr kumimoji="1" lang="ja-JP" altLang="en-US" sz="3200">
              <a:latin typeface="MS UI Gothic" panose="020B0600070205080204" pitchFamily="34" charset="-128"/>
              <a:ea typeface="MS UI Gothic" panose="020B0600070205080204" pitchFamily="34" charset="-128"/>
            </a:endParaRPr>
          </a:p>
        </p:txBody>
      </p:sp>
      <p:sp>
        <p:nvSpPr>
          <p:cNvPr id="10" name="テキスト ボックス 9">
            <a:extLst>
              <a:ext uri="{FF2B5EF4-FFF2-40B4-BE49-F238E27FC236}">
                <a16:creationId xmlns:a16="http://schemas.microsoft.com/office/drawing/2014/main" id="{1EF88AE0-AE90-453F-E611-010939A2819F}"/>
              </a:ext>
            </a:extLst>
          </p:cNvPr>
          <p:cNvSpPr txBox="1"/>
          <p:nvPr/>
        </p:nvSpPr>
        <p:spPr>
          <a:xfrm>
            <a:off x="556666" y="5861100"/>
            <a:ext cx="11078674" cy="954107"/>
          </a:xfrm>
          <a:prstGeom prst="rect">
            <a:avLst/>
          </a:prstGeom>
          <a:noFill/>
        </p:spPr>
        <p:txBody>
          <a:bodyPr wrap="none" rtlCol="0">
            <a:spAutoFit/>
          </a:bodyPr>
          <a:lstStyle/>
          <a:p>
            <a:pPr algn="ctr"/>
            <a:r>
              <a:rPr lang="en-US" altLang="ja-JP" sz="2800" dirty="0" err="1">
                <a:latin typeface="MS UI Gothic" panose="020B0600070205080204" pitchFamily="34" charset="-128"/>
                <a:ea typeface="MS UI Gothic" panose="020B0600070205080204" pitchFamily="34" charset="-128"/>
              </a:rPr>
              <a:t>国内外での位置づけ</a:t>
            </a:r>
            <a:r>
              <a:rPr lang="en-US" altLang="ja-JP" sz="2800" dirty="0">
                <a:latin typeface="MS UI Gothic" panose="020B0600070205080204" pitchFamily="34" charset="-128"/>
                <a:ea typeface="MS UI Gothic" panose="020B0600070205080204" pitchFamily="34" charset="-128"/>
              </a:rPr>
              <a:t>:</a:t>
            </a:r>
          </a:p>
          <a:p>
            <a:pPr algn="ctr"/>
            <a:r>
              <a:rPr lang="ja-JP" altLang="en-US" sz="2800">
                <a:latin typeface="MS UI Gothic" panose="020B0600070205080204" pitchFamily="34" charset="-128"/>
                <a:ea typeface="MS UI Gothic" panose="020B0600070205080204" pitchFamily="34" charset="-128"/>
              </a:rPr>
              <a:t>専門領域（</a:t>
            </a:r>
            <a:r>
              <a:rPr lang="en-US" altLang="ja-JP" sz="2800" dirty="0" err="1">
                <a:latin typeface="MS UI Gothic" panose="020B0600070205080204" pitchFamily="34" charset="-128"/>
                <a:ea typeface="MS UI Gothic" panose="020B0600070205080204" pitchFamily="34" charset="-128"/>
              </a:rPr>
              <a:t>薬学教育</a:t>
            </a:r>
            <a:r>
              <a:rPr lang="ja-JP" altLang="en-US" sz="2800">
                <a:latin typeface="MS UI Gothic" panose="020B0600070205080204" pitchFamily="34" charset="-128"/>
                <a:ea typeface="MS UI Gothic" panose="020B0600070205080204" pitchFamily="34" charset="-128"/>
              </a:rPr>
              <a:t>）</a:t>
            </a:r>
            <a:r>
              <a:rPr lang="en-US" altLang="ja-JP" sz="2800" dirty="0" err="1">
                <a:latin typeface="MS UI Gothic" panose="020B0600070205080204" pitchFamily="34" charset="-128"/>
                <a:ea typeface="MS UI Gothic" panose="020B0600070205080204" pitchFamily="34" charset="-128"/>
              </a:rPr>
              <a:t>における生成系AIの体系的導入・実証研究は先駆的</a:t>
            </a:r>
            <a:endParaRPr kumimoji="1" lang="ja-JP" altLang="en-US" sz="2800">
              <a:latin typeface="MS UI Gothic" panose="020B0600070205080204" pitchFamily="34" charset="-128"/>
              <a:ea typeface="MS UI Gothic" panose="020B0600070205080204" pitchFamily="34" charset="-128"/>
            </a:endParaRPr>
          </a:p>
        </p:txBody>
      </p:sp>
      <p:sp>
        <p:nvSpPr>
          <p:cNvPr id="13" name="テキスト ボックス 12">
            <a:extLst>
              <a:ext uri="{FF2B5EF4-FFF2-40B4-BE49-F238E27FC236}">
                <a16:creationId xmlns:a16="http://schemas.microsoft.com/office/drawing/2014/main" id="{A3E98F05-2721-3BDC-6A72-65B443CB3806}"/>
              </a:ext>
            </a:extLst>
          </p:cNvPr>
          <p:cNvSpPr txBox="1"/>
          <p:nvPr/>
        </p:nvSpPr>
        <p:spPr>
          <a:xfrm>
            <a:off x="708975" y="2540409"/>
            <a:ext cx="3889206" cy="954107"/>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a:t>
            </a:r>
            <a:r>
              <a:rPr kumimoji="1" lang="en-US" altLang="ja-JP" sz="2800" dirty="0">
                <a:solidFill>
                  <a:srgbClr val="FF0000"/>
                </a:solidFill>
                <a:latin typeface="MS UI Gothic" panose="020B0600070205080204" pitchFamily="34" charset="-128"/>
                <a:ea typeface="MS UI Gothic" panose="020B0600070205080204" pitchFamily="34" charset="-128"/>
              </a:rPr>
              <a:t>24</a:t>
            </a:r>
            <a:r>
              <a:rPr kumimoji="1" lang="ja-JP" altLang="en-US" sz="2800">
                <a:solidFill>
                  <a:srgbClr val="FF0000"/>
                </a:solidFill>
                <a:latin typeface="MS UI Gothic" panose="020B0600070205080204" pitchFamily="34" charset="-128"/>
                <a:ea typeface="MS UI Gothic" panose="020B0600070205080204" pitchFamily="34" charset="-128"/>
              </a:rPr>
              <a:t>時間質問対応</a:t>
            </a:r>
            <a:endParaRPr kumimoji="1" lang="en-US" altLang="ja-JP" sz="2800" dirty="0">
              <a:solidFill>
                <a:srgbClr val="FF0000"/>
              </a:solidFill>
              <a:latin typeface="MS UI Gothic" panose="020B0600070205080204" pitchFamily="34" charset="-128"/>
              <a:ea typeface="MS UI Gothic" panose="020B0600070205080204" pitchFamily="34" charset="-128"/>
            </a:endParaRPr>
          </a:p>
          <a:p>
            <a:r>
              <a:rPr lang="ja-JP" altLang="en-US" sz="2800">
                <a:latin typeface="MS UI Gothic" panose="020B0600070205080204" pitchFamily="34" charset="-128"/>
                <a:ea typeface="MS UI Gothic" panose="020B0600070205080204" pitchFamily="34" charset="-128"/>
              </a:rPr>
              <a:t>　（カテゴリー別質問可能）</a:t>
            </a:r>
            <a:endParaRPr kumimoji="1" lang="ja-JP" altLang="en-US" sz="2800">
              <a:latin typeface="MS UI Gothic" panose="020B0600070205080204" pitchFamily="34" charset="-128"/>
              <a:ea typeface="MS UI Gothic" panose="020B0600070205080204" pitchFamily="34" charset="-128"/>
            </a:endParaRPr>
          </a:p>
        </p:txBody>
      </p:sp>
      <p:sp>
        <p:nvSpPr>
          <p:cNvPr id="16" name="テキスト ボックス 15">
            <a:extLst>
              <a:ext uri="{FF2B5EF4-FFF2-40B4-BE49-F238E27FC236}">
                <a16:creationId xmlns:a16="http://schemas.microsoft.com/office/drawing/2014/main" id="{2C963F47-FA76-2F47-B5EF-CFAFD5A539A6}"/>
              </a:ext>
            </a:extLst>
          </p:cNvPr>
          <p:cNvSpPr txBox="1"/>
          <p:nvPr/>
        </p:nvSpPr>
        <p:spPr>
          <a:xfrm>
            <a:off x="708975" y="3550055"/>
            <a:ext cx="3296095" cy="1384995"/>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・練習問題生成機能</a:t>
            </a:r>
            <a:endParaRPr kumimoji="1" lang="en-US" altLang="ja-JP" sz="2800" dirty="0">
              <a:latin typeface="MS UI Gothic" panose="020B0600070205080204" pitchFamily="34" charset="-128"/>
              <a:ea typeface="MS UI Gothic" panose="020B0600070205080204" pitchFamily="34" charset="-128"/>
            </a:endParaRPr>
          </a:p>
          <a:p>
            <a:r>
              <a:rPr lang="ja-JP" altLang="en-US" sz="2800">
                <a:latin typeface="MS UI Gothic" panose="020B0600070205080204" pitchFamily="34" charset="-128"/>
                <a:ea typeface="MS UI Gothic" panose="020B0600070205080204" pitchFamily="34" charset="-128"/>
              </a:rPr>
              <a:t>　（</a:t>
            </a:r>
            <a:r>
              <a:rPr lang="en-US" altLang="ja-JP" sz="2800" dirty="0">
                <a:latin typeface="MS UI Gothic" panose="020B0600070205080204" pitchFamily="34" charset="-128"/>
                <a:ea typeface="MS UI Gothic" panose="020B0600070205080204" pitchFamily="34" charset="-128"/>
              </a:rPr>
              <a:t>5</a:t>
            </a:r>
            <a:r>
              <a:rPr lang="ja-JP" altLang="en-US" sz="2800">
                <a:latin typeface="MS UI Gothic" panose="020B0600070205080204" pitchFamily="34" charset="-128"/>
                <a:ea typeface="MS UI Gothic" panose="020B0600070205080204" pitchFamily="34" charset="-128"/>
              </a:rPr>
              <a:t>択</a:t>
            </a:r>
            <a:r>
              <a:rPr lang="en-US" altLang="ja-JP" sz="2800" dirty="0">
                <a:latin typeface="MS UI Gothic" panose="020B0600070205080204" pitchFamily="34" charset="-128"/>
                <a:ea typeface="MS UI Gothic" panose="020B0600070205080204" pitchFamily="34" charset="-128"/>
              </a:rPr>
              <a:t>2</a:t>
            </a:r>
            <a:r>
              <a:rPr lang="ja-JP" altLang="en-US" sz="2800">
                <a:latin typeface="MS UI Gothic" panose="020B0600070205080204" pitchFamily="34" charset="-128"/>
                <a:ea typeface="MS UI Gothic" panose="020B0600070205080204" pitchFamily="34" charset="-128"/>
              </a:rPr>
              <a:t>正解形式）</a:t>
            </a:r>
            <a:endParaRPr lang="en-US" altLang="ja-JP" sz="2800" dirty="0">
              <a:latin typeface="MS UI Gothic" panose="020B0600070205080204" pitchFamily="34" charset="-128"/>
              <a:ea typeface="MS UI Gothic" panose="020B0600070205080204" pitchFamily="34" charset="-128"/>
            </a:endParaRPr>
          </a:p>
          <a:p>
            <a:r>
              <a:rPr kumimoji="1" lang="ja-JP" altLang="en-US" sz="2800">
                <a:latin typeface="MS UI Gothic" panose="020B0600070205080204" pitchFamily="34" charset="-128"/>
                <a:ea typeface="MS UI Gothic" panose="020B0600070205080204" pitchFamily="34" charset="-128"/>
              </a:rPr>
              <a:t>　（難易度選択機能）</a:t>
            </a:r>
          </a:p>
        </p:txBody>
      </p:sp>
      <p:sp>
        <p:nvSpPr>
          <p:cNvPr id="20" name="テキスト ボックス 19">
            <a:extLst>
              <a:ext uri="{FF2B5EF4-FFF2-40B4-BE49-F238E27FC236}">
                <a16:creationId xmlns:a16="http://schemas.microsoft.com/office/drawing/2014/main" id="{171C5F5F-51A0-7AF0-812A-D08B1D944B4D}"/>
              </a:ext>
            </a:extLst>
          </p:cNvPr>
          <p:cNvSpPr txBox="1"/>
          <p:nvPr/>
        </p:nvSpPr>
        <p:spPr>
          <a:xfrm>
            <a:off x="7529513" y="2172449"/>
            <a:ext cx="2811988"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・学習履歴の確認</a:t>
            </a:r>
          </a:p>
        </p:txBody>
      </p:sp>
      <p:sp>
        <p:nvSpPr>
          <p:cNvPr id="21" name="テキスト ボックス 20">
            <a:extLst>
              <a:ext uri="{FF2B5EF4-FFF2-40B4-BE49-F238E27FC236}">
                <a16:creationId xmlns:a16="http://schemas.microsoft.com/office/drawing/2014/main" id="{9021E7D5-543D-9ADC-5461-BA29E87D3BAE}"/>
              </a:ext>
            </a:extLst>
          </p:cNvPr>
          <p:cNvSpPr txBox="1"/>
          <p:nvPr/>
        </p:nvSpPr>
        <p:spPr>
          <a:xfrm>
            <a:off x="7529513" y="2863099"/>
            <a:ext cx="3937296"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a:t>
            </a:r>
            <a:r>
              <a:rPr kumimoji="1" lang="ja-JP" altLang="en-US" sz="2800">
                <a:solidFill>
                  <a:srgbClr val="FF0000"/>
                </a:solidFill>
                <a:latin typeface="MS UI Gothic" panose="020B0600070205080204" pitchFamily="34" charset="-128"/>
                <a:ea typeface="MS UI Gothic" panose="020B0600070205080204" pitchFamily="34" charset="-128"/>
              </a:rPr>
              <a:t>つまずきポイントの可視化</a:t>
            </a:r>
          </a:p>
        </p:txBody>
      </p:sp>
      <p:sp>
        <p:nvSpPr>
          <p:cNvPr id="22" name="テキスト ボックス 21">
            <a:extLst>
              <a:ext uri="{FF2B5EF4-FFF2-40B4-BE49-F238E27FC236}">
                <a16:creationId xmlns:a16="http://schemas.microsoft.com/office/drawing/2014/main" id="{24F40306-1828-9E85-1B82-15C97A00C3CA}"/>
              </a:ext>
            </a:extLst>
          </p:cNvPr>
          <p:cNvSpPr txBox="1"/>
          <p:nvPr/>
        </p:nvSpPr>
        <p:spPr>
          <a:xfrm>
            <a:off x="7529513" y="3553749"/>
            <a:ext cx="3595856"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a:t>
            </a:r>
            <a:r>
              <a:rPr kumimoji="1" lang="ja-JP" altLang="en-US" sz="2800">
                <a:solidFill>
                  <a:srgbClr val="FF0000"/>
                </a:solidFill>
                <a:latin typeface="MS UI Gothic" panose="020B0600070205080204" pitchFamily="34" charset="-128"/>
                <a:ea typeface="MS UI Gothic" panose="020B0600070205080204" pitchFamily="34" charset="-128"/>
              </a:rPr>
              <a:t>学習行動時系列分析</a:t>
            </a:r>
            <a:endParaRPr kumimoji="1" lang="en-US" altLang="ja-JP" sz="2800" dirty="0">
              <a:solidFill>
                <a:srgbClr val="FF0000"/>
              </a:solidFill>
              <a:latin typeface="MS UI Gothic" panose="020B0600070205080204" pitchFamily="34" charset="-128"/>
              <a:ea typeface="MS UI Gothic" panose="020B0600070205080204" pitchFamily="34" charset="-128"/>
            </a:endParaRPr>
          </a:p>
        </p:txBody>
      </p:sp>
      <p:sp>
        <p:nvSpPr>
          <p:cNvPr id="23" name="テキスト ボックス 22">
            <a:extLst>
              <a:ext uri="{FF2B5EF4-FFF2-40B4-BE49-F238E27FC236}">
                <a16:creationId xmlns:a16="http://schemas.microsoft.com/office/drawing/2014/main" id="{DAFF16BA-2CBE-1E00-E0F9-1D786C900737}"/>
              </a:ext>
            </a:extLst>
          </p:cNvPr>
          <p:cNvSpPr txBox="1"/>
          <p:nvPr/>
        </p:nvSpPr>
        <p:spPr>
          <a:xfrm>
            <a:off x="7529513" y="4244399"/>
            <a:ext cx="3825086"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・出力機能（</a:t>
            </a:r>
            <a:r>
              <a:rPr kumimoji="1" lang="en-US" altLang="ja-JP" sz="2800" dirty="0">
                <a:latin typeface="MS UI Gothic" panose="020B0600070205080204" pitchFamily="34" charset="-128"/>
                <a:ea typeface="MS UI Gothic" panose="020B0600070205080204" pitchFamily="34" charset="-128"/>
              </a:rPr>
              <a:t>CSV/Excel</a:t>
            </a:r>
            <a:r>
              <a:rPr kumimoji="1" lang="ja-JP" altLang="en-US" sz="2800">
                <a:latin typeface="MS UI Gothic" panose="020B0600070205080204" pitchFamily="34" charset="-128"/>
                <a:ea typeface="MS UI Gothic" panose="020B0600070205080204" pitchFamily="34" charset="-128"/>
              </a:rPr>
              <a:t>）</a:t>
            </a:r>
          </a:p>
        </p:txBody>
      </p:sp>
      <p:sp>
        <p:nvSpPr>
          <p:cNvPr id="24" name="テキスト ボックス 23">
            <a:extLst>
              <a:ext uri="{FF2B5EF4-FFF2-40B4-BE49-F238E27FC236}">
                <a16:creationId xmlns:a16="http://schemas.microsoft.com/office/drawing/2014/main" id="{FECBBF34-0B9C-FB2D-BFA8-0896BC968EF7}"/>
              </a:ext>
            </a:extLst>
          </p:cNvPr>
          <p:cNvSpPr txBox="1"/>
          <p:nvPr/>
        </p:nvSpPr>
        <p:spPr>
          <a:xfrm>
            <a:off x="7529513" y="4935050"/>
            <a:ext cx="3257623"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a:t>
            </a:r>
            <a:r>
              <a:rPr kumimoji="1" lang="en-US" altLang="ja-JP" sz="2800" dirty="0">
                <a:latin typeface="MS UI Gothic" panose="020B0600070205080204" pitchFamily="34" charset="-128"/>
                <a:ea typeface="MS UI Gothic" panose="020B0600070205080204" pitchFamily="34" charset="-128"/>
              </a:rPr>
              <a:t>FAQ</a:t>
            </a:r>
            <a:r>
              <a:rPr kumimoji="1" lang="ja-JP" altLang="en-US" sz="2800">
                <a:latin typeface="MS UI Gothic" panose="020B0600070205080204" pitchFamily="34" charset="-128"/>
                <a:ea typeface="MS UI Gothic" panose="020B0600070205080204" pitchFamily="34" charset="-128"/>
              </a:rPr>
              <a:t>自動抽出機能</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676E8-D610-D8C9-D4F8-1E20C3CDC204}"/>
            </a:ext>
          </a:extLst>
        </p:cNvPr>
        <p:cNvGrpSpPr/>
        <p:nvPr/>
      </p:nvGrpSpPr>
      <p:grpSpPr>
        <a:xfrm>
          <a:off x="0" y="0"/>
          <a:ext cx="0" cy="0"/>
          <a:chOff x="0" y="0"/>
          <a:chExt cx="0" cy="0"/>
        </a:xfrm>
      </p:grpSpPr>
      <p:sp>
        <p:nvSpPr>
          <p:cNvPr id="12" name="右矢印 11">
            <a:extLst>
              <a:ext uri="{FF2B5EF4-FFF2-40B4-BE49-F238E27FC236}">
                <a16:creationId xmlns:a16="http://schemas.microsoft.com/office/drawing/2014/main" id="{5354766D-0E22-E5BF-8A76-58602D1C593A}"/>
              </a:ext>
            </a:extLst>
          </p:cNvPr>
          <p:cNvSpPr/>
          <p:nvPr/>
        </p:nvSpPr>
        <p:spPr>
          <a:xfrm>
            <a:off x="4618185" y="3576187"/>
            <a:ext cx="2293114" cy="484632"/>
          </a:xfrm>
          <a:prstGeom prst="rightArrow">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A7AB3B6A-D388-F398-017F-2EF57823C2E7}"/>
              </a:ext>
            </a:extLst>
          </p:cNvPr>
          <p:cNvSpPr txBox="1"/>
          <p:nvPr/>
        </p:nvSpPr>
        <p:spPr>
          <a:xfrm>
            <a:off x="540659" y="251650"/>
            <a:ext cx="3530134"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教育・</a:t>
            </a:r>
            <a:r>
              <a:rPr kumimoji="1" lang="ja-JP" altLang="en-US" sz="2800">
                <a:latin typeface="MS UI Gothic" panose="020B0600070205080204" pitchFamily="34" charset="-128"/>
                <a:ea typeface="MS UI Gothic" panose="020B0600070205080204" pitchFamily="34" charset="-128"/>
              </a:rPr>
              <a:t>研究上の新規性</a:t>
            </a:r>
          </a:p>
        </p:txBody>
      </p:sp>
      <p:sp>
        <p:nvSpPr>
          <p:cNvPr id="3" name="テキスト ボックス 2">
            <a:extLst>
              <a:ext uri="{FF2B5EF4-FFF2-40B4-BE49-F238E27FC236}">
                <a16:creationId xmlns:a16="http://schemas.microsoft.com/office/drawing/2014/main" id="{037633DD-2DD5-9E7B-F8EA-9E1902F160AC}"/>
              </a:ext>
            </a:extLst>
          </p:cNvPr>
          <p:cNvSpPr txBox="1"/>
          <p:nvPr/>
        </p:nvSpPr>
        <p:spPr>
          <a:xfrm>
            <a:off x="540659" y="861247"/>
            <a:ext cx="5190845"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「魔法の黒板」のシステム概要</a:t>
            </a:r>
            <a:endParaRPr kumimoji="1" lang="ja-JP" altLang="en-US" sz="3200">
              <a:latin typeface="MS UI Gothic" panose="020B0600070205080204" pitchFamily="34" charset="-128"/>
              <a:ea typeface="MS UI Gothic" panose="020B0600070205080204" pitchFamily="34" charset="-128"/>
            </a:endParaRPr>
          </a:p>
        </p:txBody>
      </p:sp>
      <p:pic>
        <p:nvPicPr>
          <p:cNvPr id="9" name="図 8">
            <a:extLst>
              <a:ext uri="{FF2B5EF4-FFF2-40B4-BE49-F238E27FC236}">
                <a16:creationId xmlns:a16="http://schemas.microsoft.com/office/drawing/2014/main" id="{8828448C-CAE1-E05D-7B98-4B728296887F}"/>
              </a:ext>
            </a:extLst>
          </p:cNvPr>
          <p:cNvPicPr>
            <a:picLocks noChangeAspect="1"/>
          </p:cNvPicPr>
          <p:nvPr/>
        </p:nvPicPr>
        <p:blipFill>
          <a:blip r:embed="rId3"/>
          <a:stretch>
            <a:fillRect/>
          </a:stretch>
        </p:blipFill>
        <p:spPr>
          <a:xfrm>
            <a:off x="304398" y="1597685"/>
            <a:ext cx="4166002" cy="4813603"/>
          </a:xfrm>
          <a:prstGeom prst="rect">
            <a:avLst/>
          </a:prstGeom>
        </p:spPr>
      </p:pic>
      <p:pic>
        <p:nvPicPr>
          <p:cNvPr id="14" name="図 13">
            <a:extLst>
              <a:ext uri="{FF2B5EF4-FFF2-40B4-BE49-F238E27FC236}">
                <a16:creationId xmlns:a16="http://schemas.microsoft.com/office/drawing/2014/main" id="{FA498A5C-BD74-DB32-E243-C8E96973CCBB}"/>
              </a:ext>
            </a:extLst>
          </p:cNvPr>
          <p:cNvPicPr>
            <a:picLocks noChangeAspect="1"/>
          </p:cNvPicPr>
          <p:nvPr/>
        </p:nvPicPr>
        <p:blipFill>
          <a:blip r:embed="rId4"/>
          <a:stretch>
            <a:fillRect/>
          </a:stretch>
        </p:blipFill>
        <p:spPr>
          <a:xfrm>
            <a:off x="6994692" y="1623410"/>
            <a:ext cx="5159960" cy="4345590"/>
          </a:xfrm>
          <a:prstGeom prst="rect">
            <a:avLst/>
          </a:prstGeom>
        </p:spPr>
      </p:pic>
    </p:spTree>
    <p:extLst>
      <p:ext uri="{BB962C8B-B14F-4D97-AF65-F5344CB8AC3E}">
        <p14:creationId xmlns:p14="http://schemas.microsoft.com/office/powerpoint/2010/main" val="2345608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6E9CC-E525-C14B-7764-13FB8197C13A}"/>
            </a:ext>
          </a:extLst>
        </p:cNvPr>
        <p:cNvGrpSpPr/>
        <p:nvPr/>
      </p:nvGrpSpPr>
      <p:grpSpPr>
        <a:xfrm>
          <a:off x="0" y="0"/>
          <a:ext cx="0" cy="0"/>
          <a:chOff x="0" y="0"/>
          <a:chExt cx="0" cy="0"/>
        </a:xfrm>
      </p:grpSpPr>
      <p:sp>
        <p:nvSpPr>
          <p:cNvPr id="36" name="角丸四角形 35">
            <a:extLst>
              <a:ext uri="{FF2B5EF4-FFF2-40B4-BE49-F238E27FC236}">
                <a16:creationId xmlns:a16="http://schemas.microsoft.com/office/drawing/2014/main" id="{8747EE8D-1002-DCB6-5421-605B9B5A309F}"/>
              </a:ext>
            </a:extLst>
          </p:cNvPr>
          <p:cNvSpPr/>
          <p:nvPr/>
        </p:nvSpPr>
        <p:spPr>
          <a:xfrm>
            <a:off x="660400" y="1549400"/>
            <a:ext cx="5067300" cy="5232400"/>
          </a:xfrm>
          <a:prstGeom prst="roundRect">
            <a:avLst>
              <a:gd name="adj" fmla="val 11153"/>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角丸四角形 28">
            <a:extLst>
              <a:ext uri="{FF2B5EF4-FFF2-40B4-BE49-F238E27FC236}">
                <a16:creationId xmlns:a16="http://schemas.microsoft.com/office/drawing/2014/main" id="{9AD5133F-4E50-5C18-C201-D167172380E6}"/>
              </a:ext>
            </a:extLst>
          </p:cNvPr>
          <p:cNvSpPr/>
          <p:nvPr/>
        </p:nvSpPr>
        <p:spPr>
          <a:xfrm>
            <a:off x="6477000" y="1562100"/>
            <a:ext cx="5067300" cy="5232400"/>
          </a:xfrm>
          <a:prstGeom prst="roundRect">
            <a:avLst>
              <a:gd name="adj" fmla="val 11153"/>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D292AB5-636D-7BA4-4A06-7AE3DE59960D}"/>
              </a:ext>
            </a:extLst>
          </p:cNvPr>
          <p:cNvSpPr txBox="1"/>
          <p:nvPr/>
        </p:nvSpPr>
        <p:spPr>
          <a:xfrm>
            <a:off x="540659" y="251650"/>
            <a:ext cx="5000087"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研究成果の教育・研究への反映</a:t>
            </a:r>
          </a:p>
        </p:txBody>
      </p:sp>
      <p:sp>
        <p:nvSpPr>
          <p:cNvPr id="14" name="テキスト ボックス 13">
            <a:extLst>
              <a:ext uri="{FF2B5EF4-FFF2-40B4-BE49-F238E27FC236}">
                <a16:creationId xmlns:a16="http://schemas.microsoft.com/office/drawing/2014/main" id="{8CBD38AD-DD20-7E84-71DA-24DEDD5F9353}"/>
              </a:ext>
            </a:extLst>
          </p:cNvPr>
          <p:cNvSpPr txBox="1"/>
          <p:nvPr/>
        </p:nvSpPr>
        <p:spPr>
          <a:xfrm>
            <a:off x="540659" y="861247"/>
            <a:ext cx="2837636"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期待される成果</a:t>
            </a:r>
            <a:endParaRPr kumimoji="1" lang="ja-JP" altLang="en-US" sz="3200">
              <a:latin typeface="MS UI Gothic" panose="020B0600070205080204" pitchFamily="34" charset="-128"/>
              <a:ea typeface="MS UI Gothic" panose="020B0600070205080204" pitchFamily="34" charset="-128"/>
            </a:endParaRPr>
          </a:p>
        </p:txBody>
      </p:sp>
      <p:sp>
        <p:nvSpPr>
          <p:cNvPr id="23" name="テキスト ボックス 22">
            <a:extLst>
              <a:ext uri="{FF2B5EF4-FFF2-40B4-BE49-F238E27FC236}">
                <a16:creationId xmlns:a16="http://schemas.microsoft.com/office/drawing/2014/main" id="{8B5EB7C2-D0BF-0349-2F94-E0812B1A4D21}"/>
              </a:ext>
            </a:extLst>
          </p:cNvPr>
          <p:cNvSpPr txBox="1"/>
          <p:nvPr/>
        </p:nvSpPr>
        <p:spPr>
          <a:xfrm>
            <a:off x="2090222" y="1574800"/>
            <a:ext cx="2207656" cy="523220"/>
          </a:xfrm>
          <a:prstGeom prst="rect">
            <a:avLst/>
          </a:prstGeom>
          <a:noFill/>
          <a:ln w="19050">
            <a:solidFill>
              <a:schemeClr val="tx1"/>
            </a:solidFill>
          </a:ln>
        </p:spPr>
        <p:txBody>
          <a:bodyPr wrap="none" rtlCol="0">
            <a:spAutoFit/>
          </a:bodyPr>
          <a:lstStyle/>
          <a:p>
            <a:pPr algn="ctr"/>
            <a:r>
              <a:rPr kumimoji="1" lang="ja-JP" altLang="en-US" sz="2800">
                <a:latin typeface="MS UI Gothic" panose="020B0600070205080204" pitchFamily="34" charset="-128"/>
                <a:ea typeface="MS UI Gothic" panose="020B0600070205080204" pitchFamily="34" charset="-128"/>
              </a:rPr>
              <a:t>教育への反映</a:t>
            </a:r>
          </a:p>
        </p:txBody>
      </p:sp>
      <p:sp>
        <p:nvSpPr>
          <p:cNvPr id="27" name="テキスト ボックス 26">
            <a:extLst>
              <a:ext uri="{FF2B5EF4-FFF2-40B4-BE49-F238E27FC236}">
                <a16:creationId xmlns:a16="http://schemas.microsoft.com/office/drawing/2014/main" id="{CAAC4309-67BC-ED6D-3525-B08BB57515B1}"/>
              </a:ext>
            </a:extLst>
          </p:cNvPr>
          <p:cNvSpPr txBox="1"/>
          <p:nvPr/>
        </p:nvSpPr>
        <p:spPr>
          <a:xfrm>
            <a:off x="7906822" y="1574800"/>
            <a:ext cx="2207656" cy="523220"/>
          </a:xfrm>
          <a:prstGeom prst="rect">
            <a:avLst/>
          </a:prstGeom>
          <a:noFill/>
          <a:ln w="19050">
            <a:solidFill>
              <a:schemeClr val="tx1"/>
            </a:solidFill>
          </a:ln>
        </p:spPr>
        <p:txBody>
          <a:bodyPr wrap="none" rtlCol="0">
            <a:spAutoFit/>
          </a:bodyPr>
          <a:lstStyle/>
          <a:p>
            <a:pPr algn="ctr"/>
            <a:r>
              <a:rPr lang="ja-JP" altLang="en-US" sz="2800">
                <a:latin typeface="MS UI Gothic" panose="020B0600070205080204" pitchFamily="34" charset="-128"/>
                <a:ea typeface="MS UI Gothic" panose="020B0600070205080204" pitchFamily="34" charset="-128"/>
              </a:rPr>
              <a:t>研究</a:t>
            </a:r>
            <a:r>
              <a:rPr kumimoji="1" lang="ja-JP" altLang="en-US" sz="2800">
                <a:latin typeface="MS UI Gothic" panose="020B0600070205080204" pitchFamily="34" charset="-128"/>
                <a:ea typeface="MS UI Gothic" panose="020B0600070205080204" pitchFamily="34" charset="-128"/>
              </a:rPr>
              <a:t>への反映</a:t>
            </a:r>
          </a:p>
        </p:txBody>
      </p:sp>
      <p:grpSp>
        <p:nvGrpSpPr>
          <p:cNvPr id="33" name="グループ化 32">
            <a:extLst>
              <a:ext uri="{FF2B5EF4-FFF2-40B4-BE49-F238E27FC236}">
                <a16:creationId xmlns:a16="http://schemas.microsoft.com/office/drawing/2014/main" id="{BF8B3170-BDF3-A102-49A2-F5356E5EC893}"/>
              </a:ext>
            </a:extLst>
          </p:cNvPr>
          <p:cNvGrpSpPr/>
          <p:nvPr/>
        </p:nvGrpSpPr>
        <p:grpSpPr>
          <a:xfrm>
            <a:off x="7594600" y="2235200"/>
            <a:ext cx="2870200" cy="673100"/>
            <a:chOff x="7594600" y="2451100"/>
            <a:chExt cx="2870200" cy="673100"/>
          </a:xfrm>
        </p:grpSpPr>
        <p:sp>
          <p:nvSpPr>
            <p:cNvPr id="32" name="角丸四角形 31">
              <a:extLst>
                <a:ext uri="{FF2B5EF4-FFF2-40B4-BE49-F238E27FC236}">
                  <a16:creationId xmlns:a16="http://schemas.microsoft.com/office/drawing/2014/main" id="{437D713E-306D-84F0-00FB-A282DD7E04B4}"/>
                </a:ext>
              </a:extLst>
            </p:cNvPr>
            <p:cNvSpPr/>
            <p:nvPr/>
          </p:nvSpPr>
          <p:spPr>
            <a:xfrm>
              <a:off x="7594600" y="2451100"/>
              <a:ext cx="2870200" cy="673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4A6717EE-3FC7-9CD4-D992-1AD1C3839B1F}"/>
                </a:ext>
              </a:extLst>
            </p:cNvPr>
            <p:cNvSpPr txBox="1"/>
            <p:nvPr/>
          </p:nvSpPr>
          <p:spPr>
            <a:xfrm>
              <a:off x="7680613" y="2526040"/>
              <a:ext cx="2698175" cy="523220"/>
            </a:xfrm>
            <a:prstGeom prst="rect">
              <a:avLst/>
            </a:prstGeom>
            <a:noFill/>
          </p:spPr>
          <p:txBody>
            <a:bodyPr wrap="none" rtlCol="0">
              <a:spAutoFit/>
            </a:bodyPr>
            <a:lstStyle/>
            <a:p>
              <a:pPr algn="ctr"/>
              <a:r>
                <a:rPr kumimoji="1" lang="ja-JP" altLang="en-US" sz="2800">
                  <a:solidFill>
                    <a:schemeClr val="bg1"/>
                  </a:solidFill>
                  <a:latin typeface="MS UI Gothic" panose="020B0600070205080204" pitchFamily="34" charset="-128"/>
                  <a:ea typeface="MS UI Gothic" panose="020B0600070205080204" pitchFamily="34" charset="-128"/>
                </a:rPr>
                <a:t>体系的実証実験</a:t>
              </a:r>
            </a:p>
          </p:txBody>
        </p:sp>
      </p:grpSp>
      <p:sp>
        <p:nvSpPr>
          <p:cNvPr id="34" name="角丸四角形 33">
            <a:extLst>
              <a:ext uri="{FF2B5EF4-FFF2-40B4-BE49-F238E27FC236}">
                <a16:creationId xmlns:a16="http://schemas.microsoft.com/office/drawing/2014/main" id="{B7E04509-DEC2-ADDA-D97C-B6073356F7BB}"/>
              </a:ext>
            </a:extLst>
          </p:cNvPr>
          <p:cNvSpPr/>
          <p:nvPr/>
        </p:nvSpPr>
        <p:spPr>
          <a:xfrm>
            <a:off x="7048500" y="3378200"/>
            <a:ext cx="3924300" cy="3378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1" name="グループ化 30">
            <a:extLst>
              <a:ext uri="{FF2B5EF4-FFF2-40B4-BE49-F238E27FC236}">
                <a16:creationId xmlns:a16="http://schemas.microsoft.com/office/drawing/2014/main" id="{6E9C1486-04A3-256B-B87B-CC8CDC170AFE}"/>
              </a:ext>
            </a:extLst>
          </p:cNvPr>
          <p:cNvGrpSpPr/>
          <p:nvPr/>
        </p:nvGrpSpPr>
        <p:grpSpPr>
          <a:xfrm>
            <a:off x="7278445" y="3505200"/>
            <a:ext cx="3464410" cy="3138507"/>
            <a:chOff x="7278445" y="3525164"/>
            <a:chExt cx="3464410" cy="2991543"/>
          </a:xfrm>
        </p:grpSpPr>
        <p:sp>
          <p:nvSpPr>
            <p:cNvPr id="25" name="テキスト ボックス 24">
              <a:extLst>
                <a:ext uri="{FF2B5EF4-FFF2-40B4-BE49-F238E27FC236}">
                  <a16:creationId xmlns:a16="http://schemas.microsoft.com/office/drawing/2014/main" id="{BC22CB9D-B3E5-202A-7EB8-3000C6D009AC}"/>
                </a:ext>
              </a:extLst>
            </p:cNvPr>
            <p:cNvSpPr txBox="1"/>
            <p:nvPr/>
          </p:nvSpPr>
          <p:spPr>
            <a:xfrm>
              <a:off x="7278445" y="3525164"/>
              <a:ext cx="2948243" cy="954107"/>
            </a:xfrm>
            <a:prstGeom prst="rect">
              <a:avLst/>
            </a:prstGeom>
            <a:noFill/>
          </p:spPr>
          <p:txBody>
            <a:bodyPr wrap="none" rtlCol="0">
              <a:spAutoFit/>
            </a:bodyPr>
            <a:lstStyle/>
            <a:p>
              <a:r>
                <a:rPr kumimoji="1" lang="en-US" altLang="ja-JP" sz="2800" dirty="0">
                  <a:solidFill>
                    <a:schemeClr val="bg1"/>
                  </a:solidFill>
                  <a:latin typeface="MS UI Gothic" panose="020B0600070205080204" pitchFamily="34" charset="-128"/>
                  <a:ea typeface="MS UI Gothic" panose="020B0600070205080204" pitchFamily="34" charset="-128"/>
                </a:rPr>
                <a:t>①</a:t>
              </a:r>
              <a:r>
                <a:rPr kumimoji="1" lang="ja-JP" altLang="en-US" sz="2800">
                  <a:solidFill>
                    <a:schemeClr val="bg1"/>
                  </a:solidFill>
                  <a:latin typeface="MS UI Gothic" panose="020B0600070205080204" pitchFamily="34" charset="-128"/>
                  <a:ea typeface="MS UI Gothic" panose="020B0600070205080204" pitchFamily="34" charset="-128"/>
                </a:rPr>
                <a:t>生成系</a:t>
              </a:r>
              <a:r>
                <a:rPr kumimoji="1" lang="en-US" altLang="ja-JP" sz="2800" dirty="0">
                  <a:solidFill>
                    <a:schemeClr val="bg1"/>
                  </a:solidFill>
                  <a:latin typeface="MS UI Gothic" panose="020B0600070205080204" pitchFamily="34" charset="-128"/>
                  <a:ea typeface="MS UI Gothic" panose="020B0600070205080204" pitchFamily="34" charset="-128"/>
                </a:rPr>
                <a:t>AI</a:t>
              </a:r>
              <a:r>
                <a:rPr kumimoji="1" lang="ja-JP" altLang="en-US" sz="2800">
                  <a:solidFill>
                    <a:schemeClr val="bg1"/>
                  </a:solidFill>
                  <a:latin typeface="MS UI Gothic" panose="020B0600070205080204" pitchFamily="34" charset="-128"/>
                  <a:ea typeface="MS UI Gothic" panose="020B0600070205080204" pitchFamily="34" charset="-128"/>
                </a:rPr>
                <a:t>活用の</a:t>
              </a:r>
              <a:endParaRPr kumimoji="1" lang="en-US" altLang="ja-JP" sz="2800" dirty="0">
                <a:solidFill>
                  <a:schemeClr val="bg1"/>
                </a:solidFill>
                <a:latin typeface="MS UI Gothic" panose="020B0600070205080204" pitchFamily="34" charset="-128"/>
                <a:ea typeface="MS UI Gothic" panose="020B0600070205080204" pitchFamily="34" charset="-128"/>
              </a:endParaRPr>
            </a:p>
            <a:p>
              <a:r>
                <a:rPr kumimoji="1" lang="ja-JP" altLang="en-US" sz="2800">
                  <a:solidFill>
                    <a:schemeClr val="bg1"/>
                  </a:solidFill>
                  <a:latin typeface="MS UI Gothic" panose="020B0600070205080204" pitchFamily="34" charset="-128"/>
                  <a:ea typeface="MS UI Gothic" panose="020B0600070205080204" pitchFamily="34" charset="-128"/>
                </a:rPr>
                <a:t>　エビデンスの構築</a:t>
              </a:r>
            </a:p>
          </p:txBody>
        </p:sp>
        <p:sp>
          <p:nvSpPr>
            <p:cNvPr id="26" name="テキスト ボックス 25">
              <a:extLst>
                <a:ext uri="{FF2B5EF4-FFF2-40B4-BE49-F238E27FC236}">
                  <a16:creationId xmlns:a16="http://schemas.microsoft.com/office/drawing/2014/main" id="{DCF4F2B1-3395-6F61-6F31-EF0BC3A7C159}"/>
                </a:ext>
              </a:extLst>
            </p:cNvPr>
            <p:cNvSpPr txBox="1"/>
            <p:nvPr/>
          </p:nvSpPr>
          <p:spPr>
            <a:xfrm>
              <a:off x="7278445" y="5562600"/>
              <a:ext cx="3464410" cy="954107"/>
            </a:xfrm>
            <a:prstGeom prst="rect">
              <a:avLst/>
            </a:prstGeom>
            <a:noFill/>
          </p:spPr>
          <p:txBody>
            <a:bodyPr wrap="none" rtlCol="0">
              <a:spAutoFit/>
            </a:bodyPr>
            <a:lstStyle/>
            <a:p>
              <a:r>
                <a:rPr kumimoji="1" lang="en-US" altLang="ja-JP" sz="2800" dirty="0">
                  <a:solidFill>
                    <a:schemeClr val="bg1"/>
                  </a:solidFill>
                  <a:latin typeface="MS UI Gothic" panose="020B0600070205080204" pitchFamily="34" charset="-128"/>
                  <a:ea typeface="MS UI Gothic" panose="020B0600070205080204" pitchFamily="34" charset="-128"/>
                </a:rPr>
                <a:t>③</a:t>
              </a:r>
              <a:r>
                <a:rPr kumimoji="1" lang="ja-JP" altLang="en-US" sz="2800">
                  <a:solidFill>
                    <a:schemeClr val="bg1"/>
                  </a:solidFill>
                  <a:latin typeface="MS UI Gothic" panose="020B0600070205080204" pitchFamily="34" charset="-128"/>
                  <a:ea typeface="MS UI Gothic" panose="020B0600070205080204" pitchFamily="34" charset="-128"/>
                </a:rPr>
                <a:t>他科目・他大学への</a:t>
              </a:r>
              <a:endParaRPr kumimoji="1" lang="en-US" altLang="ja-JP" sz="2800" dirty="0">
                <a:solidFill>
                  <a:schemeClr val="bg1"/>
                </a:solidFill>
                <a:latin typeface="MS UI Gothic" panose="020B0600070205080204" pitchFamily="34" charset="-128"/>
                <a:ea typeface="MS UI Gothic" panose="020B0600070205080204" pitchFamily="34" charset="-128"/>
              </a:endParaRPr>
            </a:p>
            <a:p>
              <a:r>
                <a:rPr kumimoji="1" lang="ja-JP" altLang="en-US" sz="2800">
                  <a:solidFill>
                    <a:schemeClr val="bg1"/>
                  </a:solidFill>
                  <a:latin typeface="MS UI Gothic" panose="020B0600070205080204" pitchFamily="34" charset="-128"/>
                  <a:ea typeface="MS UI Gothic" panose="020B0600070205080204" pitchFamily="34" charset="-128"/>
                </a:rPr>
                <a:t>　発展可能性の実証</a:t>
              </a:r>
            </a:p>
          </p:txBody>
        </p:sp>
        <p:sp>
          <p:nvSpPr>
            <p:cNvPr id="28" name="テキスト ボックス 27">
              <a:extLst>
                <a:ext uri="{FF2B5EF4-FFF2-40B4-BE49-F238E27FC236}">
                  <a16:creationId xmlns:a16="http://schemas.microsoft.com/office/drawing/2014/main" id="{07DC149F-D67E-D80C-1317-9E3ACB684130}"/>
                </a:ext>
              </a:extLst>
            </p:cNvPr>
            <p:cNvSpPr txBox="1"/>
            <p:nvPr/>
          </p:nvSpPr>
          <p:spPr>
            <a:xfrm>
              <a:off x="7278445" y="4543882"/>
              <a:ext cx="3411511" cy="954107"/>
            </a:xfrm>
            <a:prstGeom prst="rect">
              <a:avLst/>
            </a:prstGeom>
            <a:noFill/>
          </p:spPr>
          <p:txBody>
            <a:bodyPr wrap="none" rtlCol="0">
              <a:spAutoFit/>
            </a:bodyPr>
            <a:lstStyle/>
            <a:p>
              <a:r>
                <a:rPr lang="en-US" altLang="ja-JP" sz="2800" dirty="0">
                  <a:solidFill>
                    <a:schemeClr val="bg1"/>
                  </a:solidFill>
                  <a:latin typeface="MS UI Gothic" panose="020B0600070205080204" pitchFamily="34" charset="-128"/>
                  <a:ea typeface="MS UI Gothic" panose="020B0600070205080204" pitchFamily="34" charset="-128"/>
                </a:rPr>
                <a:t>②</a:t>
              </a:r>
              <a:r>
                <a:rPr lang="ja-JP" altLang="en-US" sz="2800">
                  <a:solidFill>
                    <a:schemeClr val="bg1"/>
                  </a:solidFill>
                  <a:latin typeface="MS UI Gothic" panose="020B0600070205080204" pitchFamily="34" charset="-128"/>
                  <a:ea typeface="MS UI Gothic" panose="020B0600070205080204" pitchFamily="34" charset="-128"/>
                </a:rPr>
                <a:t>学習支援システムの</a:t>
              </a:r>
              <a:endParaRPr lang="en-US" altLang="ja-JP" sz="2800" dirty="0">
                <a:solidFill>
                  <a:schemeClr val="bg1"/>
                </a:solidFill>
                <a:latin typeface="MS UI Gothic" panose="020B0600070205080204" pitchFamily="34" charset="-128"/>
                <a:ea typeface="MS UI Gothic" panose="020B0600070205080204" pitchFamily="34" charset="-128"/>
              </a:endParaRPr>
            </a:p>
            <a:p>
              <a:r>
                <a:rPr lang="ja-JP" altLang="en-US" sz="2800">
                  <a:solidFill>
                    <a:schemeClr val="bg1"/>
                  </a:solidFill>
                  <a:latin typeface="MS UI Gothic" panose="020B0600070205080204" pitchFamily="34" charset="-128"/>
                  <a:ea typeface="MS UI Gothic" panose="020B0600070205080204" pitchFamily="34" charset="-128"/>
                </a:rPr>
                <a:t>　設計指針の指示</a:t>
              </a:r>
              <a:endParaRPr kumimoji="1" lang="ja-JP" altLang="en-US" sz="2800">
                <a:solidFill>
                  <a:schemeClr val="bg1"/>
                </a:solidFill>
                <a:latin typeface="MS UI Gothic" panose="020B0600070205080204" pitchFamily="34" charset="-128"/>
                <a:ea typeface="MS UI Gothic" panose="020B0600070205080204" pitchFamily="34" charset="-128"/>
              </a:endParaRPr>
            </a:p>
          </p:txBody>
        </p:sp>
      </p:grpSp>
      <p:sp>
        <p:nvSpPr>
          <p:cNvPr id="35" name="下矢印 34">
            <a:extLst>
              <a:ext uri="{FF2B5EF4-FFF2-40B4-BE49-F238E27FC236}">
                <a16:creationId xmlns:a16="http://schemas.microsoft.com/office/drawing/2014/main" id="{FF03DBE3-2B9F-E26D-B9FD-09F24BA63722}"/>
              </a:ext>
            </a:extLst>
          </p:cNvPr>
          <p:cNvSpPr/>
          <p:nvPr/>
        </p:nvSpPr>
        <p:spPr>
          <a:xfrm>
            <a:off x="8750300" y="2997200"/>
            <a:ext cx="484632" cy="330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9" name="グループ化 38">
            <a:extLst>
              <a:ext uri="{FF2B5EF4-FFF2-40B4-BE49-F238E27FC236}">
                <a16:creationId xmlns:a16="http://schemas.microsoft.com/office/drawing/2014/main" id="{1B66DE43-AE14-A486-8E42-2AC5F0E66A04}"/>
              </a:ext>
            </a:extLst>
          </p:cNvPr>
          <p:cNvGrpSpPr/>
          <p:nvPr/>
        </p:nvGrpSpPr>
        <p:grpSpPr>
          <a:xfrm>
            <a:off x="1498600" y="2235200"/>
            <a:ext cx="3390900" cy="673100"/>
            <a:chOff x="1485900" y="2413000"/>
            <a:chExt cx="3390900" cy="673100"/>
          </a:xfrm>
        </p:grpSpPr>
        <p:sp>
          <p:nvSpPr>
            <p:cNvPr id="38" name="角丸四角形 37">
              <a:extLst>
                <a:ext uri="{FF2B5EF4-FFF2-40B4-BE49-F238E27FC236}">
                  <a16:creationId xmlns:a16="http://schemas.microsoft.com/office/drawing/2014/main" id="{2F473264-D3B0-5C7E-6816-954DDEAC1C32}"/>
                </a:ext>
              </a:extLst>
            </p:cNvPr>
            <p:cNvSpPr/>
            <p:nvPr/>
          </p:nvSpPr>
          <p:spPr>
            <a:xfrm>
              <a:off x="1485900" y="2413000"/>
              <a:ext cx="3390900" cy="673100"/>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828AE1C8-0569-4108-5383-678704E683D4}"/>
                </a:ext>
              </a:extLst>
            </p:cNvPr>
            <p:cNvSpPr txBox="1"/>
            <p:nvPr/>
          </p:nvSpPr>
          <p:spPr>
            <a:xfrm>
              <a:off x="1504449" y="2487940"/>
              <a:ext cx="3353803" cy="523220"/>
            </a:xfrm>
            <a:prstGeom prst="rect">
              <a:avLst/>
            </a:prstGeom>
            <a:noFill/>
          </p:spPr>
          <p:txBody>
            <a:bodyPr wrap="none" rtlCol="0">
              <a:spAutoFit/>
            </a:bodyPr>
            <a:lstStyle/>
            <a:p>
              <a:pPr algn="ctr"/>
              <a:r>
                <a:rPr kumimoji="1" lang="ja-JP" altLang="en-US" sz="2800">
                  <a:solidFill>
                    <a:schemeClr val="bg1"/>
                  </a:solidFill>
                  <a:latin typeface="MS UI Gothic" panose="020B0600070205080204" pitchFamily="34" charset="-128"/>
                  <a:ea typeface="MS UI Gothic" panose="020B0600070205080204" pitchFamily="34" charset="-128"/>
                </a:rPr>
                <a:t>学生入力・使用データ</a:t>
              </a:r>
            </a:p>
          </p:txBody>
        </p:sp>
      </p:grpSp>
      <p:sp>
        <p:nvSpPr>
          <p:cNvPr id="40" name="下矢印 39">
            <a:extLst>
              <a:ext uri="{FF2B5EF4-FFF2-40B4-BE49-F238E27FC236}">
                <a16:creationId xmlns:a16="http://schemas.microsoft.com/office/drawing/2014/main" id="{FC529F7F-7F27-7827-ADA7-803C9FCA037A}"/>
              </a:ext>
            </a:extLst>
          </p:cNvPr>
          <p:cNvSpPr/>
          <p:nvPr/>
        </p:nvSpPr>
        <p:spPr>
          <a:xfrm>
            <a:off x="2951734" y="3124200"/>
            <a:ext cx="484632" cy="330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2" name="グループ化 41">
            <a:extLst>
              <a:ext uri="{FF2B5EF4-FFF2-40B4-BE49-F238E27FC236}">
                <a16:creationId xmlns:a16="http://schemas.microsoft.com/office/drawing/2014/main" id="{365D4FD5-42A9-B251-8307-6AF876191B92}"/>
              </a:ext>
            </a:extLst>
          </p:cNvPr>
          <p:cNvGrpSpPr/>
          <p:nvPr/>
        </p:nvGrpSpPr>
        <p:grpSpPr>
          <a:xfrm>
            <a:off x="1104900" y="3531860"/>
            <a:ext cx="4178300" cy="673100"/>
            <a:chOff x="1130300" y="3303260"/>
            <a:chExt cx="4178300" cy="673100"/>
          </a:xfrm>
        </p:grpSpPr>
        <p:sp>
          <p:nvSpPr>
            <p:cNvPr id="41" name="角丸四角形 40">
              <a:extLst>
                <a:ext uri="{FF2B5EF4-FFF2-40B4-BE49-F238E27FC236}">
                  <a16:creationId xmlns:a16="http://schemas.microsoft.com/office/drawing/2014/main" id="{03107A64-A7AE-AAB0-2640-ACD065DDC40A}"/>
                </a:ext>
              </a:extLst>
            </p:cNvPr>
            <p:cNvSpPr/>
            <p:nvPr/>
          </p:nvSpPr>
          <p:spPr>
            <a:xfrm>
              <a:off x="1130300" y="3303260"/>
              <a:ext cx="4178300" cy="673100"/>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3949946E-B207-89E2-DF1F-F173165C67A2}"/>
                </a:ext>
              </a:extLst>
            </p:cNvPr>
            <p:cNvSpPr txBox="1"/>
            <p:nvPr/>
          </p:nvSpPr>
          <p:spPr>
            <a:xfrm>
              <a:off x="1159431" y="3378200"/>
              <a:ext cx="4120038" cy="523220"/>
            </a:xfrm>
            <a:prstGeom prst="rect">
              <a:avLst/>
            </a:prstGeom>
            <a:noFill/>
          </p:spPr>
          <p:txBody>
            <a:bodyPr wrap="none" rtlCol="0">
              <a:spAutoFit/>
            </a:bodyPr>
            <a:lstStyle/>
            <a:p>
              <a:pPr algn="ctr"/>
              <a:r>
                <a:rPr kumimoji="1" lang="ja-JP" altLang="en-US" sz="2800">
                  <a:solidFill>
                    <a:schemeClr val="bg1"/>
                  </a:solidFill>
                  <a:latin typeface="MS UI Gothic" panose="020B0600070205080204" pitchFamily="34" charset="-128"/>
                  <a:ea typeface="MS UI Gothic" panose="020B0600070205080204" pitchFamily="34" charset="-128"/>
                </a:rPr>
                <a:t>「つまずきの地図」自動作成</a:t>
              </a:r>
            </a:p>
          </p:txBody>
        </p:sp>
      </p:grpSp>
      <p:grpSp>
        <p:nvGrpSpPr>
          <p:cNvPr id="46" name="グループ化 45">
            <a:extLst>
              <a:ext uri="{FF2B5EF4-FFF2-40B4-BE49-F238E27FC236}">
                <a16:creationId xmlns:a16="http://schemas.microsoft.com/office/drawing/2014/main" id="{DAF909A0-A4E3-82FD-7AE5-16BCC25B5C11}"/>
              </a:ext>
            </a:extLst>
          </p:cNvPr>
          <p:cNvGrpSpPr/>
          <p:nvPr/>
        </p:nvGrpSpPr>
        <p:grpSpPr>
          <a:xfrm>
            <a:off x="1701800" y="4674860"/>
            <a:ext cx="2933700" cy="1802140"/>
            <a:chOff x="1701800" y="4446260"/>
            <a:chExt cx="2933700" cy="1802140"/>
          </a:xfrm>
        </p:grpSpPr>
        <p:sp>
          <p:nvSpPr>
            <p:cNvPr id="43" name="角丸四角形 42">
              <a:extLst>
                <a:ext uri="{FF2B5EF4-FFF2-40B4-BE49-F238E27FC236}">
                  <a16:creationId xmlns:a16="http://schemas.microsoft.com/office/drawing/2014/main" id="{F05B82C0-526F-1315-39DD-171DC3E485B4}"/>
                </a:ext>
              </a:extLst>
            </p:cNvPr>
            <p:cNvSpPr/>
            <p:nvPr/>
          </p:nvSpPr>
          <p:spPr>
            <a:xfrm>
              <a:off x="1701800" y="4446260"/>
              <a:ext cx="2933700" cy="1802140"/>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4" name="グループ化 43">
              <a:extLst>
                <a:ext uri="{FF2B5EF4-FFF2-40B4-BE49-F238E27FC236}">
                  <a16:creationId xmlns:a16="http://schemas.microsoft.com/office/drawing/2014/main" id="{927D55BF-4006-7B9A-342B-1C3A7036EB9D}"/>
                </a:ext>
              </a:extLst>
            </p:cNvPr>
            <p:cNvGrpSpPr/>
            <p:nvPr/>
          </p:nvGrpSpPr>
          <p:grpSpPr>
            <a:xfrm>
              <a:off x="1945398" y="4565477"/>
              <a:ext cx="2446504" cy="1563707"/>
              <a:chOff x="1979941" y="4318000"/>
              <a:chExt cx="2446504" cy="1563707"/>
            </a:xfrm>
          </p:grpSpPr>
          <p:sp>
            <p:nvSpPr>
              <p:cNvPr id="22" name="テキスト ボックス 21">
                <a:extLst>
                  <a:ext uri="{FF2B5EF4-FFF2-40B4-BE49-F238E27FC236}">
                    <a16:creationId xmlns:a16="http://schemas.microsoft.com/office/drawing/2014/main" id="{F8BE42F1-FE60-32A0-E716-5D8B6E7BAAB4}"/>
                  </a:ext>
                </a:extLst>
              </p:cNvPr>
              <p:cNvSpPr txBox="1"/>
              <p:nvPr/>
            </p:nvSpPr>
            <p:spPr>
              <a:xfrm>
                <a:off x="1979941" y="4927600"/>
                <a:ext cx="2446504" cy="954107"/>
              </a:xfrm>
              <a:prstGeom prst="rect">
                <a:avLst/>
              </a:prstGeom>
              <a:noFill/>
            </p:spPr>
            <p:txBody>
              <a:bodyPr wrap="none" rtlCol="0">
                <a:spAutoFit/>
              </a:bodyPr>
              <a:lstStyle/>
              <a:p>
                <a:r>
                  <a:rPr lang="en-US" altLang="ja-JP" sz="2800" dirty="0">
                    <a:solidFill>
                      <a:schemeClr val="bg1"/>
                    </a:solidFill>
                    <a:latin typeface="MS UI Gothic" panose="020B0600070205080204" pitchFamily="34" charset="-128"/>
                    <a:ea typeface="MS UI Gothic" panose="020B0600070205080204" pitchFamily="34" charset="-128"/>
                  </a:rPr>
                  <a:t>②</a:t>
                </a:r>
                <a:r>
                  <a:rPr lang="ja-JP" altLang="en-US" sz="2800">
                    <a:solidFill>
                      <a:schemeClr val="bg1"/>
                    </a:solidFill>
                    <a:latin typeface="MS UI Gothic" panose="020B0600070205080204" pitchFamily="34" charset="-128"/>
                    <a:ea typeface="MS UI Gothic" panose="020B0600070205080204" pitchFamily="34" charset="-128"/>
                  </a:rPr>
                  <a:t>演習問題</a:t>
                </a:r>
                <a:endParaRPr lang="en-US" altLang="ja-JP" sz="2800" dirty="0">
                  <a:solidFill>
                    <a:schemeClr val="bg1"/>
                  </a:solidFill>
                  <a:latin typeface="MS UI Gothic" panose="020B0600070205080204" pitchFamily="34" charset="-128"/>
                  <a:ea typeface="MS UI Gothic" panose="020B0600070205080204" pitchFamily="34" charset="-128"/>
                </a:endParaRPr>
              </a:p>
              <a:p>
                <a:r>
                  <a:rPr lang="ja-JP" altLang="en-US" sz="2800">
                    <a:solidFill>
                      <a:schemeClr val="bg1"/>
                    </a:solidFill>
                    <a:latin typeface="MS UI Gothic" panose="020B0600070205080204" pitchFamily="34" charset="-128"/>
                    <a:ea typeface="MS UI Gothic" panose="020B0600070205080204" pitchFamily="34" charset="-128"/>
                  </a:rPr>
                  <a:t>　作成への反映</a:t>
                </a:r>
                <a:endParaRPr kumimoji="1" lang="ja-JP" altLang="en-US" sz="2800">
                  <a:solidFill>
                    <a:schemeClr val="bg1"/>
                  </a:solidFill>
                  <a:latin typeface="MS UI Gothic" panose="020B0600070205080204" pitchFamily="34" charset="-128"/>
                  <a:ea typeface="MS UI Gothic" panose="020B0600070205080204" pitchFamily="34" charset="-128"/>
                </a:endParaRPr>
              </a:p>
            </p:txBody>
          </p:sp>
          <p:sp>
            <p:nvSpPr>
              <p:cNvPr id="37" name="テキスト ボックス 36">
                <a:extLst>
                  <a:ext uri="{FF2B5EF4-FFF2-40B4-BE49-F238E27FC236}">
                    <a16:creationId xmlns:a16="http://schemas.microsoft.com/office/drawing/2014/main" id="{E35AFE8A-CF6C-7E5E-6056-D6E7ECFBE498}"/>
                  </a:ext>
                </a:extLst>
              </p:cNvPr>
              <p:cNvSpPr txBox="1"/>
              <p:nvPr/>
            </p:nvSpPr>
            <p:spPr>
              <a:xfrm>
                <a:off x="1979941" y="4318000"/>
                <a:ext cx="1980029" cy="523220"/>
              </a:xfrm>
              <a:prstGeom prst="rect">
                <a:avLst/>
              </a:prstGeom>
              <a:noFill/>
            </p:spPr>
            <p:txBody>
              <a:bodyPr wrap="none" rtlCol="0">
                <a:spAutoFit/>
              </a:bodyPr>
              <a:lstStyle/>
              <a:p>
                <a:r>
                  <a:rPr lang="en-US" altLang="ja-JP" sz="2800" dirty="0">
                    <a:solidFill>
                      <a:schemeClr val="bg1"/>
                    </a:solidFill>
                    <a:latin typeface="MS UI Gothic" panose="020B0600070205080204" pitchFamily="34" charset="-128"/>
                    <a:ea typeface="MS UI Gothic" panose="020B0600070205080204" pitchFamily="34" charset="-128"/>
                  </a:rPr>
                  <a:t>①</a:t>
                </a:r>
                <a:r>
                  <a:rPr lang="ja-JP" altLang="en-US" sz="2800">
                    <a:solidFill>
                      <a:schemeClr val="bg1"/>
                    </a:solidFill>
                    <a:latin typeface="MS UI Gothic" panose="020B0600070205080204" pitchFamily="34" charset="-128"/>
                    <a:ea typeface="MS UI Gothic" panose="020B0600070205080204" pitchFamily="34" charset="-128"/>
                  </a:rPr>
                  <a:t>講義改善</a:t>
                </a:r>
                <a:endParaRPr lang="en-US" altLang="ja-JP" sz="2800" dirty="0">
                  <a:solidFill>
                    <a:schemeClr val="bg1"/>
                  </a:solidFill>
                  <a:latin typeface="MS UI Gothic" panose="020B0600070205080204" pitchFamily="34" charset="-128"/>
                  <a:ea typeface="MS UI Gothic" panose="020B0600070205080204" pitchFamily="34" charset="-128"/>
                </a:endParaRPr>
              </a:p>
            </p:txBody>
          </p:sp>
        </p:grpSp>
      </p:grpSp>
      <p:sp>
        <p:nvSpPr>
          <p:cNvPr id="45" name="下矢印 44">
            <a:extLst>
              <a:ext uri="{FF2B5EF4-FFF2-40B4-BE49-F238E27FC236}">
                <a16:creationId xmlns:a16="http://schemas.microsoft.com/office/drawing/2014/main" id="{5AEC3477-A3C1-2E47-1380-E66CBEE43E78}"/>
              </a:ext>
            </a:extLst>
          </p:cNvPr>
          <p:cNvSpPr/>
          <p:nvPr/>
        </p:nvSpPr>
        <p:spPr>
          <a:xfrm>
            <a:off x="2951734" y="4267200"/>
            <a:ext cx="484632" cy="330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4545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609600" y="1950720"/>
            <a:ext cx="5364480" cy="1706880"/>
          </a:xfrm>
          <a:prstGeom prst="rect">
            <a:avLst/>
          </a:prstGeom>
          <a:solidFill>
            <a:srgbClr val="FFFFFF"/>
          </a:solidFill>
          <a:ln/>
        </p:spPr>
        <p:txBody>
          <a:bodyPr/>
          <a:lstStyle/>
          <a:p>
            <a:endParaRPr lang="ja-JP" altLang="en-US" sz="2400"/>
          </a:p>
        </p:txBody>
      </p:sp>
      <p:sp>
        <p:nvSpPr>
          <p:cNvPr id="5" name="Text 3"/>
          <p:cNvSpPr/>
          <p:nvPr/>
        </p:nvSpPr>
        <p:spPr>
          <a:xfrm>
            <a:off x="853440" y="2133600"/>
            <a:ext cx="4876800" cy="365760"/>
          </a:xfrm>
          <a:prstGeom prst="rect">
            <a:avLst/>
          </a:prstGeom>
          <a:noFill/>
          <a:ln/>
        </p:spPr>
        <p:txBody>
          <a:bodyPr wrap="square" rtlCol="0" anchor="ctr"/>
          <a:lstStyle/>
          <a:p>
            <a:r>
              <a:rPr lang="en-US" sz="2400" b="1" dirty="0">
                <a:latin typeface="MS UI Gothic" panose="020B0600070205080204" pitchFamily="34" charset="-128"/>
                <a:ea typeface="MS UI Gothic" panose="020B0600070205080204" pitchFamily="34" charset="-128"/>
              </a:rPr>
              <a:t>📅 4-5月:研究基盤の整理</a:t>
            </a:r>
            <a:endParaRPr lang="en-US" sz="2400" dirty="0">
              <a:latin typeface="MS UI Gothic" panose="020B0600070205080204" pitchFamily="34" charset="-128"/>
              <a:ea typeface="MS UI Gothic" panose="020B0600070205080204" pitchFamily="34" charset="-128"/>
            </a:endParaRPr>
          </a:p>
        </p:txBody>
      </p:sp>
      <p:sp>
        <p:nvSpPr>
          <p:cNvPr id="6" name="Text 4"/>
          <p:cNvSpPr/>
          <p:nvPr/>
        </p:nvSpPr>
        <p:spPr>
          <a:xfrm>
            <a:off x="853440" y="2560320"/>
            <a:ext cx="4876800" cy="853440"/>
          </a:xfrm>
          <a:prstGeom prst="rect">
            <a:avLst/>
          </a:prstGeom>
          <a:noFill/>
          <a:ln/>
        </p:spPr>
        <p:txBody>
          <a:bodyPr wrap="square" rtlCol="0" anchor="ctr"/>
          <a:lstStyle/>
          <a:p>
            <a:pPr>
              <a:buSzPct val="100000"/>
            </a:pPr>
            <a:r>
              <a:rPr lang="ja-JP" altLang="en-US">
                <a:latin typeface="MS UI Gothic" panose="020B0600070205080204" pitchFamily="34" charset="-128"/>
                <a:ea typeface="MS UI Gothic" panose="020B0600070205080204" pitchFamily="34" charset="-128"/>
              </a:rPr>
              <a:t>　　　</a:t>
            </a:r>
            <a:r>
              <a:rPr lang="en-US" dirty="0">
                <a:latin typeface="MS UI Gothic" panose="020B0600070205080204" pitchFamily="34" charset="-128"/>
                <a:ea typeface="MS UI Gothic" panose="020B0600070205080204" pitchFamily="34" charset="-128"/>
              </a:rPr>
              <a:t>・</a:t>
            </a:r>
            <a:r>
              <a:rPr lang="en-US" dirty="0" err="1">
                <a:latin typeface="MS UI Gothic" panose="020B0600070205080204" pitchFamily="34" charset="-128"/>
                <a:ea typeface="MS UI Gothic" panose="020B0600070205080204" pitchFamily="34" charset="-128"/>
              </a:rPr>
              <a:t>システムの研究用途への整備</a:t>
            </a:r>
            <a:endParaRPr lang="en-US" dirty="0">
              <a:latin typeface="MS UI Gothic" panose="020B0600070205080204" pitchFamily="34" charset="-128"/>
              <a:ea typeface="MS UI Gothic" panose="020B0600070205080204" pitchFamily="34" charset="-128"/>
            </a:endParaRPr>
          </a:p>
          <a:p>
            <a:pPr>
              <a:buSzPct val="100000"/>
            </a:pPr>
            <a:r>
              <a:rPr lang="ja-JP" altLang="en-US">
                <a:latin typeface="MS UI Gothic" panose="020B0600070205080204" pitchFamily="34" charset="-128"/>
                <a:ea typeface="MS UI Gothic" panose="020B0600070205080204" pitchFamily="34" charset="-128"/>
              </a:rPr>
              <a:t>　　　</a:t>
            </a:r>
            <a:r>
              <a:rPr lang="en-US" dirty="0">
                <a:latin typeface="MS UI Gothic" panose="020B0600070205080204" pitchFamily="34" charset="-128"/>
                <a:ea typeface="MS UI Gothic" panose="020B0600070205080204" pitchFamily="34" charset="-128"/>
              </a:rPr>
              <a:t>・</a:t>
            </a:r>
            <a:r>
              <a:rPr lang="en-US" dirty="0" err="1">
                <a:latin typeface="MS UI Gothic" panose="020B0600070205080204" pitchFamily="34" charset="-128"/>
                <a:ea typeface="MS UI Gothic" panose="020B0600070205080204" pitchFamily="34" charset="-128"/>
              </a:rPr>
              <a:t>倫理審査申請・承認取得</a:t>
            </a:r>
            <a:endParaRPr lang="en-US" dirty="0">
              <a:latin typeface="MS UI Gothic" panose="020B0600070205080204" pitchFamily="34" charset="-128"/>
              <a:ea typeface="MS UI Gothic" panose="020B0600070205080204" pitchFamily="34" charset="-128"/>
            </a:endParaRPr>
          </a:p>
          <a:p>
            <a:pPr>
              <a:buSzPct val="100000"/>
            </a:pPr>
            <a:endParaRPr lang="en-US" sz="900" dirty="0">
              <a:latin typeface="MS UI Gothic" panose="020B0600070205080204" pitchFamily="34" charset="-128"/>
              <a:ea typeface="MS UI Gothic" panose="020B0600070205080204" pitchFamily="34" charset="-128"/>
            </a:endParaRPr>
          </a:p>
          <a:p>
            <a:pPr algn="ctr"/>
            <a:r>
              <a:rPr lang="en-US" b="1" dirty="0">
                <a:latin typeface="MS UI Gothic" panose="020B0600070205080204" pitchFamily="34" charset="-128"/>
                <a:ea typeface="MS UI Gothic" panose="020B0600070205080204" pitchFamily="34" charset="-128"/>
              </a:rPr>
              <a:t>到達目標: </a:t>
            </a:r>
            <a:r>
              <a:rPr lang="en-US" b="1" dirty="0" err="1">
                <a:latin typeface="MS UI Gothic" panose="020B0600070205080204" pitchFamily="34" charset="-128"/>
                <a:ea typeface="MS UI Gothic" panose="020B0600070205080204" pitchFamily="34" charset="-128"/>
              </a:rPr>
              <a:t>倫理承認、安定稼働の確認</a:t>
            </a:r>
            <a:endParaRPr lang="en-US" b="1" dirty="0">
              <a:latin typeface="MS UI Gothic" panose="020B0600070205080204" pitchFamily="34" charset="-128"/>
              <a:ea typeface="MS UI Gothic" panose="020B0600070205080204" pitchFamily="34" charset="-128"/>
            </a:endParaRPr>
          </a:p>
        </p:txBody>
      </p:sp>
      <p:sp>
        <p:nvSpPr>
          <p:cNvPr id="7" name="Shape 5"/>
          <p:cNvSpPr/>
          <p:nvPr/>
        </p:nvSpPr>
        <p:spPr>
          <a:xfrm>
            <a:off x="6217920" y="1950720"/>
            <a:ext cx="5364480" cy="1706880"/>
          </a:xfrm>
          <a:prstGeom prst="rect">
            <a:avLst/>
          </a:prstGeom>
          <a:solidFill>
            <a:srgbClr val="FFFFFF"/>
          </a:solidFill>
          <a:ln/>
        </p:spPr>
        <p:txBody>
          <a:bodyPr/>
          <a:lstStyle/>
          <a:p>
            <a:endParaRPr lang="ja-JP" altLang="en-US" sz="2400"/>
          </a:p>
        </p:txBody>
      </p:sp>
      <p:sp>
        <p:nvSpPr>
          <p:cNvPr id="8" name="Text 6"/>
          <p:cNvSpPr/>
          <p:nvPr/>
        </p:nvSpPr>
        <p:spPr>
          <a:xfrm>
            <a:off x="6461760" y="2133600"/>
            <a:ext cx="4876800" cy="365760"/>
          </a:xfrm>
          <a:prstGeom prst="rect">
            <a:avLst/>
          </a:prstGeom>
          <a:noFill/>
          <a:ln/>
        </p:spPr>
        <p:txBody>
          <a:bodyPr wrap="square" rtlCol="0" anchor="ctr"/>
          <a:lstStyle/>
          <a:p>
            <a:r>
              <a:rPr lang="en-US" sz="2400" b="1" dirty="0">
                <a:latin typeface="MS UI Gothic" panose="020B0600070205080204" pitchFamily="34" charset="-128"/>
                <a:ea typeface="MS UI Gothic" panose="020B0600070205080204" pitchFamily="34" charset="-128"/>
              </a:rPr>
              <a:t>📅 6-8月:機能改善・運用検証</a:t>
            </a:r>
            <a:endParaRPr lang="en-US" sz="2400" dirty="0">
              <a:latin typeface="MS UI Gothic" panose="020B0600070205080204" pitchFamily="34" charset="-128"/>
              <a:ea typeface="MS UI Gothic" panose="020B0600070205080204" pitchFamily="34" charset="-128"/>
            </a:endParaRPr>
          </a:p>
        </p:txBody>
      </p:sp>
      <p:sp>
        <p:nvSpPr>
          <p:cNvPr id="9" name="Text 7"/>
          <p:cNvSpPr/>
          <p:nvPr/>
        </p:nvSpPr>
        <p:spPr>
          <a:xfrm>
            <a:off x="6461760" y="2560320"/>
            <a:ext cx="4876800" cy="853440"/>
          </a:xfrm>
          <a:prstGeom prst="rect">
            <a:avLst/>
          </a:prstGeom>
          <a:noFill/>
          <a:ln/>
        </p:spPr>
        <p:txBody>
          <a:bodyPr wrap="square" rtlCol="0" anchor="ctr"/>
          <a:lstStyle/>
          <a:p>
            <a:pPr>
              <a:buSzPct val="100000"/>
            </a:pPr>
            <a:r>
              <a:rPr lang="ja-JP" altLang="en-US">
                <a:latin typeface="MS UI Gothic" panose="020B0600070205080204" pitchFamily="34" charset="-128"/>
                <a:ea typeface="MS UI Gothic" panose="020B0600070205080204" pitchFamily="34" charset="-128"/>
              </a:rPr>
              <a:t>　　　</a:t>
            </a:r>
            <a:r>
              <a:rPr lang="en-US" dirty="0">
                <a:latin typeface="MS UI Gothic" panose="020B0600070205080204" pitchFamily="34" charset="-128"/>
                <a:ea typeface="MS UI Gothic" panose="020B0600070205080204" pitchFamily="34" charset="-128"/>
              </a:rPr>
              <a:t>・</a:t>
            </a:r>
            <a:r>
              <a:rPr lang="en-US" dirty="0" err="1">
                <a:latin typeface="MS UI Gothic" panose="020B0600070205080204" pitchFamily="34" charset="-128"/>
                <a:ea typeface="MS UI Gothic" panose="020B0600070205080204" pitchFamily="34" charset="-128"/>
              </a:rPr>
              <a:t>履修済み学生での動作検証</a:t>
            </a:r>
            <a:endParaRPr lang="en-US" dirty="0">
              <a:latin typeface="MS UI Gothic" panose="020B0600070205080204" pitchFamily="34" charset="-128"/>
              <a:ea typeface="MS UI Gothic" panose="020B0600070205080204" pitchFamily="34" charset="-128"/>
            </a:endParaRPr>
          </a:p>
          <a:p>
            <a:pPr>
              <a:buSzPct val="100000"/>
            </a:pPr>
            <a:r>
              <a:rPr lang="ja-JP" altLang="en-US">
                <a:latin typeface="MS UI Gothic" panose="020B0600070205080204" pitchFamily="34" charset="-128"/>
                <a:ea typeface="MS UI Gothic" panose="020B0600070205080204" pitchFamily="34" charset="-128"/>
              </a:rPr>
              <a:t>　　　</a:t>
            </a:r>
            <a:r>
              <a:rPr lang="en-US" dirty="0">
                <a:latin typeface="MS UI Gothic" panose="020B0600070205080204" pitchFamily="34" charset="-128"/>
                <a:ea typeface="MS UI Gothic" panose="020B0600070205080204" pitchFamily="34" charset="-128"/>
              </a:rPr>
              <a:t>・</a:t>
            </a:r>
            <a:r>
              <a:rPr lang="en-US" dirty="0" err="1">
                <a:latin typeface="MS UI Gothic" panose="020B0600070205080204" pitchFamily="34" charset="-128"/>
                <a:ea typeface="MS UI Gothic" panose="020B0600070205080204" pitchFamily="34" charset="-128"/>
              </a:rPr>
              <a:t>つまずき分類・可視化機能実装</a:t>
            </a:r>
            <a:endParaRPr lang="en-US" dirty="0">
              <a:latin typeface="MS UI Gothic" panose="020B0600070205080204" pitchFamily="34" charset="-128"/>
              <a:ea typeface="MS UI Gothic" panose="020B0600070205080204" pitchFamily="34" charset="-128"/>
            </a:endParaRPr>
          </a:p>
          <a:p>
            <a:pPr>
              <a:buSzPct val="100000"/>
            </a:pPr>
            <a:endParaRPr lang="en-US" sz="900" dirty="0">
              <a:latin typeface="MS UI Gothic" panose="020B0600070205080204" pitchFamily="34" charset="-128"/>
              <a:ea typeface="MS UI Gothic" panose="020B0600070205080204" pitchFamily="34" charset="-128"/>
            </a:endParaRPr>
          </a:p>
          <a:p>
            <a:pPr algn="ctr"/>
            <a:r>
              <a:rPr lang="en-US" b="1" dirty="0">
                <a:latin typeface="MS UI Gothic" panose="020B0600070205080204" pitchFamily="34" charset="-128"/>
                <a:ea typeface="MS UI Gothic" panose="020B0600070205080204" pitchFamily="34" charset="-128"/>
              </a:rPr>
              <a:t>到達目標: </a:t>
            </a:r>
            <a:r>
              <a:rPr lang="en-US" b="1" dirty="0" err="1">
                <a:latin typeface="MS UI Gothic" panose="020B0600070205080204" pitchFamily="34" charset="-128"/>
                <a:ea typeface="MS UI Gothic" panose="020B0600070205080204" pitchFamily="34" charset="-128"/>
              </a:rPr>
              <a:t>研究データ取得可能性確認</a:t>
            </a:r>
            <a:endParaRPr lang="en-US" b="1" dirty="0">
              <a:latin typeface="MS UI Gothic" panose="020B0600070205080204" pitchFamily="34" charset="-128"/>
              <a:ea typeface="MS UI Gothic" panose="020B0600070205080204" pitchFamily="34" charset="-128"/>
            </a:endParaRPr>
          </a:p>
        </p:txBody>
      </p:sp>
      <p:sp>
        <p:nvSpPr>
          <p:cNvPr id="10" name="Shape 8"/>
          <p:cNvSpPr/>
          <p:nvPr/>
        </p:nvSpPr>
        <p:spPr>
          <a:xfrm>
            <a:off x="609600" y="3901440"/>
            <a:ext cx="5364480" cy="1584960"/>
          </a:xfrm>
          <a:prstGeom prst="rect">
            <a:avLst/>
          </a:prstGeom>
          <a:solidFill>
            <a:srgbClr val="FFFFFF"/>
          </a:solidFill>
          <a:ln/>
        </p:spPr>
        <p:txBody>
          <a:bodyPr/>
          <a:lstStyle/>
          <a:p>
            <a:endParaRPr lang="ja-JP" altLang="en-US" sz="2400"/>
          </a:p>
        </p:txBody>
      </p:sp>
      <p:sp>
        <p:nvSpPr>
          <p:cNvPr id="11" name="Text 9"/>
          <p:cNvSpPr/>
          <p:nvPr/>
        </p:nvSpPr>
        <p:spPr>
          <a:xfrm>
            <a:off x="853440" y="4084320"/>
            <a:ext cx="4876800" cy="365760"/>
          </a:xfrm>
          <a:prstGeom prst="rect">
            <a:avLst/>
          </a:prstGeom>
          <a:noFill/>
          <a:ln/>
        </p:spPr>
        <p:txBody>
          <a:bodyPr wrap="square" rtlCol="0" anchor="ctr"/>
          <a:lstStyle/>
          <a:p>
            <a:r>
              <a:rPr lang="en-US" sz="2400" b="1" dirty="0">
                <a:latin typeface="MS UI Gothic" panose="020B0600070205080204" pitchFamily="34" charset="-128"/>
                <a:ea typeface="MS UI Gothic" panose="020B0600070205080204" pitchFamily="34" charset="-128"/>
              </a:rPr>
              <a:t>📅 9月:プレ実証実験</a:t>
            </a:r>
            <a:endParaRPr lang="en-US" sz="2400" dirty="0">
              <a:latin typeface="MS UI Gothic" panose="020B0600070205080204" pitchFamily="34" charset="-128"/>
              <a:ea typeface="MS UI Gothic" panose="020B0600070205080204" pitchFamily="34" charset="-128"/>
            </a:endParaRPr>
          </a:p>
        </p:txBody>
      </p:sp>
      <p:sp>
        <p:nvSpPr>
          <p:cNvPr id="12" name="Text 10"/>
          <p:cNvSpPr/>
          <p:nvPr/>
        </p:nvSpPr>
        <p:spPr>
          <a:xfrm>
            <a:off x="853440" y="4511040"/>
            <a:ext cx="4876800" cy="792480"/>
          </a:xfrm>
          <a:prstGeom prst="rect">
            <a:avLst/>
          </a:prstGeom>
          <a:noFill/>
          <a:ln/>
        </p:spPr>
        <p:txBody>
          <a:bodyPr wrap="square" rtlCol="0" anchor="ctr"/>
          <a:lstStyle/>
          <a:p>
            <a:pPr>
              <a:buSzPct val="100000"/>
            </a:pPr>
            <a:r>
              <a:rPr lang="ja-JP" altLang="en-US">
                <a:latin typeface="MS UI Gothic" panose="020B0600070205080204" pitchFamily="34" charset="-128"/>
                <a:ea typeface="MS UI Gothic" panose="020B0600070205080204" pitchFamily="34" charset="-128"/>
              </a:rPr>
              <a:t>　　　</a:t>
            </a:r>
            <a:r>
              <a:rPr lang="en-US" dirty="0">
                <a:latin typeface="MS UI Gothic" panose="020B0600070205080204" pitchFamily="34" charset="-128"/>
                <a:ea typeface="MS UI Gothic" panose="020B0600070205080204" pitchFamily="34" charset="-128"/>
              </a:rPr>
              <a:t>・3年生約30名での試行導入</a:t>
            </a:r>
          </a:p>
          <a:p>
            <a:pPr>
              <a:buSzPct val="100000"/>
            </a:pPr>
            <a:r>
              <a:rPr lang="ja-JP" altLang="en-US">
                <a:latin typeface="MS UI Gothic" panose="020B0600070205080204" pitchFamily="34" charset="-128"/>
                <a:ea typeface="MS UI Gothic" panose="020B0600070205080204" pitchFamily="34" charset="-128"/>
              </a:rPr>
              <a:t>　　　</a:t>
            </a:r>
            <a:r>
              <a:rPr lang="en-US" dirty="0">
                <a:latin typeface="MS UI Gothic" panose="020B0600070205080204" pitchFamily="34" charset="-128"/>
                <a:ea typeface="MS UI Gothic" panose="020B0600070205080204" pitchFamily="34" charset="-128"/>
              </a:rPr>
              <a:t>・</a:t>
            </a:r>
            <a:r>
              <a:rPr lang="en-US" dirty="0" err="1">
                <a:latin typeface="MS UI Gothic" panose="020B0600070205080204" pitchFamily="34" charset="-128"/>
                <a:ea typeface="MS UI Gothic" panose="020B0600070205080204" pitchFamily="34" charset="-128"/>
              </a:rPr>
              <a:t>システム安定性・回答適切性検証</a:t>
            </a:r>
            <a:endParaRPr lang="en-US" dirty="0">
              <a:latin typeface="MS UI Gothic" panose="020B0600070205080204" pitchFamily="34" charset="-128"/>
              <a:ea typeface="MS UI Gothic" panose="020B0600070205080204" pitchFamily="34" charset="-128"/>
            </a:endParaRPr>
          </a:p>
          <a:p>
            <a:endParaRPr lang="en-US" sz="900" i="1" dirty="0">
              <a:latin typeface="MS UI Gothic" panose="020B0600070205080204" pitchFamily="34" charset="-128"/>
              <a:ea typeface="MS UI Gothic" panose="020B0600070205080204" pitchFamily="34" charset="-128"/>
            </a:endParaRPr>
          </a:p>
          <a:p>
            <a:pPr algn="ctr"/>
            <a:r>
              <a:rPr lang="en-US" b="1" dirty="0">
                <a:latin typeface="MS UI Gothic" panose="020B0600070205080204" pitchFamily="34" charset="-128"/>
                <a:ea typeface="MS UI Gothic" panose="020B0600070205080204" pitchFamily="34" charset="-128"/>
              </a:rPr>
              <a:t>到達目標: </a:t>
            </a:r>
            <a:r>
              <a:rPr lang="en-US" b="1" dirty="0" err="1">
                <a:latin typeface="MS UI Gothic" panose="020B0600070205080204" pitchFamily="34" charset="-128"/>
                <a:ea typeface="MS UI Gothic" panose="020B0600070205080204" pitchFamily="34" charset="-128"/>
              </a:rPr>
              <a:t>本実証に向けた課題改善</a:t>
            </a:r>
            <a:endParaRPr lang="en-US" b="1" dirty="0">
              <a:latin typeface="MS UI Gothic" panose="020B0600070205080204" pitchFamily="34" charset="-128"/>
              <a:ea typeface="MS UI Gothic" panose="020B0600070205080204" pitchFamily="34" charset="-128"/>
            </a:endParaRPr>
          </a:p>
        </p:txBody>
      </p:sp>
      <p:sp>
        <p:nvSpPr>
          <p:cNvPr id="13" name="Shape 11"/>
          <p:cNvSpPr/>
          <p:nvPr/>
        </p:nvSpPr>
        <p:spPr>
          <a:xfrm>
            <a:off x="6217920" y="3901440"/>
            <a:ext cx="5364480" cy="1584960"/>
          </a:xfrm>
          <a:prstGeom prst="rect">
            <a:avLst/>
          </a:prstGeom>
          <a:solidFill>
            <a:srgbClr val="FFFFFF"/>
          </a:solidFill>
          <a:ln/>
        </p:spPr>
        <p:txBody>
          <a:bodyPr/>
          <a:lstStyle/>
          <a:p>
            <a:endParaRPr lang="ja-JP" altLang="en-US" sz="2400"/>
          </a:p>
        </p:txBody>
      </p:sp>
      <p:sp>
        <p:nvSpPr>
          <p:cNvPr id="14" name="Text 12"/>
          <p:cNvSpPr/>
          <p:nvPr/>
        </p:nvSpPr>
        <p:spPr>
          <a:xfrm>
            <a:off x="6461760" y="4084320"/>
            <a:ext cx="4876800" cy="365760"/>
          </a:xfrm>
          <a:prstGeom prst="rect">
            <a:avLst/>
          </a:prstGeom>
          <a:noFill/>
          <a:ln/>
        </p:spPr>
        <p:txBody>
          <a:bodyPr wrap="square" rtlCol="0" anchor="ctr"/>
          <a:lstStyle/>
          <a:p>
            <a:r>
              <a:rPr lang="en-US" sz="2400" b="1" dirty="0">
                <a:latin typeface="MS UI Gothic" panose="020B0600070205080204" pitchFamily="34" charset="-128"/>
                <a:ea typeface="MS UI Gothic" panose="020B0600070205080204" pitchFamily="34" charset="-128"/>
              </a:rPr>
              <a:t>📅 10-12月:本実証実験</a:t>
            </a:r>
            <a:endParaRPr lang="en-US" sz="2400" dirty="0">
              <a:latin typeface="MS UI Gothic" panose="020B0600070205080204" pitchFamily="34" charset="-128"/>
              <a:ea typeface="MS UI Gothic" panose="020B0600070205080204" pitchFamily="34" charset="-128"/>
            </a:endParaRPr>
          </a:p>
        </p:txBody>
      </p:sp>
      <p:sp>
        <p:nvSpPr>
          <p:cNvPr id="15" name="Text 13"/>
          <p:cNvSpPr/>
          <p:nvPr/>
        </p:nvSpPr>
        <p:spPr>
          <a:xfrm>
            <a:off x="6461760" y="4511040"/>
            <a:ext cx="4876800" cy="792480"/>
          </a:xfrm>
          <a:prstGeom prst="rect">
            <a:avLst/>
          </a:prstGeom>
          <a:noFill/>
          <a:ln/>
        </p:spPr>
        <p:txBody>
          <a:bodyPr wrap="square" rtlCol="0" anchor="ctr"/>
          <a:lstStyle/>
          <a:p>
            <a:pPr>
              <a:buSzPct val="100000"/>
            </a:pPr>
            <a:r>
              <a:rPr lang="ja-JP" altLang="en-US">
                <a:latin typeface="MS UI Gothic" panose="020B0600070205080204" pitchFamily="34" charset="-128"/>
                <a:ea typeface="MS UI Gothic" panose="020B0600070205080204" pitchFamily="34" charset="-128"/>
              </a:rPr>
              <a:t>　　　</a:t>
            </a:r>
            <a:r>
              <a:rPr lang="en-US" dirty="0">
                <a:latin typeface="MS UI Gothic" panose="020B0600070205080204" pitchFamily="34" charset="-128"/>
                <a:ea typeface="MS UI Gothic" panose="020B0600070205080204" pitchFamily="34" charset="-128"/>
              </a:rPr>
              <a:t>・3年生全体(約250名)での本格導入</a:t>
            </a:r>
          </a:p>
          <a:p>
            <a:pPr>
              <a:buSzPct val="100000"/>
            </a:pPr>
            <a:r>
              <a:rPr lang="ja-JP" altLang="en-US">
                <a:latin typeface="MS UI Gothic" panose="020B0600070205080204" pitchFamily="34" charset="-128"/>
                <a:ea typeface="MS UI Gothic" panose="020B0600070205080204" pitchFamily="34" charset="-128"/>
              </a:rPr>
              <a:t>　　　</a:t>
            </a:r>
            <a:r>
              <a:rPr lang="en-US" dirty="0">
                <a:latin typeface="MS UI Gothic" panose="020B0600070205080204" pitchFamily="34" charset="-128"/>
                <a:ea typeface="MS UI Gothic" panose="020B0600070205080204" pitchFamily="34" charset="-128"/>
              </a:rPr>
              <a:t>・</a:t>
            </a:r>
            <a:r>
              <a:rPr lang="en-US" dirty="0" err="1">
                <a:latin typeface="MS UI Gothic" panose="020B0600070205080204" pitchFamily="34" charset="-128"/>
                <a:ea typeface="MS UI Gothic" panose="020B0600070205080204" pitchFamily="34" charset="-128"/>
              </a:rPr>
              <a:t>学習ログ・試験成績データ収集</a:t>
            </a:r>
            <a:endParaRPr lang="en-US" dirty="0">
              <a:latin typeface="MS UI Gothic" panose="020B0600070205080204" pitchFamily="34" charset="-128"/>
              <a:ea typeface="MS UI Gothic" panose="020B0600070205080204" pitchFamily="34" charset="-128"/>
            </a:endParaRPr>
          </a:p>
          <a:p>
            <a:pPr>
              <a:buSzPct val="100000"/>
            </a:pPr>
            <a:endParaRPr lang="en-US" sz="900" dirty="0">
              <a:latin typeface="MS UI Gothic" panose="020B0600070205080204" pitchFamily="34" charset="-128"/>
              <a:ea typeface="MS UI Gothic" panose="020B0600070205080204" pitchFamily="34" charset="-128"/>
            </a:endParaRPr>
          </a:p>
          <a:p>
            <a:pPr algn="ctr"/>
            <a:r>
              <a:rPr lang="en-US" b="1" dirty="0">
                <a:latin typeface="MS UI Gothic" panose="020B0600070205080204" pitchFamily="34" charset="-128"/>
                <a:ea typeface="MS UI Gothic" panose="020B0600070205080204" pitchFamily="34" charset="-128"/>
              </a:rPr>
              <a:t>到達目標: </a:t>
            </a:r>
            <a:r>
              <a:rPr lang="en-US" b="1" dirty="0" err="1">
                <a:latin typeface="MS UI Gothic" panose="020B0600070205080204" pitchFamily="34" charset="-128"/>
                <a:ea typeface="MS UI Gothic" panose="020B0600070205080204" pitchFamily="34" charset="-128"/>
              </a:rPr>
              <a:t>学習成果との関連性解明</a:t>
            </a:r>
            <a:endParaRPr lang="en-US" b="1" dirty="0">
              <a:latin typeface="MS UI Gothic" panose="020B0600070205080204" pitchFamily="34" charset="-128"/>
              <a:ea typeface="MS UI Gothic" panose="020B0600070205080204" pitchFamily="34" charset="-128"/>
            </a:endParaRPr>
          </a:p>
        </p:txBody>
      </p:sp>
      <p:sp>
        <p:nvSpPr>
          <p:cNvPr id="16" name="Shape 14"/>
          <p:cNvSpPr/>
          <p:nvPr/>
        </p:nvSpPr>
        <p:spPr>
          <a:xfrm>
            <a:off x="609600" y="5730240"/>
            <a:ext cx="10972800" cy="853440"/>
          </a:xfrm>
          <a:prstGeom prst="rect">
            <a:avLst/>
          </a:prstGeom>
          <a:solidFill>
            <a:schemeClr val="accent3">
              <a:lumMod val="20000"/>
              <a:lumOff val="80000"/>
            </a:schemeClr>
          </a:solidFill>
          <a:ln/>
        </p:spPr>
        <p:txBody>
          <a:bodyPr/>
          <a:lstStyle/>
          <a:p>
            <a:endParaRPr lang="ja-JP" altLang="en-US" sz="2400"/>
          </a:p>
        </p:txBody>
      </p:sp>
      <p:sp>
        <p:nvSpPr>
          <p:cNvPr id="17" name="Text 15"/>
          <p:cNvSpPr/>
          <p:nvPr/>
        </p:nvSpPr>
        <p:spPr>
          <a:xfrm>
            <a:off x="853440" y="5913120"/>
            <a:ext cx="10485120" cy="365760"/>
          </a:xfrm>
          <a:prstGeom prst="rect">
            <a:avLst/>
          </a:prstGeom>
          <a:noFill/>
          <a:ln/>
        </p:spPr>
        <p:txBody>
          <a:bodyPr wrap="square" rtlCol="0" anchor="ctr"/>
          <a:lstStyle/>
          <a:p>
            <a:r>
              <a:rPr lang="en-US" sz="2133" b="1" dirty="0"/>
              <a:t>📅 1月以降:分析・成果公表</a:t>
            </a:r>
            <a:endParaRPr lang="en-US" sz="2133" dirty="0"/>
          </a:p>
        </p:txBody>
      </p:sp>
      <p:sp>
        <p:nvSpPr>
          <p:cNvPr id="18" name="Text 16"/>
          <p:cNvSpPr/>
          <p:nvPr/>
        </p:nvSpPr>
        <p:spPr>
          <a:xfrm>
            <a:off x="853440" y="6278880"/>
            <a:ext cx="10485120" cy="243840"/>
          </a:xfrm>
          <a:prstGeom prst="rect">
            <a:avLst/>
          </a:prstGeom>
          <a:noFill/>
          <a:ln/>
        </p:spPr>
        <p:txBody>
          <a:bodyPr wrap="square" rtlCol="0" anchor="ctr"/>
          <a:lstStyle/>
          <a:p>
            <a:r>
              <a:rPr lang="ja-JP" altLang="en-US">
                <a:latin typeface="MS UI Gothic" panose="020B0600070205080204" pitchFamily="34" charset="-128"/>
                <a:ea typeface="MS UI Gothic" panose="020B0600070205080204" pitchFamily="34" charset="-128"/>
              </a:rPr>
              <a:t>　　　</a:t>
            </a:r>
            <a:r>
              <a:rPr lang="en-US" dirty="0" err="1">
                <a:latin typeface="MS UI Gothic" panose="020B0600070205080204" pitchFamily="34" charset="-128"/>
                <a:ea typeface="MS UI Gothic" panose="020B0600070205080204" pitchFamily="34" charset="-128"/>
              </a:rPr>
              <a:t>データ分析、学会発表</a:t>
            </a:r>
            <a:r>
              <a:rPr lang="en-US" dirty="0">
                <a:latin typeface="MS UI Gothic" panose="020B0600070205080204" pitchFamily="34" charset="-128"/>
                <a:ea typeface="MS UI Gothic" panose="020B0600070205080204" pitchFamily="34" charset="-128"/>
              </a:rPr>
              <a:t>(日本医療薬学会)、学術論文投稿</a:t>
            </a:r>
          </a:p>
        </p:txBody>
      </p:sp>
      <p:sp>
        <p:nvSpPr>
          <p:cNvPr id="19" name="テキスト ボックス 18">
            <a:extLst>
              <a:ext uri="{FF2B5EF4-FFF2-40B4-BE49-F238E27FC236}">
                <a16:creationId xmlns:a16="http://schemas.microsoft.com/office/drawing/2014/main" id="{5786D18A-181D-EEC7-766F-B1EB01734440}"/>
              </a:ext>
            </a:extLst>
          </p:cNvPr>
          <p:cNvSpPr txBox="1"/>
          <p:nvPr/>
        </p:nvSpPr>
        <p:spPr>
          <a:xfrm>
            <a:off x="540659" y="251650"/>
            <a:ext cx="2991525"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年次計画の妥当性</a:t>
            </a:r>
          </a:p>
        </p:txBody>
      </p:sp>
      <p:sp>
        <p:nvSpPr>
          <p:cNvPr id="20" name="テキスト ボックス 19">
            <a:extLst>
              <a:ext uri="{FF2B5EF4-FFF2-40B4-BE49-F238E27FC236}">
                <a16:creationId xmlns:a16="http://schemas.microsoft.com/office/drawing/2014/main" id="{232E3DD8-7F8D-C841-DDDA-FD01DB0CB550}"/>
              </a:ext>
            </a:extLst>
          </p:cNvPr>
          <p:cNvSpPr txBox="1"/>
          <p:nvPr/>
        </p:nvSpPr>
        <p:spPr>
          <a:xfrm>
            <a:off x="540659" y="861247"/>
            <a:ext cx="4823756"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実施スケジュールと到達目標</a:t>
            </a:r>
            <a:endParaRPr kumimoji="1" lang="ja-JP" altLang="en-US" sz="3200">
              <a:latin typeface="MS UI Gothic" panose="020B0600070205080204" pitchFamily="34" charset="-128"/>
              <a:ea typeface="MS UI Gothic" panose="020B0600070205080204" pitchFamily="34" charset="-12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1219200" y="1701584"/>
            <a:ext cx="9753600" cy="609600"/>
          </a:xfrm>
          <a:prstGeom prst="rect">
            <a:avLst/>
          </a:prstGeom>
          <a:solidFill>
            <a:schemeClr val="accent3">
              <a:lumMod val="20000"/>
              <a:lumOff val="80000"/>
            </a:schemeClr>
          </a:solidFill>
          <a:ln/>
        </p:spPr>
        <p:txBody>
          <a:bodyPr/>
          <a:lstStyle/>
          <a:p>
            <a:endParaRPr lang="ja-JP" altLang="en-US" sz="2400"/>
          </a:p>
        </p:txBody>
      </p:sp>
      <p:sp>
        <p:nvSpPr>
          <p:cNvPr id="5" name="Text 3"/>
          <p:cNvSpPr/>
          <p:nvPr/>
        </p:nvSpPr>
        <p:spPr>
          <a:xfrm>
            <a:off x="1219200" y="1823504"/>
            <a:ext cx="9753600" cy="365760"/>
          </a:xfrm>
          <a:prstGeom prst="rect">
            <a:avLst/>
          </a:prstGeom>
          <a:noFill/>
          <a:ln/>
        </p:spPr>
        <p:txBody>
          <a:bodyPr wrap="square" rtlCol="0" anchor="ctr"/>
          <a:lstStyle/>
          <a:p>
            <a:r>
              <a:rPr lang="en-US" sz="1867" b="1" dirty="0" err="1"/>
              <a:t>費目</a:t>
            </a:r>
            <a:r>
              <a:rPr lang="en-US" sz="1867" b="1" dirty="0"/>
              <a:t>     </a:t>
            </a:r>
            <a:r>
              <a:rPr lang="ja-JP" altLang="en-US" sz="1867" b="1"/>
              <a:t>　　　　　　　　　　　</a:t>
            </a:r>
            <a:r>
              <a:rPr lang="en-US" sz="1867" b="1" dirty="0" err="1"/>
              <a:t>金額</a:t>
            </a:r>
            <a:r>
              <a:rPr lang="en-US" sz="1867" b="1" dirty="0"/>
              <a:t>    </a:t>
            </a:r>
            <a:r>
              <a:rPr lang="ja-JP" altLang="en-US" sz="1867" b="1"/>
              <a:t>　　</a:t>
            </a:r>
            <a:r>
              <a:rPr lang="en-US" sz="1867" b="1" dirty="0"/>
              <a:t> 使途</a:t>
            </a:r>
            <a:endParaRPr lang="en-US" sz="1867" dirty="0"/>
          </a:p>
        </p:txBody>
      </p:sp>
      <p:sp>
        <p:nvSpPr>
          <p:cNvPr id="6" name="Shape 4"/>
          <p:cNvSpPr/>
          <p:nvPr/>
        </p:nvSpPr>
        <p:spPr>
          <a:xfrm>
            <a:off x="1219200" y="2311184"/>
            <a:ext cx="9753600" cy="731520"/>
          </a:xfrm>
          <a:prstGeom prst="rect">
            <a:avLst/>
          </a:prstGeom>
          <a:solidFill>
            <a:srgbClr val="FFFFFF"/>
          </a:solidFill>
          <a:ln/>
        </p:spPr>
        <p:txBody>
          <a:bodyPr/>
          <a:lstStyle/>
          <a:p>
            <a:endParaRPr lang="ja-JP" altLang="en-US" sz="2400"/>
          </a:p>
        </p:txBody>
      </p:sp>
      <p:sp>
        <p:nvSpPr>
          <p:cNvPr id="7" name="Text 5"/>
          <p:cNvSpPr/>
          <p:nvPr/>
        </p:nvSpPr>
        <p:spPr>
          <a:xfrm>
            <a:off x="1341120" y="2494064"/>
            <a:ext cx="2682240" cy="365760"/>
          </a:xfrm>
          <a:prstGeom prst="rect">
            <a:avLst/>
          </a:prstGeom>
          <a:noFill/>
          <a:ln/>
        </p:spPr>
        <p:txBody>
          <a:bodyPr wrap="square" rtlCol="0" anchor="ctr"/>
          <a:lstStyle/>
          <a:p>
            <a:r>
              <a:rPr lang="en-US" dirty="0">
                <a:latin typeface="MS UI Gothic" panose="020B0600070205080204" pitchFamily="34" charset="-128"/>
                <a:ea typeface="MS UI Gothic" panose="020B0600070205080204" pitchFamily="34" charset="-128"/>
              </a:rPr>
              <a:t>機器備品費</a:t>
            </a:r>
          </a:p>
        </p:txBody>
      </p:sp>
      <p:sp>
        <p:nvSpPr>
          <p:cNvPr id="8" name="Text 6"/>
          <p:cNvSpPr/>
          <p:nvPr/>
        </p:nvSpPr>
        <p:spPr>
          <a:xfrm>
            <a:off x="4023360" y="2494064"/>
            <a:ext cx="1828800" cy="365760"/>
          </a:xfrm>
          <a:prstGeom prst="rect">
            <a:avLst/>
          </a:prstGeom>
          <a:noFill/>
          <a:ln/>
        </p:spPr>
        <p:txBody>
          <a:bodyPr wrap="square" rtlCol="0" anchor="ctr"/>
          <a:lstStyle/>
          <a:p>
            <a:pPr algn="r"/>
            <a:r>
              <a:rPr lang="en-US" dirty="0">
                <a:latin typeface="MS UI Gothic" panose="020B0600070205080204" pitchFamily="34" charset="-128"/>
                <a:ea typeface="MS UI Gothic" panose="020B0600070205080204" pitchFamily="34" charset="-128"/>
              </a:rPr>
              <a:t>290千円</a:t>
            </a:r>
          </a:p>
        </p:txBody>
      </p:sp>
      <p:sp>
        <p:nvSpPr>
          <p:cNvPr id="9" name="Text 7"/>
          <p:cNvSpPr/>
          <p:nvPr/>
        </p:nvSpPr>
        <p:spPr>
          <a:xfrm>
            <a:off x="5974080" y="2494064"/>
            <a:ext cx="4754880" cy="365760"/>
          </a:xfrm>
          <a:prstGeom prst="rect">
            <a:avLst/>
          </a:prstGeom>
          <a:noFill/>
          <a:ln/>
        </p:spPr>
        <p:txBody>
          <a:bodyPr wrap="square" rtlCol="0" anchor="ctr"/>
          <a:lstStyle/>
          <a:p>
            <a:r>
              <a:rPr lang="en-US" dirty="0">
                <a:latin typeface="MS UI Gothic" panose="020B0600070205080204" pitchFamily="34" charset="-128"/>
                <a:ea typeface="MS UI Gothic" panose="020B0600070205080204" pitchFamily="34" charset="-128"/>
              </a:rPr>
              <a:t>MacBook Pro(開発・動作確認用)</a:t>
            </a:r>
          </a:p>
        </p:txBody>
      </p:sp>
      <p:sp>
        <p:nvSpPr>
          <p:cNvPr id="10" name="Shape 8"/>
          <p:cNvSpPr/>
          <p:nvPr/>
        </p:nvSpPr>
        <p:spPr>
          <a:xfrm>
            <a:off x="1219200" y="3042704"/>
            <a:ext cx="9753600" cy="731520"/>
          </a:xfrm>
          <a:prstGeom prst="rect">
            <a:avLst/>
          </a:prstGeom>
          <a:solidFill>
            <a:srgbClr val="F5F5F5"/>
          </a:solidFill>
          <a:ln/>
        </p:spPr>
        <p:txBody>
          <a:bodyPr/>
          <a:lstStyle/>
          <a:p>
            <a:endParaRPr lang="ja-JP" altLang="en-US" sz="2400"/>
          </a:p>
        </p:txBody>
      </p:sp>
      <p:sp>
        <p:nvSpPr>
          <p:cNvPr id="11" name="Text 9"/>
          <p:cNvSpPr/>
          <p:nvPr/>
        </p:nvSpPr>
        <p:spPr>
          <a:xfrm>
            <a:off x="1341120" y="3225584"/>
            <a:ext cx="2682240" cy="365760"/>
          </a:xfrm>
          <a:prstGeom prst="rect">
            <a:avLst/>
          </a:prstGeom>
          <a:noFill/>
          <a:ln/>
        </p:spPr>
        <p:txBody>
          <a:bodyPr wrap="square" rtlCol="0" anchor="ctr"/>
          <a:lstStyle/>
          <a:p>
            <a:r>
              <a:rPr lang="en-US" dirty="0">
                <a:latin typeface="MS UI Gothic" panose="020B0600070205080204" pitchFamily="34" charset="-128"/>
                <a:ea typeface="MS UI Gothic" panose="020B0600070205080204" pitchFamily="34" charset="-128"/>
              </a:rPr>
              <a:t>消耗品費</a:t>
            </a:r>
          </a:p>
        </p:txBody>
      </p:sp>
      <p:sp>
        <p:nvSpPr>
          <p:cNvPr id="12" name="Text 10"/>
          <p:cNvSpPr/>
          <p:nvPr/>
        </p:nvSpPr>
        <p:spPr>
          <a:xfrm>
            <a:off x="4023360" y="3225584"/>
            <a:ext cx="1828800" cy="365760"/>
          </a:xfrm>
          <a:prstGeom prst="rect">
            <a:avLst/>
          </a:prstGeom>
          <a:noFill/>
          <a:ln/>
        </p:spPr>
        <p:txBody>
          <a:bodyPr wrap="square" rtlCol="0" anchor="ctr"/>
          <a:lstStyle/>
          <a:p>
            <a:pPr algn="r"/>
            <a:r>
              <a:rPr lang="en-US" dirty="0">
                <a:latin typeface="MS UI Gothic" panose="020B0600070205080204" pitchFamily="34" charset="-128"/>
                <a:ea typeface="MS UI Gothic" panose="020B0600070205080204" pitchFamily="34" charset="-128"/>
              </a:rPr>
              <a:t>110千円</a:t>
            </a:r>
          </a:p>
        </p:txBody>
      </p:sp>
      <p:sp>
        <p:nvSpPr>
          <p:cNvPr id="13" name="Text 11"/>
          <p:cNvSpPr/>
          <p:nvPr/>
        </p:nvSpPr>
        <p:spPr>
          <a:xfrm>
            <a:off x="5974080" y="3225584"/>
            <a:ext cx="4754880" cy="365760"/>
          </a:xfrm>
          <a:prstGeom prst="rect">
            <a:avLst/>
          </a:prstGeom>
          <a:noFill/>
          <a:ln/>
        </p:spPr>
        <p:txBody>
          <a:bodyPr wrap="square" rtlCol="0" anchor="ctr"/>
          <a:lstStyle/>
          <a:p>
            <a:r>
              <a:rPr lang="en-US" dirty="0">
                <a:latin typeface="MS UI Gothic" panose="020B0600070205080204" pitchFamily="34" charset="-128"/>
                <a:ea typeface="MS UI Gothic" panose="020B0600070205080204" pitchFamily="34" charset="-128"/>
              </a:rPr>
              <a:t>生成系AI使用料(GPT/Claude/Gemini)</a:t>
            </a:r>
          </a:p>
          <a:p>
            <a:r>
              <a:rPr lang="en-US" dirty="0">
                <a:latin typeface="MS UI Gothic" panose="020B0600070205080204" pitchFamily="34" charset="-128"/>
                <a:ea typeface="MS UI Gothic" panose="020B0600070205080204" pitchFamily="34" charset="-128"/>
              </a:rPr>
              <a:t>API使用料</a:t>
            </a:r>
          </a:p>
        </p:txBody>
      </p:sp>
      <p:sp>
        <p:nvSpPr>
          <p:cNvPr id="14" name="Shape 12"/>
          <p:cNvSpPr/>
          <p:nvPr/>
        </p:nvSpPr>
        <p:spPr>
          <a:xfrm>
            <a:off x="1219200" y="3774224"/>
            <a:ext cx="9753600" cy="731520"/>
          </a:xfrm>
          <a:prstGeom prst="rect">
            <a:avLst/>
          </a:prstGeom>
          <a:solidFill>
            <a:srgbClr val="FFFFFF"/>
          </a:solidFill>
          <a:ln/>
        </p:spPr>
        <p:txBody>
          <a:bodyPr/>
          <a:lstStyle/>
          <a:p>
            <a:endParaRPr lang="ja-JP" altLang="en-US" sz="2400"/>
          </a:p>
        </p:txBody>
      </p:sp>
      <p:sp>
        <p:nvSpPr>
          <p:cNvPr id="15" name="Text 13"/>
          <p:cNvSpPr/>
          <p:nvPr/>
        </p:nvSpPr>
        <p:spPr>
          <a:xfrm>
            <a:off x="1341120" y="3957104"/>
            <a:ext cx="2682240" cy="365760"/>
          </a:xfrm>
          <a:prstGeom prst="rect">
            <a:avLst/>
          </a:prstGeom>
          <a:noFill/>
          <a:ln/>
        </p:spPr>
        <p:txBody>
          <a:bodyPr wrap="square" rtlCol="0" anchor="ctr"/>
          <a:lstStyle/>
          <a:p>
            <a:r>
              <a:rPr lang="en-US" dirty="0">
                <a:latin typeface="MS UI Gothic" panose="020B0600070205080204" pitchFamily="34" charset="-128"/>
                <a:ea typeface="MS UI Gothic" panose="020B0600070205080204" pitchFamily="34" charset="-128"/>
              </a:rPr>
              <a:t>図書費</a:t>
            </a:r>
          </a:p>
        </p:txBody>
      </p:sp>
      <p:sp>
        <p:nvSpPr>
          <p:cNvPr id="16" name="Text 14"/>
          <p:cNvSpPr/>
          <p:nvPr/>
        </p:nvSpPr>
        <p:spPr>
          <a:xfrm>
            <a:off x="4023360" y="3957104"/>
            <a:ext cx="1828800" cy="365760"/>
          </a:xfrm>
          <a:prstGeom prst="rect">
            <a:avLst/>
          </a:prstGeom>
          <a:noFill/>
          <a:ln/>
        </p:spPr>
        <p:txBody>
          <a:bodyPr wrap="square" rtlCol="0" anchor="ctr"/>
          <a:lstStyle/>
          <a:p>
            <a:pPr algn="r"/>
            <a:r>
              <a:rPr lang="en-US" dirty="0">
                <a:latin typeface="MS UI Gothic" panose="020B0600070205080204" pitchFamily="34" charset="-128"/>
                <a:ea typeface="MS UI Gothic" panose="020B0600070205080204" pitchFamily="34" charset="-128"/>
              </a:rPr>
              <a:t>20千円</a:t>
            </a:r>
          </a:p>
        </p:txBody>
      </p:sp>
      <p:sp>
        <p:nvSpPr>
          <p:cNvPr id="17" name="Text 15"/>
          <p:cNvSpPr/>
          <p:nvPr/>
        </p:nvSpPr>
        <p:spPr>
          <a:xfrm>
            <a:off x="5974080" y="3957104"/>
            <a:ext cx="4754880" cy="365760"/>
          </a:xfrm>
          <a:prstGeom prst="rect">
            <a:avLst/>
          </a:prstGeom>
          <a:noFill/>
          <a:ln/>
        </p:spPr>
        <p:txBody>
          <a:bodyPr wrap="square" rtlCol="0" anchor="ctr"/>
          <a:lstStyle/>
          <a:p>
            <a:r>
              <a:rPr lang="en-US" dirty="0">
                <a:latin typeface="MS UI Gothic" panose="020B0600070205080204" pitchFamily="34" charset="-128"/>
                <a:ea typeface="MS UI Gothic" panose="020B0600070205080204" pitchFamily="34" charset="-128"/>
              </a:rPr>
              <a:t>教育工学・生成系AI関連書籍・学術雑誌</a:t>
            </a:r>
          </a:p>
        </p:txBody>
      </p:sp>
      <p:sp>
        <p:nvSpPr>
          <p:cNvPr id="18" name="Shape 16"/>
          <p:cNvSpPr/>
          <p:nvPr/>
        </p:nvSpPr>
        <p:spPr>
          <a:xfrm>
            <a:off x="1219200" y="4505744"/>
            <a:ext cx="9753600" cy="731520"/>
          </a:xfrm>
          <a:prstGeom prst="rect">
            <a:avLst/>
          </a:prstGeom>
          <a:solidFill>
            <a:srgbClr val="F5F5F5"/>
          </a:solidFill>
          <a:ln/>
        </p:spPr>
        <p:txBody>
          <a:bodyPr/>
          <a:lstStyle/>
          <a:p>
            <a:endParaRPr lang="ja-JP" altLang="en-US" sz="2400"/>
          </a:p>
        </p:txBody>
      </p:sp>
      <p:sp>
        <p:nvSpPr>
          <p:cNvPr id="19" name="Text 17"/>
          <p:cNvSpPr/>
          <p:nvPr/>
        </p:nvSpPr>
        <p:spPr>
          <a:xfrm>
            <a:off x="1341120" y="4688624"/>
            <a:ext cx="2682240" cy="365760"/>
          </a:xfrm>
          <a:prstGeom prst="rect">
            <a:avLst/>
          </a:prstGeom>
          <a:noFill/>
          <a:ln/>
        </p:spPr>
        <p:txBody>
          <a:bodyPr wrap="square" rtlCol="0" anchor="ctr"/>
          <a:lstStyle/>
          <a:p>
            <a:r>
              <a:rPr lang="en-US" dirty="0">
                <a:latin typeface="MS UI Gothic" panose="020B0600070205080204" pitchFamily="34" charset="-128"/>
                <a:ea typeface="MS UI Gothic" panose="020B0600070205080204" pitchFamily="34" charset="-128"/>
              </a:rPr>
              <a:t>旅費交通費</a:t>
            </a:r>
          </a:p>
        </p:txBody>
      </p:sp>
      <p:sp>
        <p:nvSpPr>
          <p:cNvPr id="20" name="Text 18"/>
          <p:cNvSpPr/>
          <p:nvPr/>
        </p:nvSpPr>
        <p:spPr>
          <a:xfrm>
            <a:off x="4023360" y="4688624"/>
            <a:ext cx="1828800" cy="365760"/>
          </a:xfrm>
          <a:prstGeom prst="rect">
            <a:avLst/>
          </a:prstGeom>
          <a:noFill/>
          <a:ln/>
        </p:spPr>
        <p:txBody>
          <a:bodyPr wrap="square" rtlCol="0" anchor="ctr"/>
          <a:lstStyle/>
          <a:p>
            <a:pPr algn="r"/>
            <a:r>
              <a:rPr lang="en-US" dirty="0">
                <a:latin typeface="MS UI Gothic" panose="020B0600070205080204" pitchFamily="34" charset="-128"/>
                <a:ea typeface="MS UI Gothic" panose="020B0600070205080204" pitchFamily="34" charset="-128"/>
              </a:rPr>
              <a:t>80千円</a:t>
            </a:r>
          </a:p>
        </p:txBody>
      </p:sp>
      <p:sp>
        <p:nvSpPr>
          <p:cNvPr id="21" name="Text 19"/>
          <p:cNvSpPr/>
          <p:nvPr/>
        </p:nvSpPr>
        <p:spPr>
          <a:xfrm>
            <a:off x="5974080" y="4688624"/>
            <a:ext cx="4754880" cy="365760"/>
          </a:xfrm>
          <a:prstGeom prst="rect">
            <a:avLst/>
          </a:prstGeom>
          <a:noFill/>
          <a:ln/>
        </p:spPr>
        <p:txBody>
          <a:bodyPr wrap="square" rtlCol="0" anchor="ctr"/>
          <a:lstStyle/>
          <a:p>
            <a:r>
              <a:rPr lang="en-US" dirty="0">
                <a:latin typeface="MS UI Gothic" panose="020B0600070205080204" pitchFamily="34" charset="-128"/>
                <a:ea typeface="MS UI Gothic" panose="020B0600070205080204" pitchFamily="34" charset="-128"/>
              </a:rPr>
              <a:t>日本医療薬学会年会(石川県)での発表</a:t>
            </a:r>
          </a:p>
        </p:txBody>
      </p:sp>
      <p:sp>
        <p:nvSpPr>
          <p:cNvPr id="22" name="Shape 20"/>
          <p:cNvSpPr/>
          <p:nvPr/>
        </p:nvSpPr>
        <p:spPr>
          <a:xfrm>
            <a:off x="1219200" y="5237264"/>
            <a:ext cx="9753600" cy="731520"/>
          </a:xfrm>
          <a:prstGeom prst="rect">
            <a:avLst/>
          </a:prstGeom>
          <a:solidFill>
            <a:srgbClr val="FFFFFF"/>
          </a:solidFill>
          <a:ln/>
        </p:spPr>
        <p:txBody>
          <a:bodyPr/>
          <a:lstStyle/>
          <a:p>
            <a:endParaRPr lang="ja-JP" altLang="en-US" sz="2400"/>
          </a:p>
        </p:txBody>
      </p:sp>
      <p:sp>
        <p:nvSpPr>
          <p:cNvPr id="23" name="Text 21"/>
          <p:cNvSpPr/>
          <p:nvPr/>
        </p:nvSpPr>
        <p:spPr>
          <a:xfrm>
            <a:off x="1341120" y="5420144"/>
            <a:ext cx="2682240" cy="365760"/>
          </a:xfrm>
          <a:prstGeom prst="rect">
            <a:avLst/>
          </a:prstGeom>
          <a:noFill/>
          <a:ln/>
        </p:spPr>
        <p:txBody>
          <a:bodyPr wrap="square" rtlCol="0" anchor="ctr"/>
          <a:lstStyle/>
          <a:p>
            <a:r>
              <a:rPr lang="en-US" dirty="0">
                <a:latin typeface="MS UI Gothic" panose="020B0600070205080204" pitchFamily="34" charset="-128"/>
                <a:ea typeface="MS UI Gothic" panose="020B0600070205080204" pitchFamily="34" charset="-128"/>
              </a:rPr>
              <a:t>その他</a:t>
            </a:r>
          </a:p>
        </p:txBody>
      </p:sp>
      <p:sp>
        <p:nvSpPr>
          <p:cNvPr id="24" name="Text 22"/>
          <p:cNvSpPr/>
          <p:nvPr/>
        </p:nvSpPr>
        <p:spPr>
          <a:xfrm>
            <a:off x="4023360" y="5420144"/>
            <a:ext cx="1828800" cy="365760"/>
          </a:xfrm>
          <a:prstGeom prst="rect">
            <a:avLst/>
          </a:prstGeom>
          <a:noFill/>
          <a:ln/>
        </p:spPr>
        <p:txBody>
          <a:bodyPr wrap="square" rtlCol="0" anchor="ctr"/>
          <a:lstStyle/>
          <a:p>
            <a:pPr algn="r"/>
            <a:r>
              <a:rPr lang="en-US" dirty="0">
                <a:latin typeface="MS UI Gothic" panose="020B0600070205080204" pitchFamily="34" charset="-128"/>
                <a:ea typeface="MS UI Gothic" panose="020B0600070205080204" pitchFamily="34" charset="-128"/>
              </a:rPr>
              <a:t>500千円</a:t>
            </a:r>
          </a:p>
        </p:txBody>
      </p:sp>
      <p:sp>
        <p:nvSpPr>
          <p:cNvPr id="25" name="Text 23"/>
          <p:cNvSpPr/>
          <p:nvPr/>
        </p:nvSpPr>
        <p:spPr>
          <a:xfrm>
            <a:off x="5974080" y="5420144"/>
            <a:ext cx="4754880" cy="365760"/>
          </a:xfrm>
          <a:prstGeom prst="rect">
            <a:avLst/>
          </a:prstGeom>
          <a:noFill/>
          <a:ln/>
        </p:spPr>
        <p:txBody>
          <a:bodyPr wrap="square" rtlCol="0" anchor="ctr"/>
          <a:lstStyle/>
          <a:p>
            <a:r>
              <a:rPr lang="en-US" dirty="0">
                <a:latin typeface="MS UI Gothic" panose="020B0600070205080204" pitchFamily="34" charset="-128"/>
                <a:ea typeface="MS UI Gothic" panose="020B0600070205080204" pitchFamily="34" charset="-128"/>
              </a:rPr>
              <a:t>英語論文投稿料・英文校閲料</a:t>
            </a:r>
          </a:p>
        </p:txBody>
      </p:sp>
      <p:sp>
        <p:nvSpPr>
          <p:cNvPr id="26" name="Shape 24"/>
          <p:cNvSpPr/>
          <p:nvPr/>
        </p:nvSpPr>
        <p:spPr>
          <a:xfrm>
            <a:off x="1219200" y="5968784"/>
            <a:ext cx="9753600" cy="609600"/>
          </a:xfrm>
          <a:prstGeom prst="rect">
            <a:avLst/>
          </a:prstGeom>
          <a:solidFill>
            <a:schemeClr val="accent3">
              <a:lumMod val="20000"/>
              <a:lumOff val="80000"/>
            </a:schemeClr>
          </a:solidFill>
          <a:ln/>
        </p:spPr>
        <p:txBody>
          <a:bodyPr/>
          <a:lstStyle/>
          <a:p>
            <a:endParaRPr lang="ja-JP" altLang="en-US" sz="2400"/>
          </a:p>
        </p:txBody>
      </p:sp>
      <p:sp>
        <p:nvSpPr>
          <p:cNvPr id="27" name="Text 25"/>
          <p:cNvSpPr/>
          <p:nvPr/>
        </p:nvSpPr>
        <p:spPr>
          <a:xfrm>
            <a:off x="1341120" y="6151664"/>
            <a:ext cx="2682240" cy="365760"/>
          </a:xfrm>
          <a:prstGeom prst="rect">
            <a:avLst/>
          </a:prstGeom>
          <a:noFill/>
          <a:ln/>
        </p:spPr>
        <p:txBody>
          <a:bodyPr wrap="square" rtlCol="0" anchor="ctr"/>
          <a:lstStyle/>
          <a:p>
            <a:r>
              <a:rPr lang="en-US" sz="1867" b="1" dirty="0"/>
              <a:t>合計</a:t>
            </a:r>
            <a:endParaRPr lang="en-US" sz="1867" dirty="0"/>
          </a:p>
        </p:txBody>
      </p:sp>
      <p:sp>
        <p:nvSpPr>
          <p:cNvPr id="28" name="Text 26"/>
          <p:cNvSpPr/>
          <p:nvPr/>
        </p:nvSpPr>
        <p:spPr>
          <a:xfrm>
            <a:off x="4023360" y="6151664"/>
            <a:ext cx="1828800" cy="365760"/>
          </a:xfrm>
          <a:prstGeom prst="rect">
            <a:avLst/>
          </a:prstGeom>
          <a:noFill/>
          <a:ln/>
        </p:spPr>
        <p:txBody>
          <a:bodyPr wrap="square" rtlCol="0" anchor="ctr"/>
          <a:lstStyle/>
          <a:p>
            <a:pPr algn="r"/>
            <a:r>
              <a:rPr lang="en-US" sz="1867" b="1" dirty="0"/>
              <a:t>1,000千円</a:t>
            </a:r>
            <a:endParaRPr lang="en-US" sz="1867" dirty="0"/>
          </a:p>
        </p:txBody>
      </p:sp>
      <p:sp>
        <p:nvSpPr>
          <p:cNvPr id="29" name="テキスト ボックス 28">
            <a:extLst>
              <a:ext uri="{FF2B5EF4-FFF2-40B4-BE49-F238E27FC236}">
                <a16:creationId xmlns:a16="http://schemas.microsoft.com/office/drawing/2014/main" id="{ED1E4376-6FFE-C6EC-AFCD-C40A530DC95B}"/>
              </a:ext>
            </a:extLst>
          </p:cNvPr>
          <p:cNvSpPr txBox="1"/>
          <p:nvPr/>
        </p:nvSpPr>
        <p:spPr>
          <a:xfrm>
            <a:off x="540659" y="251650"/>
            <a:ext cx="2273379"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経費</a:t>
            </a:r>
            <a:r>
              <a:rPr kumimoji="1" lang="ja-JP" altLang="en-US" sz="2800">
                <a:latin typeface="MS UI Gothic" panose="020B0600070205080204" pitchFamily="34" charset="-128"/>
                <a:ea typeface="MS UI Gothic" panose="020B0600070205080204" pitchFamily="34" charset="-128"/>
              </a:rPr>
              <a:t>の妥当性</a:t>
            </a:r>
          </a:p>
        </p:txBody>
      </p:sp>
      <p:sp>
        <p:nvSpPr>
          <p:cNvPr id="30" name="テキスト ボックス 29">
            <a:extLst>
              <a:ext uri="{FF2B5EF4-FFF2-40B4-BE49-F238E27FC236}">
                <a16:creationId xmlns:a16="http://schemas.microsoft.com/office/drawing/2014/main" id="{4E5990EA-2688-197E-0A82-0D26271A291B}"/>
              </a:ext>
            </a:extLst>
          </p:cNvPr>
          <p:cNvSpPr txBox="1"/>
          <p:nvPr/>
        </p:nvSpPr>
        <p:spPr>
          <a:xfrm>
            <a:off x="540659" y="861247"/>
            <a:ext cx="4471096"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研究経費の内訳と合理性</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609600" y="2062951"/>
            <a:ext cx="10972800" cy="2438400"/>
          </a:xfrm>
          <a:prstGeom prst="rect">
            <a:avLst/>
          </a:prstGeom>
          <a:solidFill>
            <a:srgbClr val="FFFFFF"/>
          </a:solidFill>
          <a:ln/>
        </p:spPr>
        <p:txBody>
          <a:bodyPr/>
          <a:lstStyle/>
          <a:p>
            <a:endParaRPr lang="ja-JP" altLang="en-US" sz="2400"/>
          </a:p>
        </p:txBody>
      </p:sp>
      <p:sp>
        <p:nvSpPr>
          <p:cNvPr id="5" name="Text 3"/>
          <p:cNvSpPr/>
          <p:nvPr/>
        </p:nvSpPr>
        <p:spPr>
          <a:xfrm>
            <a:off x="853440" y="2083908"/>
            <a:ext cx="10485120" cy="365760"/>
          </a:xfrm>
          <a:prstGeom prst="rect">
            <a:avLst/>
          </a:prstGeom>
          <a:noFill/>
          <a:ln/>
        </p:spPr>
        <p:txBody>
          <a:bodyPr wrap="square" rtlCol="0" anchor="ctr"/>
          <a:lstStyle/>
          <a:p>
            <a:r>
              <a:rPr lang="en-US" sz="2400" b="1" dirty="0">
                <a:latin typeface="MS UI Gothic" panose="020B0600070205080204" pitchFamily="34" charset="-128"/>
                <a:ea typeface="MS UI Gothic" panose="020B0600070205080204" pitchFamily="34" charset="-128"/>
              </a:rPr>
              <a:t>📚 原著論文(査読付き):4編</a:t>
            </a:r>
            <a:endParaRPr lang="en-US" sz="2400" dirty="0">
              <a:latin typeface="MS UI Gothic" panose="020B0600070205080204" pitchFamily="34" charset="-128"/>
              <a:ea typeface="MS UI Gothic" panose="020B0600070205080204" pitchFamily="34" charset="-128"/>
            </a:endParaRPr>
          </a:p>
        </p:txBody>
      </p:sp>
      <p:sp>
        <p:nvSpPr>
          <p:cNvPr id="7" name="Shape 5"/>
          <p:cNvSpPr/>
          <p:nvPr/>
        </p:nvSpPr>
        <p:spPr>
          <a:xfrm>
            <a:off x="609600" y="4861404"/>
            <a:ext cx="10972800" cy="853440"/>
          </a:xfrm>
          <a:prstGeom prst="rect">
            <a:avLst/>
          </a:prstGeom>
          <a:solidFill>
            <a:srgbClr val="FFFFFF"/>
          </a:solidFill>
          <a:ln/>
        </p:spPr>
        <p:txBody>
          <a:bodyPr/>
          <a:lstStyle/>
          <a:p>
            <a:endParaRPr lang="ja-JP" altLang="en-US" sz="2400"/>
          </a:p>
        </p:txBody>
      </p:sp>
      <p:sp>
        <p:nvSpPr>
          <p:cNvPr id="8" name="Text 6"/>
          <p:cNvSpPr/>
          <p:nvPr/>
        </p:nvSpPr>
        <p:spPr>
          <a:xfrm>
            <a:off x="853440" y="4887116"/>
            <a:ext cx="10485120" cy="365760"/>
          </a:xfrm>
          <a:prstGeom prst="rect">
            <a:avLst/>
          </a:prstGeom>
          <a:noFill/>
          <a:ln/>
        </p:spPr>
        <p:txBody>
          <a:bodyPr wrap="square" rtlCol="0" anchor="ctr"/>
          <a:lstStyle/>
          <a:p>
            <a:r>
              <a:rPr lang="en-US" sz="2400" b="1" dirty="0">
                <a:latin typeface="MS UI Gothic" panose="020B0600070205080204" pitchFamily="34" charset="-128"/>
                <a:ea typeface="MS UI Gothic" panose="020B0600070205080204" pitchFamily="34" charset="-128"/>
              </a:rPr>
              <a:t>🌍 国際学会発表:1件</a:t>
            </a:r>
            <a:endParaRPr lang="en-US" sz="2400" dirty="0">
              <a:latin typeface="MS UI Gothic" panose="020B0600070205080204" pitchFamily="34" charset="-128"/>
              <a:ea typeface="MS UI Gothic" panose="020B0600070205080204" pitchFamily="34" charset="-128"/>
            </a:endParaRPr>
          </a:p>
        </p:txBody>
      </p:sp>
      <p:sp>
        <p:nvSpPr>
          <p:cNvPr id="9" name="Text 7"/>
          <p:cNvSpPr/>
          <p:nvPr/>
        </p:nvSpPr>
        <p:spPr>
          <a:xfrm>
            <a:off x="1329902" y="5252876"/>
            <a:ext cx="9557173" cy="365760"/>
          </a:xfrm>
          <a:prstGeom prst="rect">
            <a:avLst/>
          </a:prstGeom>
          <a:noFill/>
          <a:ln/>
        </p:spPr>
        <p:txBody>
          <a:bodyPr wrap="square" rtlCol="0" anchor="ctr"/>
          <a:lstStyle/>
          <a:p>
            <a:r>
              <a:rPr lang="en-US" dirty="0">
                <a:latin typeface="MS UI Gothic" panose="020B0600070205080204" pitchFamily="34" charset="-128"/>
                <a:ea typeface="MS UI Gothic" panose="020B0600070205080204" pitchFamily="34" charset="-128"/>
              </a:rPr>
              <a:t>1. </a:t>
            </a:r>
            <a:r>
              <a:rPr lang="en-US" dirty="0" err="1">
                <a:latin typeface="MS UI Gothic" panose="020B0600070205080204" pitchFamily="34" charset="-128"/>
                <a:ea typeface="MS UI Gothic" panose="020B0600070205080204" pitchFamily="34" charset="-128"/>
              </a:rPr>
              <a:t>維持期における双極性障害治療薬に関するシステマティックレビュ</a:t>
            </a:r>
            <a:r>
              <a:rPr lang="en-US" dirty="0">
                <a:latin typeface="MS UI Gothic" panose="020B0600070205080204" pitchFamily="34" charset="-128"/>
                <a:ea typeface="MS UI Gothic" panose="020B0600070205080204" pitchFamily="34" charset="-128"/>
              </a:rPr>
              <a:t>ー（</a:t>
            </a:r>
            <a:r>
              <a:rPr lang="en-US" dirty="0" err="1">
                <a:latin typeface="MS UI Gothic" panose="020B0600070205080204" pitchFamily="34" charset="-128"/>
                <a:ea typeface="MS UI Gothic" panose="020B0600070205080204" pitchFamily="34" charset="-128"/>
              </a:rPr>
              <a:t>欧州神経精神薬理学会</a:t>
            </a:r>
            <a:r>
              <a:rPr lang="en-US" dirty="0">
                <a:latin typeface="MS UI Gothic" panose="020B0600070205080204" pitchFamily="34" charset="-128"/>
                <a:ea typeface="MS UI Gothic" panose="020B0600070205080204" pitchFamily="34" charset="-128"/>
              </a:rPr>
              <a:t>, 2024）</a:t>
            </a:r>
          </a:p>
        </p:txBody>
      </p:sp>
      <p:sp>
        <p:nvSpPr>
          <p:cNvPr id="13" name="テキスト ボックス 12">
            <a:extLst>
              <a:ext uri="{FF2B5EF4-FFF2-40B4-BE49-F238E27FC236}">
                <a16:creationId xmlns:a16="http://schemas.microsoft.com/office/drawing/2014/main" id="{E22EF9E0-F4ED-96C9-E9FB-BD77B55DE891}"/>
              </a:ext>
            </a:extLst>
          </p:cNvPr>
          <p:cNvSpPr txBox="1"/>
          <p:nvPr/>
        </p:nvSpPr>
        <p:spPr>
          <a:xfrm>
            <a:off x="540659" y="251650"/>
            <a:ext cx="2632452"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従来の研究成績</a:t>
            </a:r>
          </a:p>
        </p:txBody>
      </p:sp>
      <p:sp>
        <p:nvSpPr>
          <p:cNvPr id="14" name="テキスト ボックス 13">
            <a:extLst>
              <a:ext uri="{FF2B5EF4-FFF2-40B4-BE49-F238E27FC236}">
                <a16:creationId xmlns:a16="http://schemas.microsoft.com/office/drawing/2014/main" id="{A0962808-5A94-E727-85CF-9673726E994F}"/>
              </a:ext>
            </a:extLst>
          </p:cNvPr>
          <p:cNvSpPr txBox="1"/>
          <p:nvPr/>
        </p:nvSpPr>
        <p:spPr>
          <a:xfrm>
            <a:off x="540659" y="861247"/>
            <a:ext cx="4007828"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過去</a:t>
            </a:r>
            <a:r>
              <a:rPr kumimoji="1" lang="en-US" altLang="ja-JP" sz="3200" dirty="0">
                <a:latin typeface="MS UI Gothic" panose="020B0600070205080204" pitchFamily="34" charset="-128"/>
                <a:ea typeface="MS UI Gothic" panose="020B0600070205080204" pitchFamily="34" charset="-128"/>
              </a:rPr>
              <a:t>3</a:t>
            </a:r>
            <a:r>
              <a:rPr kumimoji="1" lang="ja-JP" altLang="en-US" sz="3200">
                <a:latin typeface="MS UI Gothic" panose="020B0600070205080204" pitchFamily="34" charset="-128"/>
                <a:ea typeface="MS UI Gothic" panose="020B0600070205080204" pitchFamily="34" charset="-128"/>
              </a:rPr>
              <a:t>年間の研究業績</a:t>
            </a:r>
          </a:p>
        </p:txBody>
      </p:sp>
      <p:sp>
        <p:nvSpPr>
          <p:cNvPr id="2" name="テキスト ボックス 1">
            <a:extLst>
              <a:ext uri="{FF2B5EF4-FFF2-40B4-BE49-F238E27FC236}">
                <a16:creationId xmlns:a16="http://schemas.microsoft.com/office/drawing/2014/main" id="{3F78B56E-BADA-8AD4-27B6-08CD99EBE5E4}"/>
              </a:ext>
            </a:extLst>
          </p:cNvPr>
          <p:cNvSpPr txBox="1"/>
          <p:nvPr/>
        </p:nvSpPr>
        <p:spPr>
          <a:xfrm>
            <a:off x="1329902" y="2485987"/>
            <a:ext cx="8048998" cy="369332"/>
          </a:xfrm>
          <a:prstGeom prst="rect">
            <a:avLst/>
          </a:prstGeom>
          <a:noFill/>
        </p:spPr>
        <p:txBody>
          <a:bodyPr wrap="none" rtlCol="0">
            <a:spAutoFit/>
          </a:bodyPr>
          <a:lstStyle/>
          <a:p>
            <a:r>
              <a:rPr lang="en-US" altLang="ja-JP" dirty="0">
                <a:latin typeface="MS UI Gothic" panose="020B0600070205080204" pitchFamily="34" charset="-128"/>
                <a:ea typeface="MS UI Gothic" panose="020B0600070205080204" pitchFamily="34" charset="-128"/>
                <a:cs typeface="Times New Roman" panose="02020603050405020304" pitchFamily="18" charset="0"/>
              </a:rPr>
              <a:t>1. </a:t>
            </a:r>
            <a:r>
              <a:rPr lang="ja-JP" altLang="en-US">
                <a:latin typeface="MS UI Gothic" panose="020B0600070205080204" pitchFamily="34" charset="-128"/>
                <a:ea typeface="MS UI Gothic" panose="020B0600070205080204" pitchFamily="34" charset="-128"/>
                <a:cs typeface="Times New Roman" panose="02020603050405020304" pitchFamily="18" charset="0"/>
              </a:rPr>
              <a:t>医薬品有害事象に関するビッグデータ解析</a:t>
            </a:r>
            <a:r>
              <a:rPr lang="en-US" altLang="ja-JP" dirty="0">
                <a:latin typeface="MS UI Gothic" panose="020B0600070205080204" pitchFamily="34" charset="-128"/>
                <a:ea typeface="MS UI Gothic" panose="020B0600070205080204" pitchFamily="34" charset="-128"/>
                <a:cs typeface="Times New Roman" panose="02020603050405020304" pitchFamily="18" charset="0"/>
              </a:rPr>
              <a:t>(</a:t>
            </a:r>
            <a:r>
              <a:rPr lang="en-US" altLang="ja-JP" dirty="0" err="1">
                <a:latin typeface="MS UI Gothic" panose="020B0600070205080204" pitchFamily="34" charset="-128"/>
                <a:ea typeface="MS UI Gothic" panose="020B0600070205080204" pitchFamily="34" charset="-128"/>
                <a:cs typeface="Times New Roman" panose="02020603050405020304" pitchFamily="18" charset="0"/>
              </a:rPr>
              <a:t>日本総合病院精神医学会雑誌</a:t>
            </a:r>
            <a:r>
              <a:rPr lang="ja-JP" altLang="en-US">
                <a:latin typeface="MS UI Gothic" panose="020B0600070205080204" pitchFamily="34" charset="-128"/>
                <a:ea typeface="MS UI Gothic" panose="020B0600070205080204" pitchFamily="34" charset="-128"/>
                <a:cs typeface="Times New Roman" panose="02020603050405020304" pitchFamily="18" charset="0"/>
              </a:rPr>
              <a:t>、</a:t>
            </a:r>
            <a:r>
              <a:rPr lang="en-US" altLang="ja-JP" dirty="0">
                <a:latin typeface="MS UI Gothic" panose="020B0600070205080204" pitchFamily="34" charset="-128"/>
                <a:ea typeface="MS UI Gothic" panose="020B0600070205080204" pitchFamily="34" charset="-128"/>
                <a:cs typeface="Times New Roman" panose="02020603050405020304" pitchFamily="18" charset="0"/>
              </a:rPr>
              <a:t>2026)</a:t>
            </a:r>
            <a:endParaRPr kumimoji="1" lang="en-US" altLang="ja-JP" dirty="0">
              <a:latin typeface="MS UI Gothic" panose="020B0600070205080204" pitchFamily="34" charset="-128"/>
              <a:ea typeface="MS UI Gothic" panose="020B0600070205080204" pitchFamily="34" charset="-128"/>
              <a:cs typeface="Times New Roman" panose="02020603050405020304" pitchFamily="18" charset="0"/>
            </a:endParaRPr>
          </a:p>
        </p:txBody>
      </p:sp>
      <p:sp>
        <p:nvSpPr>
          <p:cNvPr id="3" name="テキスト ボックス 2">
            <a:extLst>
              <a:ext uri="{FF2B5EF4-FFF2-40B4-BE49-F238E27FC236}">
                <a16:creationId xmlns:a16="http://schemas.microsoft.com/office/drawing/2014/main" id="{650D1849-B9CC-416F-13D2-A3E749464117}"/>
              </a:ext>
            </a:extLst>
          </p:cNvPr>
          <p:cNvSpPr txBox="1"/>
          <p:nvPr/>
        </p:nvSpPr>
        <p:spPr>
          <a:xfrm>
            <a:off x="1329902" y="2986887"/>
            <a:ext cx="8004114" cy="369332"/>
          </a:xfrm>
          <a:prstGeom prst="rect">
            <a:avLst/>
          </a:prstGeom>
          <a:noFill/>
        </p:spPr>
        <p:txBody>
          <a:bodyPr wrap="none" rtlCol="0">
            <a:spAutoFit/>
          </a:bodyPr>
          <a:lstStyle/>
          <a:p>
            <a:r>
              <a:rPr lang="en-US" altLang="ja-JP" dirty="0">
                <a:latin typeface="MS UI Gothic" panose="020B0600070205080204" pitchFamily="34" charset="-128"/>
                <a:ea typeface="MS UI Gothic" panose="020B0600070205080204" pitchFamily="34" charset="-128"/>
                <a:cs typeface="Times New Roman" panose="02020603050405020304" pitchFamily="18" charset="0"/>
              </a:rPr>
              <a:t>2. </a:t>
            </a:r>
            <a:r>
              <a:rPr lang="ja-JP" altLang="en-US">
                <a:latin typeface="MS UI Gothic" panose="020B0600070205080204" pitchFamily="34" charset="-128"/>
                <a:ea typeface="MS UI Gothic" panose="020B0600070205080204" pitchFamily="34" charset="-128"/>
                <a:cs typeface="Times New Roman" panose="02020603050405020304" pitchFamily="18" charset="0"/>
              </a:rPr>
              <a:t>残遺不眠症患者の非機能的に認知に関する調査</a:t>
            </a:r>
            <a:r>
              <a:rPr lang="en-US" altLang="ja-JP" dirty="0">
                <a:latin typeface="MS UI Gothic" panose="020B0600070205080204" pitchFamily="34" charset="-128"/>
                <a:ea typeface="MS UI Gothic" panose="020B0600070205080204" pitchFamily="34" charset="-128"/>
                <a:cs typeface="Times New Roman" panose="02020603050405020304" pitchFamily="18" charset="0"/>
              </a:rPr>
              <a:t>(</a:t>
            </a:r>
            <a:r>
              <a:rPr lang="en-US" altLang="ja-JP" dirty="0" err="1">
                <a:latin typeface="MS UI Gothic" panose="020B0600070205080204" pitchFamily="34" charset="-128"/>
                <a:ea typeface="MS UI Gothic" panose="020B0600070205080204" pitchFamily="34" charset="-128"/>
                <a:cs typeface="Times New Roman" panose="02020603050405020304" pitchFamily="18" charset="0"/>
              </a:rPr>
              <a:t>日本精神薬学会雑誌</a:t>
            </a:r>
            <a:r>
              <a:rPr lang="ja-JP" altLang="en-US">
                <a:latin typeface="MS UI Gothic" panose="020B0600070205080204" pitchFamily="34" charset="-128"/>
                <a:ea typeface="MS UI Gothic" panose="020B0600070205080204" pitchFamily="34" charset="-128"/>
                <a:cs typeface="Times New Roman" panose="02020603050405020304" pitchFamily="18" charset="0"/>
              </a:rPr>
              <a:t>、</a:t>
            </a:r>
            <a:r>
              <a:rPr lang="en-US" altLang="ja-JP" dirty="0">
                <a:latin typeface="MS UI Gothic" panose="020B0600070205080204" pitchFamily="34" charset="-128"/>
                <a:ea typeface="MS UI Gothic" panose="020B0600070205080204" pitchFamily="34" charset="-128"/>
                <a:cs typeface="Times New Roman" panose="02020603050405020304" pitchFamily="18" charset="0"/>
              </a:rPr>
              <a:t>2026)</a:t>
            </a:r>
            <a:endParaRPr kumimoji="1" lang="en-US" altLang="ja-JP" dirty="0">
              <a:latin typeface="MS UI Gothic" panose="020B0600070205080204" pitchFamily="34" charset="-128"/>
              <a:ea typeface="MS UI Gothic" panose="020B0600070205080204" pitchFamily="34" charset="-128"/>
              <a:cs typeface="Times New Roman" panose="02020603050405020304" pitchFamily="18" charset="0"/>
            </a:endParaRPr>
          </a:p>
        </p:txBody>
      </p:sp>
      <p:sp>
        <p:nvSpPr>
          <p:cNvPr id="15" name="テキスト ボックス 14">
            <a:extLst>
              <a:ext uri="{FF2B5EF4-FFF2-40B4-BE49-F238E27FC236}">
                <a16:creationId xmlns:a16="http://schemas.microsoft.com/office/drawing/2014/main" id="{F0571F47-ADD1-72A4-1C75-F1AE4D2B3639}"/>
              </a:ext>
            </a:extLst>
          </p:cNvPr>
          <p:cNvSpPr txBox="1"/>
          <p:nvPr/>
        </p:nvSpPr>
        <p:spPr>
          <a:xfrm>
            <a:off x="1329902" y="3988688"/>
            <a:ext cx="7755649" cy="369332"/>
          </a:xfrm>
          <a:prstGeom prst="rect">
            <a:avLst/>
          </a:prstGeom>
          <a:noFill/>
        </p:spPr>
        <p:txBody>
          <a:bodyPr wrap="none" rtlCol="0">
            <a:spAutoFit/>
          </a:bodyPr>
          <a:lstStyle/>
          <a:p>
            <a:r>
              <a:rPr lang="en-US" altLang="ja-JP" dirty="0">
                <a:latin typeface="MS UI Gothic" panose="020B0600070205080204" pitchFamily="34" charset="-128"/>
                <a:ea typeface="MS UI Gothic" panose="020B0600070205080204" pitchFamily="34" charset="-128"/>
                <a:cs typeface="Times New Roman" panose="02020603050405020304" pitchFamily="18" charset="0"/>
              </a:rPr>
              <a:t>4. </a:t>
            </a:r>
            <a:r>
              <a:rPr lang="ja-JP" altLang="en-US">
                <a:latin typeface="MS UI Gothic" panose="020B0600070205080204" pitchFamily="34" charset="-128"/>
                <a:ea typeface="MS UI Gothic" panose="020B0600070205080204" pitchFamily="34" charset="-128"/>
                <a:cs typeface="Times New Roman" panose="02020603050405020304" pitchFamily="18" charset="0"/>
              </a:rPr>
              <a:t>アルコール使用障害の治療薬に関するシステマティックレビュー</a:t>
            </a:r>
            <a:r>
              <a:rPr lang="en-US" altLang="ja-JP" dirty="0">
                <a:latin typeface="MS UI Gothic" panose="020B0600070205080204" pitchFamily="34" charset="-128"/>
                <a:ea typeface="MS UI Gothic" panose="020B0600070205080204" pitchFamily="34" charset="-128"/>
                <a:cs typeface="Times New Roman" panose="02020603050405020304" pitchFamily="18" charset="0"/>
              </a:rPr>
              <a:t>(</a:t>
            </a:r>
            <a:r>
              <a:rPr lang="en-US" altLang="ja-JP" dirty="0" err="1">
                <a:latin typeface="MS UI Gothic" panose="020B0600070205080204" pitchFamily="34" charset="-128"/>
                <a:ea typeface="MS UI Gothic" panose="020B0600070205080204" pitchFamily="34" charset="-128"/>
              </a:rPr>
              <a:t>Addiction誌</a:t>
            </a:r>
            <a:r>
              <a:rPr lang="en-US" altLang="ja-JP" dirty="0">
                <a:latin typeface="MS UI Gothic" panose="020B0600070205080204" pitchFamily="34" charset="-128"/>
                <a:ea typeface="MS UI Gothic" panose="020B0600070205080204" pitchFamily="34" charset="-128"/>
              </a:rPr>
              <a:t>, 2024</a:t>
            </a:r>
            <a:r>
              <a:rPr lang="en-US" altLang="ja-JP" dirty="0">
                <a:latin typeface="MS UI Gothic" panose="020B0600070205080204" pitchFamily="34" charset="-128"/>
                <a:ea typeface="MS UI Gothic" panose="020B0600070205080204" pitchFamily="34" charset="-128"/>
                <a:cs typeface="Times New Roman" panose="02020603050405020304" pitchFamily="18" charset="0"/>
              </a:rPr>
              <a:t>)</a:t>
            </a:r>
            <a:endParaRPr kumimoji="1" lang="en-US" altLang="ja-JP" dirty="0">
              <a:latin typeface="MS UI Gothic" panose="020B0600070205080204" pitchFamily="34" charset="-128"/>
              <a:ea typeface="MS UI Gothic" panose="020B0600070205080204" pitchFamily="34" charset="-128"/>
              <a:cs typeface="Times New Roman" panose="02020603050405020304" pitchFamily="18" charset="0"/>
            </a:endParaRPr>
          </a:p>
        </p:txBody>
      </p:sp>
      <p:sp>
        <p:nvSpPr>
          <p:cNvPr id="16" name="テキスト ボックス 15">
            <a:extLst>
              <a:ext uri="{FF2B5EF4-FFF2-40B4-BE49-F238E27FC236}">
                <a16:creationId xmlns:a16="http://schemas.microsoft.com/office/drawing/2014/main" id="{FC41E3EE-A047-59F1-8D67-3D600FD1609A}"/>
              </a:ext>
            </a:extLst>
          </p:cNvPr>
          <p:cNvSpPr txBox="1"/>
          <p:nvPr/>
        </p:nvSpPr>
        <p:spPr>
          <a:xfrm>
            <a:off x="1329902" y="3487787"/>
            <a:ext cx="9159880" cy="369332"/>
          </a:xfrm>
          <a:prstGeom prst="rect">
            <a:avLst/>
          </a:prstGeom>
          <a:noFill/>
        </p:spPr>
        <p:txBody>
          <a:bodyPr wrap="none" rtlCol="0">
            <a:spAutoFit/>
          </a:bodyPr>
          <a:lstStyle/>
          <a:p>
            <a:r>
              <a:rPr lang="en-US" altLang="ja-JP" dirty="0">
                <a:latin typeface="MS UI Gothic" panose="020B0600070205080204" pitchFamily="34" charset="-128"/>
                <a:ea typeface="MS UI Gothic" panose="020B0600070205080204" pitchFamily="34" charset="-128"/>
                <a:cs typeface="Times New Roman" panose="02020603050405020304" pitchFamily="18" charset="0"/>
              </a:rPr>
              <a:t>3. </a:t>
            </a:r>
            <a:r>
              <a:rPr lang="ja-JP" altLang="en-US">
                <a:latin typeface="MS UI Gothic" panose="020B0600070205080204" pitchFamily="34" charset="-128"/>
                <a:ea typeface="MS UI Gothic" panose="020B0600070205080204" pitchFamily="34" charset="-128"/>
                <a:cs typeface="Times New Roman" panose="02020603050405020304" pitchFamily="18" charset="0"/>
              </a:rPr>
              <a:t>薬学部の技能系実習を促進させる教育ツール（</a:t>
            </a:r>
            <a:r>
              <a:rPr lang="en-US" altLang="ja-JP" dirty="0">
                <a:latin typeface="MS UI Gothic" panose="020B0600070205080204" pitchFamily="34" charset="-128"/>
                <a:ea typeface="MS UI Gothic" panose="020B0600070205080204" pitchFamily="34" charset="-128"/>
                <a:cs typeface="Times New Roman" panose="02020603050405020304" pitchFamily="18" charset="0"/>
              </a:rPr>
              <a:t>Virtual Reality</a:t>
            </a:r>
            <a:r>
              <a:rPr lang="ja-JP" altLang="en-US">
                <a:latin typeface="MS UI Gothic" panose="020B0600070205080204" pitchFamily="34" charset="-128"/>
                <a:ea typeface="MS UI Gothic" panose="020B0600070205080204" pitchFamily="34" charset="-128"/>
                <a:cs typeface="Times New Roman" panose="02020603050405020304" pitchFamily="18" charset="0"/>
              </a:rPr>
              <a:t>）の開発と検証</a:t>
            </a:r>
            <a:r>
              <a:rPr lang="en-US" altLang="ja-JP" dirty="0">
                <a:latin typeface="MS UI Gothic" panose="020B0600070205080204" pitchFamily="34" charset="-128"/>
                <a:ea typeface="MS UI Gothic" panose="020B0600070205080204" pitchFamily="34" charset="-128"/>
                <a:cs typeface="Times New Roman" panose="02020603050405020304" pitchFamily="18" charset="0"/>
              </a:rPr>
              <a:t>(</a:t>
            </a:r>
            <a:r>
              <a:rPr lang="en-US" altLang="ja-JP" dirty="0" err="1">
                <a:latin typeface="MS UI Gothic" panose="020B0600070205080204" pitchFamily="34" charset="-128"/>
                <a:ea typeface="MS UI Gothic" panose="020B0600070205080204" pitchFamily="34" charset="-128"/>
                <a:cs typeface="Times New Roman" panose="02020603050405020304" pitchFamily="18" charset="0"/>
              </a:rPr>
              <a:t>薬学雑誌</a:t>
            </a:r>
            <a:r>
              <a:rPr lang="ja-JP" altLang="en-US">
                <a:latin typeface="MS UI Gothic" panose="020B0600070205080204" pitchFamily="34" charset="-128"/>
                <a:ea typeface="MS UI Gothic" panose="020B0600070205080204" pitchFamily="34" charset="-128"/>
                <a:cs typeface="Times New Roman" panose="02020603050405020304" pitchFamily="18" charset="0"/>
              </a:rPr>
              <a:t>、</a:t>
            </a:r>
            <a:r>
              <a:rPr lang="en-US" altLang="ja-JP" dirty="0">
                <a:latin typeface="MS UI Gothic" panose="020B0600070205080204" pitchFamily="34" charset="-128"/>
                <a:ea typeface="MS UI Gothic" panose="020B0600070205080204" pitchFamily="34" charset="-128"/>
                <a:cs typeface="Times New Roman" panose="02020603050405020304" pitchFamily="18" charset="0"/>
              </a:rPr>
              <a:t>2026)</a:t>
            </a:r>
            <a:endParaRPr kumimoji="1" lang="en-US" altLang="ja-JP" dirty="0">
              <a:latin typeface="MS UI Gothic" panose="020B0600070205080204" pitchFamily="34" charset="-128"/>
              <a:ea typeface="MS UI Gothic" panose="020B0600070205080204" pitchFamily="34" charset="-128"/>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F448B-E509-91CB-9974-228ACD764E14}"/>
            </a:ext>
          </a:extLst>
        </p:cNvPr>
        <p:cNvGrpSpPr/>
        <p:nvPr/>
      </p:nvGrpSpPr>
      <p:grpSpPr>
        <a:xfrm>
          <a:off x="0" y="0"/>
          <a:ext cx="0" cy="0"/>
          <a:chOff x="0" y="0"/>
          <a:chExt cx="0" cy="0"/>
        </a:xfrm>
      </p:grpSpPr>
      <p:sp>
        <p:nvSpPr>
          <p:cNvPr id="13" name="角丸四角形 12">
            <a:extLst>
              <a:ext uri="{FF2B5EF4-FFF2-40B4-BE49-F238E27FC236}">
                <a16:creationId xmlns:a16="http://schemas.microsoft.com/office/drawing/2014/main" id="{756A0B37-DF90-8D90-3930-78DDD0025681}"/>
              </a:ext>
            </a:extLst>
          </p:cNvPr>
          <p:cNvSpPr/>
          <p:nvPr/>
        </p:nvSpPr>
        <p:spPr>
          <a:xfrm>
            <a:off x="548643" y="1590706"/>
            <a:ext cx="11277600" cy="141850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2800" dirty="0">
                <a:solidFill>
                  <a:schemeClr val="tx1"/>
                </a:solidFill>
                <a:latin typeface="MS UI Gothic" panose="020B0600070205080204" pitchFamily="34" charset="-128"/>
                <a:ea typeface="MS UI Gothic" panose="020B0600070205080204" pitchFamily="34" charset="-128"/>
              </a:rPr>
              <a:t>①</a:t>
            </a:r>
            <a:r>
              <a:rPr kumimoji="1" lang="ja-JP" altLang="en-US" sz="2800">
                <a:solidFill>
                  <a:schemeClr val="tx1"/>
                </a:solidFill>
                <a:latin typeface="MS UI Gothic" panose="020B0600070205080204" pitchFamily="34" charset="-128"/>
                <a:ea typeface="MS UI Gothic" panose="020B0600070205080204" pitchFamily="34" charset="-128"/>
              </a:rPr>
              <a:t>学生の学習成果向上</a:t>
            </a:r>
            <a:endParaRPr kumimoji="1" lang="en-US" altLang="ja-JP" sz="2800" dirty="0">
              <a:solidFill>
                <a:schemeClr val="tx1"/>
              </a:solidFill>
              <a:latin typeface="MS UI Gothic" panose="020B0600070205080204" pitchFamily="34" charset="-128"/>
              <a:ea typeface="MS UI Gothic" panose="020B0600070205080204" pitchFamily="34" charset="-128"/>
            </a:endParaRPr>
          </a:p>
          <a:p>
            <a:r>
              <a:rPr lang="ja-JP" altLang="en-US" sz="2800">
                <a:solidFill>
                  <a:schemeClr val="tx1"/>
                </a:solidFill>
                <a:latin typeface="MS UI Gothic" panose="020B0600070205080204" pitchFamily="34" charset="-128"/>
                <a:ea typeface="MS UI Gothic" panose="020B0600070205080204" pitchFamily="34" charset="-128"/>
              </a:rPr>
              <a:t>　→</a:t>
            </a:r>
            <a:r>
              <a:rPr lang="en-US" altLang="ja-JP" sz="2800" dirty="0">
                <a:solidFill>
                  <a:schemeClr val="tx1"/>
                </a:solidFill>
                <a:latin typeface="MS UI Gothic" panose="020B0600070205080204" pitchFamily="34" charset="-128"/>
                <a:ea typeface="MS UI Gothic" panose="020B0600070205080204" pitchFamily="34" charset="-128"/>
              </a:rPr>
              <a:t>24</a:t>
            </a:r>
            <a:r>
              <a:rPr lang="ja-JP" altLang="en-US" sz="2800">
                <a:solidFill>
                  <a:schemeClr val="tx1"/>
                </a:solidFill>
                <a:latin typeface="MS UI Gothic" panose="020B0600070205080204" pitchFamily="34" charset="-128"/>
                <a:ea typeface="MS UI Gothic" panose="020B0600070205080204" pitchFamily="34" charset="-128"/>
              </a:rPr>
              <a:t>時間質問応答により即時的疑問解決と個別最適化学習環境の提供</a:t>
            </a:r>
            <a:endParaRPr kumimoji="1" lang="ja-JP" altLang="en-US" sz="2800">
              <a:solidFill>
                <a:schemeClr val="tx1"/>
              </a:solidFill>
              <a:latin typeface="MS UI Gothic" panose="020B0600070205080204" pitchFamily="34" charset="-128"/>
              <a:ea typeface="MS UI Gothic" panose="020B0600070205080204" pitchFamily="34" charset="-128"/>
            </a:endParaRPr>
          </a:p>
        </p:txBody>
      </p:sp>
      <p:sp>
        <p:nvSpPr>
          <p:cNvPr id="15" name="テキスト ボックス 14">
            <a:extLst>
              <a:ext uri="{FF2B5EF4-FFF2-40B4-BE49-F238E27FC236}">
                <a16:creationId xmlns:a16="http://schemas.microsoft.com/office/drawing/2014/main" id="{7E0B1397-19B8-78E2-1033-5F85D9261947}"/>
              </a:ext>
            </a:extLst>
          </p:cNvPr>
          <p:cNvSpPr txBox="1"/>
          <p:nvPr/>
        </p:nvSpPr>
        <p:spPr>
          <a:xfrm>
            <a:off x="540659" y="251650"/>
            <a:ext cx="1452642"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ま　と　め</a:t>
            </a:r>
          </a:p>
        </p:txBody>
      </p:sp>
      <p:sp>
        <p:nvSpPr>
          <p:cNvPr id="16" name="テキスト ボックス 15">
            <a:extLst>
              <a:ext uri="{FF2B5EF4-FFF2-40B4-BE49-F238E27FC236}">
                <a16:creationId xmlns:a16="http://schemas.microsoft.com/office/drawing/2014/main" id="{9B7C9B19-64F5-AC8A-BF4B-86538122392A}"/>
              </a:ext>
            </a:extLst>
          </p:cNvPr>
          <p:cNvSpPr txBox="1"/>
          <p:nvPr/>
        </p:nvSpPr>
        <p:spPr>
          <a:xfrm>
            <a:off x="540659" y="861247"/>
            <a:ext cx="2978701"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本研究</a:t>
            </a:r>
            <a:r>
              <a:rPr lang="ja-JP" altLang="en-US" sz="3200">
                <a:latin typeface="MS UI Gothic" panose="020B0600070205080204" pitchFamily="34" charset="-128"/>
                <a:ea typeface="MS UI Gothic" panose="020B0600070205080204" pitchFamily="34" charset="-128"/>
              </a:rPr>
              <a:t>のポイント</a:t>
            </a:r>
            <a:endParaRPr kumimoji="1" lang="ja-JP" altLang="en-US" sz="3200">
              <a:latin typeface="MS UI Gothic" panose="020B0600070205080204" pitchFamily="34" charset="-128"/>
              <a:ea typeface="MS UI Gothic" panose="020B0600070205080204" pitchFamily="34" charset="-128"/>
            </a:endParaRPr>
          </a:p>
        </p:txBody>
      </p:sp>
      <p:sp>
        <p:nvSpPr>
          <p:cNvPr id="5" name="角丸四角形 4">
            <a:extLst>
              <a:ext uri="{FF2B5EF4-FFF2-40B4-BE49-F238E27FC236}">
                <a16:creationId xmlns:a16="http://schemas.microsoft.com/office/drawing/2014/main" id="{0A979641-DABF-0EA3-73A9-DE1B694FC71A}"/>
              </a:ext>
            </a:extLst>
          </p:cNvPr>
          <p:cNvSpPr/>
          <p:nvPr/>
        </p:nvSpPr>
        <p:spPr>
          <a:xfrm>
            <a:off x="548643" y="3278633"/>
            <a:ext cx="11277600" cy="141850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800" dirty="0">
                <a:solidFill>
                  <a:schemeClr val="tx1"/>
                </a:solidFill>
                <a:latin typeface="MS UI Gothic" panose="020B0600070205080204" pitchFamily="34" charset="-128"/>
                <a:ea typeface="MS UI Gothic" panose="020B0600070205080204" pitchFamily="34" charset="-128"/>
              </a:rPr>
              <a:t>②</a:t>
            </a:r>
            <a:r>
              <a:rPr lang="ja-JP" altLang="en-US" sz="2800">
                <a:solidFill>
                  <a:schemeClr val="tx1"/>
                </a:solidFill>
                <a:latin typeface="MS UI Gothic" panose="020B0600070205080204" pitchFamily="34" charset="-128"/>
                <a:ea typeface="MS UI Gothic" panose="020B0600070205080204" pitchFamily="34" charset="-128"/>
              </a:rPr>
              <a:t>教育の質向上</a:t>
            </a:r>
            <a:endParaRPr kumimoji="1" lang="en-US" altLang="ja-JP" sz="2800" dirty="0">
              <a:solidFill>
                <a:schemeClr val="tx1"/>
              </a:solidFill>
              <a:latin typeface="MS UI Gothic" panose="020B0600070205080204" pitchFamily="34" charset="-128"/>
              <a:ea typeface="MS UI Gothic" panose="020B0600070205080204" pitchFamily="34" charset="-128"/>
            </a:endParaRPr>
          </a:p>
          <a:p>
            <a:r>
              <a:rPr lang="ja-JP" altLang="en-US" sz="2800">
                <a:solidFill>
                  <a:schemeClr val="tx1"/>
                </a:solidFill>
                <a:latin typeface="MS UI Gothic" panose="020B0600070205080204" pitchFamily="34" charset="-128"/>
                <a:ea typeface="MS UI Gothic" panose="020B0600070205080204" pitchFamily="34" charset="-128"/>
              </a:rPr>
              <a:t>　→「つまずきの地図」による講義改善とエビデンスに基づく教育計画の設計</a:t>
            </a:r>
            <a:endParaRPr kumimoji="1" lang="ja-JP" altLang="en-US" sz="2800">
              <a:solidFill>
                <a:schemeClr val="tx1"/>
              </a:solidFill>
              <a:latin typeface="MS UI Gothic" panose="020B0600070205080204" pitchFamily="34" charset="-128"/>
              <a:ea typeface="MS UI Gothic" panose="020B0600070205080204" pitchFamily="34" charset="-128"/>
            </a:endParaRPr>
          </a:p>
        </p:txBody>
      </p:sp>
      <p:sp>
        <p:nvSpPr>
          <p:cNvPr id="6" name="角丸四角形 5">
            <a:extLst>
              <a:ext uri="{FF2B5EF4-FFF2-40B4-BE49-F238E27FC236}">
                <a16:creationId xmlns:a16="http://schemas.microsoft.com/office/drawing/2014/main" id="{F03F54DC-DFCA-E949-DC72-71507CA18E05}"/>
              </a:ext>
            </a:extLst>
          </p:cNvPr>
          <p:cNvSpPr/>
          <p:nvPr/>
        </p:nvSpPr>
        <p:spPr>
          <a:xfrm>
            <a:off x="548643" y="4966559"/>
            <a:ext cx="11277600" cy="141850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800" dirty="0">
                <a:solidFill>
                  <a:schemeClr val="tx1"/>
                </a:solidFill>
                <a:latin typeface="MS UI Gothic" panose="020B0600070205080204" pitchFamily="34" charset="-128"/>
                <a:ea typeface="MS UI Gothic" panose="020B0600070205080204" pitchFamily="34" charset="-128"/>
              </a:rPr>
              <a:t>③</a:t>
            </a:r>
            <a:r>
              <a:rPr lang="ja-JP" altLang="en-US" sz="2800">
                <a:solidFill>
                  <a:schemeClr val="tx1"/>
                </a:solidFill>
                <a:latin typeface="MS UI Gothic" panose="020B0600070205080204" pitchFamily="34" charset="-128"/>
                <a:ea typeface="MS UI Gothic" panose="020B0600070205080204" pitchFamily="34" charset="-128"/>
              </a:rPr>
              <a:t>薬学教育への貢献</a:t>
            </a:r>
            <a:endParaRPr kumimoji="1" lang="en-US" altLang="ja-JP" sz="2800" dirty="0">
              <a:solidFill>
                <a:schemeClr val="tx1"/>
              </a:solidFill>
              <a:latin typeface="MS UI Gothic" panose="020B0600070205080204" pitchFamily="34" charset="-128"/>
              <a:ea typeface="MS UI Gothic" panose="020B0600070205080204" pitchFamily="34" charset="-128"/>
            </a:endParaRPr>
          </a:p>
          <a:p>
            <a:r>
              <a:rPr lang="ja-JP" altLang="en-US" sz="2800">
                <a:solidFill>
                  <a:schemeClr val="tx1"/>
                </a:solidFill>
                <a:latin typeface="MS UI Gothic" panose="020B0600070205080204" pitchFamily="34" charset="-128"/>
                <a:ea typeface="MS UI Gothic" panose="020B0600070205080204" pitchFamily="34" charset="-128"/>
              </a:rPr>
              <a:t>　→生成系</a:t>
            </a:r>
            <a:r>
              <a:rPr lang="en-US" altLang="ja-JP" sz="2800" dirty="0">
                <a:solidFill>
                  <a:schemeClr val="tx1"/>
                </a:solidFill>
                <a:latin typeface="MS UI Gothic" panose="020B0600070205080204" pitchFamily="34" charset="-128"/>
                <a:ea typeface="MS UI Gothic" panose="020B0600070205080204" pitchFamily="34" charset="-128"/>
              </a:rPr>
              <a:t>AI</a:t>
            </a:r>
            <a:r>
              <a:rPr lang="ja-JP" altLang="en-US" sz="2800">
                <a:solidFill>
                  <a:schemeClr val="tx1"/>
                </a:solidFill>
                <a:latin typeface="MS UI Gothic" panose="020B0600070205080204" pitchFamily="34" charset="-128"/>
                <a:ea typeface="MS UI Gothic" panose="020B0600070205080204" pitchFamily="34" charset="-128"/>
              </a:rPr>
              <a:t>活用の実証的知見と他科目・他大学への発展可能性</a:t>
            </a:r>
            <a:endParaRPr kumimoji="1" lang="ja-JP" altLang="en-US" sz="2800">
              <a:solidFill>
                <a:schemeClr val="tx1"/>
              </a:solidFill>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3503620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833E8-038C-A446-EDBD-51670D0369FF}"/>
            </a:ext>
          </a:extLst>
        </p:cNvPr>
        <p:cNvGrpSpPr/>
        <p:nvPr/>
      </p:nvGrpSpPr>
      <p:grpSpPr>
        <a:xfrm>
          <a:off x="0" y="0"/>
          <a:ext cx="0" cy="0"/>
          <a:chOff x="0" y="0"/>
          <a:chExt cx="0" cy="0"/>
        </a:xfrm>
      </p:grpSpPr>
      <p:sp>
        <p:nvSpPr>
          <p:cNvPr id="13" name="角丸四角形 12">
            <a:extLst>
              <a:ext uri="{FF2B5EF4-FFF2-40B4-BE49-F238E27FC236}">
                <a16:creationId xmlns:a16="http://schemas.microsoft.com/office/drawing/2014/main" id="{B7DE116D-14AE-FF6D-4DE5-A662D00EB1F5}"/>
              </a:ext>
            </a:extLst>
          </p:cNvPr>
          <p:cNvSpPr/>
          <p:nvPr/>
        </p:nvSpPr>
        <p:spPr>
          <a:xfrm>
            <a:off x="548643" y="1590706"/>
            <a:ext cx="11277600" cy="141850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2800" dirty="0">
                <a:solidFill>
                  <a:schemeClr val="tx1"/>
                </a:solidFill>
                <a:latin typeface="MS UI Gothic" panose="020B0600070205080204" pitchFamily="34" charset="-128"/>
                <a:ea typeface="MS UI Gothic" panose="020B0600070205080204" pitchFamily="34" charset="-128"/>
              </a:rPr>
              <a:t>①</a:t>
            </a:r>
            <a:r>
              <a:rPr kumimoji="1" lang="ja-JP" altLang="en-US" sz="2800">
                <a:solidFill>
                  <a:schemeClr val="tx1"/>
                </a:solidFill>
                <a:latin typeface="MS UI Gothic" panose="020B0600070205080204" pitchFamily="34" charset="-128"/>
                <a:ea typeface="MS UI Gothic" panose="020B0600070205080204" pitchFamily="34" charset="-128"/>
              </a:rPr>
              <a:t>学生の学習成果向上</a:t>
            </a:r>
            <a:endParaRPr kumimoji="1" lang="en-US" altLang="ja-JP" sz="2800" dirty="0">
              <a:solidFill>
                <a:schemeClr val="tx1"/>
              </a:solidFill>
              <a:latin typeface="MS UI Gothic" panose="020B0600070205080204" pitchFamily="34" charset="-128"/>
              <a:ea typeface="MS UI Gothic" panose="020B0600070205080204" pitchFamily="34" charset="-128"/>
            </a:endParaRPr>
          </a:p>
          <a:p>
            <a:r>
              <a:rPr lang="ja-JP" altLang="en-US" sz="2800">
                <a:solidFill>
                  <a:schemeClr val="tx1"/>
                </a:solidFill>
                <a:latin typeface="MS UI Gothic" panose="020B0600070205080204" pitchFamily="34" charset="-128"/>
                <a:ea typeface="MS UI Gothic" panose="020B0600070205080204" pitchFamily="34" charset="-128"/>
              </a:rPr>
              <a:t>　→</a:t>
            </a:r>
            <a:r>
              <a:rPr lang="en-US" altLang="ja-JP" sz="2800" dirty="0">
                <a:solidFill>
                  <a:schemeClr val="tx1"/>
                </a:solidFill>
                <a:latin typeface="MS UI Gothic" panose="020B0600070205080204" pitchFamily="34" charset="-128"/>
                <a:ea typeface="MS UI Gothic" panose="020B0600070205080204" pitchFamily="34" charset="-128"/>
              </a:rPr>
              <a:t>24</a:t>
            </a:r>
            <a:r>
              <a:rPr lang="ja-JP" altLang="en-US" sz="2800">
                <a:solidFill>
                  <a:schemeClr val="tx1"/>
                </a:solidFill>
                <a:latin typeface="MS UI Gothic" panose="020B0600070205080204" pitchFamily="34" charset="-128"/>
                <a:ea typeface="MS UI Gothic" panose="020B0600070205080204" pitchFamily="34" charset="-128"/>
              </a:rPr>
              <a:t>時間質問応答により即時的疑問解決と個別最適化学習環境の提供</a:t>
            </a:r>
            <a:endParaRPr kumimoji="1" lang="ja-JP" altLang="en-US" sz="2800">
              <a:solidFill>
                <a:schemeClr val="tx1"/>
              </a:solidFill>
              <a:latin typeface="MS UI Gothic" panose="020B0600070205080204" pitchFamily="34" charset="-128"/>
              <a:ea typeface="MS UI Gothic" panose="020B0600070205080204" pitchFamily="34" charset="-128"/>
            </a:endParaRPr>
          </a:p>
        </p:txBody>
      </p:sp>
      <p:sp>
        <p:nvSpPr>
          <p:cNvPr id="15" name="テキスト ボックス 14">
            <a:extLst>
              <a:ext uri="{FF2B5EF4-FFF2-40B4-BE49-F238E27FC236}">
                <a16:creationId xmlns:a16="http://schemas.microsoft.com/office/drawing/2014/main" id="{B4CD1D1A-5984-76F3-7885-11D592CCDE02}"/>
              </a:ext>
            </a:extLst>
          </p:cNvPr>
          <p:cNvSpPr txBox="1"/>
          <p:nvPr/>
        </p:nvSpPr>
        <p:spPr>
          <a:xfrm>
            <a:off x="540659" y="251650"/>
            <a:ext cx="1452642"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ま　と　め</a:t>
            </a:r>
          </a:p>
        </p:txBody>
      </p:sp>
      <p:sp>
        <p:nvSpPr>
          <p:cNvPr id="16" name="テキスト ボックス 15">
            <a:extLst>
              <a:ext uri="{FF2B5EF4-FFF2-40B4-BE49-F238E27FC236}">
                <a16:creationId xmlns:a16="http://schemas.microsoft.com/office/drawing/2014/main" id="{EAFA807F-65B6-17FA-263B-D9A55B74E03C}"/>
              </a:ext>
            </a:extLst>
          </p:cNvPr>
          <p:cNvSpPr txBox="1"/>
          <p:nvPr/>
        </p:nvSpPr>
        <p:spPr>
          <a:xfrm>
            <a:off x="540659" y="861247"/>
            <a:ext cx="2978701"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本研究</a:t>
            </a:r>
            <a:r>
              <a:rPr lang="ja-JP" altLang="en-US" sz="3200">
                <a:latin typeface="MS UI Gothic" panose="020B0600070205080204" pitchFamily="34" charset="-128"/>
                <a:ea typeface="MS UI Gothic" panose="020B0600070205080204" pitchFamily="34" charset="-128"/>
              </a:rPr>
              <a:t>のポイント</a:t>
            </a:r>
            <a:endParaRPr kumimoji="1" lang="ja-JP" altLang="en-US" sz="3200">
              <a:latin typeface="MS UI Gothic" panose="020B0600070205080204" pitchFamily="34" charset="-128"/>
              <a:ea typeface="MS UI Gothic" panose="020B0600070205080204" pitchFamily="34" charset="-128"/>
            </a:endParaRPr>
          </a:p>
        </p:txBody>
      </p:sp>
      <p:sp>
        <p:nvSpPr>
          <p:cNvPr id="5" name="角丸四角形 4">
            <a:extLst>
              <a:ext uri="{FF2B5EF4-FFF2-40B4-BE49-F238E27FC236}">
                <a16:creationId xmlns:a16="http://schemas.microsoft.com/office/drawing/2014/main" id="{9E7D8540-4598-EFE0-9689-8674B201ED81}"/>
              </a:ext>
            </a:extLst>
          </p:cNvPr>
          <p:cNvSpPr/>
          <p:nvPr/>
        </p:nvSpPr>
        <p:spPr>
          <a:xfrm>
            <a:off x="548643" y="3139542"/>
            <a:ext cx="11277600" cy="141850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800" dirty="0">
                <a:solidFill>
                  <a:schemeClr val="tx1"/>
                </a:solidFill>
                <a:latin typeface="MS UI Gothic" panose="020B0600070205080204" pitchFamily="34" charset="-128"/>
                <a:ea typeface="MS UI Gothic" panose="020B0600070205080204" pitchFamily="34" charset="-128"/>
              </a:rPr>
              <a:t>②</a:t>
            </a:r>
            <a:r>
              <a:rPr lang="ja-JP" altLang="en-US" sz="2800">
                <a:solidFill>
                  <a:schemeClr val="tx1"/>
                </a:solidFill>
                <a:latin typeface="MS UI Gothic" panose="020B0600070205080204" pitchFamily="34" charset="-128"/>
                <a:ea typeface="MS UI Gothic" panose="020B0600070205080204" pitchFamily="34" charset="-128"/>
              </a:rPr>
              <a:t>教育の質向上</a:t>
            </a:r>
            <a:endParaRPr kumimoji="1" lang="en-US" altLang="ja-JP" sz="2800" dirty="0">
              <a:solidFill>
                <a:schemeClr val="tx1"/>
              </a:solidFill>
              <a:latin typeface="MS UI Gothic" panose="020B0600070205080204" pitchFamily="34" charset="-128"/>
              <a:ea typeface="MS UI Gothic" panose="020B0600070205080204" pitchFamily="34" charset="-128"/>
            </a:endParaRPr>
          </a:p>
          <a:p>
            <a:r>
              <a:rPr lang="ja-JP" altLang="en-US" sz="2800">
                <a:solidFill>
                  <a:schemeClr val="tx1"/>
                </a:solidFill>
                <a:latin typeface="MS UI Gothic" panose="020B0600070205080204" pitchFamily="34" charset="-128"/>
                <a:ea typeface="MS UI Gothic" panose="020B0600070205080204" pitchFamily="34" charset="-128"/>
              </a:rPr>
              <a:t>　→「つまずきの地図」による講義改善とエビデンスに基づく教育計画の設計</a:t>
            </a:r>
            <a:endParaRPr kumimoji="1" lang="ja-JP" altLang="en-US" sz="2800">
              <a:solidFill>
                <a:schemeClr val="tx1"/>
              </a:solidFill>
              <a:latin typeface="MS UI Gothic" panose="020B0600070205080204" pitchFamily="34" charset="-128"/>
              <a:ea typeface="MS UI Gothic" panose="020B0600070205080204" pitchFamily="34" charset="-128"/>
            </a:endParaRPr>
          </a:p>
        </p:txBody>
      </p:sp>
      <p:sp>
        <p:nvSpPr>
          <p:cNvPr id="6" name="角丸四角形 5">
            <a:extLst>
              <a:ext uri="{FF2B5EF4-FFF2-40B4-BE49-F238E27FC236}">
                <a16:creationId xmlns:a16="http://schemas.microsoft.com/office/drawing/2014/main" id="{69726834-490C-318A-CF7B-691220841461}"/>
              </a:ext>
            </a:extLst>
          </p:cNvPr>
          <p:cNvSpPr/>
          <p:nvPr/>
        </p:nvSpPr>
        <p:spPr>
          <a:xfrm>
            <a:off x="548643" y="4966559"/>
            <a:ext cx="11277600" cy="141850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800" dirty="0">
                <a:solidFill>
                  <a:schemeClr val="tx1"/>
                </a:solidFill>
                <a:latin typeface="MS UI Gothic" panose="020B0600070205080204" pitchFamily="34" charset="-128"/>
                <a:ea typeface="MS UI Gothic" panose="020B0600070205080204" pitchFamily="34" charset="-128"/>
              </a:rPr>
              <a:t>③</a:t>
            </a:r>
            <a:r>
              <a:rPr lang="ja-JP" altLang="en-US" sz="2800">
                <a:solidFill>
                  <a:schemeClr val="tx1"/>
                </a:solidFill>
                <a:latin typeface="MS UI Gothic" panose="020B0600070205080204" pitchFamily="34" charset="-128"/>
                <a:ea typeface="MS UI Gothic" panose="020B0600070205080204" pitchFamily="34" charset="-128"/>
              </a:rPr>
              <a:t>薬学教育への貢献</a:t>
            </a:r>
            <a:endParaRPr kumimoji="1" lang="en-US" altLang="ja-JP" sz="2800" dirty="0">
              <a:solidFill>
                <a:schemeClr val="tx1"/>
              </a:solidFill>
              <a:latin typeface="MS UI Gothic" panose="020B0600070205080204" pitchFamily="34" charset="-128"/>
              <a:ea typeface="MS UI Gothic" panose="020B0600070205080204" pitchFamily="34" charset="-128"/>
            </a:endParaRPr>
          </a:p>
          <a:p>
            <a:r>
              <a:rPr lang="ja-JP" altLang="en-US" sz="2800">
                <a:solidFill>
                  <a:schemeClr val="tx1"/>
                </a:solidFill>
                <a:latin typeface="MS UI Gothic" panose="020B0600070205080204" pitchFamily="34" charset="-128"/>
                <a:ea typeface="MS UI Gothic" panose="020B0600070205080204" pitchFamily="34" charset="-128"/>
              </a:rPr>
              <a:t>　→生成系</a:t>
            </a:r>
            <a:r>
              <a:rPr lang="en-US" altLang="ja-JP" sz="2800" dirty="0">
                <a:solidFill>
                  <a:schemeClr val="tx1"/>
                </a:solidFill>
                <a:latin typeface="MS UI Gothic" panose="020B0600070205080204" pitchFamily="34" charset="-128"/>
                <a:ea typeface="MS UI Gothic" panose="020B0600070205080204" pitchFamily="34" charset="-128"/>
              </a:rPr>
              <a:t>AI</a:t>
            </a:r>
            <a:r>
              <a:rPr lang="ja-JP" altLang="en-US" sz="2800">
                <a:solidFill>
                  <a:schemeClr val="tx1"/>
                </a:solidFill>
                <a:latin typeface="MS UI Gothic" panose="020B0600070205080204" pitchFamily="34" charset="-128"/>
                <a:ea typeface="MS UI Gothic" panose="020B0600070205080204" pitchFamily="34" charset="-128"/>
              </a:rPr>
              <a:t>活用の実証的知見と他科目・他大学への発展可能性</a:t>
            </a:r>
            <a:endParaRPr kumimoji="1" lang="ja-JP" altLang="en-US" sz="2800">
              <a:solidFill>
                <a:schemeClr val="tx1"/>
              </a:solidFill>
              <a:latin typeface="MS UI Gothic" panose="020B0600070205080204" pitchFamily="34" charset="-128"/>
              <a:ea typeface="MS UI Gothic" panose="020B0600070205080204" pitchFamily="34" charset="-128"/>
            </a:endParaRPr>
          </a:p>
        </p:txBody>
      </p:sp>
      <p:sp>
        <p:nvSpPr>
          <p:cNvPr id="2" name="角丸四角形 1">
            <a:extLst>
              <a:ext uri="{FF2B5EF4-FFF2-40B4-BE49-F238E27FC236}">
                <a16:creationId xmlns:a16="http://schemas.microsoft.com/office/drawing/2014/main" id="{9B101E48-F769-74A9-67FD-C2B271C53C10}"/>
              </a:ext>
            </a:extLst>
          </p:cNvPr>
          <p:cNvSpPr/>
          <p:nvPr/>
        </p:nvSpPr>
        <p:spPr>
          <a:xfrm>
            <a:off x="1576647" y="1590104"/>
            <a:ext cx="10066710" cy="3392908"/>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人間</a:t>
            </a:r>
            <a:r>
              <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rPr>
              <a:t> </a:t>
            </a: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による「教える」と</a:t>
            </a:r>
            <a:r>
              <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rPr>
              <a:t> </a:t>
            </a:r>
            <a:r>
              <a:rPr lang="en-US" altLang="ja-JP" sz="3600" dirty="0">
                <a:solidFill>
                  <a:schemeClr val="tx1"/>
                </a:solidFill>
                <a:highlight>
                  <a:srgbClr val="00FF00"/>
                </a:highlight>
                <a:latin typeface="MS UI Gothic" panose="020B0600070205080204" pitchFamily="34" charset="-128"/>
                <a:ea typeface="MS UI Gothic" panose="020B0600070205080204" pitchFamily="34" charset="-128"/>
                <a:cs typeface="Yu Gothic" pitchFamily="34" charset="-120"/>
              </a:rPr>
              <a:t>AI </a:t>
            </a:r>
            <a:r>
              <a:rPr lang="ja-JP" altLang="en-US" sz="3600">
                <a:solidFill>
                  <a:schemeClr val="tx1"/>
                </a:solidFill>
                <a:highlight>
                  <a:srgbClr val="00FF00"/>
                </a:highlight>
                <a:latin typeface="MS UI Gothic" panose="020B0600070205080204" pitchFamily="34" charset="-128"/>
                <a:ea typeface="MS UI Gothic" panose="020B0600070205080204" pitchFamily="34" charset="-128"/>
                <a:cs typeface="Yu Gothic" pitchFamily="34" charset="-120"/>
              </a:rPr>
              <a:t>による「支える」</a:t>
            </a:r>
            <a:r>
              <a:rPr lang="en-US" altLang="ja-JP" sz="3600" dirty="0">
                <a:solidFill>
                  <a:schemeClr val="tx1"/>
                </a:solidFill>
                <a:highlight>
                  <a:srgbClr val="00FF00"/>
                </a:highlight>
                <a:latin typeface="MS UI Gothic" panose="020B0600070205080204" pitchFamily="34" charset="-128"/>
                <a:ea typeface="MS UI Gothic" panose="020B0600070205080204" pitchFamily="34" charset="-128"/>
                <a:cs typeface="Yu Gothic" pitchFamily="34" charset="-120"/>
              </a:rPr>
              <a:t> = </a:t>
            </a: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「融合」</a:t>
            </a:r>
            <a:endPar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endParaRPr>
          </a:p>
          <a:p>
            <a:pPr algn="ctr"/>
            <a:endParaRPr lang="en-US" altLang="ja-JP" sz="900" dirty="0">
              <a:solidFill>
                <a:srgbClr val="FFFF00"/>
              </a:solidFill>
              <a:latin typeface="MS UI Gothic" panose="020B0600070205080204" pitchFamily="34" charset="-128"/>
              <a:ea typeface="MS UI Gothic" panose="020B0600070205080204" pitchFamily="34" charset="-128"/>
              <a:cs typeface="Yu Gothic" pitchFamily="34" charset="-120"/>
            </a:endParaRPr>
          </a:p>
          <a:p>
            <a:pPr algn="ct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a:t>
            </a:r>
            <a:endPar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endParaRPr>
          </a:p>
          <a:p>
            <a:pPr algn="ctr"/>
            <a:endParaRPr lang="en-US" altLang="ja-JP" sz="900" dirty="0">
              <a:solidFill>
                <a:srgbClr val="FFFF00"/>
              </a:solidFill>
              <a:latin typeface="MS UI Gothic" panose="020B0600070205080204" pitchFamily="34" charset="-128"/>
              <a:ea typeface="MS UI Gothic" panose="020B0600070205080204" pitchFamily="34" charset="-128"/>
              <a:cs typeface="Yu Gothic" pitchFamily="34" charset="-120"/>
            </a:endParaRPr>
          </a:p>
          <a:p>
            <a:pPr algn="ctr"/>
            <a:r>
              <a:rPr lang="ja-JP" altLang="en-US" sz="3600">
                <a:solidFill>
                  <a:schemeClr val="tx1"/>
                </a:solidFill>
                <a:highlight>
                  <a:srgbClr val="00FF00"/>
                </a:highlight>
                <a:latin typeface="MS UI Gothic" panose="020B0600070205080204" pitchFamily="34" charset="-128"/>
                <a:ea typeface="MS UI Gothic" panose="020B0600070205080204" pitchFamily="34" charset="-128"/>
                <a:cs typeface="Yu Gothic" pitchFamily="34" charset="-120"/>
              </a:rPr>
              <a:t>「</a:t>
            </a:r>
            <a:r>
              <a:rPr lang="en-US" altLang="ja-JP" sz="3600" dirty="0">
                <a:solidFill>
                  <a:schemeClr val="tx1"/>
                </a:solidFill>
                <a:highlight>
                  <a:srgbClr val="00FF00"/>
                </a:highlight>
                <a:latin typeface="MS UI Gothic" panose="020B0600070205080204" pitchFamily="34" charset="-128"/>
                <a:ea typeface="MS UI Gothic" panose="020B0600070205080204" pitchFamily="34" charset="-128"/>
                <a:cs typeface="Yu Gothic" pitchFamily="34" charset="-120"/>
              </a:rPr>
              <a:t>魔法の黒板</a:t>
            </a:r>
            <a:r>
              <a:rPr lang="ja-JP" altLang="en-US" sz="3600">
                <a:solidFill>
                  <a:schemeClr val="tx1"/>
                </a:solidFill>
                <a:highlight>
                  <a:srgbClr val="00FF00"/>
                </a:highlight>
                <a:latin typeface="MS UI Gothic" panose="020B0600070205080204" pitchFamily="34" charset="-128"/>
                <a:ea typeface="MS UI Gothic" panose="020B0600070205080204" pitchFamily="34" charset="-128"/>
                <a:cs typeface="Yu Gothic" pitchFamily="34" charset="-120"/>
              </a:rPr>
              <a:t>」の導入</a:t>
            </a: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は</a:t>
            </a:r>
            <a:r>
              <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rPr>
              <a:t>、学びの未来を変える</a:t>
            </a:r>
            <a:endParaRPr kumimoji="1" lang="ja-JP" altLang="en-US" sz="3600">
              <a:solidFill>
                <a:srgbClr val="FFFF00"/>
              </a:solidFill>
            </a:endParaRPr>
          </a:p>
        </p:txBody>
      </p:sp>
    </p:spTree>
    <p:extLst>
      <p:ext uri="{BB962C8B-B14F-4D97-AF65-F5344CB8AC3E}">
        <p14:creationId xmlns:p14="http://schemas.microsoft.com/office/powerpoint/2010/main" val="1785468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609600" y="1683026"/>
            <a:ext cx="5364480" cy="2949934"/>
          </a:xfrm>
          <a:prstGeom prst="rect">
            <a:avLst/>
          </a:prstGeom>
          <a:solidFill>
            <a:srgbClr val="FFFFFF"/>
          </a:solidFill>
          <a:ln/>
        </p:spPr>
        <p:txBody>
          <a:bodyPr/>
          <a:lstStyle/>
          <a:p>
            <a:endParaRPr lang="ja-JP" altLang="en-US" sz="2400">
              <a:latin typeface="MS UI Gothic" panose="020B0600070205080204" pitchFamily="34" charset="-128"/>
              <a:ea typeface="MS UI Gothic" panose="020B0600070205080204" pitchFamily="34" charset="-128"/>
            </a:endParaRPr>
          </a:p>
        </p:txBody>
      </p:sp>
      <p:sp>
        <p:nvSpPr>
          <p:cNvPr id="5" name="Text 3"/>
          <p:cNvSpPr/>
          <p:nvPr/>
        </p:nvSpPr>
        <p:spPr>
          <a:xfrm>
            <a:off x="853440" y="1708284"/>
            <a:ext cx="4876800" cy="487680"/>
          </a:xfrm>
          <a:prstGeom prst="rect">
            <a:avLst/>
          </a:prstGeom>
          <a:noFill/>
          <a:ln/>
        </p:spPr>
        <p:txBody>
          <a:bodyPr wrap="square" rtlCol="0" anchor="ctr"/>
          <a:lstStyle/>
          <a:p>
            <a:r>
              <a:rPr lang="en-US" sz="2400" dirty="0">
                <a:latin typeface="MS UI Gothic" panose="020B0600070205080204" pitchFamily="34" charset="-128"/>
                <a:ea typeface="MS UI Gothic" panose="020B0600070205080204" pitchFamily="34" charset="-128"/>
              </a:rPr>
              <a:t>🎯 教育への反映</a:t>
            </a:r>
          </a:p>
        </p:txBody>
      </p:sp>
      <p:sp>
        <p:nvSpPr>
          <p:cNvPr id="6" name="Text 4"/>
          <p:cNvSpPr/>
          <p:nvPr/>
        </p:nvSpPr>
        <p:spPr>
          <a:xfrm>
            <a:off x="853440" y="2233197"/>
            <a:ext cx="4876800" cy="2191908"/>
          </a:xfrm>
          <a:prstGeom prst="rect">
            <a:avLst/>
          </a:prstGeom>
          <a:noFill/>
          <a:ln/>
        </p:spPr>
        <p:txBody>
          <a:bodyPr wrap="square" rtlCol="0" anchor="ctr"/>
          <a:lstStyle/>
          <a:p>
            <a:pPr>
              <a:buSzPct val="100000"/>
            </a:pPr>
            <a:r>
              <a:rPr lang="en-US" sz="2400" dirty="0">
                <a:solidFill>
                  <a:srgbClr val="FF0000"/>
                </a:solidFill>
                <a:latin typeface="MS UI Gothic" panose="020B0600070205080204" pitchFamily="34" charset="-128"/>
                <a:ea typeface="MS UI Gothic" panose="020B0600070205080204" pitchFamily="34" charset="-128"/>
              </a:rPr>
              <a:t>つまずきマップによる講義改善</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学生の理解困難箇所を特定</a:t>
            </a:r>
          </a:p>
          <a:p>
            <a:pPr>
              <a:buSzPct val="100000"/>
            </a:pPr>
            <a:r>
              <a:rPr lang="en-US" sz="2400" dirty="0">
                <a:latin typeface="MS UI Gothic" panose="020B0600070205080204" pitchFamily="34" charset="-128"/>
                <a:ea typeface="MS UI Gothic" panose="020B0600070205080204" pitchFamily="34" charset="-128"/>
              </a:rPr>
              <a:t>弱点強化学習の実施</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個別学習指導への活用</a:t>
            </a:r>
          </a:p>
          <a:p>
            <a:pPr>
              <a:buSzPct val="100000"/>
            </a:pPr>
            <a:r>
              <a:rPr lang="en-US" sz="2400" dirty="0">
                <a:latin typeface="MS UI Gothic" panose="020B0600070205080204" pitchFamily="34" charset="-128"/>
                <a:ea typeface="MS UI Gothic" panose="020B0600070205080204" pitchFamily="34" charset="-128"/>
              </a:rPr>
              <a:t>演習問題作成への反映</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頻出質問に基づく問題設計</a:t>
            </a:r>
          </a:p>
        </p:txBody>
      </p:sp>
      <p:sp>
        <p:nvSpPr>
          <p:cNvPr id="7" name="Shape 5"/>
          <p:cNvSpPr/>
          <p:nvPr/>
        </p:nvSpPr>
        <p:spPr>
          <a:xfrm>
            <a:off x="6217920" y="1683026"/>
            <a:ext cx="5364480" cy="2949934"/>
          </a:xfrm>
          <a:prstGeom prst="rect">
            <a:avLst/>
          </a:prstGeom>
          <a:solidFill>
            <a:schemeClr val="accent6">
              <a:lumMod val="20000"/>
              <a:lumOff val="80000"/>
            </a:schemeClr>
          </a:solidFill>
          <a:ln/>
        </p:spPr>
        <p:txBody>
          <a:bodyPr/>
          <a:lstStyle/>
          <a:p>
            <a:endParaRPr lang="ja-JP" altLang="en-US" sz="2400"/>
          </a:p>
        </p:txBody>
      </p:sp>
      <p:sp>
        <p:nvSpPr>
          <p:cNvPr id="8" name="Text 6"/>
          <p:cNvSpPr/>
          <p:nvPr/>
        </p:nvSpPr>
        <p:spPr>
          <a:xfrm>
            <a:off x="6461760" y="1708284"/>
            <a:ext cx="4876800" cy="487680"/>
          </a:xfrm>
          <a:prstGeom prst="rect">
            <a:avLst/>
          </a:prstGeom>
          <a:noFill/>
          <a:ln/>
        </p:spPr>
        <p:txBody>
          <a:bodyPr wrap="square" rtlCol="0" anchor="ctr"/>
          <a:lstStyle/>
          <a:p>
            <a:r>
              <a:rPr lang="en-US" sz="2400" dirty="0">
                <a:latin typeface="MS UI Gothic" panose="020B0600070205080204" pitchFamily="34" charset="-128"/>
                <a:ea typeface="MS UI Gothic" panose="020B0600070205080204" pitchFamily="34" charset="-128"/>
              </a:rPr>
              <a:t>📍 つまずきマップ(</a:t>
            </a:r>
            <a:r>
              <a:rPr lang="en-US" sz="2400" dirty="0" err="1">
                <a:latin typeface="MS UI Gothic" panose="020B0600070205080204" pitchFamily="34" charset="-128"/>
                <a:ea typeface="MS UI Gothic" panose="020B0600070205080204" pitchFamily="34" charset="-128"/>
              </a:rPr>
              <a:t>可視化例</a:t>
            </a:r>
            <a:r>
              <a:rPr lang="en-US" sz="2400" dirty="0">
                <a:latin typeface="MS UI Gothic" panose="020B0600070205080204" pitchFamily="34" charset="-128"/>
                <a:ea typeface="MS UI Gothic" panose="020B0600070205080204" pitchFamily="34" charset="-128"/>
              </a:rPr>
              <a:t>)</a:t>
            </a:r>
          </a:p>
        </p:txBody>
      </p:sp>
      <p:sp>
        <p:nvSpPr>
          <p:cNvPr id="10" name="Shape 8"/>
          <p:cNvSpPr/>
          <p:nvPr/>
        </p:nvSpPr>
        <p:spPr>
          <a:xfrm>
            <a:off x="2038359" y="4777820"/>
            <a:ext cx="8134350" cy="1855304"/>
          </a:xfrm>
          <a:prstGeom prst="rect">
            <a:avLst/>
          </a:prstGeom>
          <a:solidFill>
            <a:schemeClr val="accent3">
              <a:lumMod val="20000"/>
              <a:lumOff val="80000"/>
            </a:schemeClr>
          </a:solidFill>
          <a:ln/>
        </p:spPr>
        <p:txBody>
          <a:bodyPr/>
          <a:lstStyle/>
          <a:p>
            <a:endParaRPr lang="ja-JP" altLang="en-US" sz="2400"/>
          </a:p>
        </p:txBody>
      </p:sp>
      <p:sp>
        <p:nvSpPr>
          <p:cNvPr id="11" name="Text 9"/>
          <p:cNvSpPr/>
          <p:nvPr/>
        </p:nvSpPr>
        <p:spPr>
          <a:xfrm>
            <a:off x="2939433" y="4811822"/>
            <a:ext cx="2461251" cy="365760"/>
          </a:xfrm>
          <a:prstGeom prst="rect">
            <a:avLst/>
          </a:prstGeom>
          <a:noFill/>
          <a:ln/>
        </p:spPr>
        <p:txBody>
          <a:bodyPr wrap="square" rtlCol="0" anchor="ctr"/>
          <a:lstStyle/>
          <a:p>
            <a:pPr algn="ctr"/>
            <a:r>
              <a:rPr lang="en-US" sz="2400" b="1" dirty="0">
                <a:latin typeface="MS UI Gothic" panose="020B0600070205080204" pitchFamily="34" charset="-128"/>
                <a:ea typeface="MS UI Gothic" panose="020B0600070205080204" pitchFamily="34" charset="-128"/>
              </a:rPr>
              <a:t>🌟 研究への貢献</a:t>
            </a:r>
            <a:endParaRPr lang="en-US" sz="2400" dirty="0">
              <a:latin typeface="MS UI Gothic" panose="020B0600070205080204" pitchFamily="34" charset="-128"/>
              <a:ea typeface="MS UI Gothic" panose="020B0600070205080204" pitchFamily="34" charset="-128"/>
            </a:endParaRPr>
          </a:p>
        </p:txBody>
      </p:sp>
      <p:sp>
        <p:nvSpPr>
          <p:cNvPr id="13" name="テキスト ボックス 12">
            <a:extLst>
              <a:ext uri="{FF2B5EF4-FFF2-40B4-BE49-F238E27FC236}">
                <a16:creationId xmlns:a16="http://schemas.microsoft.com/office/drawing/2014/main" id="{C817668A-6880-9A65-E4A2-B7228AF02EF6}"/>
              </a:ext>
            </a:extLst>
          </p:cNvPr>
          <p:cNvSpPr txBox="1"/>
          <p:nvPr/>
        </p:nvSpPr>
        <p:spPr>
          <a:xfrm>
            <a:off x="540659" y="359230"/>
            <a:ext cx="5000087"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研究成果の教育・研究への反映</a:t>
            </a:r>
          </a:p>
        </p:txBody>
      </p:sp>
      <p:sp>
        <p:nvSpPr>
          <p:cNvPr id="14" name="テキスト ボックス 13">
            <a:extLst>
              <a:ext uri="{FF2B5EF4-FFF2-40B4-BE49-F238E27FC236}">
                <a16:creationId xmlns:a16="http://schemas.microsoft.com/office/drawing/2014/main" id="{5F0DAF27-3108-72A4-6721-B6ADD42AC414}"/>
              </a:ext>
            </a:extLst>
          </p:cNvPr>
          <p:cNvSpPr txBox="1"/>
          <p:nvPr/>
        </p:nvSpPr>
        <p:spPr>
          <a:xfrm>
            <a:off x="540659" y="968827"/>
            <a:ext cx="2837636"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期待される成果</a:t>
            </a:r>
            <a:endParaRPr kumimoji="1" lang="ja-JP" altLang="en-US" sz="3200">
              <a:latin typeface="MS UI Gothic" panose="020B0600070205080204" pitchFamily="34" charset="-128"/>
              <a:ea typeface="MS UI Gothic" panose="020B0600070205080204" pitchFamily="34" charset="-128"/>
            </a:endParaRPr>
          </a:p>
        </p:txBody>
      </p:sp>
      <p:sp>
        <p:nvSpPr>
          <p:cNvPr id="2" name="テキスト ボックス 1">
            <a:extLst>
              <a:ext uri="{FF2B5EF4-FFF2-40B4-BE49-F238E27FC236}">
                <a16:creationId xmlns:a16="http://schemas.microsoft.com/office/drawing/2014/main" id="{0E87E354-6C48-67B7-A57A-26D270809C34}"/>
              </a:ext>
            </a:extLst>
          </p:cNvPr>
          <p:cNvSpPr txBox="1"/>
          <p:nvPr/>
        </p:nvSpPr>
        <p:spPr>
          <a:xfrm>
            <a:off x="3067059" y="5220510"/>
            <a:ext cx="6644768"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・薬学教育における生成系</a:t>
            </a:r>
            <a:r>
              <a:rPr kumimoji="1" lang="en-US" altLang="ja-JP" sz="2400" dirty="0">
                <a:latin typeface="MS UI Gothic" panose="020B0600070205080204" pitchFamily="34" charset="-128"/>
                <a:ea typeface="MS UI Gothic" panose="020B0600070205080204" pitchFamily="34" charset="-128"/>
              </a:rPr>
              <a:t>AI</a:t>
            </a:r>
            <a:r>
              <a:rPr kumimoji="1" lang="ja-JP" altLang="en-US" sz="2400">
                <a:latin typeface="MS UI Gothic" panose="020B0600070205080204" pitchFamily="34" charset="-128"/>
                <a:ea typeface="MS UI Gothic" panose="020B0600070205080204" pitchFamily="34" charset="-128"/>
              </a:rPr>
              <a:t>活用のエビデンスの構築</a:t>
            </a:r>
          </a:p>
        </p:txBody>
      </p:sp>
      <p:sp>
        <p:nvSpPr>
          <p:cNvPr id="3" name="テキスト ボックス 2">
            <a:extLst>
              <a:ext uri="{FF2B5EF4-FFF2-40B4-BE49-F238E27FC236}">
                <a16:creationId xmlns:a16="http://schemas.microsoft.com/office/drawing/2014/main" id="{97F1E784-5A65-65E0-2271-2882FD49AFC4}"/>
              </a:ext>
            </a:extLst>
          </p:cNvPr>
          <p:cNvSpPr txBox="1"/>
          <p:nvPr/>
        </p:nvSpPr>
        <p:spPr>
          <a:xfrm>
            <a:off x="3067059" y="5686812"/>
            <a:ext cx="4894289"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・学習支援システムの設計指針の提示</a:t>
            </a:r>
          </a:p>
        </p:txBody>
      </p:sp>
      <p:sp>
        <p:nvSpPr>
          <p:cNvPr id="15" name="テキスト ボックス 14">
            <a:extLst>
              <a:ext uri="{FF2B5EF4-FFF2-40B4-BE49-F238E27FC236}">
                <a16:creationId xmlns:a16="http://schemas.microsoft.com/office/drawing/2014/main" id="{C9799B00-18A6-325E-D9C1-4B5CA78C336D}"/>
              </a:ext>
            </a:extLst>
          </p:cNvPr>
          <p:cNvSpPr txBox="1"/>
          <p:nvPr/>
        </p:nvSpPr>
        <p:spPr>
          <a:xfrm>
            <a:off x="3067058" y="6153115"/>
            <a:ext cx="5751896"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・他の科目・他の大学への発展可能性の実証</a:t>
            </a:r>
          </a:p>
        </p:txBody>
      </p:sp>
      <p:sp>
        <p:nvSpPr>
          <p:cNvPr id="16" name="テキスト ボックス 15">
            <a:extLst>
              <a:ext uri="{FF2B5EF4-FFF2-40B4-BE49-F238E27FC236}">
                <a16:creationId xmlns:a16="http://schemas.microsoft.com/office/drawing/2014/main" id="{CA5AFEB8-1BD4-A470-C9C3-C2A82DE49F85}"/>
              </a:ext>
            </a:extLst>
          </p:cNvPr>
          <p:cNvSpPr txBox="1"/>
          <p:nvPr/>
        </p:nvSpPr>
        <p:spPr>
          <a:xfrm>
            <a:off x="6461760" y="2172928"/>
            <a:ext cx="2505814" cy="461665"/>
          </a:xfrm>
          <a:prstGeom prst="rect">
            <a:avLst/>
          </a:prstGeom>
          <a:noFill/>
        </p:spPr>
        <p:txBody>
          <a:bodyPr wrap="none" rtlCol="0">
            <a:spAutoFit/>
          </a:bodyPr>
          <a:lstStyle/>
          <a:p>
            <a:r>
              <a:rPr kumimoji="1" lang="en-US" altLang="ja-JP" sz="2400" dirty="0">
                <a:latin typeface="MS UI Gothic" panose="020B0600070205080204" pitchFamily="34" charset="-128"/>
                <a:ea typeface="MS UI Gothic" panose="020B0600070205080204" pitchFamily="34" charset="-128"/>
              </a:rPr>
              <a:t>【</a:t>
            </a:r>
            <a:r>
              <a:rPr kumimoji="1" lang="ja-JP" altLang="en-US" sz="2400">
                <a:latin typeface="MS UI Gothic" panose="020B0600070205080204" pitchFamily="34" charset="-128"/>
                <a:ea typeface="MS UI Gothic" panose="020B0600070205080204" pitchFamily="34" charset="-128"/>
              </a:rPr>
              <a:t>頻度質問</a:t>
            </a:r>
            <a:r>
              <a:rPr lang="ja-JP" altLang="en-US" sz="2400">
                <a:latin typeface="MS UI Gothic" panose="020B0600070205080204" pitchFamily="34" charset="-128"/>
                <a:ea typeface="MS UI Gothic" panose="020B0600070205080204" pitchFamily="34" charset="-128"/>
              </a:rPr>
              <a:t>トップ</a:t>
            </a:r>
            <a:r>
              <a:rPr lang="en-US" altLang="ja-JP" sz="2400" dirty="0">
                <a:latin typeface="MS UI Gothic" panose="020B0600070205080204" pitchFamily="34" charset="-128"/>
                <a:ea typeface="MS UI Gothic" panose="020B0600070205080204" pitchFamily="34" charset="-128"/>
              </a:rPr>
              <a:t>3】</a:t>
            </a:r>
            <a:endParaRPr kumimoji="1" lang="en-US" altLang="ja-JP" sz="2400" dirty="0">
              <a:latin typeface="MS UI Gothic" panose="020B0600070205080204" pitchFamily="34" charset="-128"/>
              <a:ea typeface="MS UI Gothic" panose="020B0600070205080204" pitchFamily="34" charset="-128"/>
            </a:endParaRPr>
          </a:p>
        </p:txBody>
      </p:sp>
      <p:sp>
        <p:nvSpPr>
          <p:cNvPr id="17" name="テキスト ボックス 16">
            <a:extLst>
              <a:ext uri="{FF2B5EF4-FFF2-40B4-BE49-F238E27FC236}">
                <a16:creationId xmlns:a16="http://schemas.microsoft.com/office/drawing/2014/main" id="{9E4DF636-7297-AF5A-6608-B84E29918749}"/>
              </a:ext>
            </a:extLst>
          </p:cNvPr>
          <p:cNvSpPr txBox="1"/>
          <p:nvPr/>
        </p:nvSpPr>
        <p:spPr>
          <a:xfrm>
            <a:off x="6547657" y="2764365"/>
            <a:ext cx="4567276"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① </a:t>
            </a:r>
            <a:r>
              <a:rPr lang="en-US" altLang="ja-JP" sz="2400" dirty="0" err="1">
                <a:latin typeface="MS UI Gothic" panose="020B0600070205080204" pitchFamily="34" charset="-128"/>
                <a:ea typeface="MS UI Gothic" panose="020B0600070205080204" pitchFamily="34" charset="-128"/>
              </a:rPr>
              <a:t>感度・特異度の計算方法</a:t>
            </a:r>
            <a:r>
              <a:rPr lang="en-US" altLang="ja-JP" sz="2400" dirty="0">
                <a:latin typeface="MS UI Gothic" panose="020B0600070205080204" pitchFamily="34" charset="-128"/>
                <a:ea typeface="MS UI Gothic" panose="020B0600070205080204" pitchFamily="34" charset="-128"/>
              </a:rPr>
              <a:t>(45件)</a:t>
            </a:r>
          </a:p>
        </p:txBody>
      </p:sp>
      <p:sp>
        <p:nvSpPr>
          <p:cNvPr id="18" name="テキスト ボックス 17">
            <a:extLst>
              <a:ext uri="{FF2B5EF4-FFF2-40B4-BE49-F238E27FC236}">
                <a16:creationId xmlns:a16="http://schemas.microsoft.com/office/drawing/2014/main" id="{4E3F78AE-0C31-887D-0CD8-402B46C0CE6E}"/>
              </a:ext>
            </a:extLst>
          </p:cNvPr>
          <p:cNvSpPr txBox="1"/>
          <p:nvPr/>
        </p:nvSpPr>
        <p:spPr>
          <a:xfrm>
            <a:off x="6547657" y="3284874"/>
            <a:ext cx="3231975"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② </a:t>
            </a:r>
            <a:r>
              <a:rPr lang="en-US" altLang="ja-JP" sz="2400" dirty="0" err="1">
                <a:latin typeface="MS UI Gothic" panose="020B0600070205080204" pitchFamily="34" charset="-128"/>
                <a:ea typeface="MS UI Gothic" panose="020B0600070205080204" pitchFamily="34" charset="-128"/>
              </a:rPr>
              <a:t>オッズ比の解釈</a:t>
            </a:r>
            <a:r>
              <a:rPr lang="en-US" altLang="ja-JP" sz="2400" dirty="0">
                <a:latin typeface="MS UI Gothic" panose="020B0600070205080204" pitchFamily="34" charset="-128"/>
                <a:ea typeface="MS UI Gothic" panose="020B0600070205080204" pitchFamily="34" charset="-128"/>
              </a:rPr>
              <a:t>(38件)</a:t>
            </a:r>
          </a:p>
        </p:txBody>
      </p:sp>
      <p:sp>
        <p:nvSpPr>
          <p:cNvPr id="20" name="テキスト ボックス 19">
            <a:extLst>
              <a:ext uri="{FF2B5EF4-FFF2-40B4-BE49-F238E27FC236}">
                <a16:creationId xmlns:a16="http://schemas.microsoft.com/office/drawing/2014/main" id="{9EF30BAF-9F58-57BC-E428-7EDE769A5455}"/>
              </a:ext>
            </a:extLst>
          </p:cNvPr>
          <p:cNvSpPr txBox="1"/>
          <p:nvPr/>
        </p:nvSpPr>
        <p:spPr>
          <a:xfrm>
            <a:off x="6547657" y="3864646"/>
            <a:ext cx="2719014"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③ </a:t>
            </a:r>
            <a:r>
              <a:rPr lang="en-US" altLang="ja-JP" sz="2400" dirty="0" err="1">
                <a:latin typeface="MS UI Gothic" panose="020B0600070205080204" pitchFamily="34" charset="-128"/>
                <a:ea typeface="MS UI Gothic" panose="020B0600070205080204" pitchFamily="34" charset="-128"/>
              </a:rPr>
              <a:t>p値の意味</a:t>
            </a:r>
            <a:r>
              <a:rPr lang="en-US" altLang="ja-JP" sz="2400" dirty="0">
                <a:latin typeface="MS UI Gothic" panose="020B0600070205080204" pitchFamily="34" charset="-128"/>
                <a:ea typeface="MS UI Gothic" panose="020B0600070205080204" pitchFamily="34" charset="-128"/>
              </a:rPr>
              <a:t>(32件)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33509-E58B-C691-7644-DCC0B70C6466}"/>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73F7B948-2529-402F-D4A8-6266B20E2434}"/>
              </a:ext>
            </a:extLst>
          </p:cNvPr>
          <p:cNvSpPr/>
          <p:nvPr/>
        </p:nvSpPr>
        <p:spPr>
          <a:xfrm>
            <a:off x="609600" y="1683026"/>
            <a:ext cx="5364480" cy="2949934"/>
          </a:xfrm>
          <a:prstGeom prst="rect">
            <a:avLst/>
          </a:prstGeom>
          <a:solidFill>
            <a:srgbClr val="FFFFFF"/>
          </a:solidFill>
          <a:ln/>
        </p:spPr>
        <p:txBody>
          <a:bodyPr/>
          <a:lstStyle/>
          <a:p>
            <a:endParaRPr lang="ja-JP" altLang="en-US" sz="2400">
              <a:latin typeface="MS UI Gothic" panose="020B0600070205080204" pitchFamily="34" charset="-128"/>
              <a:ea typeface="MS UI Gothic" panose="020B0600070205080204" pitchFamily="34" charset="-128"/>
            </a:endParaRPr>
          </a:p>
        </p:txBody>
      </p:sp>
      <p:sp>
        <p:nvSpPr>
          <p:cNvPr id="5" name="Text 3">
            <a:extLst>
              <a:ext uri="{FF2B5EF4-FFF2-40B4-BE49-F238E27FC236}">
                <a16:creationId xmlns:a16="http://schemas.microsoft.com/office/drawing/2014/main" id="{1267FB49-77FC-532E-9C73-E491849CDC18}"/>
              </a:ext>
            </a:extLst>
          </p:cNvPr>
          <p:cNvSpPr/>
          <p:nvPr/>
        </p:nvSpPr>
        <p:spPr>
          <a:xfrm>
            <a:off x="853440" y="1708284"/>
            <a:ext cx="4876800" cy="487680"/>
          </a:xfrm>
          <a:prstGeom prst="rect">
            <a:avLst/>
          </a:prstGeom>
          <a:noFill/>
          <a:ln/>
        </p:spPr>
        <p:txBody>
          <a:bodyPr wrap="square" rtlCol="0" anchor="ctr"/>
          <a:lstStyle/>
          <a:p>
            <a:r>
              <a:rPr lang="en-US" sz="2400" dirty="0">
                <a:latin typeface="MS UI Gothic" panose="020B0600070205080204" pitchFamily="34" charset="-128"/>
                <a:ea typeface="MS UI Gothic" panose="020B0600070205080204" pitchFamily="34" charset="-128"/>
              </a:rPr>
              <a:t>🎯 教育への反映</a:t>
            </a:r>
          </a:p>
        </p:txBody>
      </p:sp>
      <p:sp>
        <p:nvSpPr>
          <p:cNvPr id="6" name="Text 4">
            <a:extLst>
              <a:ext uri="{FF2B5EF4-FFF2-40B4-BE49-F238E27FC236}">
                <a16:creationId xmlns:a16="http://schemas.microsoft.com/office/drawing/2014/main" id="{285902DB-7FAA-5691-E41A-24FC26CB16EF}"/>
              </a:ext>
            </a:extLst>
          </p:cNvPr>
          <p:cNvSpPr/>
          <p:nvPr/>
        </p:nvSpPr>
        <p:spPr>
          <a:xfrm>
            <a:off x="853440" y="2233197"/>
            <a:ext cx="4876800" cy="2191908"/>
          </a:xfrm>
          <a:prstGeom prst="rect">
            <a:avLst/>
          </a:prstGeom>
          <a:noFill/>
          <a:ln/>
        </p:spPr>
        <p:txBody>
          <a:bodyPr wrap="square" rtlCol="0" anchor="ctr"/>
          <a:lstStyle/>
          <a:p>
            <a:pPr>
              <a:buSzPct val="100000"/>
            </a:pPr>
            <a:r>
              <a:rPr lang="en-US" sz="2400" dirty="0">
                <a:latin typeface="MS UI Gothic" panose="020B0600070205080204" pitchFamily="34" charset="-128"/>
                <a:ea typeface="MS UI Gothic" panose="020B0600070205080204" pitchFamily="34" charset="-128"/>
              </a:rPr>
              <a:t>つまずきマップによる</a:t>
            </a:r>
            <a:r>
              <a:rPr lang="en-US" sz="2400" dirty="0">
                <a:solidFill>
                  <a:srgbClr val="FF0000"/>
                </a:solidFill>
                <a:latin typeface="MS UI Gothic" panose="020B0600070205080204" pitchFamily="34" charset="-128"/>
                <a:ea typeface="MS UI Gothic" panose="020B0600070205080204" pitchFamily="34" charset="-128"/>
              </a:rPr>
              <a:t>講義改善</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学生の理解困難箇所を特定</a:t>
            </a:r>
          </a:p>
          <a:p>
            <a:pPr>
              <a:buSzPct val="100000"/>
            </a:pPr>
            <a:r>
              <a:rPr lang="en-US" sz="2400" dirty="0">
                <a:solidFill>
                  <a:srgbClr val="FF0000"/>
                </a:solidFill>
                <a:latin typeface="MS UI Gothic" panose="020B0600070205080204" pitchFamily="34" charset="-128"/>
                <a:ea typeface="MS UI Gothic" panose="020B0600070205080204" pitchFamily="34" charset="-128"/>
              </a:rPr>
              <a:t>弱点強化学習</a:t>
            </a:r>
            <a:r>
              <a:rPr lang="en-US" sz="2400" dirty="0">
                <a:latin typeface="MS UI Gothic" panose="020B0600070205080204" pitchFamily="34" charset="-128"/>
                <a:ea typeface="MS UI Gothic" panose="020B0600070205080204" pitchFamily="34" charset="-128"/>
              </a:rPr>
              <a:t>の実施</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個別学習指導への活用</a:t>
            </a:r>
          </a:p>
          <a:p>
            <a:pPr>
              <a:buSzPct val="100000"/>
            </a:pPr>
            <a:r>
              <a:rPr lang="en-US" sz="2400" dirty="0">
                <a:solidFill>
                  <a:srgbClr val="FF0000"/>
                </a:solidFill>
                <a:latin typeface="MS UI Gothic" panose="020B0600070205080204" pitchFamily="34" charset="-128"/>
                <a:ea typeface="MS UI Gothic" panose="020B0600070205080204" pitchFamily="34" charset="-128"/>
              </a:rPr>
              <a:t>演習問題作成への反映</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頻出質問に基づく問題設計</a:t>
            </a:r>
          </a:p>
        </p:txBody>
      </p:sp>
      <p:sp>
        <p:nvSpPr>
          <p:cNvPr id="7" name="Shape 5">
            <a:extLst>
              <a:ext uri="{FF2B5EF4-FFF2-40B4-BE49-F238E27FC236}">
                <a16:creationId xmlns:a16="http://schemas.microsoft.com/office/drawing/2014/main" id="{39A0BB1E-32FF-A742-0EE5-6FB72457DA06}"/>
              </a:ext>
            </a:extLst>
          </p:cNvPr>
          <p:cNvSpPr/>
          <p:nvPr/>
        </p:nvSpPr>
        <p:spPr>
          <a:xfrm>
            <a:off x="6217920" y="1683026"/>
            <a:ext cx="5364480" cy="2949934"/>
          </a:xfrm>
          <a:prstGeom prst="rect">
            <a:avLst/>
          </a:prstGeom>
          <a:solidFill>
            <a:schemeClr val="accent6">
              <a:lumMod val="20000"/>
              <a:lumOff val="80000"/>
            </a:schemeClr>
          </a:solidFill>
          <a:ln/>
        </p:spPr>
        <p:txBody>
          <a:bodyPr/>
          <a:lstStyle/>
          <a:p>
            <a:endParaRPr lang="ja-JP" altLang="en-US" sz="2400"/>
          </a:p>
        </p:txBody>
      </p:sp>
      <p:sp>
        <p:nvSpPr>
          <p:cNvPr id="8" name="Text 6">
            <a:extLst>
              <a:ext uri="{FF2B5EF4-FFF2-40B4-BE49-F238E27FC236}">
                <a16:creationId xmlns:a16="http://schemas.microsoft.com/office/drawing/2014/main" id="{518A933B-DCF9-6EA0-C944-861F880385C6}"/>
              </a:ext>
            </a:extLst>
          </p:cNvPr>
          <p:cNvSpPr/>
          <p:nvPr/>
        </p:nvSpPr>
        <p:spPr>
          <a:xfrm>
            <a:off x="6461760" y="1708284"/>
            <a:ext cx="4876800" cy="487680"/>
          </a:xfrm>
          <a:prstGeom prst="rect">
            <a:avLst/>
          </a:prstGeom>
          <a:noFill/>
          <a:ln/>
        </p:spPr>
        <p:txBody>
          <a:bodyPr wrap="square" rtlCol="0" anchor="ctr"/>
          <a:lstStyle/>
          <a:p>
            <a:r>
              <a:rPr lang="en-US" sz="2400" dirty="0">
                <a:latin typeface="MS UI Gothic" panose="020B0600070205080204" pitchFamily="34" charset="-128"/>
                <a:ea typeface="MS UI Gothic" panose="020B0600070205080204" pitchFamily="34" charset="-128"/>
              </a:rPr>
              <a:t>📍 つまずきマップ(</a:t>
            </a:r>
            <a:r>
              <a:rPr lang="en-US" sz="2400" dirty="0" err="1">
                <a:latin typeface="MS UI Gothic" panose="020B0600070205080204" pitchFamily="34" charset="-128"/>
                <a:ea typeface="MS UI Gothic" panose="020B0600070205080204" pitchFamily="34" charset="-128"/>
              </a:rPr>
              <a:t>可視化例</a:t>
            </a:r>
            <a:r>
              <a:rPr lang="en-US" sz="2400" dirty="0">
                <a:latin typeface="MS UI Gothic" panose="020B0600070205080204" pitchFamily="34" charset="-128"/>
                <a:ea typeface="MS UI Gothic" panose="020B0600070205080204" pitchFamily="34" charset="-128"/>
              </a:rPr>
              <a:t>)</a:t>
            </a:r>
          </a:p>
        </p:txBody>
      </p:sp>
      <p:sp>
        <p:nvSpPr>
          <p:cNvPr id="10" name="Shape 8">
            <a:extLst>
              <a:ext uri="{FF2B5EF4-FFF2-40B4-BE49-F238E27FC236}">
                <a16:creationId xmlns:a16="http://schemas.microsoft.com/office/drawing/2014/main" id="{9106F739-05EC-D3F0-11F0-02E6DB741C44}"/>
              </a:ext>
            </a:extLst>
          </p:cNvPr>
          <p:cNvSpPr/>
          <p:nvPr/>
        </p:nvSpPr>
        <p:spPr>
          <a:xfrm>
            <a:off x="2038359" y="4777820"/>
            <a:ext cx="8134350" cy="1855304"/>
          </a:xfrm>
          <a:prstGeom prst="rect">
            <a:avLst/>
          </a:prstGeom>
          <a:solidFill>
            <a:schemeClr val="accent3">
              <a:lumMod val="20000"/>
              <a:lumOff val="80000"/>
            </a:schemeClr>
          </a:solidFill>
          <a:ln/>
        </p:spPr>
        <p:txBody>
          <a:bodyPr/>
          <a:lstStyle/>
          <a:p>
            <a:endParaRPr lang="ja-JP" altLang="en-US" sz="2400"/>
          </a:p>
        </p:txBody>
      </p:sp>
      <p:sp>
        <p:nvSpPr>
          <p:cNvPr id="11" name="Text 9">
            <a:extLst>
              <a:ext uri="{FF2B5EF4-FFF2-40B4-BE49-F238E27FC236}">
                <a16:creationId xmlns:a16="http://schemas.microsoft.com/office/drawing/2014/main" id="{6CE6EDBF-92C0-E1D4-EF2A-ACEA0588244B}"/>
              </a:ext>
            </a:extLst>
          </p:cNvPr>
          <p:cNvSpPr/>
          <p:nvPr/>
        </p:nvSpPr>
        <p:spPr>
          <a:xfrm>
            <a:off x="2939433" y="4811822"/>
            <a:ext cx="2461251" cy="365760"/>
          </a:xfrm>
          <a:prstGeom prst="rect">
            <a:avLst/>
          </a:prstGeom>
          <a:noFill/>
          <a:ln/>
        </p:spPr>
        <p:txBody>
          <a:bodyPr wrap="square" rtlCol="0" anchor="ctr"/>
          <a:lstStyle/>
          <a:p>
            <a:pPr algn="ctr"/>
            <a:r>
              <a:rPr lang="en-US" sz="2400" b="1" dirty="0">
                <a:latin typeface="MS UI Gothic" panose="020B0600070205080204" pitchFamily="34" charset="-128"/>
                <a:ea typeface="MS UI Gothic" panose="020B0600070205080204" pitchFamily="34" charset="-128"/>
              </a:rPr>
              <a:t>🌟 研究への貢献</a:t>
            </a:r>
            <a:endParaRPr lang="en-US" sz="2400" dirty="0">
              <a:latin typeface="MS UI Gothic" panose="020B0600070205080204" pitchFamily="34" charset="-128"/>
              <a:ea typeface="MS UI Gothic" panose="020B0600070205080204" pitchFamily="34" charset="-128"/>
            </a:endParaRPr>
          </a:p>
        </p:txBody>
      </p:sp>
      <p:sp>
        <p:nvSpPr>
          <p:cNvPr id="13" name="テキスト ボックス 12">
            <a:extLst>
              <a:ext uri="{FF2B5EF4-FFF2-40B4-BE49-F238E27FC236}">
                <a16:creationId xmlns:a16="http://schemas.microsoft.com/office/drawing/2014/main" id="{1A2B3984-650C-0409-29EC-72DA97617A66}"/>
              </a:ext>
            </a:extLst>
          </p:cNvPr>
          <p:cNvSpPr txBox="1"/>
          <p:nvPr/>
        </p:nvSpPr>
        <p:spPr>
          <a:xfrm>
            <a:off x="540659" y="359230"/>
            <a:ext cx="5000087"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研究成果の教育・研究への反映</a:t>
            </a:r>
          </a:p>
        </p:txBody>
      </p:sp>
      <p:sp>
        <p:nvSpPr>
          <p:cNvPr id="14" name="テキスト ボックス 13">
            <a:extLst>
              <a:ext uri="{FF2B5EF4-FFF2-40B4-BE49-F238E27FC236}">
                <a16:creationId xmlns:a16="http://schemas.microsoft.com/office/drawing/2014/main" id="{C0877BA5-6188-04EA-DB68-0F0BBD3BEC08}"/>
              </a:ext>
            </a:extLst>
          </p:cNvPr>
          <p:cNvSpPr txBox="1"/>
          <p:nvPr/>
        </p:nvSpPr>
        <p:spPr>
          <a:xfrm>
            <a:off x="540659" y="968827"/>
            <a:ext cx="2837636"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期待される成果</a:t>
            </a:r>
            <a:endParaRPr kumimoji="1" lang="ja-JP" altLang="en-US" sz="3200">
              <a:latin typeface="MS UI Gothic" panose="020B0600070205080204" pitchFamily="34" charset="-128"/>
              <a:ea typeface="MS UI Gothic" panose="020B0600070205080204" pitchFamily="34" charset="-128"/>
            </a:endParaRPr>
          </a:p>
        </p:txBody>
      </p:sp>
      <p:sp>
        <p:nvSpPr>
          <p:cNvPr id="2" name="テキスト ボックス 1">
            <a:extLst>
              <a:ext uri="{FF2B5EF4-FFF2-40B4-BE49-F238E27FC236}">
                <a16:creationId xmlns:a16="http://schemas.microsoft.com/office/drawing/2014/main" id="{881CF70F-40D4-7318-F742-36FB3641AC35}"/>
              </a:ext>
            </a:extLst>
          </p:cNvPr>
          <p:cNvSpPr txBox="1"/>
          <p:nvPr/>
        </p:nvSpPr>
        <p:spPr>
          <a:xfrm>
            <a:off x="3067059" y="5220510"/>
            <a:ext cx="6644768"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・薬学教育における生成系</a:t>
            </a:r>
            <a:r>
              <a:rPr kumimoji="1" lang="en-US" altLang="ja-JP" sz="2400" dirty="0">
                <a:latin typeface="MS UI Gothic" panose="020B0600070205080204" pitchFamily="34" charset="-128"/>
                <a:ea typeface="MS UI Gothic" panose="020B0600070205080204" pitchFamily="34" charset="-128"/>
              </a:rPr>
              <a:t>AI</a:t>
            </a:r>
            <a:r>
              <a:rPr kumimoji="1" lang="ja-JP" altLang="en-US" sz="2400">
                <a:latin typeface="MS UI Gothic" panose="020B0600070205080204" pitchFamily="34" charset="-128"/>
                <a:ea typeface="MS UI Gothic" panose="020B0600070205080204" pitchFamily="34" charset="-128"/>
              </a:rPr>
              <a:t>活用の</a:t>
            </a:r>
            <a:r>
              <a:rPr kumimoji="1" lang="ja-JP" altLang="en-US" sz="2400">
                <a:solidFill>
                  <a:srgbClr val="FF0000"/>
                </a:solidFill>
                <a:latin typeface="MS UI Gothic" panose="020B0600070205080204" pitchFamily="34" charset="-128"/>
                <a:ea typeface="MS UI Gothic" panose="020B0600070205080204" pitchFamily="34" charset="-128"/>
              </a:rPr>
              <a:t>エビデンスの構築</a:t>
            </a:r>
          </a:p>
        </p:txBody>
      </p:sp>
      <p:sp>
        <p:nvSpPr>
          <p:cNvPr id="3" name="テキスト ボックス 2">
            <a:extLst>
              <a:ext uri="{FF2B5EF4-FFF2-40B4-BE49-F238E27FC236}">
                <a16:creationId xmlns:a16="http://schemas.microsoft.com/office/drawing/2014/main" id="{7C8D2DFD-42F3-A8A6-8F3F-417CFDF8BFD8}"/>
              </a:ext>
            </a:extLst>
          </p:cNvPr>
          <p:cNvSpPr txBox="1"/>
          <p:nvPr/>
        </p:nvSpPr>
        <p:spPr>
          <a:xfrm>
            <a:off x="3067059" y="5686812"/>
            <a:ext cx="4894289"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・学習支援システムの</a:t>
            </a:r>
            <a:r>
              <a:rPr kumimoji="1" lang="ja-JP" altLang="en-US" sz="2400">
                <a:solidFill>
                  <a:srgbClr val="FF0000"/>
                </a:solidFill>
                <a:latin typeface="MS UI Gothic" panose="020B0600070205080204" pitchFamily="34" charset="-128"/>
                <a:ea typeface="MS UI Gothic" panose="020B0600070205080204" pitchFamily="34" charset="-128"/>
              </a:rPr>
              <a:t>設計指針の提示</a:t>
            </a:r>
          </a:p>
        </p:txBody>
      </p:sp>
      <p:sp>
        <p:nvSpPr>
          <p:cNvPr id="15" name="テキスト ボックス 14">
            <a:extLst>
              <a:ext uri="{FF2B5EF4-FFF2-40B4-BE49-F238E27FC236}">
                <a16:creationId xmlns:a16="http://schemas.microsoft.com/office/drawing/2014/main" id="{94EFD9D6-0C46-8C47-7326-ADAA8893D1EE}"/>
              </a:ext>
            </a:extLst>
          </p:cNvPr>
          <p:cNvSpPr txBox="1"/>
          <p:nvPr/>
        </p:nvSpPr>
        <p:spPr>
          <a:xfrm>
            <a:off x="3067058" y="6153115"/>
            <a:ext cx="5751896"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・他の科目・他の大学への</a:t>
            </a:r>
            <a:r>
              <a:rPr kumimoji="1" lang="ja-JP" altLang="en-US" sz="2400">
                <a:solidFill>
                  <a:srgbClr val="FF0000"/>
                </a:solidFill>
                <a:latin typeface="MS UI Gothic" panose="020B0600070205080204" pitchFamily="34" charset="-128"/>
                <a:ea typeface="MS UI Gothic" panose="020B0600070205080204" pitchFamily="34" charset="-128"/>
              </a:rPr>
              <a:t>発展可能性の実証</a:t>
            </a:r>
          </a:p>
        </p:txBody>
      </p:sp>
      <p:sp>
        <p:nvSpPr>
          <p:cNvPr id="16" name="テキスト ボックス 15">
            <a:extLst>
              <a:ext uri="{FF2B5EF4-FFF2-40B4-BE49-F238E27FC236}">
                <a16:creationId xmlns:a16="http://schemas.microsoft.com/office/drawing/2014/main" id="{DFA70BF8-3D45-E05B-489E-35DF248B4002}"/>
              </a:ext>
            </a:extLst>
          </p:cNvPr>
          <p:cNvSpPr txBox="1"/>
          <p:nvPr/>
        </p:nvSpPr>
        <p:spPr>
          <a:xfrm>
            <a:off x="6461760" y="2172928"/>
            <a:ext cx="2505814" cy="461665"/>
          </a:xfrm>
          <a:prstGeom prst="rect">
            <a:avLst/>
          </a:prstGeom>
          <a:noFill/>
        </p:spPr>
        <p:txBody>
          <a:bodyPr wrap="none" rtlCol="0">
            <a:spAutoFit/>
          </a:bodyPr>
          <a:lstStyle/>
          <a:p>
            <a:r>
              <a:rPr kumimoji="1" lang="en-US" altLang="ja-JP" sz="2400" dirty="0">
                <a:latin typeface="MS UI Gothic" panose="020B0600070205080204" pitchFamily="34" charset="-128"/>
                <a:ea typeface="MS UI Gothic" panose="020B0600070205080204" pitchFamily="34" charset="-128"/>
              </a:rPr>
              <a:t>【</a:t>
            </a:r>
            <a:r>
              <a:rPr kumimoji="1" lang="ja-JP" altLang="en-US" sz="2400">
                <a:latin typeface="MS UI Gothic" panose="020B0600070205080204" pitchFamily="34" charset="-128"/>
                <a:ea typeface="MS UI Gothic" panose="020B0600070205080204" pitchFamily="34" charset="-128"/>
              </a:rPr>
              <a:t>頻度質問</a:t>
            </a:r>
            <a:r>
              <a:rPr lang="ja-JP" altLang="en-US" sz="2400">
                <a:latin typeface="MS UI Gothic" panose="020B0600070205080204" pitchFamily="34" charset="-128"/>
                <a:ea typeface="MS UI Gothic" panose="020B0600070205080204" pitchFamily="34" charset="-128"/>
              </a:rPr>
              <a:t>トップ</a:t>
            </a:r>
            <a:r>
              <a:rPr lang="en-US" altLang="ja-JP" sz="2400" dirty="0">
                <a:latin typeface="MS UI Gothic" panose="020B0600070205080204" pitchFamily="34" charset="-128"/>
                <a:ea typeface="MS UI Gothic" panose="020B0600070205080204" pitchFamily="34" charset="-128"/>
              </a:rPr>
              <a:t>3】</a:t>
            </a:r>
            <a:endParaRPr kumimoji="1" lang="en-US" altLang="ja-JP" sz="2400" dirty="0">
              <a:latin typeface="MS UI Gothic" panose="020B0600070205080204" pitchFamily="34" charset="-128"/>
              <a:ea typeface="MS UI Gothic" panose="020B0600070205080204" pitchFamily="34" charset="-128"/>
            </a:endParaRPr>
          </a:p>
        </p:txBody>
      </p:sp>
      <p:sp>
        <p:nvSpPr>
          <p:cNvPr id="17" name="テキスト ボックス 16">
            <a:extLst>
              <a:ext uri="{FF2B5EF4-FFF2-40B4-BE49-F238E27FC236}">
                <a16:creationId xmlns:a16="http://schemas.microsoft.com/office/drawing/2014/main" id="{2E5101F7-F1EF-F1D8-B32F-F3FFF96987D7}"/>
              </a:ext>
            </a:extLst>
          </p:cNvPr>
          <p:cNvSpPr txBox="1"/>
          <p:nvPr/>
        </p:nvSpPr>
        <p:spPr>
          <a:xfrm>
            <a:off x="6547657" y="2764365"/>
            <a:ext cx="4567276"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① </a:t>
            </a:r>
            <a:r>
              <a:rPr lang="en-US" altLang="ja-JP" sz="2400" dirty="0" err="1">
                <a:latin typeface="MS UI Gothic" panose="020B0600070205080204" pitchFamily="34" charset="-128"/>
                <a:ea typeface="MS UI Gothic" panose="020B0600070205080204" pitchFamily="34" charset="-128"/>
              </a:rPr>
              <a:t>感度・特異度の計算方法</a:t>
            </a:r>
            <a:r>
              <a:rPr lang="en-US" altLang="ja-JP" sz="2400" dirty="0">
                <a:latin typeface="MS UI Gothic" panose="020B0600070205080204" pitchFamily="34" charset="-128"/>
                <a:ea typeface="MS UI Gothic" panose="020B0600070205080204" pitchFamily="34" charset="-128"/>
              </a:rPr>
              <a:t>(45件)</a:t>
            </a:r>
          </a:p>
        </p:txBody>
      </p:sp>
      <p:sp>
        <p:nvSpPr>
          <p:cNvPr id="18" name="テキスト ボックス 17">
            <a:extLst>
              <a:ext uri="{FF2B5EF4-FFF2-40B4-BE49-F238E27FC236}">
                <a16:creationId xmlns:a16="http://schemas.microsoft.com/office/drawing/2014/main" id="{1F07F2FB-6368-74FA-576A-C9BB2BDDB49A}"/>
              </a:ext>
            </a:extLst>
          </p:cNvPr>
          <p:cNvSpPr txBox="1"/>
          <p:nvPr/>
        </p:nvSpPr>
        <p:spPr>
          <a:xfrm>
            <a:off x="6547657" y="3284874"/>
            <a:ext cx="3231975"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② </a:t>
            </a:r>
            <a:r>
              <a:rPr lang="en-US" altLang="ja-JP" sz="2400" dirty="0" err="1">
                <a:latin typeface="MS UI Gothic" panose="020B0600070205080204" pitchFamily="34" charset="-128"/>
                <a:ea typeface="MS UI Gothic" panose="020B0600070205080204" pitchFamily="34" charset="-128"/>
              </a:rPr>
              <a:t>オッズ比の解釈</a:t>
            </a:r>
            <a:r>
              <a:rPr lang="en-US" altLang="ja-JP" sz="2400" dirty="0">
                <a:latin typeface="MS UI Gothic" panose="020B0600070205080204" pitchFamily="34" charset="-128"/>
                <a:ea typeface="MS UI Gothic" panose="020B0600070205080204" pitchFamily="34" charset="-128"/>
              </a:rPr>
              <a:t>(38件)</a:t>
            </a:r>
          </a:p>
        </p:txBody>
      </p:sp>
      <p:sp>
        <p:nvSpPr>
          <p:cNvPr id="20" name="テキスト ボックス 19">
            <a:extLst>
              <a:ext uri="{FF2B5EF4-FFF2-40B4-BE49-F238E27FC236}">
                <a16:creationId xmlns:a16="http://schemas.microsoft.com/office/drawing/2014/main" id="{CCAA7264-BC5B-A9A3-9395-A9ADA2D95046}"/>
              </a:ext>
            </a:extLst>
          </p:cNvPr>
          <p:cNvSpPr txBox="1"/>
          <p:nvPr/>
        </p:nvSpPr>
        <p:spPr>
          <a:xfrm>
            <a:off x="6547657" y="3864646"/>
            <a:ext cx="2719014"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③ </a:t>
            </a:r>
            <a:r>
              <a:rPr lang="en-US" altLang="ja-JP" sz="2400" dirty="0" err="1">
                <a:latin typeface="MS UI Gothic" panose="020B0600070205080204" pitchFamily="34" charset="-128"/>
                <a:ea typeface="MS UI Gothic" panose="020B0600070205080204" pitchFamily="34" charset="-128"/>
              </a:rPr>
              <a:t>p値の意味</a:t>
            </a:r>
            <a:r>
              <a:rPr lang="en-US" altLang="ja-JP" sz="2400" dirty="0">
                <a:latin typeface="MS UI Gothic" panose="020B0600070205080204" pitchFamily="34" charset="-128"/>
                <a:ea typeface="MS UI Gothic" panose="020B0600070205080204" pitchFamily="34" charset="-128"/>
              </a:rPr>
              <a:t>(32件)</a:t>
            </a:r>
          </a:p>
        </p:txBody>
      </p:sp>
    </p:spTree>
    <p:extLst>
      <p:ext uri="{BB962C8B-B14F-4D97-AF65-F5344CB8AC3E}">
        <p14:creationId xmlns:p14="http://schemas.microsoft.com/office/powerpoint/2010/main" val="821989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B4858-4446-E880-8828-05E986FC9B3F}"/>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2CBB2DA9-7500-7D8B-9088-1AA015E1D4CF}"/>
              </a:ext>
            </a:extLst>
          </p:cNvPr>
          <p:cNvSpPr/>
          <p:nvPr/>
        </p:nvSpPr>
        <p:spPr>
          <a:xfrm>
            <a:off x="609600" y="1683026"/>
            <a:ext cx="5364480" cy="2949934"/>
          </a:xfrm>
          <a:prstGeom prst="rect">
            <a:avLst/>
          </a:prstGeom>
          <a:solidFill>
            <a:srgbClr val="FFFFFF"/>
          </a:solidFill>
          <a:ln/>
        </p:spPr>
        <p:txBody>
          <a:bodyPr/>
          <a:lstStyle/>
          <a:p>
            <a:endParaRPr lang="ja-JP" altLang="en-US" sz="2400">
              <a:latin typeface="MS UI Gothic" panose="020B0600070205080204" pitchFamily="34" charset="-128"/>
              <a:ea typeface="MS UI Gothic" panose="020B0600070205080204" pitchFamily="34" charset="-128"/>
            </a:endParaRPr>
          </a:p>
        </p:txBody>
      </p:sp>
      <p:sp>
        <p:nvSpPr>
          <p:cNvPr id="5" name="Text 3">
            <a:extLst>
              <a:ext uri="{FF2B5EF4-FFF2-40B4-BE49-F238E27FC236}">
                <a16:creationId xmlns:a16="http://schemas.microsoft.com/office/drawing/2014/main" id="{E7CE21C3-761B-BEFA-DF5F-D8499FEBF87B}"/>
              </a:ext>
            </a:extLst>
          </p:cNvPr>
          <p:cNvSpPr/>
          <p:nvPr/>
        </p:nvSpPr>
        <p:spPr>
          <a:xfrm>
            <a:off x="853440" y="1708284"/>
            <a:ext cx="4876800" cy="487680"/>
          </a:xfrm>
          <a:prstGeom prst="rect">
            <a:avLst/>
          </a:prstGeom>
          <a:noFill/>
          <a:ln/>
        </p:spPr>
        <p:txBody>
          <a:bodyPr wrap="square" rtlCol="0" anchor="ctr"/>
          <a:lstStyle/>
          <a:p>
            <a:r>
              <a:rPr lang="en-US" sz="2400" dirty="0">
                <a:latin typeface="MS UI Gothic" panose="020B0600070205080204" pitchFamily="34" charset="-128"/>
                <a:ea typeface="MS UI Gothic" panose="020B0600070205080204" pitchFamily="34" charset="-128"/>
              </a:rPr>
              <a:t>🎯 教育への反映</a:t>
            </a:r>
          </a:p>
        </p:txBody>
      </p:sp>
      <p:sp>
        <p:nvSpPr>
          <p:cNvPr id="6" name="Text 4">
            <a:extLst>
              <a:ext uri="{FF2B5EF4-FFF2-40B4-BE49-F238E27FC236}">
                <a16:creationId xmlns:a16="http://schemas.microsoft.com/office/drawing/2014/main" id="{195F6789-ABC3-E464-BEBE-E12F765A13A5}"/>
              </a:ext>
            </a:extLst>
          </p:cNvPr>
          <p:cNvSpPr/>
          <p:nvPr/>
        </p:nvSpPr>
        <p:spPr>
          <a:xfrm>
            <a:off x="853440" y="2233197"/>
            <a:ext cx="4876800" cy="2191908"/>
          </a:xfrm>
          <a:prstGeom prst="rect">
            <a:avLst/>
          </a:prstGeom>
          <a:noFill/>
          <a:ln/>
        </p:spPr>
        <p:txBody>
          <a:bodyPr wrap="square" rtlCol="0" anchor="ctr"/>
          <a:lstStyle/>
          <a:p>
            <a:pPr>
              <a:buSzPct val="100000"/>
            </a:pPr>
            <a:r>
              <a:rPr lang="en-US" sz="2400" dirty="0">
                <a:latin typeface="MS UI Gothic" panose="020B0600070205080204" pitchFamily="34" charset="-128"/>
                <a:ea typeface="MS UI Gothic" panose="020B0600070205080204" pitchFamily="34" charset="-128"/>
              </a:rPr>
              <a:t>つまずきマップによる講義改善</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学生の理解困難箇所を特定</a:t>
            </a:r>
          </a:p>
          <a:p>
            <a:pPr>
              <a:buSzPct val="100000"/>
            </a:pPr>
            <a:r>
              <a:rPr lang="en-US" sz="2400" dirty="0">
                <a:latin typeface="MS UI Gothic" panose="020B0600070205080204" pitchFamily="34" charset="-128"/>
                <a:ea typeface="MS UI Gothic" panose="020B0600070205080204" pitchFamily="34" charset="-128"/>
              </a:rPr>
              <a:t>弱点強化学習の実施</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個別学習指導への活用</a:t>
            </a:r>
          </a:p>
          <a:p>
            <a:pPr>
              <a:buSzPct val="100000"/>
            </a:pPr>
            <a:r>
              <a:rPr lang="en-US" sz="2400" dirty="0">
                <a:latin typeface="MS UI Gothic" panose="020B0600070205080204" pitchFamily="34" charset="-128"/>
                <a:ea typeface="MS UI Gothic" panose="020B0600070205080204" pitchFamily="34" charset="-128"/>
              </a:rPr>
              <a:t>演習問題作成への反映</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頻出質問に基づく問題設計</a:t>
            </a:r>
          </a:p>
        </p:txBody>
      </p:sp>
      <p:sp>
        <p:nvSpPr>
          <p:cNvPr id="7" name="Shape 5">
            <a:extLst>
              <a:ext uri="{FF2B5EF4-FFF2-40B4-BE49-F238E27FC236}">
                <a16:creationId xmlns:a16="http://schemas.microsoft.com/office/drawing/2014/main" id="{DAA1DF9E-9ECA-FDF4-AC8E-3484F1ED3E7C}"/>
              </a:ext>
            </a:extLst>
          </p:cNvPr>
          <p:cNvSpPr/>
          <p:nvPr/>
        </p:nvSpPr>
        <p:spPr>
          <a:xfrm>
            <a:off x="6217920" y="1683026"/>
            <a:ext cx="5364480" cy="2949934"/>
          </a:xfrm>
          <a:prstGeom prst="rect">
            <a:avLst/>
          </a:prstGeom>
          <a:solidFill>
            <a:schemeClr val="accent6">
              <a:lumMod val="20000"/>
              <a:lumOff val="80000"/>
            </a:schemeClr>
          </a:solidFill>
          <a:ln/>
        </p:spPr>
        <p:txBody>
          <a:bodyPr/>
          <a:lstStyle/>
          <a:p>
            <a:endParaRPr lang="ja-JP" altLang="en-US" sz="2400"/>
          </a:p>
        </p:txBody>
      </p:sp>
      <p:sp>
        <p:nvSpPr>
          <p:cNvPr id="8" name="Text 6">
            <a:extLst>
              <a:ext uri="{FF2B5EF4-FFF2-40B4-BE49-F238E27FC236}">
                <a16:creationId xmlns:a16="http://schemas.microsoft.com/office/drawing/2014/main" id="{0EFFF46C-E467-C732-BA7F-2764B118611E}"/>
              </a:ext>
            </a:extLst>
          </p:cNvPr>
          <p:cNvSpPr/>
          <p:nvPr/>
        </p:nvSpPr>
        <p:spPr>
          <a:xfrm>
            <a:off x="6461760" y="1708284"/>
            <a:ext cx="4876800" cy="487680"/>
          </a:xfrm>
          <a:prstGeom prst="rect">
            <a:avLst/>
          </a:prstGeom>
          <a:noFill/>
          <a:ln/>
        </p:spPr>
        <p:txBody>
          <a:bodyPr wrap="square" rtlCol="0" anchor="ctr"/>
          <a:lstStyle/>
          <a:p>
            <a:r>
              <a:rPr lang="en-US" sz="2400" dirty="0">
                <a:latin typeface="MS UI Gothic" panose="020B0600070205080204" pitchFamily="34" charset="-128"/>
                <a:ea typeface="MS UI Gothic" panose="020B0600070205080204" pitchFamily="34" charset="-128"/>
              </a:rPr>
              <a:t>📍 つまずきマップ(</a:t>
            </a:r>
            <a:r>
              <a:rPr lang="en-US" sz="2400" dirty="0" err="1">
                <a:latin typeface="MS UI Gothic" panose="020B0600070205080204" pitchFamily="34" charset="-128"/>
                <a:ea typeface="MS UI Gothic" panose="020B0600070205080204" pitchFamily="34" charset="-128"/>
              </a:rPr>
              <a:t>可視化例</a:t>
            </a:r>
            <a:r>
              <a:rPr lang="en-US" sz="2400" dirty="0">
                <a:latin typeface="MS UI Gothic" panose="020B0600070205080204" pitchFamily="34" charset="-128"/>
                <a:ea typeface="MS UI Gothic" panose="020B0600070205080204" pitchFamily="34" charset="-128"/>
              </a:rPr>
              <a:t>)</a:t>
            </a:r>
          </a:p>
        </p:txBody>
      </p:sp>
      <p:sp>
        <p:nvSpPr>
          <p:cNvPr id="10" name="Shape 8">
            <a:extLst>
              <a:ext uri="{FF2B5EF4-FFF2-40B4-BE49-F238E27FC236}">
                <a16:creationId xmlns:a16="http://schemas.microsoft.com/office/drawing/2014/main" id="{53E5B9DD-2E0A-E0A6-B1E5-4956B0EABE97}"/>
              </a:ext>
            </a:extLst>
          </p:cNvPr>
          <p:cNvSpPr/>
          <p:nvPr/>
        </p:nvSpPr>
        <p:spPr>
          <a:xfrm>
            <a:off x="2038359" y="4777820"/>
            <a:ext cx="8134350" cy="1855304"/>
          </a:xfrm>
          <a:prstGeom prst="rect">
            <a:avLst/>
          </a:prstGeom>
          <a:solidFill>
            <a:schemeClr val="accent3">
              <a:lumMod val="20000"/>
              <a:lumOff val="80000"/>
            </a:schemeClr>
          </a:solidFill>
          <a:ln/>
        </p:spPr>
        <p:txBody>
          <a:bodyPr/>
          <a:lstStyle/>
          <a:p>
            <a:endParaRPr lang="ja-JP" altLang="en-US" sz="2400"/>
          </a:p>
        </p:txBody>
      </p:sp>
      <p:sp>
        <p:nvSpPr>
          <p:cNvPr id="11" name="Text 9">
            <a:extLst>
              <a:ext uri="{FF2B5EF4-FFF2-40B4-BE49-F238E27FC236}">
                <a16:creationId xmlns:a16="http://schemas.microsoft.com/office/drawing/2014/main" id="{ED1E8A27-37EF-F188-B6D1-4E0A3BE664A2}"/>
              </a:ext>
            </a:extLst>
          </p:cNvPr>
          <p:cNvSpPr/>
          <p:nvPr/>
        </p:nvSpPr>
        <p:spPr>
          <a:xfrm>
            <a:off x="2939433" y="4811822"/>
            <a:ext cx="2461251" cy="365760"/>
          </a:xfrm>
          <a:prstGeom prst="rect">
            <a:avLst/>
          </a:prstGeom>
          <a:noFill/>
          <a:ln/>
        </p:spPr>
        <p:txBody>
          <a:bodyPr wrap="square" rtlCol="0" anchor="ctr"/>
          <a:lstStyle/>
          <a:p>
            <a:pPr algn="ctr"/>
            <a:r>
              <a:rPr lang="en-US" sz="2400" b="1" dirty="0">
                <a:latin typeface="MS UI Gothic" panose="020B0600070205080204" pitchFamily="34" charset="-128"/>
                <a:ea typeface="MS UI Gothic" panose="020B0600070205080204" pitchFamily="34" charset="-128"/>
              </a:rPr>
              <a:t>🌟 研究への貢献</a:t>
            </a:r>
            <a:endParaRPr lang="en-US" sz="2400" dirty="0">
              <a:latin typeface="MS UI Gothic" panose="020B0600070205080204" pitchFamily="34" charset="-128"/>
              <a:ea typeface="MS UI Gothic" panose="020B0600070205080204" pitchFamily="34" charset="-128"/>
            </a:endParaRPr>
          </a:p>
        </p:txBody>
      </p:sp>
      <p:sp>
        <p:nvSpPr>
          <p:cNvPr id="13" name="テキスト ボックス 12">
            <a:extLst>
              <a:ext uri="{FF2B5EF4-FFF2-40B4-BE49-F238E27FC236}">
                <a16:creationId xmlns:a16="http://schemas.microsoft.com/office/drawing/2014/main" id="{2675BAC8-17C3-EB5E-7F37-14CA46AAE55C}"/>
              </a:ext>
            </a:extLst>
          </p:cNvPr>
          <p:cNvSpPr txBox="1"/>
          <p:nvPr/>
        </p:nvSpPr>
        <p:spPr>
          <a:xfrm>
            <a:off x="540659" y="359230"/>
            <a:ext cx="5000087"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研究成果の教育・研究への反映</a:t>
            </a:r>
          </a:p>
        </p:txBody>
      </p:sp>
      <p:sp>
        <p:nvSpPr>
          <p:cNvPr id="14" name="テキスト ボックス 13">
            <a:extLst>
              <a:ext uri="{FF2B5EF4-FFF2-40B4-BE49-F238E27FC236}">
                <a16:creationId xmlns:a16="http://schemas.microsoft.com/office/drawing/2014/main" id="{4C0A473E-0FBB-4C70-075D-985CE29E8B05}"/>
              </a:ext>
            </a:extLst>
          </p:cNvPr>
          <p:cNvSpPr txBox="1"/>
          <p:nvPr/>
        </p:nvSpPr>
        <p:spPr>
          <a:xfrm>
            <a:off x="540659" y="968827"/>
            <a:ext cx="2837636"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期待される成果</a:t>
            </a:r>
            <a:endParaRPr kumimoji="1" lang="ja-JP" altLang="en-US" sz="3200">
              <a:latin typeface="MS UI Gothic" panose="020B0600070205080204" pitchFamily="34" charset="-128"/>
              <a:ea typeface="MS UI Gothic" panose="020B0600070205080204" pitchFamily="34" charset="-128"/>
            </a:endParaRPr>
          </a:p>
        </p:txBody>
      </p:sp>
      <p:sp>
        <p:nvSpPr>
          <p:cNvPr id="2" name="テキスト ボックス 1">
            <a:extLst>
              <a:ext uri="{FF2B5EF4-FFF2-40B4-BE49-F238E27FC236}">
                <a16:creationId xmlns:a16="http://schemas.microsoft.com/office/drawing/2014/main" id="{E43D9BAA-FAD4-53E8-C044-5FB3B22F7907}"/>
              </a:ext>
            </a:extLst>
          </p:cNvPr>
          <p:cNvSpPr txBox="1"/>
          <p:nvPr/>
        </p:nvSpPr>
        <p:spPr>
          <a:xfrm>
            <a:off x="3067059" y="5220510"/>
            <a:ext cx="6644768"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・薬学教育における生成系</a:t>
            </a:r>
            <a:r>
              <a:rPr kumimoji="1" lang="en-US" altLang="ja-JP" sz="2400" dirty="0">
                <a:latin typeface="MS UI Gothic" panose="020B0600070205080204" pitchFamily="34" charset="-128"/>
                <a:ea typeface="MS UI Gothic" panose="020B0600070205080204" pitchFamily="34" charset="-128"/>
              </a:rPr>
              <a:t>AI</a:t>
            </a:r>
            <a:r>
              <a:rPr kumimoji="1" lang="ja-JP" altLang="en-US" sz="2400">
                <a:latin typeface="MS UI Gothic" panose="020B0600070205080204" pitchFamily="34" charset="-128"/>
                <a:ea typeface="MS UI Gothic" panose="020B0600070205080204" pitchFamily="34" charset="-128"/>
              </a:rPr>
              <a:t>活用のエビデンスの構築</a:t>
            </a:r>
          </a:p>
        </p:txBody>
      </p:sp>
      <p:sp>
        <p:nvSpPr>
          <p:cNvPr id="3" name="テキスト ボックス 2">
            <a:extLst>
              <a:ext uri="{FF2B5EF4-FFF2-40B4-BE49-F238E27FC236}">
                <a16:creationId xmlns:a16="http://schemas.microsoft.com/office/drawing/2014/main" id="{8242A5E1-7A7A-D169-DEF0-65299F596FB4}"/>
              </a:ext>
            </a:extLst>
          </p:cNvPr>
          <p:cNvSpPr txBox="1"/>
          <p:nvPr/>
        </p:nvSpPr>
        <p:spPr>
          <a:xfrm>
            <a:off x="3067059" y="5686812"/>
            <a:ext cx="4894289"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・学習支援システムの設計指針の提示</a:t>
            </a:r>
          </a:p>
        </p:txBody>
      </p:sp>
      <p:sp>
        <p:nvSpPr>
          <p:cNvPr id="15" name="テキスト ボックス 14">
            <a:extLst>
              <a:ext uri="{FF2B5EF4-FFF2-40B4-BE49-F238E27FC236}">
                <a16:creationId xmlns:a16="http://schemas.microsoft.com/office/drawing/2014/main" id="{33D8F1A6-1898-1A7B-1577-1DB68D594606}"/>
              </a:ext>
            </a:extLst>
          </p:cNvPr>
          <p:cNvSpPr txBox="1"/>
          <p:nvPr/>
        </p:nvSpPr>
        <p:spPr>
          <a:xfrm>
            <a:off x="3067058" y="6153115"/>
            <a:ext cx="5751896"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・他の科目・他の大学への発展可能性の実証</a:t>
            </a:r>
          </a:p>
        </p:txBody>
      </p:sp>
      <p:sp>
        <p:nvSpPr>
          <p:cNvPr id="16" name="テキスト ボックス 15">
            <a:extLst>
              <a:ext uri="{FF2B5EF4-FFF2-40B4-BE49-F238E27FC236}">
                <a16:creationId xmlns:a16="http://schemas.microsoft.com/office/drawing/2014/main" id="{B174A3A9-1861-F58D-00D1-210917CEC564}"/>
              </a:ext>
            </a:extLst>
          </p:cNvPr>
          <p:cNvSpPr txBox="1"/>
          <p:nvPr/>
        </p:nvSpPr>
        <p:spPr>
          <a:xfrm>
            <a:off x="6461760" y="2172928"/>
            <a:ext cx="2505814" cy="461665"/>
          </a:xfrm>
          <a:prstGeom prst="rect">
            <a:avLst/>
          </a:prstGeom>
          <a:noFill/>
        </p:spPr>
        <p:txBody>
          <a:bodyPr wrap="none" rtlCol="0">
            <a:spAutoFit/>
          </a:bodyPr>
          <a:lstStyle/>
          <a:p>
            <a:r>
              <a:rPr kumimoji="1" lang="en-US" altLang="ja-JP" sz="2400" dirty="0">
                <a:latin typeface="MS UI Gothic" panose="020B0600070205080204" pitchFamily="34" charset="-128"/>
                <a:ea typeface="MS UI Gothic" panose="020B0600070205080204" pitchFamily="34" charset="-128"/>
              </a:rPr>
              <a:t>【</a:t>
            </a:r>
            <a:r>
              <a:rPr kumimoji="1" lang="ja-JP" altLang="en-US" sz="2400">
                <a:latin typeface="MS UI Gothic" panose="020B0600070205080204" pitchFamily="34" charset="-128"/>
                <a:ea typeface="MS UI Gothic" panose="020B0600070205080204" pitchFamily="34" charset="-128"/>
              </a:rPr>
              <a:t>頻度質問</a:t>
            </a:r>
            <a:r>
              <a:rPr lang="ja-JP" altLang="en-US" sz="2400">
                <a:latin typeface="MS UI Gothic" panose="020B0600070205080204" pitchFamily="34" charset="-128"/>
                <a:ea typeface="MS UI Gothic" panose="020B0600070205080204" pitchFamily="34" charset="-128"/>
              </a:rPr>
              <a:t>トップ</a:t>
            </a:r>
            <a:r>
              <a:rPr lang="en-US" altLang="ja-JP" sz="2400" dirty="0">
                <a:latin typeface="MS UI Gothic" panose="020B0600070205080204" pitchFamily="34" charset="-128"/>
                <a:ea typeface="MS UI Gothic" panose="020B0600070205080204" pitchFamily="34" charset="-128"/>
              </a:rPr>
              <a:t>3】</a:t>
            </a:r>
            <a:endParaRPr kumimoji="1" lang="en-US" altLang="ja-JP" sz="2400" dirty="0">
              <a:latin typeface="MS UI Gothic" panose="020B0600070205080204" pitchFamily="34" charset="-128"/>
              <a:ea typeface="MS UI Gothic" panose="020B0600070205080204" pitchFamily="34" charset="-128"/>
            </a:endParaRPr>
          </a:p>
        </p:txBody>
      </p:sp>
      <p:sp>
        <p:nvSpPr>
          <p:cNvPr id="17" name="テキスト ボックス 16">
            <a:extLst>
              <a:ext uri="{FF2B5EF4-FFF2-40B4-BE49-F238E27FC236}">
                <a16:creationId xmlns:a16="http://schemas.microsoft.com/office/drawing/2014/main" id="{433DE36E-4FE0-DADE-BD6B-6CE4FFAE14A3}"/>
              </a:ext>
            </a:extLst>
          </p:cNvPr>
          <p:cNvSpPr txBox="1"/>
          <p:nvPr/>
        </p:nvSpPr>
        <p:spPr>
          <a:xfrm>
            <a:off x="6547657" y="2764365"/>
            <a:ext cx="4567276"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① </a:t>
            </a:r>
            <a:r>
              <a:rPr lang="en-US" altLang="ja-JP" sz="2400" dirty="0" err="1">
                <a:latin typeface="MS UI Gothic" panose="020B0600070205080204" pitchFamily="34" charset="-128"/>
                <a:ea typeface="MS UI Gothic" panose="020B0600070205080204" pitchFamily="34" charset="-128"/>
              </a:rPr>
              <a:t>感度・特異度の計算方法</a:t>
            </a:r>
            <a:r>
              <a:rPr lang="en-US" altLang="ja-JP" sz="2400" dirty="0">
                <a:latin typeface="MS UI Gothic" panose="020B0600070205080204" pitchFamily="34" charset="-128"/>
                <a:ea typeface="MS UI Gothic" panose="020B0600070205080204" pitchFamily="34" charset="-128"/>
              </a:rPr>
              <a:t>(45件)</a:t>
            </a:r>
          </a:p>
        </p:txBody>
      </p:sp>
      <p:sp>
        <p:nvSpPr>
          <p:cNvPr id="18" name="テキスト ボックス 17">
            <a:extLst>
              <a:ext uri="{FF2B5EF4-FFF2-40B4-BE49-F238E27FC236}">
                <a16:creationId xmlns:a16="http://schemas.microsoft.com/office/drawing/2014/main" id="{A901A5A5-0CDD-08AB-1B14-F15AA03FC123}"/>
              </a:ext>
            </a:extLst>
          </p:cNvPr>
          <p:cNvSpPr txBox="1"/>
          <p:nvPr/>
        </p:nvSpPr>
        <p:spPr>
          <a:xfrm>
            <a:off x="6547657" y="3284874"/>
            <a:ext cx="3231975"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② </a:t>
            </a:r>
            <a:r>
              <a:rPr lang="en-US" altLang="ja-JP" sz="2400" dirty="0" err="1">
                <a:latin typeface="MS UI Gothic" panose="020B0600070205080204" pitchFamily="34" charset="-128"/>
                <a:ea typeface="MS UI Gothic" panose="020B0600070205080204" pitchFamily="34" charset="-128"/>
              </a:rPr>
              <a:t>オッズ比の解釈</a:t>
            </a:r>
            <a:r>
              <a:rPr lang="en-US" altLang="ja-JP" sz="2400" dirty="0">
                <a:latin typeface="MS UI Gothic" panose="020B0600070205080204" pitchFamily="34" charset="-128"/>
                <a:ea typeface="MS UI Gothic" panose="020B0600070205080204" pitchFamily="34" charset="-128"/>
              </a:rPr>
              <a:t>(38件)</a:t>
            </a:r>
          </a:p>
        </p:txBody>
      </p:sp>
      <p:sp>
        <p:nvSpPr>
          <p:cNvPr id="20" name="テキスト ボックス 19">
            <a:extLst>
              <a:ext uri="{FF2B5EF4-FFF2-40B4-BE49-F238E27FC236}">
                <a16:creationId xmlns:a16="http://schemas.microsoft.com/office/drawing/2014/main" id="{48845B0B-EC71-A7B1-45CB-66E79D43FA0C}"/>
              </a:ext>
            </a:extLst>
          </p:cNvPr>
          <p:cNvSpPr txBox="1"/>
          <p:nvPr/>
        </p:nvSpPr>
        <p:spPr>
          <a:xfrm>
            <a:off x="6547657" y="3864646"/>
            <a:ext cx="2719014"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③ </a:t>
            </a:r>
            <a:r>
              <a:rPr lang="en-US" altLang="ja-JP" sz="2400" dirty="0" err="1">
                <a:latin typeface="MS UI Gothic" panose="020B0600070205080204" pitchFamily="34" charset="-128"/>
                <a:ea typeface="MS UI Gothic" panose="020B0600070205080204" pitchFamily="34" charset="-128"/>
              </a:rPr>
              <a:t>p値の意味</a:t>
            </a:r>
            <a:r>
              <a:rPr lang="en-US" altLang="ja-JP" sz="2400" dirty="0">
                <a:latin typeface="MS UI Gothic" panose="020B0600070205080204" pitchFamily="34" charset="-128"/>
                <a:ea typeface="MS UI Gothic" panose="020B0600070205080204" pitchFamily="34" charset="-128"/>
              </a:rPr>
              <a:t>(32件)</a:t>
            </a:r>
          </a:p>
        </p:txBody>
      </p:sp>
      <p:pic>
        <p:nvPicPr>
          <p:cNvPr id="9" name="図 8">
            <a:extLst>
              <a:ext uri="{FF2B5EF4-FFF2-40B4-BE49-F238E27FC236}">
                <a16:creationId xmlns:a16="http://schemas.microsoft.com/office/drawing/2014/main" id="{F667546B-7C7E-F6B4-5961-9B726FB65D69}"/>
              </a:ext>
            </a:extLst>
          </p:cNvPr>
          <p:cNvPicPr>
            <a:picLocks noChangeAspect="1"/>
          </p:cNvPicPr>
          <p:nvPr/>
        </p:nvPicPr>
        <p:blipFill>
          <a:blip r:embed="rId3"/>
          <a:stretch>
            <a:fillRect/>
          </a:stretch>
        </p:blipFill>
        <p:spPr>
          <a:xfrm>
            <a:off x="2209800" y="995438"/>
            <a:ext cx="7772400" cy="5246885"/>
          </a:xfrm>
          <a:prstGeom prst="rect">
            <a:avLst/>
          </a:prstGeom>
        </p:spPr>
      </p:pic>
    </p:spTree>
    <p:extLst>
      <p:ext uri="{BB962C8B-B14F-4D97-AF65-F5344CB8AC3E}">
        <p14:creationId xmlns:p14="http://schemas.microsoft.com/office/powerpoint/2010/main" val="406421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475CE-C1B6-47C1-0469-88154B458A97}"/>
            </a:ext>
          </a:extLst>
        </p:cNvPr>
        <p:cNvGrpSpPr/>
        <p:nvPr/>
      </p:nvGrpSpPr>
      <p:grpSpPr>
        <a:xfrm>
          <a:off x="0" y="0"/>
          <a:ext cx="0" cy="0"/>
          <a:chOff x="0" y="0"/>
          <a:chExt cx="0" cy="0"/>
        </a:xfrm>
      </p:grpSpPr>
      <p:sp>
        <p:nvSpPr>
          <p:cNvPr id="13" name="角丸四角形 12">
            <a:extLst>
              <a:ext uri="{FF2B5EF4-FFF2-40B4-BE49-F238E27FC236}">
                <a16:creationId xmlns:a16="http://schemas.microsoft.com/office/drawing/2014/main" id="{33D69A4E-C2C1-580D-30FF-9944ABD2FC39}"/>
              </a:ext>
            </a:extLst>
          </p:cNvPr>
          <p:cNvSpPr/>
          <p:nvPr/>
        </p:nvSpPr>
        <p:spPr>
          <a:xfrm>
            <a:off x="914400" y="1590705"/>
            <a:ext cx="9700952" cy="2253927"/>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800">
                <a:solidFill>
                  <a:schemeClr val="tx1"/>
                </a:solidFill>
                <a:latin typeface="MS UI Gothic" panose="020B0600070205080204" pitchFamily="34" charset="-128"/>
                <a:ea typeface="MS UI Gothic" panose="020B0600070205080204" pitchFamily="34" charset="-128"/>
              </a:rPr>
              <a:t>・生成系</a:t>
            </a:r>
            <a:r>
              <a:rPr kumimoji="1" lang="en-US" altLang="ja-JP" sz="2800" dirty="0">
                <a:solidFill>
                  <a:schemeClr val="tx1"/>
                </a:solidFill>
                <a:latin typeface="MS UI Gothic" panose="020B0600070205080204" pitchFamily="34" charset="-128"/>
                <a:ea typeface="MS UI Gothic" panose="020B0600070205080204" pitchFamily="34" charset="-128"/>
              </a:rPr>
              <a:t>AI</a:t>
            </a:r>
            <a:r>
              <a:rPr kumimoji="1" lang="ja-JP" altLang="en-US" sz="2800">
                <a:solidFill>
                  <a:schemeClr val="tx1"/>
                </a:solidFill>
                <a:latin typeface="MS UI Gothic" panose="020B0600070205080204" pitchFamily="34" charset="-128"/>
                <a:ea typeface="MS UI Gothic" panose="020B0600070205080204" pitchFamily="34" charset="-128"/>
              </a:rPr>
              <a:t>を活用した学習支援ツールを開発し</a:t>
            </a:r>
            <a:endParaRPr kumimoji="1" lang="en-US" altLang="ja-JP" sz="2800" dirty="0">
              <a:solidFill>
                <a:schemeClr val="tx1"/>
              </a:solidFill>
              <a:latin typeface="MS UI Gothic" panose="020B0600070205080204" pitchFamily="34" charset="-128"/>
              <a:ea typeface="MS UI Gothic" panose="020B0600070205080204" pitchFamily="34" charset="-128"/>
            </a:endParaRPr>
          </a:p>
          <a:p>
            <a:r>
              <a:rPr lang="ja-JP" altLang="en-US" sz="2800">
                <a:solidFill>
                  <a:schemeClr val="tx1"/>
                </a:solidFill>
                <a:latin typeface="MS UI Gothic" panose="020B0600070205080204" pitchFamily="34" charset="-128"/>
                <a:ea typeface="MS UI Gothic" panose="020B0600070205080204" pitchFamily="34" charset="-128"/>
              </a:rPr>
              <a:t>　学生の「困った」に対応する。</a:t>
            </a:r>
            <a:endParaRPr lang="en-US" altLang="ja-JP" sz="2800" dirty="0">
              <a:solidFill>
                <a:schemeClr val="tx1"/>
              </a:solidFill>
              <a:latin typeface="MS UI Gothic" panose="020B0600070205080204" pitchFamily="34" charset="-128"/>
              <a:ea typeface="MS UI Gothic" panose="020B0600070205080204" pitchFamily="34" charset="-128"/>
            </a:endParaRPr>
          </a:p>
          <a:p>
            <a:endParaRPr lang="en-US" altLang="ja-JP" sz="900" dirty="0">
              <a:solidFill>
                <a:schemeClr val="tx1"/>
              </a:solidFill>
              <a:latin typeface="MS UI Gothic" panose="020B0600070205080204" pitchFamily="34" charset="-128"/>
              <a:ea typeface="MS UI Gothic" panose="020B0600070205080204" pitchFamily="34" charset="-128"/>
            </a:endParaRPr>
          </a:p>
          <a:p>
            <a:r>
              <a:rPr lang="ja-JP" altLang="en-US" sz="2800">
                <a:solidFill>
                  <a:schemeClr val="tx1"/>
                </a:solidFill>
                <a:latin typeface="MS UI Gothic" panose="020B0600070205080204" pitchFamily="34" charset="-128"/>
                <a:ea typeface="MS UI Gothic" panose="020B0600070205080204" pitchFamily="34" charset="-128"/>
              </a:rPr>
              <a:t>・</a:t>
            </a:r>
            <a:r>
              <a:rPr lang="en-US" altLang="ja-JP" sz="2800" dirty="0">
                <a:solidFill>
                  <a:schemeClr val="tx1"/>
                </a:solidFill>
                <a:latin typeface="MS UI Gothic" panose="020B0600070205080204" pitchFamily="34" charset="-128"/>
                <a:ea typeface="MS UI Gothic" panose="020B0600070205080204" pitchFamily="34" charset="-128"/>
              </a:rPr>
              <a:t>AI</a:t>
            </a:r>
            <a:r>
              <a:rPr lang="ja-JP" altLang="en-US" sz="2800">
                <a:solidFill>
                  <a:schemeClr val="tx1"/>
                </a:solidFill>
                <a:latin typeface="MS UI Gothic" panose="020B0600070205080204" pitchFamily="34" charset="-128"/>
                <a:ea typeface="MS UI Gothic" panose="020B0600070205080204" pitchFamily="34" charset="-128"/>
              </a:rPr>
              <a:t>を用いた教育効果の実証実験を実施。</a:t>
            </a:r>
            <a:endParaRPr lang="en-US" altLang="ja-JP" sz="2800" dirty="0">
              <a:solidFill>
                <a:schemeClr val="tx1"/>
              </a:solidFill>
              <a:latin typeface="MS UI Gothic" panose="020B0600070205080204" pitchFamily="34" charset="-128"/>
              <a:ea typeface="MS UI Gothic" panose="020B0600070205080204" pitchFamily="34" charset="-128"/>
            </a:endParaRPr>
          </a:p>
          <a:p>
            <a:endParaRPr lang="en-US" altLang="ja-JP" sz="900" dirty="0">
              <a:solidFill>
                <a:schemeClr val="tx1"/>
              </a:solidFill>
              <a:latin typeface="MS UI Gothic" panose="020B0600070205080204" pitchFamily="34" charset="-128"/>
              <a:ea typeface="MS UI Gothic" panose="020B0600070205080204" pitchFamily="34" charset="-128"/>
            </a:endParaRPr>
          </a:p>
          <a:p>
            <a:r>
              <a:rPr kumimoji="1" lang="ja-JP" altLang="en-US" sz="2800">
                <a:solidFill>
                  <a:schemeClr val="tx1"/>
                </a:solidFill>
                <a:latin typeface="MS UI Gothic" panose="020B0600070205080204" pitchFamily="34" charset="-128"/>
                <a:ea typeface="MS UI Gothic" panose="020B0600070205080204" pitchFamily="34" charset="-128"/>
              </a:rPr>
              <a:t>・学生・教員双方の価値を産み出す</a:t>
            </a:r>
          </a:p>
        </p:txBody>
      </p:sp>
      <p:sp>
        <p:nvSpPr>
          <p:cNvPr id="15" name="テキスト ボックス 14">
            <a:extLst>
              <a:ext uri="{FF2B5EF4-FFF2-40B4-BE49-F238E27FC236}">
                <a16:creationId xmlns:a16="http://schemas.microsoft.com/office/drawing/2014/main" id="{4103750D-0BC3-175F-E061-B644B63BE5F2}"/>
              </a:ext>
            </a:extLst>
          </p:cNvPr>
          <p:cNvSpPr txBox="1"/>
          <p:nvPr/>
        </p:nvSpPr>
        <p:spPr>
          <a:xfrm>
            <a:off x="540659" y="359230"/>
            <a:ext cx="1452642"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ま　と　め</a:t>
            </a:r>
          </a:p>
        </p:txBody>
      </p:sp>
      <p:sp>
        <p:nvSpPr>
          <p:cNvPr id="16" name="テキスト ボックス 15">
            <a:extLst>
              <a:ext uri="{FF2B5EF4-FFF2-40B4-BE49-F238E27FC236}">
                <a16:creationId xmlns:a16="http://schemas.microsoft.com/office/drawing/2014/main" id="{3582CB19-AD4B-0414-4135-2C115C821C37}"/>
              </a:ext>
            </a:extLst>
          </p:cNvPr>
          <p:cNvSpPr txBox="1"/>
          <p:nvPr/>
        </p:nvSpPr>
        <p:spPr>
          <a:xfrm>
            <a:off x="540659" y="968827"/>
            <a:ext cx="2978701"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本研究</a:t>
            </a:r>
            <a:r>
              <a:rPr lang="ja-JP" altLang="en-US" sz="3200">
                <a:latin typeface="MS UI Gothic" panose="020B0600070205080204" pitchFamily="34" charset="-128"/>
                <a:ea typeface="MS UI Gothic" panose="020B0600070205080204" pitchFamily="34" charset="-128"/>
              </a:rPr>
              <a:t>のポイント</a:t>
            </a:r>
            <a:endParaRPr kumimoji="1" lang="ja-JP" altLang="en-US" sz="3200">
              <a:latin typeface="MS UI Gothic" panose="020B0600070205080204" pitchFamily="34" charset="-128"/>
              <a:ea typeface="MS UI Gothic" panose="020B0600070205080204" pitchFamily="34" charset="-128"/>
            </a:endParaRPr>
          </a:p>
        </p:txBody>
      </p:sp>
      <p:sp>
        <p:nvSpPr>
          <p:cNvPr id="17" name="テキスト ボックス 16">
            <a:extLst>
              <a:ext uri="{FF2B5EF4-FFF2-40B4-BE49-F238E27FC236}">
                <a16:creationId xmlns:a16="http://schemas.microsoft.com/office/drawing/2014/main" id="{AEDFC3EC-E0E2-873C-9E4F-664EEBE4D1AA}"/>
              </a:ext>
            </a:extLst>
          </p:cNvPr>
          <p:cNvSpPr txBox="1"/>
          <p:nvPr/>
        </p:nvSpPr>
        <p:spPr>
          <a:xfrm>
            <a:off x="540658" y="3881735"/>
            <a:ext cx="1826141"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💡独創性</a:t>
            </a:r>
          </a:p>
        </p:txBody>
      </p:sp>
      <p:sp>
        <p:nvSpPr>
          <p:cNvPr id="18" name="角丸四角形 17">
            <a:extLst>
              <a:ext uri="{FF2B5EF4-FFF2-40B4-BE49-F238E27FC236}">
                <a16:creationId xmlns:a16="http://schemas.microsoft.com/office/drawing/2014/main" id="{C4BE5536-678F-6668-DFC3-0590E5A73EC2}"/>
              </a:ext>
            </a:extLst>
          </p:cNvPr>
          <p:cNvSpPr/>
          <p:nvPr/>
        </p:nvSpPr>
        <p:spPr>
          <a:xfrm>
            <a:off x="914400" y="4503612"/>
            <a:ext cx="9700952" cy="2253927"/>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800">
                <a:solidFill>
                  <a:srgbClr val="000000"/>
                </a:solidFill>
                <a:latin typeface="MS UI Gothic" panose="020B0600070205080204" pitchFamily="34" charset="-128"/>
                <a:ea typeface="MS UI Gothic" panose="020B0600070205080204" pitchFamily="34" charset="-128"/>
                <a:cs typeface="Yu Gothic" pitchFamily="34" charset="-120"/>
              </a:rPr>
              <a:t>・</a:t>
            </a:r>
            <a:r>
              <a:rPr lang="en-US" altLang="ja-JP" sz="2800" dirty="0">
                <a:solidFill>
                  <a:srgbClr val="000000"/>
                </a:solidFill>
                <a:latin typeface="MS UI Gothic" panose="020B0600070205080204" pitchFamily="34" charset="-128"/>
                <a:ea typeface="MS UI Gothic" panose="020B0600070205080204" pitchFamily="34" charset="-128"/>
                <a:cs typeface="Yu Gothic" pitchFamily="34" charset="-120"/>
              </a:rPr>
              <a:t>24時間リアルタイム対応 - 疑問を放置しない環境</a:t>
            </a:r>
          </a:p>
          <a:p>
            <a:endParaRPr lang="en-US" altLang="ja-JP" sz="900" dirty="0">
              <a:solidFill>
                <a:srgbClr val="000000"/>
              </a:solidFill>
              <a:latin typeface="MS UI Gothic" panose="020B0600070205080204" pitchFamily="34" charset="-128"/>
              <a:ea typeface="MS UI Gothic" panose="020B0600070205080204" pitchFamily="34" charset="-128"/>
              <a:cs typeface="Yu Gothic" pitchFamily="34" charset="-120"/>
            </a:endParaRPr>
          </a:p>
          <a:p>
            <a:r>
              <a:rPr kumimoji="1" lang="ja-JP" altLang="en-US" sz="2800">
                <a:solidFill>
                  <a:srgbClr val="000000"/>
                </a:solidFill>
                <a:latin typeface="MS UI Gothic" panose="020B0600070205080204" pitchFamily="34" charset="-128"/>
                <a:ea typeface="MS UI Gothic" panose="020B0600070205080204" pitchFamily="34" charset="-128"/>
              </a:rPr>
              <a:t>・</a:t>
            </a:r>
            <a:r>
              <a:rPr lang="en-US" altLang="ja-JP" sz="2800" dirty="0">
                <a:solidFill>
                  <a:srgbClr val="000000"/>
                </a:solidFill>
                <a:latin typeface="MS UI Gothic" panose="020B0600070205080204" pitchFamily="34" charset="-128"/>
                <a:ea typeface="MS UI Gothic" panose="020B0600070205080204" pitchFamily="34" charset="-128"/>
                <a:cs typeface="Yu Gothic" pitchFamily="34" charset="-120"/>
              </a:rPr>
              <a:t> つまずきの地図 - 質問データの定量分析・可視化</a:t>
            </a:r>
          </a:p>
          <a:p>
            <a:endParaRPr kumimoji="1" lang="en-US" altLang="ja-JP" sz="900" dirty="0">
              <a:solidFill>
                <a:srgbClr val="000000"/>
              </a:solidFill>
              <a:latin typeface="MS UI Gothic" panose="020B0600070205080204" pitchFamily="34" charset="-128"/>
              <a:ea typeface="MS UI Gothic" panose="020B0600070205080204" pitchFamily="34" charset="-128"/>
            </a:endParaRPr>
          </a:p>
          <a:p>
            <a:r>
              <a:rPr kumimoji="1" lang="ja-JP" altLang="en-US" sz="2800">
                <a:solidFill>
                  <a:srgbClr val="000000"/>
                </a:solidFill>
                <a:latin typeface="MS UI Gothic" panose="020B0600070205080204" pitchFamily="34" charset="-128"/>
                <a:ea typeface="MS UI Gothic" panose="020B0600070205080204" pitchFamily="34" charset="-128"/>
              </a:rPr>
              <a:t>・</a:t>
            </a:r>
            <a:r>
              <a:rPr lang="en-US" altLang="ja-JP" sz="2800" dirty="0">
                <a:solidFill>
                  <a:srgbClr val="000000"/>
                </a:solidFill>
                <a:latin typeface="MS UI Gothic" panose="020B0600070205080204" pitchFamily="34" charset="-128"/>
                <a:ea typeface="MS UI Gothic" panose="020B0600070205080204" pitchFamily="34" charset="-128"/>
                <a:cs typeface="Yu Gothic" pitchFamily="34" charset="-120"/>
              </a:rPr>
              <a:t> </a:t>
            </a:r>
            <a:r>
              <a:rPr lang="en-US" altLang="ja-JP" sz="2800" dirty="0" err="1">
                <a:solidFill>
                  <a:srgbClr val="000000"/>
                </a:solidFill>
                <a:latin typeface="MS UI Gothic" panose="020B0600070205080204" pitchFamily="34" charset="-128"/>
                <a:ea typeface="MS UI Gothic" panose="020B0600070205080204" pitchFamily="34" charset="-128"/>
                <a:cs typeface="Yu Gothic" pitchFamily="34" charset="-120"/>
              </a:rPr>
              <a:t>客観的教育効果検証</a:t>
            </a:r>
            <a:r>
              <a:rPr lang="en-US" altLang="ja-JP" sz="2800" dirty="0">
                <a:solidFill>
                  <a:srgbClr val="000000"/>
                </a:solidFill>
                <a:latin typeface="MS UI Gothic" panose="020B0600070205080204" pitchFamily="34" charset="-128"/>
                <a:ea typeface="MS UI Gothic" panose="020B0600070205080204" pitchFamily="34" charset="-128"/>
                <a:cs typeface="Yu Gothic" pitchFamily="34" charset="-120"/>
              </a:rPr>
              <a:t> – </a:t>
            </a:r>
            <a:r>
              <a:rPr lang="en-US" altLang="ja-JP" sz="2800" dirty="0" err="1">
                <a:solidFill>
                  <a:srgbClr val="000000"/>
                </a:solidFill>
                <a:latin typeface="MS UI Gothic" panose="020B0600070205080204" pitchFamily="34" charset="-128"/>
                <a:ea typeface="MS UI Gothic" panose="020B0600070205080204" pitchFamily="34" charset="-128"/>
                <a:cs typeface="Yu Gothic" pitchFamily="34" charset="-120"/>
              </a:rPr>
              <a:t>過去の成績データの活用</a:t>
            </a:r>
            <a:endParaRPr kumimoji="1" lang="ja-JP" altLang="en-US" sz="2800">
              <a:solidFill>
                <a:schemeClr val="tx1"/>
              </a:solidFill>
              <a:latin typeface="MS UI Gothic" panose="020B0600070205080204" pitchFamily="34" charset="-128"/>
              <a:ea typeface="MS UI Gothic" panose="020B0600070205080204" pitchFamily="34" charset="-128"/>
            </a:endParaRPr>
          </a:p>
        </p:txBody>
      </p:sp>
      <p:sp>
        <p:nvSpPr>
          <p:cNvPr id="19" name="角丸四角形 18">
            <a:extLst>
              <a:ext uri="{FF2B5EF4-FFF2-40B4-BE49-F238E27FC236}">
                <a16:creationId xmlns:a16="http://schemas.microsoft.com/office/drawing/2014/main" id="{4502B39C-1C9C-4329-1B75-41F90C353BA1}"/>
              </a:ext>
            </a:extLst>
          </p:cNvPr>
          <p:cNvSpPr/>
          <p:nvPr/>
        </p:nvSpPr>
        <p:spPr>
          <a:xfrm>
            <a:off x="1576648" y="1590104"/>
            <a:ext cx="9038704" cy="3392908"/>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人間</a:t>
            </a:r>
            <a:r>
              <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rPr>
              <a:t> </a:t>
            </a: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による「教える」と</a:t>
            </a:r>
            <a:r>
              <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rPr>
              <a:t> </a:t>
            </a:r>
            <a:r>
              <a:rPr lang="en-US" altLang="ja-JP" sz="3600" dirty="0">
                <a:solidFill>
                  <a:schemeClr val="tx1"/>
                </a:solidFill>
                <a:highlight>
                  <a:srgbClr val="00FF00"/>
                </a:highlight>
                <a:latin typeface="MS UI Gothic" panose="020B0600070205080204" pitchFamily="34" charset="-128"/>
                <a:ea typeface="MS UI Gothic" panose="020B0600070205080204" pitchFamily="34" charset="-128"/>
                <a:cs typeface="Yu Gothic" pitchFamily="34" charset="-120"/>
              </a:rPr>
              <a:t>AI </a:t>
            </a:r>
            <a:r>
              <a:rPr lang="ja-JP" altLang="en-US" sz="3600">
                <a:solidFill>
                  <a:schemeClr val="tx1"/>
                </a:solidFill>
                <a:highlight>
                  <a:srgbClr val="00FF00"/>
                </a:highlight>
                <a:latin typeface="MS UI Gothic" panose="020B0600070205080204" pitchFamily="34" charset="-128"/>
                <a:ea typeface="MS UI Gothic" panose="020B0600070205080204" pitchFamily="34" charset="-128"/>
                <a:cs typeface="Yu Gothic" pitchFamily="34" charset="-120"/>
              </a:rPr>
              <a:t>による「支える」</a:t>
            </a:r>
            <a:endParaRPr lang="en-US" altLang="ja-JP" sz="3600" dirty="0">
              <a:solidFill>
                <a:schemeClr val="tx1"/>
              </a:solidFill>
              <a:highlight>
                <a:srgbClr val="00FF00"/>
              </a:highlight>
              <a:latin typeface="MS UI Gothic" panose="020B0600070205080204" pitchFamily="34" charset="-128"/>
              <a:ea typeface="MS UI Gothic" panose="020B0600070205080204" pitchFamily="34" charset="-128"/>
              <a:cs typeface="Yu Gothic" pitchFamily="34" charset="-120"/>
            </a:endParaRPr>
          </a:p>
          <a:p>
            <a:pPr algn="ct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→「融合」</a:t>
            </a:r>
            <a:endPar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endParaRPr>
          </a:p>
          <a:p>
            <a:pPr algn="ct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a:t>
            </a:r>
            <a:endPar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endParaRPr>
          </a:p>
          <a:p>
            <a:pPr algn="ct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a:t>
            </a:r>
            <a:r>
              <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rPr>
              <a:t>魔法の黒板</a:t>
            </a: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」の導入は</a:t>
            </a:r>
            <a:r>
              <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rPr>
              <a:t>、学びの未来を変える</a:t>
            </a:r>
            <a:endParaRPr kumimoji="1" lang="ja-JP" altLang="en-US" sz="3600">
              <a:solidFill>
                <a:srgbClr val="FFFF00"/>
              </a:solidFill>
            </a:endParaRPr>
          </a:p>
        </p:txBody>
      </p:sp>
    </p:spTree>
    <p:extLst>
      <p:ext uri="{BB962C8B-B14F-4D97-AF65-F5344CB8AC3E}">
        <p14:creationId xmlns:p14="http://schemas.microsoft.com/office/powerpoint/2010/main" val="185952668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972</TotalTime>
  <Words>1385</Words>
  <Application>Microsoft Macintosh PowerPoint</Application>
  <PresentationFormat>ワイド画面</PresentationFormat>
  <Paragraphs>274</Paragraphs>
  <Slides>17</Slides>
  <Notes>14</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17</vt:i4>
      </vt:variant>
    </vt:vector>
  </HeadingPairs>
  <TitlesOfParts>
    <vt:vector size="23" baseType="lpstr">
      <vt:lpstr>MS UI Gothic</vt:lpstr>
      <vt:lpstr>MS Mincho</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橋本　保彦</dc:creator>
  <cp:lastModifiedBy>橋本　保彦</cp:lastModifiedBy>
  <cp:revision>38</cp:revision>
  <cp:lastPrinted>2026-02-07T07:28:31Z</cp:lastPrinted>
  <dcterms:created xsi:type="dcterms:W3CDTF">2026-01-28T04:13:33Z</dcterms:created>
  <dcterms:modified xsi:type="dcterms:W3CDTF">2026-02-10T04:45:27Z</dcterms:modified>
</cp:coreProperties>
</file>