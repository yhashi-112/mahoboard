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79" r:id="rId3"/>
    <p:sldId id="263" r:id="rId4"/>
    <p:sldId id="261" r:id="rId5"/>
    <p:sldId id="278" r:id="rId6"/>
    <p:sldId id="269" r:id="rId7"/>
    <p:sldId id="277" r:id="rId8"/>
    <p:sldId id="276" r:id="rId9"/>
    <p:sldId id="280" r:id="rId10"/>
    <p:sldId id="281" r:id="rId11"/>
    <p:sldId id="274" r:id="rId12"/>
    <p:sldId id="258" r:id="rId13"/>
    <p:sldId id="259" r:id="rId14"/>
    <p:sldId id="275" r:id="rId15"/>
    <p:sldId id="270" r:id="rId16"/>
    <p:sldId id="271" r:id="rId17"/>
    <p:sldId id="264" r:id="rId18"/>
    <p:sldId id="265" r:id="rId19"/>
    <p:sldId id="272" r:id="rId20"/>
    <p:sldId id="267" r:id="rId21"/>
    <p:sldId id="273" r:id="rId22"/>
    <p:sldId id="282" r:id="rId23"/>
    <p:sldId id="283" r:id="rId24"/>
    <p:sldId id="284" r:id="rId25"/>
    <p:sldId id="285" r:id="rId26"/>
    <p:sldId id="286" r:id="rId27"/>
    <p:sldId id="266" r:id="rId28"/>
    <p:sldId id="287" r:id="rId29"/>
    <p:sldId id="288" r:id="rId30"/>
    <p:sldId id="289" r:id="rId31"/>
    <p:sldId id="262" r:id="rId32"/>
    <p:sldId id="290" r:id="rId33"/>
    <p:sldId id="257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260" r:id="rId45"/>
    <p:sldId id="301" r:id="rId46"/>
    <p:sldId id="302" r:id="rId47"/>
    <p:sldId id="303" r:id="rId48"/>
    <p:sldId id="304" r:id="rId49"/>
    <p:sldId id="305" r:id="rId50"/>
    <p:sldId id="306" r:id="rId5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2774"/>
    <p:restoredTop sz="93562"/>
  </p:normalViewPr>
  <p:slideViewPr>
    <p:cSldViewPr snapToGrid="0">
      <p:cViewPr varScale="1">
        <p:scale>
          <a:sx n="97" d="100"/>
          <a:sy n="97" d="100"/>
        </p:scale>
        <p:origin x="23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04C761-8069-7841-ACDA-AB0F463787F0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CB60D-A68C-D74B-8949-411CD6AAB5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2170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CB60D-A68C-D74B-8949-411CD6AAB588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1591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CB60D-A68C-D74B-8949-411CD6AAB588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15915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CB60D-A68C-D74B-8949-411CD6AAB588}" type="slidenum">
              <a:rPr kumimoji="1" lang="ja-JP" altLang="en-US" smtClean="0"/>
              <a:t>36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32093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CB60D-A68C-D74B-8949-411CD6AAB588}" type="slidenum">
              <a:rPr kumimoji="1" lang="ja-JP" altLang="en-US" smtClean="0"/>
              <a:t>43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32093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830339-46D6-4277-BA0B-2F9D53503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FF29102-F716-180D-36D7-09199B26B3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16B0DF-F498-93F2-0B5E-85AEB429C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C2ED-78CE-704F-B9CF-B6C276EAC7B1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1D021C-1B87-C694-3021-A02712141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3025E9-DB71-2BBD-C017-0822301A7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7571-EF24-6544-BC49-DE47E988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0194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19E432-9E8A-46F6-B02B-389F4A7A5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D282F3-CCC7-3B03-F0C3-0E4CDB93A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361813-F3BE-89EE-E07A-ED12AFAF6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C2ED-78CE-704F-B9CF-B6C276EAC7B1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89BE28-15CF-D1FB-FB88-A6BDEA7FF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779DDD-60F7-8236-29A8-FBBFCB3F1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7571-EF24-6544-BC49-DE47E988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5971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9C0E51-FC30-49C8-1575-1776521A8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93340D-A5A3-F1A9-9044-DC874E809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2F5A62-24C7-5913-B010-EFCE0E4C8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C2ED-78CE-704F-B9CF-B6C276EAC7B1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2EB73D-179B-B70E-F4DC-3AFEF3A50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E456E9-E15E-87FE-0A83-9400214E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7571-EF24-6544-BC49-DE47E988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6649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D5DC18-777E-849C-7405-7C8995D94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D4C793-F70D-7615-2398-FB07390B66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4DB491E-34EF-8608-1968-551CC31F2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D2FCE4D-6FAE-92E2-0D26-EF49B6535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C2ED-78CE-704F-B9CF-B6C276EAC7B1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EF069CA-1609-02C4-FDFC-15945E950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9B46B30-FB5F-88EC-BE3B-E283210D8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7571-EF24-6544-BC49-DE47E988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1830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E65559-50CD-89E1-7705-968B78749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1471B9-E600-D256-3AEB-2291FD40F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96F8F25-B6C1-B010-2109-09EB0312E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464AA5B-1DD0-A887-F588-A0D9418FA1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5ECE7D2-0275-BC69-12EB-A16217DF91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3795171-119A-FA6C-3F41-BD7FFB349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C2ED-78CE-704F-B9CF-B6C276EAC7B1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790B717-67BF-ADA2-10AF-640A2A692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F532569-976A-E88A-024F-D63300FB7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7571-EF24-6544-BC49-DE47E988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9372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4B603E-179A-0B78-6D94-18FAC7FDF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2B70F68-8898-CF19-C0A5-B838B3CFB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C2ED-78CE-704F-B9CF-B6C276EAC7B1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E2D8B50-2C42-7C2B-E01F-58941E77F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569F158-0F79-EE96-52CB-A2856E3E1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7571-EF24-6544-BC49-DE47E988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7315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0B61648-1385-E05D-ADB1-E518E7BD5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C2ED-78CE-704F-B9CF-B6C276EAC7B1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DEDBB0B-C937-EAAE-7268-8A157FEA3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B7BF27-3AEB-4A74-5109-DB1FF3E92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7571-EF24-6544-BC49-DE47E988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6442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CE4F8D-1A1C-21CC-E6A3-972898E33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2AD3C0-BEBF-33FB-E262-94424E392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6EA911E-BA29-295E-72C3-3A1002C28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C9509C9-9715-1A84-88D8-738AB63BB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C2ED-78CE-704F-B9CF-B6C276EAC7B1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0672CC2-CE30-5A5E-1019-59B9032E7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34605E-FC5D-D795-85A7-FA40CB47E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7571-EF24-6544-BC49-DE47E988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348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F1B432-6391-49C8-94DB-68688FD24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E381A48-8DF2-4C01-15EA-86C377305B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19E80A8-7F3C-1B16-F301-304B34333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567EEB-3E2F-BA71-738D-1CAA5BBDB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C2ED-78CE-704F-B9CF-B6C276EAC7B1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B979F1E-27A6-11BE-9A74-23DCFBED0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5C99564-6796-72AE-6C76-AA48A68B2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7571-EF24-6544-BC49-DE47E988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0761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110623-3828-40C1-79F1-3FFF14981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6800EF-8DE9-11A0-CA7D-4045A4F27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418228-000C-75AD-3AAC-4FA190EB4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C2ED-78CE-704F-B9CF-B6C276EAC7B1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1BDB23-AC6B-F9F9-B15A-54FF9D03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BA07DA-2CCD-789E-C887-81921E2CA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7571-EF24-6544-BC49-DE47E988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6437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4C6E1B8-D660-8BA9-EC66-1401AF215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05849D8-B9D7-4F5E-58AE-8F4F06B88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379AAF-838F-6370-817E-15C07AA98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C2ED-78CE-704F-B9CF-B6C276EAC7B1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22060D-B74C-959B-B9C0-AC92470A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AC1F19-6EA8-E796-88E8-74C5F7B17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7571-EF24-6544-BC49-DE47E988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7801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2683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60331C9-DB52-AE3F-EABF-AF1CA41C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0CC16E7-8849-16BD-23EA-F4AA71AE7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1C562B-07E2-7792-EFD4-B36B79E652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DC2ED-78CE-704F-B9CF-B6C276EAC7B1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40BC85-BB42-2C36-1212-5923C14C6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CFF141-E2C1-8C9D-722C-07B588FAE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B7571-EF24-6544-BC49-DE47E988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9036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4249646-67A8-E2A9-9884-1164DE52AF02}"/>
              </a:ext>
            </a:extLst>
          </p:cNvPr>
          <p:cNvSpPr txBox="1"/>
          <p:nvPr/>
        </p:nvSpPr>
        <p:spPr>
          <a:xfrm>
            <a:off x="855624" y="1061278"/>
            <a:ext cx="10480753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3600">
                <a:latin typeface="MS UI Gothic" panose="020B0600070205080204" pitchFamily="34" charset="-128"/>
                <a:ea typeface="MS UI Gothic" panose="020B0600070205080204" pitchFamily="34" charset="-128"/>
              </a:rPr>
              <a:t>生成系</a:t>
            </a:r>
            <a:r>
              <a:rPr kumimoji="1" lang="en-US" altLang="ja-JP" sz="36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AI</a:t>
            </a:r>
            <a:r>
              <a:rPr kumimoji="1" lang="ja-JP" altLang="en-US" sz="3600">
                <a:latin typeface="MS UI Gothic" panose="020B0600070205080204" pitchFamily="34" charset="-128"/>
                <a:ea typeface="MS UI Gothic" panose="020B0600070205080204" pitchFamily="34" charset="-128"/>
              </a:rPr>
              <a:t>を活用した即時質問応答型学習支援システム</a:t>
            </a:r>
            <a:endParaRPr kumimoji="1" lang="en-US" altLang="ja-JP" sz="36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endParaRPr kumimoji="1" lang="en-US" altLang="ja-JP" sz="9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lang="ja-JP" altLang="en-US" sz="6000">
                <a:latin typeface="MS UI Gothic" panose="020B0600070205080204" pitchFamily="34" charset="-128"/>
                <a:ea typeface="MS UI Gothic" panose="020B0600070205080204" pitchFamily="34" charset="-128"/>
              </a:rPr>
              <a:t>🪄「魔法の黒板」🪄</a:t>
            </a:r>
            <a:endParaRPr lang="en-US" altLang="ja-JP" sz="60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endParaRPr lang="en-US" altLang="ja-JP" sz="9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kumimoji="1" lang="ja-JP" altLang="en-US" sz="3600">
                <a:latin typeface="MS UI Gothic" panose="020B0600070205080204" pitchFamily="34" charset="-128"/>
                <a:ea typeface="MS UI Gothic" panose="020B0600070205080204" pitchFamily="34" charset="-128"/>
              </a:rPr>
              <a:t>の開発と薬学教育における教育効果の検証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EB372F0-7B2A-A458-C6A8-E29774EF3EC0}"/>
              </a:ext>
            </a:extLst>
          </p:cNvPr>
          <p:cNvSpPr txBox="1"/>
          <p:nvPr/>
        </p:nvSpPr>
        <p:spPr>
          <a:xfrm>
            <a:off x="3855642" y="4254500"/>
            <a:ext cx="4480714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神戸学院大学</a:t>
            </a:r>
            <a:r>
              <a:rPr lang="en-US" altLang="ja-JP" sz="3600" dirty="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 </a:t>
            </a:r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薬学部</a:t>
            </a:r>
            <a:endParaRPr lang="en-US" altLang="ja-JP" sz="3600" dirty="0">
              <a:latin typeface="MS UI Gothic" panose="020B0600070205080204" pitchFamily="34" charset="-128"/>
              <a:ea typeface="MS UI Gothic" panose="020B0600070205080204" pitchFamily="34" charset="-128"/>
              <a:cs typeface="Yu Gothic" pitchFamily="34" charset="-120"/>
            </a:endParaRPr>
          </a:p>
          <a:p>
            <a:pPr algn="ctr"/>
            <a:endParaRPr lang="en-US" altLang="ja-JP" sz="9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橋本</a:t>
            </a:r>
            <a:r>
              <a:rPr lang="en-US" altLang="ja-JP" sz="3600" dirty="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 </a:t>
            </a:r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保彦</a:t>
            </a:r>
            <a:r>
              <a:rPr lang="ja-JP" altLang="en-US" sz="360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、</a:t>
            </a:r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辰見</a:t>
            </a:r>
            <a:r>
              <a:rPr lang="en-US" altLang="ja-JP" sz="3600" dirty="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 </a:t>
            </a:r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明俊</a:t>
            </a:r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3505997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0678" y="228600"/>
            <a:ext cx="1149064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962FF"/>
                </a:solidFill>
              </a:defRPr>
            </a:pPr>
            <a:r>
              <a:rPr sz="48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研究の背景と課題</a:t>
            </a:r>
            <a:r>
              <a:rPr sz="48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:「</a:t>
            </a:r>
            <a:r>
              <a:rPr sz="48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魔法の黒板」開発の経緯</a:t>
            </a:r>
            <a:endParaRPr sz="4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1000" y="800100"/>
            <a:ext cx="11430000" cy="1524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4" name="TextBox 3"/>
          <p:cNvSpPr txBox="1"/>
          <p:nvPr/>
        </p:nvSpPr>
        <p:spPr>
          <a:xfrm>
            <a:off x="381000" y="990600"/>
            <a:ext cx="2068195" cy="4513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80000"/>
                </a:solidFill>
              </a:defRPr>
            </a:pPr>
            <a:r>
              <a:rPr sz="2333" dirty="0"/>
              <a:t>📊 </a:t>
            </a:r>
            <a:r>
              <a:rPr sz="2333" dirty="0" err="1">
                <a:solidFill>
                  <a:schemeClr val="bg1"/>
                </a:solidFill>
              </a:rPr>
              <a:t>課題の発見</a:t>
            </a:r>
            <a:endParaRPr sz="2333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447800"/>
            <a:ext cx="5334000" cy="533400"/>
          </a:xfrm>
          <a:prstGeom prst="rect">
            <a:avLst/>
          </a:prstGeom>
          <a:solidFill>
            <a:srgbClr val="FFC8C8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sz="1500" dirty="0" err="1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成績不振の顕在化</a:t>
            </a:r>
            <a:endParaRPr sz="1500" dirty="0">
              <a:solidFill>
                <a:schemeClr val="tx1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2095500"/>
            <a:ext cx="5334000" cy="533400"/>
          </a:xfrm>
          <a:prstGeom prst="rect">
            <a:avLst/>
          </a:prstGeom>
          <a:solidFill>
            <a:srgbClr val="FFDCB4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sz="1500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反転講義導入→成績の二極化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000" y="2743200"/>
            <a:ext cx="5334000" cy="533400"/>
          </a:xfrm>
          <a:prstGeom prst="rect">
            <a:avLst/>
          </a:prstGeom>
          <a:solidFill>
            <a:srgbClr val="C8E6FF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sz="1500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学生面談実施→本質的課題発見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3429000"/>
            <a:ext cx="1430200" cy="374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C8"/>
                </a:solidFill>
              </a:defRPr>
            </a:pPr>
            <a:r>
              <a:rPr sz="1833"/>
              <a:t>💬 学生の声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3810000"/>
            <a:ext cx="5334000" cy="381000"/>
          </a:xfrm>
          <a:prstGeom prst="rect">
            <a:avLst/>
          </a:prstGeom>
          <a:solidFill>
            <a:srgbClr val="FFF5E6"/>
          </a:solidFill>
          <a:ln w="12700">
            <a:solidFill>
              <a:srgbClr val="C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dirty="0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• </a:t>
            </a:r>
            <a:r>
              <a:rPr dirty="0" err="1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先生に聞きにくい</a:t>
            </a:r>
            <a:endParaRPr dirty="0">
              <a:solidFill>
                <a:schemeClr val="tx1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1000" y="4267200"/>
            <a:ext cx="5334000" cy="381000"/>
          </a:xfrm>
          <a:prstGeom prst="rect">
            <a:avLst/>
          </a:prstGeom>
          <a:solidFill>
            <a:srgbClr val="FFF5E6"/>
          </a:solidFill>
          <a:ln w="12700">
            <a:solidFill>
              <a:srgbClr val="C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• 何度も質問して怒られないか不安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000" y="4724399"/>
            <a:ext cx="5334000" cy="381000"/>
          </a:xfrm>
          <a:prstGeom prst="rect">
            <a:avLst/>
          </a:prstGeom>
          <a:solidFill>
            <a:srgbClr val="FFF5E6"/>
          </a:solidFill>
          <a:ln w="12700">
            <a:solidFill>
              <a:srgbClr val="C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• 疑問が解決できず試験日を迎えた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1000" y="5181599"/>
            <a:ext cx="5334000" cy="381000"/>
          </a:xfrm>
          <a:prstGeom prst="rect">
            <a:avLst/>
          </a:prstGeom>
          <a:solidFill>
            <a:srgbClr val="FFF5E6"/>
          </a:solidFill>
          <a:ln w="12700">
            <a:solidFill>
              <a:srgbClr val="C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• 夜中に疑問が生じても聞けない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0" y="990600"/>
            <a:ext cx="5715000" cy="1676400"/>
          </a:xfrm>
          <a:prstGeom prst="rect">
            <a:avLst/>
          </a:prstGeom>
          <a:solidFill>
            <a:srgbClr val="FFF0F0"/>
          </a:solidFill>
          <a:ln w="317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400" b="1">
                <a:solidFill>
                  <a:srgbClr val="C80000"/>
                </a:solidFill>
              </a:defRPr>
            </a:pPr>
            <a:r>
              <a:rPr sz="20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⚠️ </a:t>
            </a:r>
            <a:r>
              <a:rPr sz="20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教員側の課題認識</a:t>
            </a:r>
            <a:endParaRPr sz="20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spcBef>
                <a:spcPts val="667"/>
              </a:spcBef>
              <a:defRPr sz="1800" b="1"/>
            </a:pPr>
            <a:r>
              <a:rPr sz="15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❌ </a:t>
            </a:r>
            <a:r>
              <a:rPr sz="1500" dirty="0" err="1">
                <a:solidFill>
                  <a:srgbClr val="FF00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学生が困っていることを把握していない</a:t>
            </a:r>
            <a:endParaRPr sz="1500" dirty="0">
              <a:solidFill>
                <a:srgbClr val="FF00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spcBef>
                <a:spcPts val="667"/>
              </a:spcBef>
              <a:defRPr sz="1800" b="1"/>
            </a:pPr>
            <a:r>
              <a:rPr sz="1500" dirty="0">
                <a:solidFill>
                  <a:srgbClr val="FF00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❌ </a:t>
            </a:r>
            <a:r>
              <a:rPr sz="1500" dirty="0" err="1">
                <a:solidFill>
                  <a:srgbClr val="FF00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学習状況を把握していない</a:t>
            </a:r>
            <a:endParaRPr sz="1500" dirty="0">
              <a:solidFill>
                <a:srgbClr val="FF00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96000" y="2819400"/>
            <a:ext cx="1468672" cy="4513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00"/>
                </a:solidFill>
              </a:defRPr>
            </a:pPr>
            <a:r>
              <a:rPr sz="2333" dirty="0"/>
              <a:t>💡 </a:t>
            </a:r>
            <a:r>
              <a:rPr sz="2333" dirty="0" err="1">
                <a:solidFill>
                  <a:srgbClr val="FFFF00"/>
                </a:solidFill>
              </a:rPr>
              <a:t>解決策</a:t>
            </a:r>
            <a:endParaRPr sz="2333" dirty="0">
              <a:solidFill>
                <a:srgbClr val="FFFF00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096000" y="3276600"/>
            <a:ext cx="381000" cy="3810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500"/>
              <a:t>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53200" y="3276600"/>
            <a:ext cx="5257800" cy="381000"/>
          </a:xfrm>
          <a:prstGeom prst="rect">
            <a:avLst/>
          </a:prstGeom>
          <a:solidFill>
            <a:srgbClr val="E6F0FF"/>
          </a:solidFill>
          <a:ln w="1905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sz="1500">
                <a:solidFill>
                  <a:schemeClr val="tx1"/>
                </a:solidFill>
              </a:rPr>
              <a:t>24時間質問対応</a:t>
            </a:r>
          </a:p>
        </p:txBody>
      </p:sp>
      <p:sp>
        <p:nvSpPr>
          <p:cNvPr id="17" name="Oval 16"/>
          <p:cNvSpPr/>
          <p:nvPr/>
        </p:nvSpPr>
        <p:spPr>
          <a:xfrm>
            <a:off x="6096000" y="3810000"/>
            <a:ext cx="381000" cy="3810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500"/>
              <a:t>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3810000"/>
            <a:ext cx="5257800" cy="381000"/>
          </a:xfrm>
          <a:prstGeom prst="rect">
            <a:avLst/>
          </a:prstGeom>
          <a:solidFill>
            <a:srgbClr val="F0FFF0"/>
          </a:solidFill>
          <a:ln w="1905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sz="1500">
                <a:solidFill>
                  <a:schemeClr val="tx1"/>
                </a:solidFill>
              </a:rPr>
              <a:t>心理的安全性の確保</a:t>
            </a:r>
          </a:p>
        </p:txBody>
      </p:sp>
      <p:sp>
        <p:nvSpPr>
          <p:cNvPr id="19" name="Oval 18"/>
          <p:cNvSpPr/>
          <p:nvPr/>
        </p:nvSpPr>
        <p:spPr>
          <a:xfrm>
            <a:off x="6096000" y="4343400"/>
            <a:ext cx="381000" cy="3810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500"/>
              <a:t>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4343400"/>
            <a:ext cx="5257800" cy="381000"/>
          </a:xfrm>
          <a:prstGeom prst="rect">
            <a:avLst/>
          </a:prstGeom>
          <a:solidFill>
            <a:srgbClr val="FFF5E6"/>
          </a:solidFill>
          <a:ln w="1905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sz="1500">
                <a:solidFill>
                  <a:schemeClr val="tx1"/>
                </a:solidFill>
              </a:rPr>
              <a:t>学習状況の可視化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0" y="4876800"/>
            <a:ext cx="5715000" cy="1524000"/>
          </a:xfrm>
          <a:prstGeom prst="rect">
            <a:avLst/>
          </a:prstGeom>
          <a:solidFill>
            <a:srgbClr val="FFFADC"/>
          </a:solidFill>
          <a:ln w="381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3200" b="1">
                <a:solidFill>
                  <a:srgbClr val="C86400"/>
                </a:solidFill>
              </a:defRPr>
            </a:pPr>
            <a:r>
              <a:rPr sz="2667"/>
              <a:t>✨「魔法の黒板」の誕生✨</a:t>
            </a:r>
          </a:p>
          <a:p>
            <a:pPr algn="ctr">
              <a:defRPr sz="2000" b="1">
                <a:solidFill>
                  <a:srgbClr val="2962FF"/>
                </a:solidFill>
              </a:defRPr>
            </a:pPr>
            <a:r>
              <a:rPr sz="1667"/>
              <a:t>AI技術を活用した教育支援システム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4852D-6DC8-315F-78FD-90CEBE833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E15A6F8-45A9-5C88-BC0A-57C194718EBB}"/>
              </a:ext>
            </a:extLst>
          </p:cNvPr>
          <p:cNvSpPr txBox="1"/>
          <p:nvPr/>
        </p:nvSpPr>
        <p:spPr>
          <a:xfrm>
            <a:off x="4520888" y="355600"/>
            <a:ext cx="31502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800">
                <a:latin typeface="MS UI Gothic" panose="020B0600070205080204" pitchFamily="34" charset="-128"/>
                <a:ea typeface="MS UI Gothic" panose="020B0600070205080204" pitchFamily="34" charset="-128"/>
              </a:rPr>
              <a:t>研究の目的</a:t>
            </a:r>
            <a:endParaRPr kumimoji="1" lang="en-US" altLang="ja-JP" sz="4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7917807-8FF5-5CF6-4D69-4C98257A2620}"/>
              </a:ext>
            </a:extLst>
          </p:cNvPr>
          <p:cNvSpPr txBox="1"/>
          <p:nvPr/>
        </p:nvSpPr>
        <p:spPr>
          <a:xfrm>
            <a:off x="892161" y="1454047"/>
            <a:ext cx="1039419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 dirty="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🎯 </a:t>
            </a:r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主目的</a:t>
            </a:r>
            <a:r>
              <a:rPr lang="ja-JP" altLang="en-US" sz="360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：</a:t>
            </a:r>
            <a:endParaRPr lang="en-US" altLang="ja-JP" sz="3600" dirty="0">
              <a:latin typeface="MS UI Gothic" panose="020B0600070205080204" pitchFamily="34" charset="-128"/>
              <a:ea typeface="MS UI Gothic" panose="020B0600070205080204" pitchFamily="34" charset="-128"/>
              <a:cs typeface="Yu Gothic" pitchFamily="34" charset="-120"/>
            </a:endParaRPr>
          </a:p>
          <a:p>
            <a:r>
              <a:rPr lang="ja-JP" altLang="en-US" sz="3600" b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薬学教育に特化した学習支援システム「魔法の黒板」を</a:t>
            </a:r>
            <a:endParaRPr lang="en-US" altLang="ja-JP" sz="3600" b="1" dirty="0">
              <a:latin typeface="MS UI Gothic" panose="020B0600070205080204" pitchFamily="34" charset="-128"/>
              <a:ea typeface="MS UI Gothic" panose="020B0600070205080204" pitchFamily="34" charset="-128"/>
              <a:cs typeface="Yu Gothic" pitchFamily="34" charset="-120"/>
            </a:endParaRPr>
          </a:p>
          <a:p>
            <a:r>
              <a:rPr lang="ja-JP" altLang="en-US" sz="3600" b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開発し、　</a:t>
            </a:r>
            <a:r>
              <a:rPr lang="en-US" altLang="ja-JP" sz="3600" b="1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学生の学習成果に与える影響を明らかにする</a:t>
            </a:r>
            <a:endParaRPr lang="en-US" altLang="ja-JP" sz="36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A64C0F0-3D5F-9F15-86E6-ABEB55DB21B0}"/>
              </a:ext>
            </a:extLst>
          </p:cNvPr>
          <p:cNvSpPr txBox="1"/>
          <p:nvPr/>
        </p:nvSpPr>
        <p:spPr>
          <a:xfrm>
            <a:off x="892161" y="3649627"/>
            <a:ext cx="851226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📈</a:t>
            </a:r>
            <a:r>
              <a:rPr lang="en-US" altLang="ja-JP" sz="3600" dirty="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 </a:t>
            </a:r>
            <a:r>
              <a:rPr lang="ja-JP" altLang="en-US" sz="360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副次的</a:t>
            </a:r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目的</a:t>
            </a:r>
            <a:r>
              <a:rPr lang="ja-JP" altLang="en-US" sz="360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：</a:t>
            </a:r>
            <a:endParaRPr lang="en-US" altLang="ja-JP" sz="3600" dirty="0">
              <a:latin typeface="MS UI Gothic" panose="020B0600070205080204" pitchFamily="34" charset="-128"/>
              <a:ea typeface="MS UI Gothic" panose="020B0600070205080204" pitchFamily="34" charset="-128"/>
              <a:cs typeface="Yu Gothic" pitchFamily="34" charset="-120"/>
            </a:endParaRPr>
          </a:p>
          <a:p>
            <a:r>
              <a:rPr lang="ja-JP" altLang="en-US" sz="360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　</a:t>
            </a:r>
            <a:r>
              <a:rPr lang="en-US" altLang="ja-JP" sz="3600" dirty="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①</a:t>
            </a:r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学習行動・学習意欲の変化</a:t>
            </a:r>
            <a:endParaRPr lang="en-US" altLang="ja-JP" sz="3600" dirty="0">
              <a:latin typeface="MS UI Gothic" panose="020B0600070205080204" pitchFamily="34" charset="-128"/>
              <a:ea typeface="MS UI Gothic" panose="020B0600070205080204" pitchFamily="34" charset="-128"/>
              <a:cs typeface="Yu Gothic" pitchFamily="34" charset="-120"/>
            </a:endParaRPr>
          </a:p>
          <a:p>
            <a:r>
              <a:rPr lang="ja-JP" altLang="en-US" sz="3600">
                <a:latin typeface="MS UI Gothic" panose="020B0600070205080204" pitchFamily="34" charset="-128"/>
                <a:ea typeface="MS UI Gothic" panose="020B0600070205080204" pitchFamily="34" charset="-128"/>
              </a:rPr>
              <a:t>　</a:t>
            </a:r>
            <a:r>
              <a:rPr lang="en-US" altLang="ja-JP" sz="36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②</a:t>
            </a:r>
            <a:r>
              <a:rPr lang="en-US" altLang="ja-JP" sz="3600" dirty="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 「</a:t>
            </a:r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つまずきの地図」の作成による講義改善</a:t>
            </a:r>
            <a:endParaRPr lang="en-US" altLang="ja-JP" sz="36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0718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F84A0-6C7F-D619-B0A5-50B89BEDB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869C66E-A717-228D-E7E8-B063DF0C21E7}"/>
              </a:ext>
            </a:extLst>
          </p:cNvPr>
          <p:cNvSpPr/>
          <p:nvPr/>
        </p:nvSpPr>
        <p:spPr>
          <a:xfrm>
            <a:off x="154646" y="1318432"/>
            <a:ext cx="5887453" cy="54994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17EBB75-8229-CBFA-79A9-E746EA233AAB}"/>
              </a:ext>
            </a:extLst>
          </p:cNvPr>
          <p:cNvSpPr txBox="1"/>
          <p:nvPr/>
        </p:nvSpPr>
        <p:spPr>
          <a:xfrm>
            <a:off x="1197134" y="355600"/>
            <a:ext cx="98058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>
                <a:latin typeface="MS UI Gothic" panose="020B0600070205080204" pitchFamily="34" charset="-128"/>
                <a:ea typeface="MS UI Gothic" panose="020B0600070205080204" pitchFamily="34" charset="-128"/>
              </a:rPr>
              <a:t>国内外研究における本研究の位置づけ</a:t>
            </a:r>
            <a:endParaRPr kumimoji="1" lang="ja-JP" altLang="en-US" sz="480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C73F362-9DA1-F994-5996-263438AA1A5B}"/>
              </a:ext>
            </a:extLst>
          </p:cNvPr>
          <p:cNvSpPr txBox="1"/>
          <p:nvPr/>
        </p:nvSpPr>
        <p:spPr>
          <a:xfrm>
            <a:off x="587783" y="1697581"/>
            <a:ext cx="51764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海外</a:t>
            </a:r>
            <a:r>
              <a:rPr lang="en-US" altLang="ja-JP" sz="2400" b="1" dirty="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: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en-US" altLang="ja-JP" sz="2400" dirty="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 Khan </a:t>
            </a:r>
            <a:r>
              <a:rPr lang="en-US" altLang="ja-JP" sz="2400" dirty="0" err="1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Academy等が個別指導型AI実践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8064022-3CF8-D912-43DC-82498C1F229B}"/>
              </a:ext>
            </a:extLst>
          </p:cNvPr>
          <p:cNvSpPr txBox="1"/>
          <p:nvPr/>
        </p:nvSpPr>
        <p:spPr>
          <a:xfrm>
            <a:off x="587783" y="2660108"/>
            <a:ext cx="48590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国内</a:t>
            </a:r>
            <a:r>
              <a:rPr lang="en-US" altLang="ja-JP" sz="2400" b="1" dirty="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: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en-US" altLang="ja-JP" sz="2400" dirty="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 </a:t>
            </a:r>
            <a:r>
              <a:rPr lang="en-US" altLang="ja-JP" sz="2400" dirty="0" err="1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英語・数学など基礎科目中心に導入</a:t>
            </a:r>
            <a:endParaRPr kumimoji="1" lang="ja-JP" altLang="en-US" sz="240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DBAC818-7AEE-5704-9DB6-838BAC3B9FA4}"/>
              </a:ext>
            </a:extLst>
          </p:cNvPr>
          <p:cNvSpPr txBox="1"/>
          <p:nvPr/>
        </p:nvSpPr>
        <p:spPr>
          <a:xfrm>
            <a:off x="587783" y="3622635"/>
            <a:ext cx="46297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96167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課題</a:t>
            </a:r>
            <a:r>
              <a:rPr lang="en-US" altLang="ja-JP" sz="2400" b="1" dirty="0">
                <a:solidFill>
                  <a:srgbClr val="F96167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: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en-US" altLang="ja-JP" sz="2400" dirty="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 </a:t>
            </a:r>
            <a:r>
              <a:rPr lang="en-US" altLang="ja-JP" sz="2400" dirty="0" err="1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医療系専門科目での体系的導入</a:t>
            </a:r>
            <a:r>
              <a:rPr lang="en-US" altLang="ja-JP" sz="2400" dirty="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・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en-US" altLang="ja-JP" sz="2400" dirty="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 </a:t>
            </a:r>
            <a:r>
              <a:rPr lang="en-US" altLang="ja-JP" sz="2400" dirty="0" err="1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研究は限定的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A9120BA7-8E85-37F2-0C3B-037AFAD9D6BB}"/>
              </a:ext>
            </a:extLst>
          </p:cNvPr>
          <p:cNvSpPr/>
          <p:nvPr/>
        </p:nvSpPr>
        <p:spPr>
          <a:xfrm>
            <a:off x="1053005" y="5265982"/>
            <a:ext cx="36576" cy="1097280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ja-JP" altLang="en-US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42CEA81F-4F09-C960-5ECE-470666179093}"/>
              </a:ext>
            </a:extLst>
          </p:cNvPr>
          <p:cNvSpPr/>
          <p:nvPr/>
        </p:nvSpPr>
        <p:spPr>
          <a:xfrm>
            <a:off x="1053005" y="6317543"/>
            <a:ext cx="4162555" cy="45719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ja-JP" altLang="en-US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9F8658C-DBB9-BC4E-724A-0ADC7E09058F}"/>
              </a:ext>
            </a:extLst>
          </p:cNvPr>
          <p:cNvSpPr/>
          <p:nvPr/>
        </p:nvSpPr>
        <p:spPr>
          <a:xfrm>
            <a:off x="331915" y="5395924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666666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専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666666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門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666666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性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DD7559C4-B211-533C-A0CB-4EE08E13AB6A}"/>
              </a:ext>
            </a:extLst>
          </p:cNvPr>
          <p:cNvSpPr/>
          <p:nvPr/>
        </p:nvSpPr>
        <p:spPr>
          <a:xfrm>
            <a:off x="824405" y="49820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66666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高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536400B1-72CF-3E15-07AD-B74B038C3A10}"/>
              </a:ext>
            </a:extLst>
          </p:cNvPr>
          <p:cNvSpPr/>
          <p:nvPr/>
        </p:nvSpPr>
        <p:spPr>
          <a:xfrm>
            <a:off x="824405" y="61731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66666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低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0E9BC98A-83B2-F6D6-4E48-20549F1BC979}"/>
              </a:ext>
            </a:extLst>
          </p:cNvPr>
          <p:cNvSpPr/>
          <p:nvPr/>
        </p:nvSpPr>
        <p:spPr>
          <a:xfrm>
            <a:off x="2012002" y="6465888"/>
            <a:ext cx="2101515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666666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体系性・研究基盤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E9585585-FCA8-0768-11F6-F0F2DC5F136D}"/>
              </a:ext>
            </a:extLst>
          </p:cNvPr>
          <p:cNvSpPr/>
          <p:nvPr/>
        </p:nvSpPr>
        <p:spPr>
          <a:xfrm>
            <a:off x="649548" y="6421655"/>
            <a:ext cx="8871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66666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限定的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00E25132-C605-D4A8-1D63-ECFCDB5EE4A9}"/>
              </a:ext>
            </a:extLst>
          </p:cNvPr>
          <p:cNvSpPr/>
          <p:nvPr/>
        </p:nvSpPr>
        <p:spPr>
          <a:xfrm>
            <a:off x="4737876" y="6421655"/>
            <a:ext cx="8871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66666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体系的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121DDF1A-A6C7-591C-EEF4-B9410FAD561F}"/>
              </a:ext>
            </a:extLst>
          </p:cNvPr>
          <p:cNvSpPr/>
          <p:nvPr/>
        </p:nvSpPr>
        <p:spPr>
          <a:xfrm>
            <a:off x="1173323" y="5745642"/>
            <a:ext cx="1347392" cy="551206"/>
          </a:xfrm>
          <a:prstGeom prst="ellipse">
            <a:avLst/>
          </a:prstGeom>
          <a:solidFill>
            <a:srgbClr val="CCCCCC">
              <a:alpha val="60000"/>
            </a:srgbClr>
          </a:solidFill>
          <a:ln w="190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ja-JP" altLang="en-US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C6D6B148-BCC2-A84A-5CF5-C12B7F5E0F64}"/>
              </a:ext>
            </a:extLst>
          </p:cNvPr>
          <p:cNvSpPr/>
          <p:nvPr/>
        </p:nvSpPr>
        <p:spPr>
          <a:xfrm>
            <a:off x="1173323" y="5745642"/>
            <a:ext cx="1460806" cy="597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55555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基礎科目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555555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既存研究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FF0C828B-7422-6588-E945-F0EAD72544A8}"/>
              </a:ext>
            </a:extLst>
          </p:cNvPr>
          <p:cNvSpPr/>
          <p:nvPr/>
        </p:nvSpPr>
        <p:spPr>
          <a:xfrm>
            <a:off x="3247565" y="5180959"/>
            <a:ext cx="1527206" cy="664003"/>
          </a:xfrm>
          <a:prstGeom prst="ellipse">
            <a:avLst/>
          </a:prstGeom>
          <a:solidFill>
            <a:srgbClr val="F96167">
              <a:alpha val="85000"/>
            </a:srgbClr>
          </a:solidFill>
          <a:ln w="317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59722689-2165-DB0B-DF1F-54C042F9D43E}"/>
              </a:ext>
            </a:extLst>
          </p:cNvPr>
          <p:cNvSpPr/>
          <p:nvPr/>
        </p:nvSpPr>
        <p:spPr>
          <a:xfrm>
            <a:off x="3364351" y="5284360"/>
            <a:ext cx="12936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本研究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(薬学専門)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CB25262-A8F7-D6AC-11C7-8A911F6234AF}"/>
              </a:ext>
            </a:extLst>
          </p:cNvPr>
          <p:cNvSpPr txBox="1"/>
          <p:nvPr/>
        </p:nvSpPr>
        <p:spPr>
          <a:xfrm>
            <a:off x="2174882" y="1056822"/>
            <a:ext cx="1846980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現状と課題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FF4029E-70AD-D840-ABEC-0C394E9BBCA1}"/>
              </a:ext>
            </a:extLst>
          </p:cNvPr>
          <p:cNvSpPr/>
          <p:nvPr/>
        </p:nvSpPr>
        <p:spPr>
          <a:xfrm>
            <a:off x="6190329" y="1310412"/>
            <a:ext cx="5887453" cy="54994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664788E-FE72-CE83-C950-5B26528812DB}"/>
              </a:ext>
            </a:extLst>
          </p:cNvPr>
          <p:cNvSpPr txBox="1"/>
          <p:nvPr/>
        </p:nvSpPr>
        <p:spPr>
          <a:xfrm>
            <a:off x="8503115" y="1048802"/>
            <a:ext cx="1261884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本研究</a:t>
            </a:r>
            <a:endParaRPr kumimoji="1" lang="ja-JP" altLang="en-US" sz="280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B3CB93C-6403-A00C-6B18-FFBB28077236}"/>
              </a:ext>
            </a:extLst>
          </p:cNvPr>
          <p:cNvSpPr txBox="1"/>
          <p:nvPr/>
        </p:nvSpPr>
        <p:spPr>
          <a:xfrm>
            <a:off x="6391175" y="1612237"/>
            <a:ext cx="55467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ja-JP" altLang="en-US" sz="240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薬学モデル・コアカリキュラム</a:t>
            </a:r>
            <a:r>
              <a:rPr lang="en-US" altLang="ja-JP" sz="2400" dirty="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SBOs</a:t>
            </a:r>
            <a:r>
              <a:rPr lang="ja-JP" altLang="en-US" sz="240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に準拠</a:t>
            </a:r>
            <a:endParaRPr lang="en-US" altLang="ja-JP" sz="2400" dirty="0">
              <a:solidFill>
                <a:srgbClr val="212121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40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　・</a:t>
            </a:r>
            <a:r>
              <a:rPr lang="en-US" altLang="ja-JP" sz="2400" dirty="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137</a:t>
            </a:r>
            <a:r>
              <a:rPr lang="ja-JP" altLang="en-US" sz="240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項目の専門知識エースの構築</a:t>
            </a:r>
            <a:endParaRPr lang="en-US" altLang="ja-JP" sz="2400" dirty="0">
              <a:solidFill>
                <a:srgbClr val="212121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40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　・医療系教育に特化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D8F0FFC-7D77-3C74-4500-067A02098D3E}"/>
              </a:ext>
            </a:extLst>
          </p:cNvPr>
          <p:cNvSpPr txBox="1"/>
          <p:nvPr/>
        </p:nvSpPr>
        <p:spPr>
          <a:xfrm>
            <a:off x="6391175" y="3287996"/>
            <a:ext cx="45784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2. </a:t>
            </a:r>
            <a:r>
              <a:rPr lang="ja-JP" altLang="en-US" sz="240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医療系教育における体系的導入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kumimoji="1" lang="ja-JP" altLang="en-US" sz="240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　・実証研究によるエビづンスの構築</a:t>
            </a:r>
            <a:endParaRPr kumimoji="1" lang="en-US" altLang="ja-JP" sz="2400" dirty="0">
              <a:solidFill>
                <a:srgbClr val="212121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40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　・学習効果の定量的評価</a:t>
            </a:r>
            <a:endParaRPr kumimoji="1" lang="ja-JP" altLang="en-US" sz="240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28FF21D-A718-D688-F764-519FAD34BA72}"/>
              </a:ext>
            </a:extLst>
          </p:cNvPr>
          <p:cNvSpPr txBox="1"/>
          <p:nvPr/>
        </p:nvSpPr>
        <p:spPr>
          <a:xfrm>
            <a:off x="6391175" y="4963755"/>
            <a:ext cx="37802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3. </a:t>
            </a:r>
            <a:r>
              <a:rPr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先駆的モデルケースの確立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　・他の医療系専門救育への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　　展開可能性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34736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7369035F-CCA0-F185-C877-6E7EC14A21A0}"/>
              </a:ext>
            </a:extLst>
          </p:cNvPr>
          <p:cNvGrpSpPr/>
          <p:nvPr/>
        </p:nvGrpSpPr>
        <p:grpSpPr>
          <a:xfrm>
            <a:off x="474128" y="1414272"/>
            <a:ext cx="4402667" cy="4216998"/>
            <a:chOff x="270932" y="1414272"/>
            <a:chExt cx="4402667" cy="4216998"/>
          </a:xfrm>
        </p:grpSpPr>
        <p:sp>
          <p:nvSpPr>
            <p:cNvPr id="4" name="Shape 2"/>
            <p:cNvSpPr/>
            <p:nvPr/>
          </p:nvSpPr>
          <p:spPr>
            <a:xfrm>
              <a:off x="270932" y="1414272"/>
              <a:ext cx="4402667" cy="4216998"/>
            </a:xfrm>
            <a:prstGeom prst="rect">
              <a:avLst/>
            </a:prstGeom>
            <a:solidFill>
              <a:srgbClr val="D5F4E6"/>
            </a:solidFill>
            <a:ln w="25400">
              <a:solidFill>
                <a:srgbClr val="27AE60"/>
              </a:solidFill>
              <a:prstDash val="solid"/>
            </a:ln>
          </p:spPr>
          <p:txBody>
            <a:bodyPr/>
            <a:lstStyle/>
            <a:p>
              <a:endParaRPr lang="ja-JP" altLang="en-US" sz="2400"/>
            </a:p>
          </p:txBody>
        </p:sp>
        <p:sp>
          <p:nvSpPr>
            <p:cNvPr id="5" name="Text 3"/>
            <p:cNvSpPr/>
            <p:nvPr/>
          </p:nvSpPr>
          <p:spPr>
            <a:xfrm>
              <a:off x="480905" y="1788802"/>
              <a:ext cx="3982720" cy="2926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ts val="2400"/>
                </a:lnSpc>
              </a:pPr>
              <a:r>
                <a:rPr lang="en-US" sz="2800" b="1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👨‍🎓 </a:t>
              </a:r>
              <a:r>
                <a:rPr lang="en-US" sz="2800" b="1" dirty="0" err="1">
                  <a:latin typeface="MS UI Gothic" panose="020B0600070205080204" pitchFamily="34" charset="-128"/>
                  <a:ea typeface="MS UI Gothic" panose="020B0600070205080204" pitchFamily="34" charset="-128"/>
                </a:rPr>
                <a:t>学生入力画面</a:t>
              </a: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</a:t>
              </a:r>
              <a:r>
                <a:rPr lang="en-US" sz="2800" dirty="0">
                  <a:solidFill>
                    <a:srgbClr val="FF0000"/>
                  </a:solidFill>
                  <a:latin typeface="MS UI Gothic" panose="020B0600070205080204" pitchFamily="34" charset="-128"/>
                  <a:ea typeface="MS UI Gothic" panose="020B0600070205080204" pitchFamily="34" charset="-128"/>
                </a:rPr>
                <a:t>24時間質問対応</a:t>
              </a:r>
            </a:p>
            <a:p>
              <a:pPr>
                <a:lnSpc>
                  <a:spcPts val="2400"/>
                </a:lnSpc>
                <a:buSzPct val="100000"/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・カテゴリー別質問</a:t>
              </a:r>
            </a:p>
            <a:p>
              <a:pPr>
                <a:lnSpc>
                  <a:spcPts val="2400"/>
                </a:lnSpc>
                <a:buSzPct val="100000"/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・練習問題生成</a:t>
              </a:r>
              <a:endParaRPr lang="en-US" sz="9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 marL="0" lvl="1"/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  (5択2正解形式)</a:t>
              </a:r>
            </a:p>
            <a:p>
              <a:pPr>
                <a:lnSpc>
                  <a:spcPts val="2400"/>
                </a:lnSpc>
                <a:buSzPct val="100000"/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・難易度選択機能</a:t>
              </a:r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3F0A0A7E-6B2A-34A9-00A9-E825A765EFB0}"/>
              </a:ext>
            </a:extLst>
          </p:cNvPr>
          <p:cNvGrpSpPr/>
          <p:nvPr/>
        </p:nvGrpSpPr>
        <p:grpSpPr>
          <a:xfrm>
            <a:off x="5216132" y="3035091"/>
            <a:ext cx="1463040" cy="975360"/>
            <a:chOff x="5242560" y="2804160"/>
            <a:chExt cx="1463040" cy="975360"/>
          </a:xfrm>
        </p:grpSpPr>
        <p:sp>
          <p:nvSpPr>
            <p:cNvPr id="6" name="Shape 4"/>
            <p:cNvSpPr/>
            <p:nvPr/>
          </p:nvSpPr>
          <p:spPr>
            <a:xfrm>
              <a:off x="5242560" y="2804160"/>
              <a:ext cx="1463040" cy="97536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/>
          </p:spPr>
          <p:txBody>
            <a:bodyPr/>
            <a:lstStyle/>
            <a:p>
              <a:endParaRPr lang="ja-JP" altLang="en-US" sz="2400"/>
            </a:p>
          </p:txBody>
        </p:sp>
        <p:sp>
          <p:nvSpPr>
            <p:cNvPr id="7" name="Text 5"/>
            <p:cNvSpPr/>
            <p:nvPr/>
          </p:nvSpPr>
          <p:spPr>
            <a:xfrm>
              <a:off x="5242560" y="2926080"/>
              <a:ext cx="146304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AIエンジン</a:t>
              </a:r>
            </a:p>
            <a:p>
              <a:pPr algn="ctr"/>
              <a:r>
                <a:rPr lang="en-US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RAG+知識</a:t>
              </a:r>
            </a:p>
            <a:p>
              <a:pPr algn="ctr"/>
              <a:r>
                <a:rPr lang="en-US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ベース</a:t>
              </a: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EE8DC803-5809-FF00-3F9B-1538E52E4988}"/>
              </a:ext>
            </a:extLst>
          </p:cNvPr>
          <p:cNvGrpSpPr/>
          <p:nvPr/>
        </p:nvGrpSpPr>
        <p:grpSpPr>
          <a:xfrm>
            <a:off x="7006549" y="1414272"/>
            <a:ext cx="4677834" cy="4216998"/>
            <a:chOff x="7108147" y="1414272"/>
            <a:chExt cx="4677834" cy="4216998"/>
          </a:xfrm>
        </p:grpSpPr>
        <p:sp>
          <p:nvSpPr>
            <p:cNvPr id="8" name="Shape 6"/>
            <p:cNvSpPr/>
            <p:nvPr/>
          </p:nvSpPr>
          <p:spPr>
            <a:xfrm>
              <a:off x="7108147" y="1414272"/>
              <a:ext cx="4677834" cy="4216998"/>
            </a:xfrm>
            <a:prstGeom prst="rect">
              <a:avLst/>
            </a:prstGeom>
            <a:solidFill>
              <a:srgbClr val="FEF5E7"/>
            </a:solidFill>
            <a:ln w="25400">
              <a:solidFill>
                <a:srgbClr val="F39C12"/>
              </a:solidFill>
              <a:prstDash val="solid"/>
            </a:ln>
          </p:spPr>
          <p:txBody>
            <a:bodyPr/>
            <a:lstStyle/>
            <a:p>
              <a:endParaRPr lang="ja-JP" altLang="en-US" sz="2400"/>
            </a:p>
          </p:txBody>
        </p:sp>
        <p:sp>
          <p:nvSpPr>
            <p:cNvPr id="9" name="Text 7"/>
            <p:cNvSpPr/>
            <p:nvPr/>
          </p:nvSpPr>
          <p:spPr>
            <a:xfrm>
              <a:off x="7313464" y="2059731"/>
              <a:ext cx="4267200" cy="2926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ts val="2400"/>
                </a:lnSpc>
              </a:pPr>
              <a:r>
                <a:rPr lang="en-US" sz="2800" b="1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👨‍🏫 </a:t>
              </a:r>
              <a:r>
                <a:rPr lang="en-US" sz="2800" b="1" dirty="0" err="1">
                  <a:latin typeface="MS UI Gothic" panose="020B0600070205080204" pitchFamily="34" charset="-128"/>
                  <a:ea typeface="MS UI Gothic" panose="020B0600070205080204" pitchFamily="34" charset="-128"/>
                </a:rPr>
                <a:t>教員確認画面</a:t>
              </a: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・学習履歴の確認</a:t>
              </a:r>
            </a:p>
            <a:p>
              <a:pPr>
                <a:lnSpc>
                  <a:spcPts val="2400"/>
                </a:lnSpc>
                <a:buSzPct val="100000"/>
              </a:pPr>
              <a:endParaRPr lang="en-US" sz="9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</a:t>
              </a:r>
              <a:r>
                <a:rPr lang="en-US" sz="2800" dirty="0">
                  <a:solidFill>
                    <a:srgbClr val="FF0000"/>
                  </a:solidFill>
                  <a:latin typeface="MS UI Gothic" panose="020B0600070205080204" pitchFamily="34" charset="-128"/>
                  <a:ea typeface="MS UI Gothic" panose="020B0600070205080204" pitchFamily="34" charset="-128"/>
                </a:rPr>
                <a:t>つまずきポイントの可視化</a:t>
              </a:r>
            </a:p>
            <a:p>
              <a:pPr>
                <a:lnSpc>
                  <a:spcPts val="2400"/>
                </a:lnSpc>
                <a:buSzPct val="100000"/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・FAQ自動抽出</a:t>
              </a:r>
            </a:p>
            <a:p>
              <a:pPr>
                <a:lnSpc>
                  <a:spcPts val="2400"/>
                </a:lnSpc>
                <a:buSzPct val="100000"/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</a:t>
              </a:r>
              <a:r>
                <a:rPr lang="en-US" sz="2800" dirty="0">
                  <a:solidFill>
                    <a:srgbClr val="FF0000"/>
                  </a:solidFill>
                  <a:latin typeface="MS UI Gothic" panose="020B0600070205080204" pitchFamily="34" charset="-128"/>
                  <a:ea typeface="MS UI Gothic" panose="020B0600070205080204" pitchFamily="34" charset="-128"/>
                </a:rPr>
                <a:t>データ分析</a:t>
              </a:r>
              <a:endParaRPr lang="en-US" sz="800" dirty="0">
                <a:solidFill>
                  <a:srgbClr val="FF0000"/>
                </a:solidFill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（学習行動、学習パターン）</a:t>
              </a:r>
            </a:p>
            <a:p>
              <a:pPr>
                <a:lnSpc>
                  <a:spcPts val="2400"/>
                </a:lnSpc>
                <a:buSzPct val="100000"/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・出力機能 (CSV/Excel)</a:t>
              </a:r>
            </a:p>
          </p:txBody>
        </p:sp>
      </p:grpSp>
      <p:sp>
        <p:nvSpPr>
          <p:cNvPr id="11" name="Text 9"/>
          <p:cNvSpPr/>
          <p:nvPr/>
        </p:nvSpPr>
        <p:spPr>
          <a:xfrm>
            <a:off x="922503" y="5753190"/>
            <a:ext cx="10050299" cy="1009982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r>
              <a:rPr lang="ja-JP" altLang="en-US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　　　　</a:t>
            </a:r>
            <a:r>
              <a:rPr lang="en-US" altLang="ja-JP" b="1" dirty="0">
                <a:solidFill>
                  <a:srgbClr val="4A235A"/>
                </a:solidFill>
              </a:rPr>
              <a:t>🔧 </a:t>
            </a:r>
            <a:r>
              <a:rPr lang="en-US" dirty="0" err="1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技術基盤</a:t>
            </a:r>
            <a:endParaRPr lang="en-US" dirty="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lang="en-US" dirty="0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OpenAI GPT-4o / Claude Sonnet4・Opus4  |  RAG + 137項目知識ベース  |  著作権クリア教材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3F0840E-EC0D-36FA-65F8-ED73424B34A5}"/>
              </a:ext>
            </a:extLst>
          </p:cNvPr>
          <p:cNvSpPr txBox="1"/>
          <p:nvPr/>
        </p:nvSpPr>
        <p:spPr>
          <a:xfrm>
            <a:off x="1383742" y="355600"/>
            <a:ext cx="91278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>
                <a:latin typeface="MS UI Gothic" panose="020B0600070205080204" pitchFamily="34" charset="-128"/>
                <a:ea typeface="MS UI Gothic" panose="020B0600070205080204" pitchFamily="34" charset="-128"/>
              </a:rPr>
              <a:t>システムの概要と研究の</a:t>
            </a:r>
            <a:r>
              <a:rPr lang="en-US" altLang="ja-JP" sz="4800" dirty="0">
                <a:solidFill>
                  <a:schemeClr val="bg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3</a:t>
            </a:r>
            <a:r>
              <a:rPr lang="ja-JP" altLang="en-US" sz="4800">
                <a:solidFill>
                  <a:schemeClr val="bg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つの独創性</a:t>
            </a:r>
            <a:endParaRPr kumimoji="1" lang="ja-JP" altLang="en-US" sz="4800">
              <a:solidFill>
                <a:schemeClr val="bg1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6" name="下矢印 15">
            <a:extLst>
              <a:ext uri="{FF2B5EF4-FFF2-40B4-BE49-F238E27FC236}">
                <a16:creationId xmlns:a16="http://schemas.microsoft.com/office/drawing/2014/main" id="{02E6938F-B7F3-740F-D81D-AF0436437004}"/>
              </a:ext>
            </a:extLst>
          </p:cNvPr>
          <p:cNvSpPr/>
          <p:nvPr/>
        </p:nvSpPr>
        <p:spPr>
          <a:xfrm flipV="1">
            <a:off x="5705336" y="4132370"/>
            <a:ext cx="484632" cy="1498899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F7075-58B3-B98A-5BEB-B35AE9E73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D651C7A-4D7D-8B06-0461-93915C15B2AC}"/>
              </a:ext>
            </a:extLst>
          </p:cNvPr>
          <p:cNvSpPr txBox="1"/>
          <p:nvPr/>
        </p:nvSpPr>
        <p:spPr>
          <a:xfrm>
            <a:off x="4006332" y="355600"/>
            <a:ext cx="41793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48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3</a:t>
            </a:r>
            <a:r>
              <a:rPr lang="ja-JP" altLang="en-US" sz="4800">
                <a:latin typeface="MS UI Gothic" panose="020B0600070205080204" pitchFamily="34" charset="-128"/>
                <a:ea typeface="MS UI Gothic" panose="020B0600070205080204" pitchFamily="34" charset="-128"/>
              </a:rPr>
              <a:t>つの独創性より</a:t>
            </a:r>
            <a:endParaRPr kumimoji="1" lang="ja-JP" altLang="en-US" sz="480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2BF1170-AF6B-A254-FEB6-3ABA54184B72}"/>
              </a:ext>
            </a:extLst>
          </p:cNvPr>
          <p:cNvSpPr txBox="1"/>
          <p:nvPr/>
        </p:nvSpPr>
        <p:spPr>
          <a:xfrm>
            <a:off x="803904" y="989355"/>
            <a:ext cx="4046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b="1" dirty="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① 24時間リアルタイム対応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5A985F0-6536-3DA8-780B-3836DF768175}"/>
              </a:ext>
            </a:extLst>
          </p:cNvPr>
          <p:cNvSpPr txBox="1"/>
          <p:nvPr/>
        </p:nvSpPr>
        <p:spPr>
          <a:xfrm>
            <a:off x="803904" y="2823084"/>
            <a:ext cx="28071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b="1" dirty="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② </a:t>
            </a:r>
            <a:r>
              <a:rPr lang="en-US" altLang="ja-JP" sz="2800" b="1" dirty="0" err="1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つまずきの地図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5CD4397-33EB-8694-2286-EF83636CFC6E}"/>
              </a:ext>
            </a:extLst>
          </p:cNvPr>
          <p:cNvSpPr txBox="1"/>
          <p:nvPr/>
        </p:nvSpPr>
        <p:spPr>
          <a:xfrm>
            <a:off x="803904" y="4656813"/>
            <a:ext cx="41969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b="1" dirty="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③ </a:t>
            </a:r>
            <a:r>
              <a:rPr lang="en-US" altLang="ja-JP" sz="2800" b="1" dirty="0" err="1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学習行動の時系列分析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EBA63E42-9532-36C4-D1EB-DC2BC8ECF059}"/>
              </a:ext>
            </a:extLst>
          </p:cNvPr>
          <p:cNvSpPr/>
          <p:nvPr/>
        </p:nvSpPr>
        <p:spPr>
          <a:xfrm>
            <a:off x="1598379" y="1500719"/>
            <a:ext cx="9833548" cy="133422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80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いつでも・どこでも何度でも質問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  <a:cs typeface="Yu Gothic" pitchFamily="34" charset="-120"/>
            </a:endParaRPr>
          </a:p>
          <a:p>
            <a:r>
              <a:rPr lang="ja-JP" altLang="en-US" sz="280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　　→</a:t>
            </a:r>
            <a:r>
              <a:rPr lang="en-US" altLang="ja-JP" sz="2800" dirty="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 </a:t>
            </a:r>
            <a:r>
              <a:rPr lang="en-US" altLang="ja-JP" sz="2800" dirty="0" err="1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時間的・心理的障壁を解消、疑問を放置しない環境を構築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43A65E5B-6374-BEF3-C9B6-E4C0337E6351}"/>
              </a:ext>
            </a:extLst>
          </p:cNvPr>
          <p:cNvSpPr/>
          <p:nvPr/>
        </p:nvSpPr>
        <p:spPr>
          <a:xfrm>
            <a:off x="1598379" y="3334448"/>
            <a:ext cx="9833548" cy="133422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2800" dirty="0" err="1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質問データを定量分析し、学習困難点を可視化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80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　　</a:t>
            </a:r>
            <a:r>
              <a:rPr lang="en-US" altLang="ja-JP" sz="2800" dirty="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→ </a:t>
            </a:r>
            <a:r>
              <a:rPr lang="en-US" altLang="ja-JP" sz="2800" dirty="0" err="1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教員が講義改善・演習問題作成に活用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87660FC7-FE0D-8ABD-BE3B-76EC06C1A65F}"/>
              </a:ext>
            </a:extLst>
          </p:cNvPr>
          <p:cNvSpPr/>
          <p:nvPr/>
        </p:nvSpPr>
        <p:spPr>
          <a:xfrm>
            <a:off x="1598379" y="5168178"/>
            <a:ext cx="9833548" cy="133422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2800" dirty="0" err="1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いつ、どのように学習しているかを把握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80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　　</a:t>
            </a:r>
            <a:r>
              <a:rPr lang="en-US" altLang="ja-JP" sz="2800" dirty="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→ </a:t>
            </a:r>
            <a:r>
              <a:rPr lang="en-US" altLang="ja-JP" sz="2800" dirty="0" err="1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学習パターンの特徴を明らかに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DC9045A1-8BD4-A5EA-2C04-73C445C05E07}"/>
              </a:ext>
            </a:extLst>
          </p:cNvPr>
          <p:cNvGrpSpPr/>
          <p:nvPr/>
        </p:nvGrpSpPr>
        <p:grpSpPr>
          <a:xfrm>
            <a:off x="406400" y="1157941"/>
            <a:ext cx="11379200" cy="3877285"/>
            <a:chOff x="406400" y="1835272"/>
            <a:chExt cx="11379200" cy="3877285"/>
          </a:xfrm>
        </p:grpSpPr>
        <p:sp>
          <p:nvSpPr>
            <p:cNvPr id="11" name="角丸四角形 10">
              <a:extLst>
                <a:ext uri="{FF2B5EF4-FFF2-40B4-BE49-F238E27FC236}">
                  <a16:creationId xmlns:a16="http://schemas.microsoft.com/office/drawing/2014/main" id="{3CD7CE7B-A52C-F298-24FE-71C8A5BC1844}"/>
                </a:ext>
              </a:extLst>
            </p:cNvPr>
            <p:cNvSpPr/>
            <p:nvPr/>
          </p:nvSpPr>
          <p:spPr>
            <a:xfrm>
              <a:off x="406400" y="1835272"/>
              <a:ext cx="11379200" cy="3877285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25981D23-D3C1-C9E9-0D61-63824B28B33F}"/>
                </a:ext>
              </a:extLst>
            </p:cNvPr>
            <p:cNvGrpSpPr/>
            <p:nvPr/>
          </p:nvGrpSpPr>
          <p:grpSpPr>
            <a:xfrm>
              <a:off x="1089629" y="2679407"/>
              <a:ext cx="10012743" cy="2189015"/>
              <a:chOff x="899948" y="2730938"/>
              <a:chExt cx="10012743" cy="2189015"/>
            </a:xfrm>
          </p:grpSpPr>
          <p:sp>
            <p:nvSpPr>
              <p:cNvPr id="13" name="右中かっこ 12">
                <a:extLst>
                  <a:ext uri="{FF2B5EF4-FFF2-40B4-BE49-F238E27FC236}">
                    <a16:creationId xmlns:a16="http://schemas.microsoft.com/office/drawing/2014/main" id="{B1268C4C-B1E8-CFEA-7A1B-85C40BA97943}"/>
                  </a:ext>
                </a:extLst>
              </p:cNvPr>
              <p:cNvSpPr/>
              <p:nvPr/>
            </p:nvSpPr>
            <p:spPr>
              <a:xfrm>
                <a:off x="6245069" y="3088384"/>
                <a:ext cx="489487" cy="1474122"/>
              </a:xfrm>
              <a:prstGeom prst="rightBrac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4800" b="1"/>
              </a:p>
            </p:txBody>
          </p:sp>
          <p:grpSp>
            <p:nvGrpSpPr>
              <p:cNvPr id="14" name="グループ化 13">
                <a:extLst>
                  <a:ext uri="{FF2B5EF4-FFF2-40B4-BE49-F238E27FC236}">
                    <a16:creationId xmlns:a16="http://schemas.microsoft.com/office/drawing/2014/main" id="{3461A169-6216-2A09-749B-CDDB4E563D49}"/>
                  </a:ext>
                </a:extLst>
              </p:cNvPr>
              <p:cNvGrpSpPr/>
              <p:nvPr/>
            </p:nvGrpSpPr>
            <p:grpSpPr>
              <a:xfrm>
                <a:off x="899948" y="2730938"/>
                <a:ext cx="5019323" cy="2189015"/>
                <a:chOff x="899948" y="2730938"/>
                <a:chExt cx="5019323" cy="2189015"/>
              </a:xfrm>
            </p:grpSpPr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B2815F62-7222-F6EE-7528-703E44F85C62}"/>
                    </a:ext>
                  </a:extLst>
                </p:cNvPr>
                <p:cNvSpPr txBox="1"/>
                <p:nvPr/>
              </p:nvSpPr>
              <p:spPr>
                <a:xfrm>
                  <a:off x="899948" y="2730938"/>
                  <a:ext cx="5019323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ja-JP" altLang="en-US" sz="4800" b="1">
                      <a:latin typeface="MS UI Gothic" panose="020B0600070205080204" pitchFamily="34" charset="-128"/>
                      <a:ea typeface="MS UI Gothic" panose="020B0600070205080204" pitchFamily="34" charset="-128"/>
                    </a:rPr>
                    <a:t>教員による「教える」</a:t>
                  </a:r>
                  <a:endParaRPr lang="en-US" altLang="ja-JP" sz="4800" b="1" dirty="0">
                    <a:latin typeface="MS UI Gothic" panose="020B0600070205080204" pitchFamily="34" charset="-128"/>
                    <a:ea typeface="MS UI Gothic" panose="020B0600070205080204" pitchFamily="34" charset="-128"/>
                  </a:endParaRPr>
                </a:p>
              </p:txBody>
            </p:sp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BCAE9ADA-8ABC-BC9E-E98A-13348DE0A443}"/>
                    </a:ext>
                  </a:extLst>
                </p:cNvPr>
                <p:cNvSpPr txBox="1"/>
                <p:nvPr/>
              </p:nvSpPr>
              <p:spPr>
                <a:xfrm>
                  <a:off x="3009500" y="3409947"/>
                  <a:ext cx="800219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ja-JP" altLang="en-US" sz="4800" b="1">
                      <a:latin typeface="MS UI Gothic" panose="020B0600070205080204" pitchFamily="34" charset="-128"/>
                      <a:ea typeface="MS UI Gothic" panose="020B0600070205080204" pitchFamily="34" charset="-128"/>
                    </a:rPr>
                    <a:t>＋</a:t>
                  </a:r>
                  <a:endParaRPr lang="en-US" altLang="ja-JP" sz="4800" b="1" dirty="0">
                    <a:latin typeface="MS UI Gothic" panose="020B0600070205080204" pitchFamily="34" charset="-128"/>
                    <a:ea typeface="MS UI Gothic" panose="020B0600070205080204" pitchFamily="34" charset="-128"/>
                  </a:endParaRPr>
                </a:p>
              </p:txBody>
            </p:sp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0D122E3C-4F0E-44E7-CA15-5D2559BCE2FA}"/>
                    </a:ext>
                  </a:extLst>
                </p:cNvPr>
                <p:cNvSpPr txBox="1"/>
                <p:nvPr/>
              </p:nvSpPr>
              <p:spPr>
                <a:xfrm>
                  <a:off x="1244593" y="4088956"/>
                  <a:ext cx="4330032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4800" b="1" dirty="0">
                      <a:latin typeface="MS UI Gothic" panose="020B0600070205080204" pitchFamily="34" charset="-128"/>
                      <a:ea typeface="MS UI Gothic" panose="020B0600070205080204" pitchFamily="34" charset="-128"/>
                    </a:rPr>
                    <a:t>AI</a:t>
                  </a:r>
                  <a:r>
                    <a:rPr lang="ja-JP" altLang="en-US" sz="4800" b="1">
                      <a:latin typeface="MS UI Gothic" panose="020B0600070205080204" pitchFamily="34" charset="-128"/>
                      <a:ea typeface="MS UI Gothic" panose="020B0600070205080204" pitchFamily="34" charset="-128"/>
                    </a:rPr>
                    <a:t>による「支える」</a:t>
                  </a:r>
                  <a:endParaRPr lang="en-US" altLang="ja-JP" sz="4800" b="1" dirty="0">
                    <a:latin typeface="MS UI Gothic" panose="020B0600070205080204" pitchFamily="34" charset="-128"/>
                    <a:ea typeface="MS UI Gothic" panose="020B0600070205080204" pitchFamily="34" charset="-128"/>
                  </a:endParaRPr>
                </a:p>
              </p:txBody>
            </p:sp>
          </p:grpSp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47466163-2CC6-B485-149A-69F9C5D92E65}"/>
                  </a:ext>
                </a:extLst>
              </p:cNvPr>
              <p:cNvSpPr txBox="1"/>
              <p:nvPr/>
            </p:nvSpPr>
            <p:spPr>
              <a:xfrm>
                <a:off x="7060354" y="3040615"/>
                <a:ext cx="3852337" cy="156966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ja-JP" altLang="en-US" sz="4800" b="1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人と</a:t>
                </a:r>
                <a:r>
                  <a:rPr lang="en-US" altLang="ja-JP" sz="4800" b="1" dirty="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AI</a:t>
                </a:r>
                <a:r>
                  <a:rPr lang="ja-JP" altLang="en-US" sz="4800" b="1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との融合</a:t>
                </a:r>
                <a:endParaRPr lang="en-US" altLang="ja-JP" sz="4800" b="1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  <a:p>
                <a:pPr algn="ctr"/>
                <a:r>
                  <a:rPr lang="ja-JP" altLang="en-US" sz="4800" b="1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教育改革</a:t>
                </a:r>
                <a:endParaRPr lang="en-US" altLang="ja-JP" sz="4800" b="1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</p:txBody>
          </p:sp>
        </p:grpSp>
      </p:grpSp>
      <p:sp>
        <p:nvSpPr>
          <p:cNvPr id="9" name="雲形吹き出し 8">
            <a:extLst>
              <a:ext uri="{FF2B5EF4-FFF2-40B4-BE49-F238E27FC236}">
                <a16:creationId xmlns:a16="http://schemas.microsoft.com/office/drawing/2014/main" id="{1EAFB659-BBA1-A798-E905-6B636D29C41C}"/>
              </a:ext>
            </a:extLst>
          </p:cNvPr>
          <p:cNvSpPr/>
          <p:nvPr/>
        </p:nvSpPr>
        <p:spPr>
          <a:xfrm>
            <a:off x="6629918" y="4225536"/>
            <a:ext cx="5319787" cy="2406637"/>
          </a:xfrm>
          <a:prstGeom prst="cloudCallout">
            <a:avLst>
              <a:gd name="adj1" fmla="val -39428"/>
              <a:gd name="adj2" fmla="val -7176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学習意欲向上</a:t>
            </a:r>
            <a:endParaRPr kumimoji="1" lang="en-US" altLang="ja-JP" sz="3600" dirty="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lang="ja-JP" altLang="en-US" sz="3600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教員負担軽減</a:t>
            </a:r>
            <a:endParaRPr kumimoji="1" lang="ja-JP" altLang="en-US" sz="360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98270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829F9B0C-EEA8-2B54-7B13-BBDAB6DF6757}"/>
              </a:ext>
            </a:extLst>
          </p:cNvPr>
          <p:cNvGrpSpPr/>
          <p:nvPr/>
        </p:nvGrpSpPr>
        <p:grpSpPr>
          <a:xfrm>
            <a:off x="975360" y="1270002"/>
            <a:ext cx="10241280" cy="1341120"/>
            <a:chOff x="975360" y="1270002"/>
            <a:chExt cx="10241280" cy="1341120"/>
          </a:xfrm>
        </p:grpSpPr>
        <p:sp>
          <p:nvSpPr>
            <p:cNvPr id="4" name="Shape 2"/>
            <p:cNvSpPr/>
            <p:nvPr/>
          </p:nvSpPr>
          <p:spPr>
            <a:xfrm>
              <a:off x="975360" y="1270002"/>
              <a:ext cx="10241280" cy="1341120"/>
            </a:xfrm>
            <a:prstGeom prst="rect">
              <a:avLst/>
            </a:prstGeom>
            <a:solidFill>
              <a:srgbClr val="E8F8F5"/>
            </a:solidFill>
            <a:ln/>
          </p:spPr>
          <p:txBody>
            <a:bodyPr/>
            <a:lstStyle/>
            <a:p>
              <a:endPara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1219200" y="1391922"/>
              <a:ext cx="18288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800" b="1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準備期</a:t>
              </a: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3291840" y="1391922"/>
              <a:ext cx="24384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2026年4～8月</a:t>
              </a:r>
            </a:p>
          </p:txBody>
        </p:sp>
        <p:sp>
          <p:nvSpPr>
            <p:cNvPr id="7" name="Text 5"/>
            <p:cNvSpPr/>
            <p:nvPr/>
          </p:nvSpPr>
          <p:spPr>
            <a:xfrm>
              <a:off x="6096000" y="1452882"/>
              <a:ext cx="4876800" cy="975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システム最終調整</a:t>
              </a:r>
            </a:p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倫理審査申請</a:t>
              </a:r>
            </a:p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パイロット実施（30名）</a:t>
              </a:r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245E54A5-797A-A84D-60D2-87C1BD2BF30B}"/>
              </a:ext>
            </a:extLst>
          </p:cNvPr>
          <p:cNvGrpSpPr/>
          <p:nvPr/>
        </p:nvGrpSpPr>
        <p:grpSpPr>
          <a:xfrm>
            <a:off x="975360" y="2759004"/>
            <a:ext cx="10241280" cy="1341120"/>
            <a:chOff x="975360" y="2871897"/>
            <a:chExt cx="10241280" cy="1341120"/>
          </a:xfrm>
        </p:grpSpPr>
        <p:sp>
          <p:nvSpPr>
            <p:cNvPr id="8" name="Shape 6"/>
            <p:cNvSpPr/>
            <p:nvPr/>
          </p:nvSpPr>
          <p:spPr>
            <a:xfrm>
              <a:off x="975360" y="2871897"/>
              <a:ext cx="10241280" cy="1341120"/>
            </a:xfrm>
            <a:prstGeom prst="rect">
              <a:avLst/>
            </a:prstGeom>
            <a:solidFill>
              <a:srgbClr val="FEF5E7"/>
            </a:solidFill>
            <a:ln/>
          </p:spPr>
          <p:txBody>
            <a:bodyPr/>
            <a:lstStyle/>
            <a:p>
              <a:endPara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219200" y="2993817"/>
              <a:ext cx="18288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800" b="1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実証期</a:t>
              </a: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3291840" y="2993817"/>
              <a:ext cx="24384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800" i="1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2026年9月～2027年1月</a:t>
              </a: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6096000" y="3054777"/>
              <a:ext cx="4876800" cy="975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本実装（250名対象）</a:t>
              </a:r>
            </a:p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学習データ収集</a:t>
              </a:r>
            </a:p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定期的モニタリング</a:t>
              </a: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5C6C304-5D78-745F-2900-08CB10961639}"/>
              </a:ext>
            </a:extLst>
          </p:cNvPr>
          <p:cNvGrpSpPr/>
          <p:nvPr/>
        </p:nvGrpSpPr>
        <p:grpSpPr>
          <a:xfrm>
            <a:off x="975360" y="4248006"/>
            <a:ext cx="10241280" cy="1341120"/>
            <a:chOff x="975360" y="4490722"/>
            <a:chExt cx="10241280" cy="1341120"/>
          </a:xfrm>
        </p:grpSpPr>
        <p:sp>
          <p:nvSpPr>
            <p:cNvPr id="12" name="Shape 10"/>
            <p:cNvSpPr/>
            <p:nvPr/>
          </p:nvSpPr>
          <p:spPr>
            <a:xfrm>
              <a:off x="975360" y="4490722"/>
              <a:ext cx="10241280" cy="1341120"/>
            </a:xfrm>
            <a:prstGeom prst="rect">
              <a:avLst/>
            </a:prstGeom>
            <a:solidFill>
              <a:srgbClr val="E8F8F5"/>
            </a:solidFill>
            <a:ln/>
          </p:spPr>
          <p:txBody>
            <a:bodyPr/>
            <a:lstStyle/>
            <a:p>
              <a:endPara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1219200" y="4612642"/>
              <a:ext cx="18288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800" b="1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分析期</a:t>
              </a: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3291840" y="4612642"/>
              <a:ext cx="24384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800" i="1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2027年2～3月</a:t>
              </a: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6096000" y="4673602"/>
              <a:ext cx="4876800" cy="975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成績データ分析</a:t>
              </a:r>
            </a:p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10年分データとの比較</a:t>
              </a:r>
            </a:p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学生アンケート実施</a:t>
              </a:r>
            </a:p>
          </p:txBody>
        </p:sp>
      </p:grpSp>
      <p:sp>
        <p:nvSpPr>
          <p:cNvPr id="17" name="Text 15"/>
          <p:cNvSpPr/>
          <p:nvPr/>
        </p:nvSpPr>
        <p:spPr>
          <a:xfrm>
            <a:off x="975360" y="5737009"/>
            <a:ext cx="10241280" cy="9753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r>
              <a:rPr lang="ja-JP" altLang="en-US" sz="2000">
                <a:latin typeface="MS UI Gothic" panose="020B0600070205080204" pitchFamily="34" charset="-128"/>
                <a:ea typeface="MS UI Gothic" panose="020B0600070205080204" pitchFamily="34" charset="-128"/>
              </a:rPr>
              <a:t>　　　　　　　</a:t>
            </a:r>
            <a:r>
              <a:rPr lang="en-US" sz="24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📊</a:t>
            </a:r>
            <a:r>
              <a:rPr lang="en-US" sz="24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評価指標</a:t>
            </a:r>
            <a:endParaRPr lang="en-US" sz="20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lang="en-US" sz="20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成績向上度</a:t>
            </a:r>
            <a:r>
              <a:rPr lang="en-US" sz="20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 | 利用頻度 | 質問内容分析 | 学習行動パターン | 学生満足度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4118303-F764-5148-20D4-7178A8703E7B}"/>
              </a:ext>
            </a:extLst>
          </p:cNvPr>
          <p:cNvSpPr txBox="1"/>
          <p:nvPr/>
        </p:nvSpPr>
        <p:spPr>
          <a:xfrm>
            <a:off x="4772564" y="355600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>
                <a:latin typeface="MS UI Gothic" panose="020B0600070205080204" pitchFamily="34" charset="-128"/>
                <a:ea typeface="MS UI Gothic" panose="020B0600070205080204" pitchFamily="34" charset="-128"/>
              </a:rPr>
              <a:t>研究計画</a:t>
            </a:r>
            <a:endParaRPr kumimoji="1" lang="ja-JP" altLang="en-US" sz="480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角丸四角形 2">
            <a:extLst>
              <a:ext uri="{FF2B5EF4-FFF2-40B4-BE49-F238E27FC236}">
                <a16:creationId xmlns:a16="http://schemas.microsoft.com/office/drawing/2014/main" id="{3DB583EB-1291-4519-7561-34E267049470}"/>
              </a:ext>
            </a:extLst>
          </p:cNvPr>
          <p:cNvSpPr/>
          <p:nvPr/>
        </p:nvSpPr>
        <p:spPr>
          <a:xfrm>
            <a:off x="609599" y="4087662"/>
            <a:ext cx="11209867" cy="26856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角丸四角形 1">
            <a:extLst>
              <a:ext uri="{FF2B5EF4-FFF2-40B4-BE49-F238E27FC236}">
                <a16:creationId xmlns:a16="http://schemas.microsoft.com/office/drawing/2014/main" id="{410DE9AA-DE00-28C8-7C4B-5224EF85681E}"/>
              </a:ext>
            </a:extLst>
          </p:cNvPr>
          <p:cNvSpPr/>
          <p:nvPr/>
        </p:nvSpPr>
        <p:spPr>
          <a:xfrm>
            <a:off x="609600" y="1293666"/>
            <a:ext cx="11209867" cy="268566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4907" y="1293666"/>
            <a:ext cx="10966027" cy="25671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🎯 </a:t>
            </a:r>
            <a:r>
              <a:rPr lang="en-US" sz="2800" b="1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直接的成果</a:t>
            </a:r>
            <a:endParaRPr lang="en-US" sz="2800" b="1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・</a:t>
            </a:r>
            <a:r>
              <a:rPr lang="en-US" altLang="ja-JP" sz="28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学生の学習効果向上：24時間サポートによる</a:t>
            </a:r>
            <a:r>
              <a: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つまづきの改善・</a:t>
            </a:r>
            <a:r>
              <a:rPr lang="en-US" altLang="ja-JP" sz="28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理解度</a:t>
            </a:r>
            <a:r>
              <a: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向上</a:t>
            </a:r>
            <a:endParaRPr lang="en-US" altLang="ja-JP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・</a:t>
            </a:r>
            <a:r>
              <a:rPr lang="en-US" altLang="ja-JP" sz="28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教員の教育改善：つまずきポイントの可視化とデータに基づく授業改善</a:t>
            </a:r>
            <a:endParaRPr lang="en-US" altLang="ja-JP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・</a:t>
            </a:r>
            <a:r>
              <a:rPr lang="en-US" altLang="ja-JP" sz="28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定量的評価モデル</a:t>
            </a:r>
            <a:r>
              <a:rPr lang="en-US" altLang="ja-JP" sz="28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：</a:t>
            </a:r>
            <a:r>
              <a: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過去の成績</a:t>
            </a:r>
            <a:r>
              <a:rPr lang="en-US" altLang="ja-JP" sz="28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との比較による客観的効果</a:t>
            </a:r>
            <a:endParaRPr lang="en-US" altLang="ja-JP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1998" y="3979334"/>
            <a:ext cx="9964541" cy="25671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🌟 </a:t>
            </a:r>
            <a:r>
              <a:rPr lang="en-US" sz="2800" b="1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波及効果</a:t>
            </a:r>
            <a:endParaRPr lang="en-US" sz="2800" b="1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2800" b="1">
                <a:latin typeface="MS UI Gothic" panose="020B0600070205080204" pitchFamily="34" charset="-128"/>
                <a:ea typeface="MS UI Gothic" panose="020B0600070205080204" pitchFamily="34" charset="-128"/>
              </a:rPr>
              <a:t>・</a:t>
            </a:r>
            <a:r>
              <a:rPr lang="en-US" altLang="ja-JP" sz="2800" b="1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他領域への展開</a:t>
            </a:r>
            <a:r>
              <a:rPr lang="en-US" altLang="ja-JP" sz="28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→病態学など他の専門科目への応用</a:t>
            </a:r>
            <a:endParaRPr lang="en-US" altLang="ja-JP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2800" b="1">
                <a:latin typeface="MS UI Gothic" panose="020B0600070205080204" pitchFamily="34" charset="-128"/>
                <a:ea typeface="MS UI Gothic" panose="020B0600070205080204" pitchFamily="34" charset="-128"/>
              </a:rPr>
              <a:t>・</a:t>
            </a:r>
            <a:r>
              <a:rPr lang="en-US" altLang="ja-JP" sz="2800" b="1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実装モデルの提供</a:t>
            </a:r>
            <a:r>
              <a:rPr lang="en-US" altLang="ja-JP" sz="28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→他大学の薬学・医療系教育への導入支援</a:t>
            </a:r>
            <a:endParaRPr lang="en-US" altLang="ja-JP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2800" b="1">
                <a:latin typeface="MS UI Gothic" panose="020B0600070205080204" pitchFamily="34" charset="-128"/>
                <a:ea typeface="MS UI Gothic" panose="020B0600070205080204" pitchFamily="34" charset="-128"/>
              </a:rPr>
              <a:t>・</a:t>
            </a:r>
            <a:r>
              <a:rPr lang="en-US" altLang="ja-JP" sz="2800" b="1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AI教育研究の発展</a:t>
            </a:r>
            <a:r>
              <a:rPr lang="en-US" altLang="ja-JP" sz="28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→専門教育におけるAI活用の学術的知見蓄積</a:t>
            </a:r>
            <a:endParaRPr lang="en-US" altLang="ja-JP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86747" y="5745480"/>
            <a:ext cx="9177867" cy="2225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33"/>
              </a:lnSpc>
            </a:pPr>
            <a:endParaRPr lang="en-US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C942594-093D-E5BB-8ECD-2D1C7903751B}"/>
              </a:ext>
            </a:extLst>
          </p:cNvPr>
          <p:cNvSpPr txBox="1"/>
          <p:nvPr/>
        </p:nvSpPr>
        <p:spPr>
          <a:xfrm>
            <a:off x="4013544" y="355600"/>
            <a:ext cx="41649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800">
                <a:latin typeface="MS UI Gothic" panose="020B0600070205080204" pitchFamily="34" charset="-128"/>
                <a:ea typeface="MS UI Gothic" panose="020B0600070205080204" pitchFamily="34" charset="-128"/>
              </a:rPr>
              <a:t>期待される成果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chemeClr val="bg1"/>
                </a:solidFill>
              </a:rPr>
              <a:t>⑤経費の妥当性</a:t>
            </a:r>
            <a:endParaRPr lang="en-US" sz="2667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0972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chemeClr val="bg1"/>
                </a:solidFill>
              </a:rPr>
              <a:t>研究経費の内訳と合理性</a:t>
            </a:r>
            <a:endParaRPr lang="en-US" sz="4267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1219200" y="2072640"/>
            <a:ext cx="9753600" cy="609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5" name="Text 3"/>
          <p:cNvSpPr/>
          <p:nvPr/>
        </p:nvSpPr>
        <p:spPr>
          <a:xfrm>
            <a:off x="1219200" y="2194560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FFFF"/>
                </a:solidFill>
              </a:rPr>
              <a:t>費目     金額     使途</a:t>
            </a:r>
            <a:endParaRPr lang="en-US" sz="1867" dirty="0"/>
          </a:p>
        </p:txBody>
      </p:sp>
      <p:sp>
        <p:nvSpPr>
          <p:cNvPr id="6" name="Shape 4"/>
          <p:cNvSpPr/>
          <p:nvPr/>
        </p:nvSpPr>
        <p:spPr>
          <a:xfrm>
            <a:off x="1219200" y="2682240"/>
            <a:ext cx="97536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7" name="Text 5"/>
          <p:cNvSpPr/>
          <p:nvPr/>
        </p:nvSpPr>
        <p:spPr>
          <a:xfrm>
            <a:off x="1341120" y="2865120"/>
            <a:ext cx="268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機器備品費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4023360" y="2865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dirty="0">
                <a:solidFill>
                  <a:srgbClr val="2C3E50"/>
                </a:solidFill>
              </a:rPr>
              <a:t>290千円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5974080" y="2865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</a:rPr>
              <a:t>MacBook Pro(開発・動作確認用)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19200" y="3413760"/>
            <a:ext cx="975360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1" name="Text 9"/>
          <p:cNvSpPr/>
          <p:nvPr/>
        </p:nvSpPr>
        <p:spPr>
          <a:xfrm>
            <a:off x="1341120" y="3596640"/>
            <a:ext cx="268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消耗品費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4023360" y="3596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dirty="0">
                <a:solidFill>
                  <a:srgbClr val="2C3E50"/>
                </a:solidFill>
              </a:rPr>
              <a:t>110千円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5974080" y="3596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</a:rPr>
              <a:t>生成系AI使用料(GPT/Claude/Gemini・API)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19200" y="4145280"/>
            <a:ext cx="97536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5" name="Text 13"/>
          <p:cNvSpPr/>
          <p:nvPr/>
        </p:nvSpPr>
        <p:spPr>
          <a:xfrm>
            <a:off x="1341120" y="4328160"/>
            <a:ext cx="268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図書費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4023360" y="4328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dirty="0">
                <a:solidFill>
                  <a:srgbClr val="2C3E50"/>
                </a:solidFill>
              </a:rPr>
              <a:t>20千円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5974080" y="4328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</a:rPr>
              <a:t>教育工学・生成系AI関連書籍・学術雑誌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19200" y="4876800"/>
            <a:ext cx="975360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9" name="Text 17"/>
          <p:cNvSpPr/>
          <p:nvPr/>
        </p:nvSpPr>
        <p:spPr>
          <a:xfrm>
            <a:off x="1341120" y="5059680"/>
            <a:ext cx="268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旅費交通費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4023360" y="5059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dirty="0">
                <a:solidFill>
                  <a:srgbClr val="2C3E50"/>
                </a:solidFill>
              </a:rPr>
              <a:t>80千円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5974080" y="5059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</a:rPr>
              <a:t>日本医療薬学会年会(石川県)での発表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19200" y="5608320"/>
            <a:ext cx="97536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23" name="Text 21"/>
          <p:cNvSpPr/>
          <p:nvPr/>
        </p:nvSpPr>
        <p:spPr>
          <a:xfrm>
            <a:off x="1341120" y="5791200"/>
            <a:ext cx="268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その他</a:t>
            </a:r>
            <a:endParaRPr lang="en-US" sz="1733" dirty="0"/>
          </a:p>
        </p:txBody>
      </p:sp>
      <p:sp>
        <p:nvSpPr>
          <p:cNvPr id="24" name="Text 22"/>
          <p:cNvSpPr/>
          <p:nvPr/>
        </p:nvSpPr>
        <p:spPr>
          <a:xfrm>
            <a:off x="4023360" y="5791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dirty="0">
                <a:solidFill>
                  <a:srgbClr val="2C3E50"/>
                </a:solidFill>
              </a:rPr>
              <a:t>500千円</a:t>
            </a:r>
            <a:endParaRPr lang="en-US" sz="1733" dirty="0"/>
          </a:p>
        </p:txBody>
      </p:sp>
      <p:sp>
        <p:nvSpPr>
          <p:cNvPr id="25" name="Text 23"/>
          <p:cNvSpPr/>
          <p:nvPr/>
        </p:nvSpPr>
        <p:spPr>
          <a:xfrm>
            <a:off x="5974080" y="5791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</a:rPr>
              <a:t>英語論文投稿料・英文校閲料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19200" y="6339840"/>
            <a:ext cx="9753600" cy="609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27" name="Text 25"/>
          <p:cNvSpPr/>
          <p:nvPr/>
        </p:nvSpPr>
        <p:spPr>
          <a:xfrm>
            <a:off x="1341120" y="6522720"/>
            <a:ext cx="268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FFFF"/>
                </a:solidFill>
              </a:rPr>
              <a:t>合計</a:t>
            </a:r>
            <a:endParaRPr lang="en-US" sz="1867" dirty="0"/>
          </a:p>
        </p:txBody>
      </p:sp>
      <p:sp>
        <p:nvSpPr>
          <p:cNvPr id="28" name="Text 26"/>
          <p:cNvSpPr/>
          <p:nvPr/>
        </p:nvSpPr>
        <p:spPr>
          <a:xfrm>
            <a:off x="4023360" y="6522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867" b="1" dirty="0">
                <a:solidFill>
                  <a:srgbClr val="FFFFFF"/>
                </a:solidFill>
              </a:rPr>
              <a:t>1,000千円</a:t>
            </a:r>
            <a:endParaRPr lang="en-US" sz="186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chemeClr val="bg1"/>
                </a:solidFill>
              </a:rPr>
              <a:t>②従来の研究成績</a:t>
            </a:r>
            <a:endParaRPr lang="en-US" sz="2667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0972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chemeClr val="bg1"/>
                </a:solidFill>
              </a:rPr>
              <a:t>過去3年間の研究業績と本研究への連続性</a:t>
            </a:r>
            <a:endParaRPr lang="en-US" sz="4267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950720"/>
            <a:ext cx="10972800" cy="2438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5" name="Text 3"/>
          <p:cNvSpPr/>
          <p:nvPr/>
        </p:nvSpPr>
        <p:spPr>
          <a:xfrm>
            <a:off x="853440" y="2133600"/>
            <a:ext cx="1048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28090"/>
                </a:solidFill>
              </a:rPr>
              <a:t>📚 原著論文(査読付き):4編</a:t>
            </a:r>
            <a:endParaRPr lang="en-US" sz="2133" dirty="0"/>
          </a:p>
        </p:txBody>
      </p:sp>
      <p:sp>
        <p:nvSpPr>
          <p:cNvPr id="6" name="Text 4"/>
          <p:cNvSpPr/>
          <p:nvPr/>
        </p:nvSpPr>
        <p:spPr>
          <a:xfrm>
            <a:off x="853440" y="2621280"/>
            <a:ext cx="1048512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2C3E50"/>
                </a:solidFill>
              </a:rPr>
              <a:t>VR教育ツール開発と教育効果検証(薬学雑誌, 2024)</a:t>
            </a:r>
            <a:endParaRPr lang="en-US" sz="1733" dirty="0"/>
          </a:p>
          <a:p>
            <a:pPr marL="0" lvl="1"/>
            <a:r>
              <a:rPr lang="en-US" sz="1467" i="1" dirty="0">
                <a:solidFill>
                  <a:srgbClr val="2C3E50"/>
                </a:solidFill>
              </a:rPr>
              <a:t>→ 教育改善ツール開発と定量的評価の実績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2C3E50"/>
                </a:solidFill>
              </a:rPr>
              <a:t>医薬品副作用ビッグデータ解析 2編</a:t>
            </a:r>
            <a:endParaRPr lang="en-US" sz="1733" dirty="0"/>
          </a:p>
          <a:p>
            <a:r>
              <a:rPr lang="en-US" sz="1467" dirty="0">
                <a:solidFill>
                  <a:srgbClr val="2C3E50"/>
                </a:solidFill>
              </a:rPr>
              <a:t>(日本総合病院精神医学会雑誌、日本精神薬学会雑誌)</a:t>
            </a:r>
            <a:endParaRPr lang="en-US" sz="1733" dirty="0"/>
          </a:p>
          <a:p>
            <a:pPr marL="0" lvl="1"/>
            <a:r>
              <a:rPr lang="en-US" sz="1467" i="1" dirty="0">
                <a:solidFill>
                  <a:srgbClr val="2C3E50"/>
                </a:solidFill>
              </a:rPr>
              <a:t>→ 大規模データからのパターン抽出手法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2C3E50"/>
                </a:solidFill>
              </a:rPr>
              <a:t>システマティックレビュー(Addiction誌, 2024)</a:t>
            </a:r>
            <a:endParaRPr lang="en-US" sz="1733" dirty="0"/>
          </a:p>
          <a:p>
            <a:pPr marL="0" lvl="1"/>
            <a:r>
              <a:rPr lang="en-US" sz="1467" i="1" dirty="0">
                <a:solidFill>
                  <a:srgbClr val="2C3E50"/>
                </a:solidFill>
              </a:rPr>
              <a:t>→ 国際水準の研究デザイン能力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609600" y="4511040"/>
            <a:ext cx="10972800" cy="853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8" name="Text 6"/>
          <p:cNvSpPr/>
          <p:nvPr/>
        </p:nvSpPr>
        <p:spPr>
          <a:xfrm>
            <a:off x="853440" y="4693920"/>
            <a:ext cx="1048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28090"/>
                </a:solidFill>
              </a:rPr>
              <a:t>🌍 国際学会発表:1件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853440" y="5059680"/>
            <a:ext cx="104851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欧州神経精神薬理学会議(ECNP, 2024年9月, ミラノ)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609600" y="5608320"/>
            <a:ext cx="10972800" cy="975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1" name="Text 9"/>
          <p:cNvSpPr/>
          <p:nvPr/>
        </p:nvSpPr>
        <p:spPr>
          <a:xfrm>
            <a:off x="853440" y="5791200"/>
            <a:ext cx="1048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FFFFFF"/>
                </a:solidFill>
              </a:rPr>
              <a:t>🔗 本研究への連続性</a:t>
            </a:r>
            <a:endParaRPr lang="en-US" sz="2133" dirty="0"/>
          </a:p>
        </p:txBody>
      </p:sp>
      <p:sp>
        <p:nvSpPr>
          <p:cNvPr id="12" name="Text 10"/>
          <p:cNvSpPr/>
          <p:nvPr/>
        </p:nvSpPr>
        <p:spPr>
          <a:xfrm>
            <a:off x="853440" y="6156960"/>
            <a:ext cx="1048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dirty="0">
                <a:solidFill>
                  <a:srgbClr val="FFFFFF"/>
                </a:solidFill>
              </a:rPr>
              <a:t>教育改善ツール開発  ×  大規模データ解析  ×  厳密な研究デザイン</a:t>
            </a:r>
            <a:endParaRPr lang="en-US" sz="1733" dirty="0"/>
          </a:p>
          <a:p>
            <a:pPr algn="ctr"/>
            <a:r>
              <a:rPr lang="en-US" sz="1733" dirty="0">
                <a:solidFill>
                  <a:srgbClr val="FFFFFF"/>
                </a:solidFill>
              </a:rPr>
              <a:t>                    ↓</a:t>
            </a:r>
            <a:endParaRPr lang="en-US" sz="1733" dirty="0"/>
          </a:p>
          <a:p>
            <a:pPr algn="ctr"/>
            <a:r>
              <a:rPr lang="en-US" sz="1733" dirty="0">
                <a:solidFill>
                  <a:srgbClr val="FFFFFF"/>
                </a:solidFill>
              </a:rPr>
              <a:t>        「魔法の黒板」研究の実行可能性を保証</a:t>
            </a:r>
            <a:endParaRPr lang="en-US" sz="173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algn="ctr"/>
            <a:r>
              <a:rPr lang="en-US" sz="4267" b="1" dirty="0">
                <a:solidFill>
                  <a:srgbClr val="FFFFFF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まとめ</a:t>
            </a:r>
            <a:endParaRPr lang="en-US" sz="4267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00934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🎯 本研究のポイント</a:t>
            </a:r>
            <a:endParaRPr lang="en-US" sz="3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618940"/>
            <a:ext cx="5486400" cy="609600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lIns="1693" tIns="1693" rIns="1693" bIns="1693" rtlCol="0" anchor="ctr"/>
          <a:lstStyle/>
          <a:p>
            <a:r>
              <a:rPr lang="en-US" sz="2400" b="1" dirty="0">
                <a:solidFill>
                  <a:srgbClr val="9B59B6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薬学教育（医薬品情報学）特化型 AIシステム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0" y="1618940"/>
            <a:ext cx="5486400" cy="609600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lIns="1693" tIns="1693" rIns="1693" bIns="1693" rtlCol="0" anchor="ctr"/>
          <a:lstStyle/>
          <a:p>
            <a:r>
              <a:rPr lang="en-US" sz="2400" b="1" dirty="0">
                <a:solidFill>
                  <a:srgbClr val="9B59B6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137項目の知識ベース（著作権完全クリア）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2350460"/>
            <a:ext cx="5486400" cy="609600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lIns="1693" tIns="1693" rIns="1693" bIns="1693" rtlCol="0" anchor="ctr"/>
          <a:lstStyle/>
          <a:p>
            <a:r>
              <a:rPr lang="en-US" sz="2400" b="1" dirty="0">
                <a:solidFill>
                  <a:srgbClr val="9B59B6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学生・教員双方に価値提供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0" y="2350460"/>
            <a:ext cx="5486400" cy="609600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lIns="1693" tIns="1693" rIns="1693" bIns="1693" rtlCol="0" anchor="ctr"/>
          <a:lstStyle/>
          <a:p>
            <a:r>
              <a:rPr lang="en-US" sz="2400" b="1" dirty="0">
                <a:solidFill>
                  <a:srgbClr val="9B59B6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2026年度実証実験実施予定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3065993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💡 独創性</a:t>
            </a:r>
            <a:endParaRPr lang="en-US" sz="3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3675593"/>
            <a:ext cx="10972800" cy="54864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lIns="1355" tIns="1355" rIns="1355" bIns="1355" rtlCol="0" anchor="ctr"/>
          <a:lstStyle/>
          <a:p>
            <a:r>
              <a:rPr lang="en-US" sz="24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① 24時間リアルタイム対応 - 疑問を放置しない環境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4285193"/>
            <a:ext cx="10972800" cy="54864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lIns="1355" tIns="1355" rIns="1355" bIns="1355" rtlCol="0" anchor="ctr"/>
          <a:lstStyle/>
          <a:p>
            <a:r>
              <a:rPr lang="en-US" sz="24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② つまずきの地図 - 質問データの定量分析・可視化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4894793"/>
            <a:ext cx="10972800" cy="54864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lIns="1355" tIns="1355" rIns="1355" bIns="1355" rtlCol="0" anchor="ctr"/>
          <a:lstStyle/>
          <a:p>
            <a:r>
              <a:rPr lang="en-US" sz="24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③ 客観的教育効果検証 - 10年分データ活用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" y="5626313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467" b="1" dirty="0">
                <a:solidFill>
                  <a:srgbClr val="9B59B6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🪄 魔法の黒板で、学びの未来を変える 🪄</a:t>
            </a:r>
            <a:endParaRPr lang="en-US" sz="3467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6357833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2E509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ご清聴ありがとうございました</a:t>
            </a:r>
            <a:endParaRPr lang="en-US" sz="2933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8DF6E-F4D8-C348-3C66-F4D5E727A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D9618A7-F188-3F9F-B1DC-CCD96CE90EE5}"/>
              </a:ext>
            </a:extLst>
          </p:cNvPr>
          <p:cNvSpPr txBox="1"/>
          <p:nvPr/>
        </p:nvSpPr>
        <p:spPr>
          <a:xfrm>
            <a:off x="2926707" y="355600"/>
            <a:ext cx="61141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>
                <a:latin typeface="MS UI Gothic" panose="020B0600070205080204" pitchFamily="34" charset="-128"/>
                <a:ea typeface="MS UI Gothic" panose="020B0600070205080204" pitchFamily="34" charset="-128"/>
              </a:rPr>
              <a:t>「魔法の黒板」の誕生🎇</a:t>
            </a:r>
            <a:endParaRPr kumimoji="1" lang="ja-JP" altLang="en-US" sz="480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D980564-DF63-CB23-7CAD-28D3E2E5A78C}"/>
              </a:ext>
            </a:extLst>
          </p:cNvPr>
          <p:cNvSpPr txBox="1"/>
          <p:nvPr/>
        </p:nvSpPr>
        <p:spPr>
          <a:xfrm>
            <a:off x="1591406" y="1275162"/>
            <a:ext cx="8784777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>
                <a:latin typeface="MS UI Gothic" panose="020B0600070205080204" pitchFamily="34" charset="-128"/>
                <a:ea typeface="MS UI Gothic" panose="020B0600070205080204" pitchFamily="34" charset="-128"/>
              </a:rPr>
              <a:t>★勉強中に学生が疑問を抱いたときに、</a:t>
            </a:r>
            <a:endParaRPr kumimoji="1" lang="en-US" altLang="ja-JP" sz="36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3600">
                <a:latin typeface="MS UI Gothic" panose="020B0600070205080204" pitchFamily="34" charset="-128"/>
                <a:ea typeface="MS UI Gothic" panose="020B0600070205080204" pitchFamily="34" charset="-128"/>
              </a:rPr>
              <a:t>★馴染みのスマートフォンで問題点を解決でき、</a:t>
            </a:r>
            <a:endParaRPr lang="en-US" altLang="ja-JP" sz="36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3600">
                <a:latin typeface="MS UI Gothic" panose="020B0600070205080204" pitchFamily="34" charset="-128"/>
                <a:ea typeface="MS UI Gothic" panose="020B0600070205080204" pitchFamily="34" charset="-128"/>
              </a:rPr>
              <a:t>★教員が学生の困難点に気づくことができる術</a:t>
            </a:r>
            <a:endParaRPr lang="en-US" altLang="ja-JP" sz="36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endParaRPr kumimoji="1" lang="en-US" altLang="ja-JP" sz="9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kumimoji="1" lang="ja-JP" altLang="en-US" sz="3600">
                <a:latin typeface="MS UI Gothic" panose="020B0600070205080204" pitchFamily="34" charset="-128"/>
                <a:ea typeface="MS UI Gothic" panose="020B0600070205080204" pitchFamily="34" charset="-128"/>
              </a:rPr>
              <a:t>を提案したい！！</a:t>
            </a:r>
            <a:endParaRPr kumimoji="1" lang="en-US" altLang="ja-JP" sz="36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78E616A1-7C02-1DDB-D913-DC84F8F1C3C0}"/>
              </a:ext>
            </a:extLst>
          </p:cNvPr>
          <p:cNvSpPr/>
          <p:nvPr/>
        </p:nvSpPr>
        <p:spPr>
          <a:xfrm>
            <a:off x="1226443" y="3830923"/>
            <a:ext cx="9514703" cy="294624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800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「魔法の黒板」</a:t>
            </a:r>
            <a:endParaRPr kumimoji="1" lang="en-US" altLang="ja-JP" sz="4800" dirty="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endParaRPr kumimoji="1" lang="en-US" altLang="ja-JP" sz="900" dirty="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lang="en-US" altLang="ja-JP" sz="2800" dirty="0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24</a:t>
            </a:r>
            <a:r>
              <a:rPr lang="ja-JP" altLang="en-US" sz="2800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時間いつでも学生の「つまづき」に寄り添い、</a:t>
            </a:r>
            <a:endParaRPr lang="en-US" altLang="ja-JP" sz="2800" dirty="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kumimoji="1" lang="ja-JP" altLang="en-US" sz="2800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その場で解決でき、何度も使える</a:t>
            </a:r>
            <a:endParaRPr kumimoji="1" lang="en-US" altLang="ja-JP" sz="2800" dirty="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lang="ja-JP" altLang="en-US" sz="2800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即時質問応答型学習支援システム</a:t>
            </a:r>
            <a:endParaRPr kumimoji="1" lang="ja-JP" altLang="en-US" sz="280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74973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CAD0A-8739-43B9-95B6-DC765CF6C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A840DBD-3C87-8718-4232-DE407881524C}"/>
              </a:ext>
            </a:extLst>
          </p:cNvPr>
          <p:cNvSpPr txBox="1"/>
          <p:nvPr/>
        </p:nvSpPr>
        <p:spPr>
          <a:xfrm>
            <a:off x="2288318" y="355600"/>
            <a:ext cx="76193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>
                <a:latin typeface="MS UI Gothic" panose="020B0600070205080204" pitchFamily="34" charset="-128"/>
                <a:ea typeface="MS UI Gothic" panose="020B0600070205080204" pitchFamily="34" charset="-128"/>
              </a:rPr>
              <a:t>従来型と「魔法の黒板」の違い</a:t>
            </a:r>
            <a:endParaRPr kumimoji="1" lang="ja-JP" altLang="en-US" sz="480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FEBA02CB-4E5B-1C26-23C6-6A1342FC353C}"/>
              </a:ext>
            </a:extLst>
          </p:cNvPr>
          <p:cNvGrpSpPr/>
          <p:nvPr/>
        </p:nvGrpSpPr>
        <p:grpSpPr>
          <a:xfrm>
            <a:off x="224853" y="1411570"/>
            <a:ext cx="11746323" cy="3745047"/>
            <a:chOff x="314793" y="1411570"/>
            <a:chExt cx="11746323" cy="3745047"/>
          </a:xfrm>
        </p:grpSpPr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6F65F346-15AA-75BD-A64E-3FEF623F6807}"/>
                </a:ext>
              </a:extLst>
            </p:cNvPr>
            <p:cNvGrpSpPr/>
            <p:nvPr/>
          </p:nvGrpSpPr>
          <p:grpSpPr>
            <a:xfrm>
              <a:off x="425363" y="2126465"/>
              <a:ext cx="11635753" cy="523220"/>
              <a:chOff x="425363" y="2545448"/>
              <a:chExt cx="11635753" cy="523220"/>
            </a:xfrm>
          </p:grpSpPr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3F2D423-DAF8-8EE3-E0F4-F5A029A78B30}"/>
                  </a:ext>
                </a:extLst>
              </p:cNvPr>
              <p:cNvSpPr txBox="1"/>
              <p:nvPr/>
            </p:nvSpPr>
            <p:spPr>
              <a:xfrm>
                <a:off x="425363" y="2545448"/>
                <a:ext cx="219964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80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質問する機会</a:t>
                </a:r>
                <a:endParaRPr kumimoji="1" lang="ja-JP" altLang="en-US" sz="280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9477B755-B5C6-8202-AC73-0495CA6C868B}"/>
                  </a:ext>
                </a:extLst>
              </p:cNvPr>
              <p:cNvSpPr txBox="1"/>
              <p:nvPr/>
            </p:nvSpPr>
            <p:spPr>
              <a:xfrm>
                <a:off x="4616032" y="2545448"/>
                <a:ext cx="24048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800" dirty="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24</a:t>
                </a:r>
                <a:r>
                  <a:rPr kumimoji="1" lang="ja-JP" altLang="en-US" sz="280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時間いつでも</a:t>
                </a: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05AF5DE3-CA20-754A-C24A-04BC2517FD1C}"/>
                  </a:ext>
                </a:extLst>
              </p:cNvPr>
              <p:cNvSpPr txBox="1"/>
              <p:nvPr/>
            </p:nvSpPr>
            <p:spPr>
              <a:xfrm>
                <a:off x="8000389" y="2545448"/>
                <a:ext cx="406072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80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学内・日中・先生がいるとき</a:t>
                </a:r>
                <a:endParaRPr kumimoji="1" lang="ja-JP" altLang="en-US" sz="280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</p:txBody>
          </p:sp>
        </p:grpSp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F1837FBE-FE22-AF4F-6096-8850866A6ABC}"/>
                </a:ext>
              </a:extLst>
            </p:cNvPr>
            <p:cNvGrpSpPr/>
            <p:nvPr/>
          </p:nvGrpSpPr>
          <p:grpSpPr>
            <a:xfrm>
              <a:off x="425363" y="2732496"/>
              <a:ext cx="9090184" cy="523220"/>
              <a:chOff x="425363" y="3282585"/>
              <a:chExt cx="9090184" cy="523220"/>
            </a:xfrm>
          </p:grpSpPr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7F95CA54-B6AF-2A6E-4A34-8AD34AC7ECC8}"/>
                  </a:ext>
                </a:extLst>
              </p:cNvPr>
              <p:cNvSpPr txBox="1"/>
              <p:nvPr/>
            </p:nvSpPr>
            <p:spPr>
              <a:xfrm>
                <a:off x="425363" y="3282585"/>
                <a:ext cx="16209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80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質問方法</a:t>
                </a:r>
                <a:endParaRPr kumimoji="1" lang="ja-JP" altLang="en-US" sz="280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</p:txBody>
          </p:sp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FCD0499-CB94-FBAF-2610-C9E5ECE030E9}"/>
                  </a:ext>
                </a:extLst>
              </p:cNvPr>
              <p:cNvSpPr txBox="1"/>
              <p:nvPr/>
            </p:nvSpPr>
            <p:spPr>
              <a:xfrm>
                <a:off x="4616032" y="3282585"/>
                <a:ext cx="26180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80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モバイルへの入力</a:t>
                </a:r>
                <a:endParaRPr kumimoji="1" lang="ja-JP" altLang="en-US" sz="280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</p:txBody>
          </p: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61B3ACAB-22C4-4EE7-4AD7-AEBE377AE266}"/>
                  </a:ext>
                </a:extLst>
              </p:cNvPr>
              <p:cNvSpPr txBox="1"/>
              <p:nvPr/>
            </p:nvSpPr>
            <p:spPr>
              <a:xfrm>
                <a:off x="8000389" y="3282585"/>
                <a:ext cx="15151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80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対面のみ</a:t>
                </a:r>
                <a:endParaRPr kumimoji="1" lang="ja-JP" altLang="en-US" sz="280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</p:txBody>
          </p:sp>
        </p:grpSp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36AB7CAC-A712-EDBF-1207-F246A9025608}"/>
                </a:ext>
              </a:extLst>
            </p:cNvPr>
            <p:cNvGrpSpPr/>
            <p:nvPr/>
          </p:nvGrpSpPr>
          <p:grpSpPr>
            <a:xfrm>
              <a:off x="425363" y="3338527"/>
              <a:ext cx="9412388" cy="523220"/>
              <a:chOff x="425363" y="3779755"/>
              <a:chExt cx="9412388" cy="523220"/>
            </a:xfrm>
          </p:grpSpPr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B4BED91E-6563-9670-77D0-9F90F3697E12}"/>
                  </a:ext>
                </a:extLst>
              </p:cNvPr>
              <p:cNvSpPr txBox="1"/>
              <p:nvPr/>
            </p:nvSpPr>
            <p:spPr>
              <a:xfrm>
                <a:off x="425363" y="3779755"/>
                <a:ext cx="371768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80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質問への心理的ハードル</a:t>
                </a:r>
                <a:endParaRPr kumimoji="1" lang="ja-JP" altLang="en-US" sz="280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</p:txBody>
          </p:sp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BB5C8EA-537D-F9AA-2092-942182772909}"/>
                  </a:ext>
                </a:extLst>
              </p:cNvPr>
              <p:cNvSpPr txBox="1"/>
              <p:nvPr/>
            </p:nvSpPr>
            <p:spPr>
              <a:xfrm>
                <a:off x="4616032" y="3779755"/>
                <a:ext cx="78579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80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ない</a:t>
                </a:r>
              </a:p>
            </p:txBody>
          </p:sp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EAEEAF66-C44C-1666-F408-FF2A7F896C9B}"/>
                  </a:ext>
                </a:extLst>
              </p:cNvPr>
              <p:cNvSpPr txBox="1"/>
              <p:nvPr/>
            </p:nvSpPr>
            <p:spPr>
              <a:xfrm>
                <a:off x="8000389" y="3779755"/>
                <a:ext cx="18373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80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非常に高い</a:t>
                </a:r>
              </a:p>
            </p:txBody>
          </p:sp>
        </p:grpSp>
        <p:grpSp>
          <p:nvGrpSpPr>
            <p:cNvPr id="29" name="グループ化 28">
              <a:extLst>
                <a:ext uri="{FF2B5EF4-FFF2-40B4-BE49-F238E27FC236}">
                  <a16:creationId xmlns:a16="http://schemas.microsoft.com/office/drawing/2014/main" id="{92676D84-6EAE-1F9C-8CCC-FFE46346885A}"/>
                </a:ext>
              </a:extLst>
            </p:cNvPr>
            <p:cNvGrpSpPr/>
            <p:nvPr/>
          </p:nvGrpSpPr>
          <p:grpSpPr>
            <a:xfrm>
              <a:off x="425363" y="3944558"/>
              <a:ext cx="9375519" cy="523220"/>
              <a:chOff x="425363" y="4396848"/>
              <a:chExt cx="9375519" cy="523220"/>
            </a:xfrm>
          </p:grpSpPr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98E72881-C00B-9DB1-EACA-FED9F32E6575}"/>
                  </a:ext>
                </a:extLst>
              </p:cNvPr>
              <p:cNvSpPr txBox="1"/>
              <p:nvPr/>
            </p:nvSpPr>
            <p:spPr>
              <a:xfrm>
                <a:off x="425363" y="4396848"/>
                <a:ext cx="27206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80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「つまづき」の把握</a:t>
                </a:r>
              </a:p>
            </p:txBody>
          </p:sp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B70BED48-41FF-3062-DBF4-B9086CB7ADE3}"/>
                  </a:ext>
                </a:extLst>
              </p:cNvPr>
              <p:cNvSpPr txBox="1"/>
              <p:nvPr/>
            </p:nvSpPr>
            <p:spPr>
              <a:xfrm>
                <a:off x="4616032" y="4396848"/>
                <a:ext cx="126188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80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可視化</a:t>
                </a:r>
                <a:endParaRPr kumimoji="1" lang="ja-JP" altLang="en-US" sz="280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</p:txBody>
          </p:sp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AAEAFC2B-F88E-C146-8B59-AFD43649ACD8}"/>
                  </a:ext>
                </a:extLst>
              </p:cNvPr>
              <p:cNvSpPr txBox="1"/>
              <p:nvPr/>
            </p:nvSpPr>
            <p:spPr>
              <a:xfrm>
                <a:off x="8000389" y="4396848"/>
                <a:ext cx="180049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80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困難・不明</a:t>
                </a:r>
              </a:p>
            </p:txBody>
          </p:sp>
        </p:grpSp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2B928DE2-7D2A-67D7-20A2-8403AC82D70E}"/>
                </a:ext>
              </a:extLst>
            </p:cNvPr>
            <p:cNvGrpSpPr/>
            <p:nvPr/>
          </p:nvGrpSpPr>
          <p:grpSpPr>
            <a:xfrm>
              <a:off x="425363" y="4550589"/>
              <a:ext cx="8477837" cy="523220"/>
              <a:chOff x="425363" y="4953979"/>
              <a:chExt cx="8477837" cy="523220"/>
            </a:xfrm>
          </p:grpSpPr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D9A1A218-3072-A1ED-51D7-39807F51693E}"/>
                  </a:ext>
                </a:extLst>
              </p:cNvPr>
              <p:cNvSpPr txBox="1"/>
              <p:nvPr/>
            </p:nvSpPr>
            <p:spPr>
              <a:xfrm>
                <a:off x="425363" y="4953979"/>
                <a:ext cx="33906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80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「つまづき」対応へ評価</a:t>
                </a:r>
              </a:p>
            </p:txBody>
          </p:sp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5D80C0E7-3B55-847F-35A2-0ED27519EE07}"/>
                  </a:ext>
                </a:extLst>
              </p:cNvPr>
              <p:cNvSpPr txBox="1"/>
              <p:nvPr/>
            </p:nvSpPr>
            <p:spPr>
              <a:xfrm>
                <a:off x="4616032" y="4953979"/>
                <a:ext cx="126188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80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客観的</a:t>
                </a:r>
              </a:p>
            </p:txBody>
          </p:sp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2163D1E3-E446-0719-A843-4B7465A15933}"/>
                  </a:ext>
                </a:extLst>
              </p:cNvPr>
              <p:cNvSpPr txBox="1"/>
              <p:nvPr/>
            </p:nvSpPr>
            <p:spPr>
              <a:xfrm>
                <a:off x="8000389" y="4953979"/>
                <a:ext cx="9028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80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不可</a:t>
                </a:r>
                <a:endParaRPr kumimoji="1" lang="ja-JP" altLang="en-US" sz="280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</p:txBody>
          </p:sp>
        </p:grpSp>
        <p:cxnSp>
          <p:nvCxnSpPr>
            <p:cNvPr id="32" name="直線コネクタ 31">
              <a:extLst>
                <a:ext uri="{FF2B5EF4-FFF2-40B4-BE49-F238E27FC236}">
                  <a16:creationId xmlns:a16="http://schemas.microsoft.com/office/drawing/2014/main" id="{CE4199B6-9297-7F84-EF5F-8FA6CAC43910}"/>
                </a:ext>
              </a:extLst>
            </p:cNvPr>
            <p:cNvCxnSpPr>
              <a:cxnSpLocks/>
            </p:cNvCxnSpPr>
            <p:nvPr/>
          </p:nvCxnSpPr>
          <p:spPr>
            <a:xfrm>
              <a:off x="314793" y="5156617"/>
              <a:ext cx="117073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C86AD18C-86E8-6193-5626-B1CBC1AC853D}"/>
                </a:ext>
              </a:extLst>
            </p:cNvPr>
            <p:cNvCxnSpPr>
              <a:cxnSpLocks/>
            </p:cNvCxnSpPr>
            <p:nvPr/>
          </p:nvCxnSpPr>
          <p:spPr>
            <a:xfrm>
              <a:off x="314793" y="1411570"/>
              <a:ext cx="117073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コネクタ 33">
              <a:extLst>
                <a:ext uri="{FF2B5EF4-FFF2-40B4-BE49-F238E27FC236}">
                  <a16:creationId xmlns:a16="http://schemas.microsoft.com/office/drawing/2014/main" id="{559DD4FA-FFCA-D9C9-2889-904B492297BC}"/>
                </a:ext>
              </a:extLst>
            </p:cNvPr>
            <p:cNvCxnSpPr>
              <a:cxnSpLocks/>
            </p:cNvCxnSpPr>
            <p:nvPr/>
          </p:nvCxnSpPr>
          <p:spPr>
            <a:xfrm>
              <a:off x="314793" y="2043654"/>
              <a:ext cx="117073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EB2F2D66-294F-A358-9413-3F26A6E3A2B7}"/>
                </a:ext>
              </a:extLst>
            </p:cNvPr>
            <p:cNvGrpSpPr/>
            <p:nvPr/>
          </p:nvGrpSpPr>
          <p:grpSpPr>
            <a:xfrm>
              <a:off x="466263" y="1468859"/>
              <a:ext cx="10612213" cy="523220"/>
              <a:chOff x="466263" y="1468859"/>
              <a:chExt cx="10612213" cy="523220"/>
            </a:xfrm>
          </p:grpSpPr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9B4EC472-02DE-472D-C66B-B22BAAA30F98}"/>
                  </a:ext>
                </a:extLst>
              </p:cNvPr>
              <p:cNvSpPr txBox="1"/>
              <p:nvPr/>
            </p:nvSpPr>
            <p:spPr>
              <a:xfrm>
                <a:off x="4616032" y="1468859"/>
                <a:ext cx="160813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80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あるとき😀</a:t>
                </a:r>
              </a:p>
            </p:txBody>
          </p:sp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4FACACCD-8B28-A378-1789-DA7583C323FE}"/>
                  </a:ext>
                </a:extLst>
              </p:cNvPr>
              <p:cNvSpPr txBox="1"/>
              <p:nvPr/>
            </p:nvSpPr>
            <p:spPr>
              <a:xfrm>
                <a:off x="8000389" y="1468859"/>
                <a:ext cx="307808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80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ない</a:t>
                </a:r>
                <a:r>
                  <a:rPr kumimoji="1" lang="ja-JP" altLang="en-US" sz="280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とき😭（従来型）</a:t>
                </a:r>
              </a:p>
            </p:txBody>
          </p:sp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CE5EC075-2C23-0F15-6A02-7B9869F9C304}"/>
                  </a:ext>
                </a:extLst>
              </p:cNvPr>
              <p:cNvSpPr txBox="1"/>
              <p:nvPr/>
            </p:nvSpPr>
            <p:spPr>
              <a:xfrm>
                <a:off x="466263" y="1468859"/>
                <a:ext cx="257153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800" dirty="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『</a:t>
                </a:r>
                <a:r>
                  <a:rPr kumimoji="1" lang="ja-JP" altLang="en-US" sz="280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魔法の黒板</a:t>
                </a:r>
                <a:r>
                  <a:rPr kumimoji="1" lang="en-US" altLang="ja-JP" sz="2800" dirty="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』</a:t>
                </a:r>
                <a:r>
                  <a:rPr kumimoji="1" lang="ja-JP" altLang="en-US" sz="280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が</a:t>
                </a:r>
              </a:p>
            </p:txBody>
          </p:sp>
        </p:grpSp>
      </p:grpSp>
      <p:sp>
        <p:nvSpPr>
          <p:cNvPr id="38" name="角丸四角形 37">
            <a:extLst>
              <a:ext uri="{FF2B5EF4-FFF2-40B4-BE49-F238E27FC236}">
                <a16:creationId xmlns:a16="http://schemas.microsoft.com/office/drawing/2014/main" id="{1AD2AE9A-F6E9-AFE8-E3BA-20167D21209B}"/>
              </a:ext>
            </a:extLst>
          </p:cNvPr>
          <p:cNvSpPr/>
          <p:nvPr/>
        </p:nvSpPr>
        <p:spPr>
          <a:xfrm>
            <a:off x="769011" y="5411449"/>
            <a:ext cx="10658007" cy="116923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3600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　　　　　　　「魔法の黒板」の導入は、メリットしかない！</a:t>
            </a:r>
          </a:p>
        </p:txBody>
      </p:sp>
      <p:sp>
        <p:nvSpPr>
          <p:cNvPr id="40" name="右矢印 39">
            <a:extLst>
              <a:ext uri="{FF2B5EF4-FFF2-40B4-BE49-F238E27FC236}">
                <a16:creationId xmlns:a16="http://schemas.microsoft.com/office/drawing/2014/main" id="{95813237-EE7F-BA45-8F7C-86A29ED9AB1B}"/>
              </a:ext>
            </a:extLst>
          </p:cNvPr>
          <p:cNvSpPr/>
          <p:nvPr/>
        </p:nvSpPr>
        <p:spPr>
          <a:xfrm>
            <a:off x="1484025" y="5741236"/>
            <a:ext cx="978408" cy="484632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81031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9B59B6"/>
                </a:solidFill>
              </a:rPr>
              <a:t>【補足】研究の独創性（詳細）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19200" y="1584960"/>
            <a:ext cx="9753600" cy="1341120"/>
          </a:xfrm>
          <a:prstGeom prst="rect">
            <a:avLst/>
          </a:prstGeom>
          <a:solidFill>
            <a:srgbClr val="E8DAE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4" name="Text 2"/>
          <p:cNvSpPr/>
          <p:nvPr/>
        </p:nvSpPr>
        <p:spPr>
          <a:xfrm>
            <a:off x="1584960" y="1767840"/>
            <a:ext cx="90220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4A235A"/>
                </a:solidFill>
              </a:rPr>
              <a:t>❶ 24時間リアルタイム対応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84960" y="2316480"/>
            <a:ext cx="90220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2C3E50"/>
                </a:solidFill>
              </a:rPr>
              <a:t>疑問を放置しない学習環境の実現</a:t>
            </a:r>
            <a:endParaRPr lang="en-US" sz="1867" dirty="0"/>
          </a:p>
        </p:txBody>
      </p:sp>
      <p:sp>
        <p:nvSpPr>
          <p:cNvPr id="6" name="Shape 4"/>
          <p:cNvSpPr/>
          <p:nvPr/>
        </p:nvSpPr>
        <p:spPr>
          <a:xfrm>
            <a:off x="1219200" y="3291840"/>
            <a:ext cx="9753600" cy="134112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7" name="Text 5"/>
          <p:cNvSpPr/>
          <p:nvPr/>
        </p:nvSpPr>
        <p:spPr>
          <a:xfrm>
            <a:off x="1584960" y="3474720"/>
            <a:ext cx="90220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4A235A"/>
                </a:solidFill>
              </a:rPr>
              <a:t>❷ つまずきの地図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84960" y="4023360"/>
            <a:ext cx="90220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2C3E50"/>
                </a:solidFill>
              </a:rPr>
              <a:t>質問データの定量分析・可視化による教育改善</a:t>
            </a:r>
            <a:endParaRPr lang="en-US" sz="1867" dirty="0"/>
          </a:p>
        </p:txBody>
      </p:sp>
      <p:sp>
        <p:nvSpPr>
          <p:cNvPr id="9" name="Shape 7"/>
          <p:cNvSpPr/>
          <p:nvPr/>
        </p:nvSpPr>
        <p:spPr>
          <a:xfrm>
            <a:off x="1219200" y="4998720"/>
            <a:ext cx="9753600" cy="1341120"/>
          </a:xfrm>
          <a:prstGeom prst="rect">
            <a:avLst/>
          </a:prstGeom>
          <a:solidFill>
            <a:srgbClr val="E8DAE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0" name="Text 8"/>
          <p:cNvSpPr/>
          <p:nvPr/>
        </p:nvSpPr>
        <p:spPr>
          <a:xfrm>
            <a:off x="1584960" y="5181600"/>
            <a:ext cx="90220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4A235A"/>
                </a:solidFill>
              </a:rPr>
              <a:t>❸ 客観的教育効果検証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84960" y="5730240"/>
            <a:ext cx="90220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2C3E50"/>
                </a:solidFill>
              </a:rPr>
              <a:t>10年分の成績データを活用した統計的分析</a:t>
            </a:r>
            <a:endParaRPr lang="en-US" sz="1867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418035" y="2960651"/>
            <a:ext cx="29313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78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4800" dirty="0">
                <a:solidFill>
                  <a:srgbClr val="FFFFFF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⇄</a:t>
            </a:r>
            <a:endParaRPr lang="en-US" sz="4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278234" y="2960651"/>
            <a:ext cx="29313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78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4800" dirty="0">
                <a:solidFill>
                  <a:srgbClr val="FFFFFF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⇄</a:t>
            </a:r>
            <a:endParaRPr lang="en-US" sz="4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095500" y="5346382"/>
            <a:ext cx="8001000" cy="1299263"/>
          </a:xfrm>
          <a:prstGeom prst="roundRect">
            <a:avLst>
              <a:gd name="adj" fmla="val 6559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endParaRPr lang="en-US" sz="16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286000" y="5467293"/>
            <a:ext cx="7772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  <a:spcAft>
                <a:spcPts val="600"/>
              </a:spcAft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</a:t>
            </a:r>
            <a:r>
              <a:rPr lang="en-US" sz="1600" b="1" dirty="0">
                <a:solidFill>
                  <a:srgbClr val="333333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データフロー</a:t>
            </a:r>
            <a:endParaRPr lang="en-US" sz="16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270094" y="5794863"/>
            <a:ext cx="162248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11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65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651" dirty="0"/>
          </a:p>
        </p:txBody>
      </p:sp>
      <p:sp>
        <p:nvSpPr>
          <p:cNvPr id="20" name="Text 17"/>
          <p:cNvSpPr/>
          <p:nvPr/>
        </p:nvSpPr>
        <p:spPr>
          <a:xfrm>
            <a:off x="2270094" y="6126303"/>
            <a:ext cx="1622489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080"/>
              </a:lnSpc>
            </a:pPr>
            <a:r>
              <a:rPr lang="en-US" sz="1600" dirty="0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学生の質問</a:t>
            </a:r>
            <a:endParaRPr lang="en-US" sz="16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990975" y="5756763"/>
            <a:ext cx="194311" cy="643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279869" y="5794863"/>
            <a:ext cx="162248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11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65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651" dirty="0"/>
          </a:p>
        </p:txBody>
      </p:sp>
      <p:sp>
        <p:nvSpPr>
          <p:cNvPr id="23" name="Text 20"/>
          <p:cNvSpPr/>
          <p:nvPr/>
        </p:nvSpPr>
        <p:spPr>
          <a:xfrm>
            <a:off x="4279869" y="6126303"/>
            <a:ext cx="1622489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080"/>
              </a:lnSpc>
            </a:pPr>
            <a:r>
              <a:rPr lang="en-US" sz="1600" dirty="0" err="1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AI処理</a:t>
            </a:r>
            <a:endParaRPr lang="en-US" sz="1600" dirty="0">
              <a:latin typeface="MS UI Gothic" panose="020B0600070205080204" pitchFamily="34" charset="-128"/>
              <a:ea typeface="MS UI Gothic" panose="020B0600070205080204" pitchFamily="34" charset="-128"/>
              <a:cs typeface="Arial" pitchFamily="34" charset="-120"/>
            </a:endParaRPr>
          </a:p>
          <a:p>
            <a:pPr algn="ctr">
              <a:lnSpc>
                <a:spcPts val="1080"/>
              </a:lnSpc>
            </a:pPr>
            <a:endParaRPr lang="en-US" sz="1067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>
              <a:lnSpc>
                <a:spcPts val="1080"/>
              </a:lnSpc>
            </a:pPr>
            <a:r>
              <a:rPr lang="en-US" sz="1600" dirty="0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(</a:t>
            </a:r>
            <a:r>
              <a:rPr lang="en-US" sz="1600" dirty="0" err="1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RAG検索</a:t>
            </a:r>
            <a:r>
              <a:rPr lang="en-US" sz="1600" dirty="0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)</a:t>
            </a:r>
            <a:endParaRPr lang="en-US" sz="16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000750" y="5756763"/>
            <a:ext cx="194311" cy="643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289645" y="5794863"/>
            <a:ext cx="162248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11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65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51" dirty="0"/>
          </a:p>
        </p:txBody>
      </p:sp>
      <p:sp>
        <p:nvSpPr>
          <p:cNvPr id="26" name="Text 23"/>
          <p:cNvSpPr/>
          <p:nvPr/>
        </p:nvSpPr>
        <p:spPr>
          <a:xfrm>
            <a:off x="6289645" y="6126303"/>
            <a:ext cx="1622489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080"/>
              </a:lnSpc>
            </a:pPr>
            <a:r>
              <a:rPr lang="en-US" sz="1600" dirty="0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専門的回答</a:t>
            </a:r>
            <a:endParaRPr lang="en-US" sz="16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010526" y="5756763"/>
            <a:ext cx="194311" cy="643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299420" y="5794863"/>
            <a:ext cx="162248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11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65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651" dirty="0"/>
          </a:p>
        </p:txBody>
      </p:sp>
      <p:sp>
        <p:nvSpPr>
          <p:cNvPr id="29" name="Text 26"/>
          <p:cNvSpPr/>
          <p:nvPr/>
        </p:nvSpPr>
        <p:spPr>
          <a:xfrm>
            <a:off x="8299420" y="6126303"/>
            <a:ext cx="1622489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080"/>
              </a:lnSpc>
            </a:pPr>
            <a:r>
              <a:rPr lang="en-US" sz="1600" dirty="0" err="1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学習ログ</a:t>
            </a:r>
            <a:r>
              <a:rPr lang="en-US" sz="1600" dirty="0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、</a:t>
            </a:r>
          </a:p>
          <a:p>
            <a:pPr algn="ctr">
              <a:lnSpc>
                <a:spcPts val="1080"/>
              </a:lnSpc>
            </a:pPr>
            <a:endParaRPr lang="en-US" sz="1067" dirty="0">
              <a:latin typeface="MS UI Gothic" panose="020B0600070205080204" pitchFamily="34" charset="-128"/>
              <a:ea typeface="MS UI Gothic" panose="020B0600070205080204" pitchFamily="34" charset="-128"/>
              <a:cs typeface="Arial" pitchFamily="34" charset="-120"/>
            </a:endParaRPr>
          </a:p>
          <a:p>
            <a:pPr algn="ctr">
              <a:lnSpc>
                <a:spcPts val="1080"/>
              </a:lnSpc>
            </a:pPr>
            <a:r>
              <a:rPr lang="en-US" sz="1600" dirty="0" err="1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rPr>
              <a:t>蓄積・分析</a:t>
            </a:r>
            <a:endParaRPr lang="en-US" sz="16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F770A13-1C88-E436-BEE2-875891C65213}"/>
              </a:ext>
            </a:extLst>
          </p:cNvPr>
          <p:cNvSpPr txBox="1"/>
          <p:nvPr/>
        </p:nvSpPr>
        <p:spPr>
          <a:xfrm>
            <a:off x="3025291" y="283844"/>
            <a:ext cx="6141425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3733">
                <a:latin typeface="MS UI Gothic" panose="020B0600070205080204" pitchFamily="34" charset="-128"/>
                <a:ea typeface="MS UI Gothic" panose="020B0600070205080204" pitchFamily="34" charset="-128"/>
              </a:rPr>
              <a:t>魔法の黒板ーシステムの概要ー</a:t>
            </a:r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4AC91429-065A-D0AD-172B-57C9AC346619}"/>
              </a:ext>
            </a:extLst>
          </p:cNvPr>
          <p:cNvGrpSpPr/>
          <p:nvPr/>
        </p:nvGrpSpPr>
        <p:grpSpPr>
          <a:xfrm>
            <a:off x="2090421" y="1504489"/>
            <a:ext cx="1969896" cy="3252391"/>
            <a:chOff x="829545" y="1128366"/>
            <a:chExt cx="1477422" cy="2439293"/>
          </a:xfrm>
        </p:grpSpPr>
        <p:sp>
          <p:nvSpPr>
            <p:cNvPr id="3" name="Text 1"/>
            <p:cNvSpPr/>
            <p:nvPr/>
          </p:nvSpPr>
          <p:spPr>
            <a:xfrm>
              <a:off x="856022" y="1128366"/>
              <a:ext cx="1450945" cy="2439293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38100">
              <a:solidFill>
                <a:srgbClr val="4CAF50"/>
              </a:solidFill>
            </a:ln>
            <a:effectLst>
              <a:outerShdw blurRad="190500" dist="76200" dir="5400000" algn="bl" rotWithShape="0">
                <a:srgbClr val="00000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endParaRPr lang="en-US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1018042" y="1238451"/>
              <a:ext cx="961835" cy="4200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4411"/>
                </a:lnSpc>
                <a:spcBef>
                  <a:spcPts val="300"/>
                </a:spcBef>
                <a:spcAft>
                  <a:spcPts val="751"/>
                </a:spcAft>
              </a:pPr>
              <a:r>
                <a:rPr lang="en-US" sz="3151" dirty="0">
                  <a:solidFill>
                    <a:srgbClr val="1D1D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🎓</a:t>
              </a:r>
              <a:endParaRPr lang="en-US" sz="3151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1018042" y="1587514"/>
              <a:ext cx="961835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100"/>
                </a:lnSpc>
                <a:spcAft>
                  <a:spcPts val="600"/>
                </a:spcAft>
              </a:pPr>
              <a:r>
                <a:rPr lang="en-US" sz="1600" dirty="0" err="1">
                  <a:latin typeface="MS UI Gothic" panose="020B0600070205080204" pitchFamily="34" charset="-128"/>
                  <a:ea typeface="MS UI Gothic" panose="020B0600070205080204" pitchFamily="34" charset="-128"/>
                  <a:cs typeface="Arial" pitchFamily="34" charset="-120"/>
                </a:rPr>
                <a:t>学生入力画面</a:t>
              </a:r>
              <a:endParaRPr lang="en-US" sz="16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41081DA5-C635-2408-81D6-3B88F128BFE5}"/>
                </a:ext>
              </a:extLst>
            </p:cNvPr>
            <p:cNvSpPr txBox="1"/>
            <p:nvPr/>
          </p:nvSpPr>
          <p:spPr>
            <a:xfrm>
              <a:off x="829545" y="1851460"/>
              <a:ext cx="1292662" cy="253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</a:t>
              </a:r>
              <a:r>
                <a:rPr lang="en-US" altLang="ja-JP" sz="16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24</a:t>
              </a:r>
              <a:r>
                <a:rPr lang="ja-JP" altLang="en-US" sz="1600">
                  <a:latin typeface="MS UI Gothic" panose="020B0600070205080204" pitchFamily="34" charset="-128"/>
                  <a:ea typeface="MS UI Gothic" panose="020B0600070205080204" pitchFamily="34" charset="-128"/>
                </a:rPr>
                <a:t>時間質問入力</a:t>
              </a: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304DECB4-BE3E-CDE8-F9C7-3617D147491A}"/>
                </a:ext>
              </a:extLst>
            </p:cNvPr>
            <p:cNvSpPr txBox="1"/>
            <p:nvPr/>
          </p:nvSpPr>
          <p:spPr>
            <a:xfrm>
              <a:off x="829545" y="2160825"/>
              <a:ext cx="933188" cy="4385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・カテゴリー別</a:t>
              </a:r>
              <a:endParaRPr lang="en-US" altLang="ja-JP" sz="16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r>
                <a:rPr lang="ja-JP" altLang="en-US" sz="1600">
                  <a:latin typeface="MS UI Gothic" panose="020B0600070205080204" pitchFamily="34" charset="-128"/>
                  <a:ea typeface="MS UI Gothic" panose="020B0600070205080204" pitchFamily="34" charset="-128"/>
                </a:rPr>
                <a:t>　質問対応</a:t>
              </a: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BFB1D01F-EBE4-6034-E6EA-27CE73BAE103}"/>
                </a:ext>
              </a:extLst>
            </p:cNvPr>
            <p:cNvSpPr txBox="1"/>
            <p:nvPr/>
          </p:nvSpPr>
          <p:spPr>
            <a:xfrm>
              <a:off x="829545" y="2654856"/>
              <a:ext cx="1446550" cy="4385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・練習問題自動生成</a:t>
              </a:r>
              <a:endParaRPr lang="en-US" altLang="ja-JP" sz="16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r>
                <a:rPr lang="ja-JP" altLang="en-US" sz="1600">
                  <a:latin typeface="MS UI Gothic" panose="020B0600070205080204" pitchFamily="34" charset="-128"/>
                  <a:ea typeface="MS UI Gothic" panose="020B0600070205080204" pitchFamily="34" charset="-128"/>
                </a:rPr>
                <a:t>　（</a:t>
              </a:r>
              <a:r>
                <a:rPr lang="en-US" altLang="ja-JP" sz="16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5</a:t>
              </a:r>
              <a:r>
                <a:rPr lang="ja-JP" altLang="en-US" sz="1600">
                  <a:latin typeface="MS UI Gothic" panose="020B0600070205080204" pitchFamily="34" charset="-128"/>
                  <a:ea typeface="MS UI Gothic" panose="020B0600070205080204" pitchFamily="34" charset="-128"/>
                </a:rPr>
                <a:t>択</a:t>
              </a:r>
              <a:r>
                <a:rPr lang="en-US" altLang="ja-JP" sz="16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2</a:t>
              </a:r>
              <a:r>
                <a:rPr lang="ja-JP" altLang="en-US" sz="1600">
                  <a:latin typeface="MS UI Gothic" panose="020B0600070205080204" pitchFamily="34" charset="-128"/>
                  <a:ea typeface="MS UI Gothic" panose="020B0600070205080204" pitchFamily="34" charset="-128"/>
                </a:rPr>
                <a:t>正解形式）</a:t>
              </a: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0E2D2E9D-4C8A-DBF4-A4CF-DF9BBCE53CED}"/>
                </a:ext>
              </a:extLst>
            </p:cNvPr>
            <p:cNvSpPr txBox="1"/>
            <p:nvPr/>
          </p:nvSpPr>
          <p:spPr>
            <a:xfrm>
              <a:off x="829545" y="3148887"/>
              <a:ext cx="1292662" cy="253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・難易度選択機能</a:t>
              </a:r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3CDC82FE-1248-6CFB-032B-E0C274DA5F15}"/>
              </a:ext>
            </a:extLst>
          </p:cNvPr>
          <p:cNvGrpSpPr/>
          <p:nvPr/>
        </p:nvGrpSpPr>
        <p:grpSpPr>
          <a:xfrm>
            <a:off x="7969059" y="1504489"/>
            <a:ext cx="1967542" cy="3252391"/>
            <a:chOff x="4691391" y="1128366"/>
            <a:chExt cx="1475657" cy="2439293"/>
          </a:xfrm>
        </p:grpSpPr>
        <p:sp>
          <p:nvSpPr>
            <p:cNvPr id="13" name="Text 10"/>
            <p:cNvSpPr/>
            <p:nvPr/>
          </p:nvSpPr>
          <p:spPr>
            <a:xfrm>
              <a:off x="4716103" y="1128366"/>
              <a:ext cx="1450945" cy="2439293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38100">
              <a:solidFill>
                <a:srgbClr val="FF9800"/>
              </a:solidFill>
            </a:ln>
            <a:effectLst>
              <a:outerShdw blurRad="190500" dist="76200" dir="5400000" algn="bl" rotWithShape="0">
                <a:srgbClr val="00000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endParaRPr lang="en-US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4878123" y="1238451"/>
              <a:ext cx="961835" cy="4200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4411"/>
                </a:lnSpc>
                <a:spcBef>
                  <a:spcPts val="300"/>
                </a:spcBef>
                <a:spcAft>
                  <a:spcPts val="751"/>
                </a:spcAft>
              </a:pPr>
              <a:r>
                <a:rPr lang="en-US" sz="3151" dirty="0">
                  <a:solidFill>
                    <a:srgbClr val="1D1D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👨‍🏫</a:t>
              </a:r>
              <a:endParaRPr lang="en-US" sz="3151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4878123" y="1587514"/>
              <a:ext cx="961835" cy="200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2100"/>
                </a:lnSpc>
                <a:spcAft>
                  <a:spcPts val="600"/>
                </a:spcAft>
              </a:pPr>
              <a:r>
                <a:rPr lang="en-US" sz="1600" dirty="0" err="1">
                  <a:latin typeface="MS UI Gothic" panose="020B0600070205080204" pitchFamily="34" charset="-128"/>
                  <a:ea typeface="MS UI Gothic" panose="020B0600070205080204" pitchFamily="34" charset="-128"/>
                  <a:cs typeface="Arial" pitchFamily="34" charset="-120"/>
                </a:rPr>
                <a:t>教員確認画面</a:t>
              </a:r>
              <a:endParaRPr lang="en-US" sz="16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027EC0F5-E2AC-BE76-E7F9-A5B09246F5D6}"/>
                </a:ext>
              </a:extLst>
            </p:cNvPr>
            <p:cNvSpPr txBox="1"/>
            <p:nvPr/>
          </p:nvSpPr>
          <p:spPr>
            <a:xfrm>
              <a:off x="4691391" y="1869044"/>
              <a:ext cx="1265010" cy="253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・学習履歴の確認</a:t>
              </a: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0BB22231-F3B3-3418-B317-8E384BF57FF2}"/>
                </a:ext>
              </a:extLst>
            </p:cNvPr>
            <p:cNvSpPr txBox="1"/>
            <p:nvPr/>
          </p:nvSpPr>
          <p:spPr>
            <a:xfrm>
              <a:off x="4691391" y="2172548"/>
              <a:ext cx="1291460" cy="4385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・つまづき</a:t>
              </a:r>
              <a:endParaRPr lang="en-US" altLang="ja-JP" sz="16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r>
                <a:rPr lang="ja-JP" altLang="en-US" sz="1600">
                  <a:latin typeface="MS UI Gothic" panose="020B0600070205080204" pitchFamily="34" charset="-128"/>
                  <a:ea typeface="MS UI Gothic" panose="020B0600070205080204" pitchFamily="34" charset="-128"/>
                </a:rPr>
                <a:t>　ポイントの可視化</a:t>
              </a: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6EC56408-C660-40CA-6EB8-C05974CD2B72}"/>
                </a:ext>
              </a:extLst>
            </p:cNvPr>
            <p:cNvSpPr txBox="1"/>
            <p:nvPr/>
          </p:nvSpPr>
          <p:spPr>
            <a:xfrm>
              <a:off x="4691391" y="2660718"/>
              <a:ext cx="1170032" cy="253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</a:t>
              </a:r>
              <a:r>
                <a:rPr lang="en-US" altLang="ja-JP" sz="16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FAQ </a:t>
              </a:r>
              <a:r>
                <a:rPr lang="ja-JP" altLang="en-US" sz="1600">
                  <a:latin typeface="MS UI Gothic" panose="020B0600070205080204" pitchFamily="34" charset="-128"/>
                  <a:ea typeface="MS UI Gothic" panose="020B0600070205080204" pitchFamily="34" charset="-128"/>
                </a:rPr>
                <a:t>自動抽出</a:t>
              </a: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9837E863-5D82-7EAD-FA30-BE9D08305851}"/>
                </a:ext>
              </a:extLst>
            </p:cNvPr>
            <p:cNvSpPr txBox="1"/>
            <p:nvPr/>
          </p:nvSpPr>
          <p:spPr>
            <a:xfrm>
              <a:off x="4691391" y="2964221"/>
              <a:ext cx="1138773" cy="4385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60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・記録出力機能</a:t>
              </a:r>
              <a:endParaRPr lang="en-US" altLang="ja-JP" sz="16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r>
                <a:rPr lang="ja-JP" altLang="en-US" sz="1600">
                  <a:latin typeface="MS UI Gothic" panose="020B0600070205080204" pitchFamily="34" charset="-128"/>
                  <a:ea typeface="MS UI Gothic" panose="020B0600070205080204" pitchFamily="34" charset="-128"/>
                </a:rPr>
                <a:t>　（</a:t>
              </a:r>
              <a:r>
                <a:rPr lang="en-US" altLang="ja-JP" sz="16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csv/excel</a:t>
              </a:r>
              <a:r>
                <a:rPr lang="ja-JP" altLang="en-US" sz="1600">
                  <a:latin typeface="MS UI Gothic" panose="020B0600070205080204" pitchFamily="34" charset="-128"/>
                  <a:ea typeface="MS UI Gothic" panose="020B0600070205080204" pitchFamily="34" charset="-128"/>
                </a:rPr>
                <a:t>）</a:t>
              </a:r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11C1505C-87A5-8D39-A21E-414016624A1A}"/>
              </a:ext>
            </a:extLst>
          </p:cNvPr>
          <p:cNvGrpSpPr/>
          <p:nvPr/>
        </p:nvGrpSpPr>
        <p:grpSpPr>
          <a:xfrm>
            <a:off x="4909734" y="1504488"/>
            <a:ext cx="2154829" cy="1851627"/>
            <a:chOff x="2640699" y="1530268"/>
            <a:chExt cx="1616122" cy="1388720"/>
          </a:xfr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grpSpPr>
        <p:sp>
          <p:nvSpPr>
            <p:cNvPr id="43" name="円/楕円 42">
              <a:extLst>
                <a:ext uri="{FF2B5EF4-FFF2-40B4-BE49-F238E27FC236}">
                  <a16:creationId xmlns:a16="http://schemas.microsoft.com/office/drawing/2014/main" id="{381830D4-7EAC-12F8-3146-CC2AAC6AD991}"/>
                </a:ext>
              </a:extLst>
            </p:cNvPr>
            <p:cNvSpPr/>
            <p:nvPr/>
          </p:nvSpPr>
          <p:spPr>
            <a:xfrm>
              <a:off x="2760065" y="1530268"/>
              <a:ext cx="1388720" cy="138872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400"/>
            </a:p>
          </p:txBody>
        </p:sp>
        <p:sp>
          <p:nvSpPr>
            <p:cNvPr id="44" name="Text 6">
              <a:extLst>
                <a:ext uri="{FF2B5EF4-FFF2-40B4-BE49-F238E27FC236}">
                  <a16:creationId xmlns:a16="http://schemas.microsoft.com/office/drawing/2014/main" id="{D1B659CE-4AE4-EFE4-FBF0-D75A3D3C361D}"/>
                </a:ext>
              </a:extLst>
            </p:cNvPr>
            <p:cNvSpPr/>
            <p:nvPr/>
          </p:nvSpPr>
          <p:spPr>
            <a:xfrm>
              <a:off x="3249830" y="1648663"/>
              <a:ext cx="409190" cy="450056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4725"/>
                </a:lnSpc>
                <a:spcBef>
                  <a:spcPts val="300"/>
                </a:spcBef>
                <a:spcAft>
                  <a:spcPts val="451"/>
                </a:spcAft>
              </a:pPr>
              <a:r>
                <a:rPr lang="en-US" sz="3375" dirty="0">
                  <a:solidFill>
                    <a:srgbClr val="1D1D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🤖</a:t>
              </a:r>
              <a:endParaRPr lang="en-US" sz="3375" dirty="0"/>
            </a:p>
          </p:txBody>
        </p:sp>
        <p:sp>
          <p:nvSpPr>
            <p:cNvPr id="45" name="Text 7">
              <a:extLst>
                <a:ext uri="{FF2B5EF4-FFF2-40B4-BE49-F238E27FC236}">
                  <a16:creationId xmlns:a16="http://schemas.microsoft.com/office/drawing/2014/main" id="{5887B6E0-DA1D-DD1A-3F7A-C04386A586BA}"/>
                </a:ext>
              </a:extLst>
            </p:cNvPr>
            <p:cNvSpPr/>
            <p:nvPr/>
          </p:nvSpPr>
          <p:spPr>
            <a:xfrm>
              <a:off x="2640699" y="2007240"/>
              <a:ext cx="1616122" cy="4095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891"/>
                </a:lnSpc>
              </a:pPr>
              <a:r>
                <a:rPr lang="en-US" sz="1600" dirty="0" err="1">
                  <a:latin typeface="MS UI Gothic" panose="020B0600070205080204" pitchFamily="34" charset="-128"/>
                  <a:ea typeface="MS UI Gothic" panose="020B0600070205080204" pitchFamily="34" charset="-128"/>
                  <a:cs typeface="Arial" pitchFamily="34" charset="-120"/>
                </a:rPr>
                <a:t>医薬品情報学専用</a:t>
              </a:r>
              <a:endParaRPr lang="en-US" sz="1600" dirty="0">
                <a:latin typeface="MS UI Gothic" panose="020B0600070205080204" pitchFamily="34" charset="-128"/>
                <a:ea typeface="MS UI Gothic" panose="020B0600070205080204" pitchFamily="34" charset="-128"/>
                <a:cs typeface="Arial" pitchFamily="34" charset="-120"/>
              </a:endParaRPr>
            </a:p>
            <a:p>
              <a:pPr algn="ctr">
                <a:lnSpc>
                  <a:spcPts val="1891"/>
                </a:lnSpc>
              </a:pPr>
              <a:r>
                <a:rPr lang="en-US" sz="1600" dirty="0" err="1">
                  <a:latin typeface="MS UI Gothic" panose="020B0600070205080204" pitchFamily="34" charset="-128"/>
                  <a:ea typeface="MS UI Gothic" panose="020B0600070205080204" pitchFamily="34" charset="-128"/>
                  <a:cs typeface="Arial" pitchFamily="34" charset="-120"/>
                </a:rPr>
                <a:t>AIエンジン</a:t>
              </a:r>
              <a:endParaRPr lang="en-US" sz="16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46" name="Text 8">
              <a:extLst>
                <a:ext uri="{FF2B5EF4-FFF2-40B4-BE49-F238E27FC236}">
                  <a16:creationId xmlns:a16="http://schemas.microsoft.com/office/drawing/2014/main" id="{6FFFA479-9D23-3F4F-F3A0-2A951FE22FB5}"/>
                </a:ext>
              </a:extLst>
            </p:cNvPr>
            <p:cNvSpPr/>
            <p:nvPr/>
          </p:nvSpPr>
          <p:spPr>
            <a:xfrm>
              <a:off x="3056187" y="2445697"/>
              <a:ext cx="796477" cy="259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365"/>
                </a:lnSpc>
                <a:spcBef>
                  <a:spcPts val="225"/>
                </a:spcBef>
              </a:pPr>
              <a:r>
                <a:rPr lang="en-US" sz="1600" dirty="0">
                  <a:latin typeface="MS UI Gothic" panose="020B0600070205080204" pitchFamily="34" charset="-128"/>
                  <a:ea typeface="MS UI Gothic" panose="020B0600070205080204" pitchFamily="34" charset="-128"/>
                  <a:cs typeface="Arial" pitchFamily="34" charset="-120"/>
                </a:rPr>
                <a:t>RAG + </a:t>
              </a:r>
            </a:p>
            <a:p>
              <a:pPr algn="ctr">
                <a:lnSpc>
                  <a:spcPts val="1365"/>
                </a:lnSpc>
                <a:spcBef>
                  <a:spcPts val="225"/>
                </a:spcBef>
              </a:pPr>
              <a:r>
                <a:rPr lang="en-US" sz="1600" dirty="0" err="1">
                  <a:latin typeface="MS UI Gothic" panose="020B0600070205080204" pitchFamily="34" charset="-128"/>
                  <a:ea typeface="MS UI Gothic" panose="020B0600070205080204" pitchFamily="34" charset="-128"/>
                  <a:cs typeface="Arial" pitchFamily="34" charset="-120"/>
                </a:rPr>
                <a:t>知識ベース</a:t>
              </a:r>
              <a:endParaRPr lang="en-US" sz="16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</p:grp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C2F9FDEE-8D1E-28D6-3D5F-ADC2CFD32326}"/>
              </a:ext>
            </a:extLst>
          </p:cNvPr>
          <p:cNvGrpSpPr/>
          <p:nvPr/>
        </p:nvGrpSpPr>
        <p:grpSpPr>
          <a:xfrm>
            <a:off x="5041690" y="3370670"/>
            <a:ext cx="2026444" cy="1730515"/>
            <a:chOff x="2495862" y="2528001"/>
            <a:chExt cx="1519833" cy="1297886"/>
          </a:xfr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grpSpPr>
        <p:sp>
          <p:nvSpPr>
            <p:cNvPr id="48" name="角丸四角形 47">
              <a:extLst>
                <a:ext uri="{FF2B5EF4-FFF2-40B4-BE49-F238E27FC236}">
                  <a16:creationId xmlns:a16="http://schemas.microsoft.com/office/drawing/2014/main" id="{7F7B009C-3ACD-CEAD-2942-304C48D536C2}"/>
                </a:ext>
              </a:extLst>
            </p:cNvPr>
            <p:cNvSpPr/>
            <p:nvPr/>
          </p:nvSpPr>
          <p:spPr>
            <a:xfrm>
              <a:off x="2495862" y="2528001"/>
              <a:ext cx="1512440" cy="1297886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400"/>
            </a:p>
          </p:txBody>
        </p: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697EB61B-A032-ABB0-41CC-3E01E0D1BD33}"/>
                </a:ext>
              </a:extLst>
            </p:cNvPr>
            <p:cNvSpPr txBox="1"/>
            <p:nvPr/>
          </p:nvSpPr>
          <p:spPr>
            <a:xfrm>
              <a:off x="2518651" y="2565336"/>
              <a:ext cx="1188066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40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</a:t>
              </a:r>
              <a:r>
                <a:rPr lang="en-US" altLang="ja-JP" sz="14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OpenAI GPT-4o, </a:t>
              </a:r>
              <a:endParaRPr lang="ja-JP" altLang="en-US" sz="140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FEAE63B6-EE29-D7D0-4260-A03F88F30840}"/>
                </a:ext>
              </a:extLst>
            </p:cNvPr>
            <p:cNvSpPr txBox="1"/>
            <p:nvPr/>
          </p:nvSpPr>
          <p:spPr>
            <a:xfrm>
              <a:off x="2518651" y="2778530"/>
              <a:ext cx="1497044" cy="3924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40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</a:t>
              </a:r>
              <a:r>
                <a:rPr lang="en-US" altLang="ja-JP" sz="14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Anthropic </a:t>
              </a:r>
            </a:p>
            <a:p>
              <a:r>
                <a:rPr lang="en-US" altLang="ja-JP" sz="14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 Claude Sonnet4, Opus4</a:t>
              </a:r>
              <a:endParaRPr lang="ja-JP" altLang="en-US" sz="140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F89C42E2-9AD5-D3C9-6841-109F7489C287}"/>
                </a:ext>
              </a:extLst>
            </p:cNvPr>
            <p:cNvSpPr txBox="1"/>
            <p:nvPr/>
          </p:nvSpPr>
          <p:spPr>
            <a:xfrm>
              <a:off x="2518651" y="3153306"/>
              <a:ext cx="1256594" cy="3924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40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・オリジナル講義資料</a:t>
              </a:r>
              <a:endParaRPr lang="en-US" altLang="ja-JP" sz="14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r>
                <a:rPr lang="ja-JP" altLang="en-US" sz="1400">
                  <a:latin typeface="MS UI Gothic" panose="020B0600070205080204" pitchFamily="34" charset="-128"/>
                  <a:ea typeface="MS UI Gothic" panose="020B0600070205080204" pitchFamily="34" charset="-128"/>
                </a:rPr>
                <a:t>（著作権クリア）</a:t>
              </a:r>
              <a:endParaRPr lang="en-US" altLang="ja-JP" sz="14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833C42C7-93F4-B69F-173E-209F7F4E54D7}"/>
                </a:ext>
              </a:extLst>
            </p:cNvPr>
            <p:cNvSpPr txBox="1"/>
            <p:nvPr/>
          </p:nvSpPr>
          <p:spPr>
            <a:xfrm>
              <a:off x="2518651" y="3528083"/>
              <a:ext cx="1439336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140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・学習ログの安全な管理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1A734-D22F-014E-BFB1-3628A1AF5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89DBDA64-6B75-591A-6987-F8D078978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03282"/>
            <a:ext cx="7772400" cy="3811465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6BF67B7-8A1E-8E5E-A108-A26CD1716FB5}"/>
              </a:ext>
            </a:extLst>
          </p:cNvPr>
          <p:cNvSpPr txBox="1"/>
          <p:nvPr/>
        </p:nvSpPr>
        <p:spPr>
          <a:xfrm>
            <a:off x="3733023" y="283844"/>
            <a:ext cx="4725974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3733">
                <a:latin typeface="MS UI Gothic" panose="020B0600070205080204" pitchFamily="34" charset="-128"/>
                <a:ea typeface="MS UI Gothic" panose="020B0600070205080204" pitchFamily="34" charset="-128"/>
              </a:rPr>
              <a:t>ー学生</a:t>
            </a:r>
            <a:r>
              <a:rPr lang="en-US" altLang="ja-JP" sz="3733" dirty="0">
                <a:latin typeface="MS UI Gothic" panose="020B0600070205080204" pitchFamily="34" charset="-128"/>
                <a:ea typeface="MS UI Gothic" panose="020B0600070205080204" pitchFamily="34" charset="-128"/>
              </a:rPr>
              <a:t>UI</a:t>
            </a:r>
            <a:r>
              <a:rPr lang="ja-JP" altLang="en-US" sz="3733">
                <a:solidFill>
                  <a:schemeClr val="bg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ログイン</a:t>
            </a:r>
            <a:r>
              <a:rPr lang="ja-JP" altLang="en-US" sz="3733">
                <a:latin typeface="MS UI Gothic" panose="020B0600070205080204" pitchFamily="34" charset="-128"/>
                <a:ea typeface="MS UI Gothic" panose="020B0600070205080204" pitchFamily="34" charset="-128"/>
              </a:rPr>
              <a:t>画面ー</a:t>
            </a:r>
          </a:p>
        </p:txBody>
      </p:sp>
    </p:spTree>
    <p:extLst>
      <p:ext uri="{BB962C8B-B14F-4D97-AF65-F5344CB8AC3E}">
        <p14:creationId xmlns:p14="http://schemas.microsoft.com/office/powerpoint/2010/main" val="1201618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7037B-FC54-8AD7-553C-9C016413B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1A79E6A5-E971-EEFD-4170-193F6A848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700" y="899411"/>
            <a:ext cx="5072601" cy="5861132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851654-D7DD-9C15-163D-9E91A4278A13}"/>
              </a:ext>
            </a:extLst>
          </p:cNvPr>
          <p:cNvSpPr txBox="1"/>
          <p:nvPr/>
        </p:nvSpPr>
        <p:spPr>
          <a:xfrm>
            <a:off x="3483760" y="283844"/>
            <a:ext cx="5224507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3733">
                <a:latin typeface="MS UI Gothic" panose="020B0600070205080204" pitchFamily="34" charset="-128"/>
                <a:ea typeface="MS UI Gothic" panose="020B0600070205080204" pitchFamily="34" charset="-128"/>
              </a:rPr>
              <a:t>ー学生</a:t>
            </a:r>
            <a:r>
              <a:rPr lang="en-US" altLang="ja-JP" sz="3733" dirty="0">
                <a:latin typeface="MS UI Gothic" panose="020B0600070205080204" pitchFamily="34" charset="-128"/>
                <a:ea typeface="MS UI Gothic" panose="020B0600070205080204" pitchFamily="34" charset="-128"/>
              </a:rPr>
              <a:t>UI</a:t>
            </a:r>
            <a:r>
              <a:rPr lang="ja-JP" altLang="en-US" sz="3733">
                <a:solidFill>
                  <a:schemeClr val="bg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質問入力</a:t>
            </a:r>
            <a:r>
              <a:rPr lang="ja-JP" altLang="en-US" sz="3733">
                <a:latin typeface="MS UI Gothic" panose="020B0600070205080204" pitchFamily="34" charset="-128"/>
                <a:ea typeface="MS UI Gothic" panose="020B0600070205080204" pitchFamily="34" charset="-128"/>
              </a:rPr>
              <a:t>画面ー</a:t>
            </a:r>
          </a:p>
        </p:txBody>
      </p:sp>
    </p:spTree>
    <p:extLst>
      <p:ext uri="{BB962C8B-B14F-4D97-AF65-F5344CB8AC3E}">
        <p14:creationId xmlns:p14="http://schemas.microsoft.com/office/powerpoint/2010/main" val="52151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47AA9-4F43-720F-8D53-2A0ED844A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7DFB08E5-604C-BD30-4844-0E710B4C4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362" y="907552"/>
            <a:ext cx="5018005" cy="5798048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2E6B3F4-1E14-009C-A724-98B0E3AEEA24}"/>
              </a:ext>
            </a:extLst>
          </p:cNvPr>
          <p:cNvSpPr txBox="1"/>
          <p:nvPr/>
        </p:nvSpPr>
        <p:spPr>
          <a:xfrm>
            <a:off x="3004466" y="283844"/>
            <a:ext cx="6183103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3733">
                <a:latin typeface="MS UI Gothic" panose="020B0600070205080204" pitchFamily="34" charset="-128"/>
                <a:ea typeface="MS UI Gothic" panose="020B0600070205080204" pitchFamily="34" charset="-128"/>
              </a:rPr>
              <a:t>ー学生</a:t>
            </a:r>
            <a:r>
              <a:rPr lang="en-US" altLang="ja-JP" sz="3733" dirty="0">
                <a:latin typeface="MS UI Gothic" panose="020B0600070205080204" pitchFamily="34" charset="-128"/>
                <a:ea typeface="MS UI Gothic" panose="020B0600070205080204" pitchFamily="34" charset="-128"/>
              </a:rPr>
              <a:t>UI</a:t>
            </a:r>
            <a:r>
              <a:rPr lang="ja-JP" altLang="en-US" sz="3733">
                <a:solidFill>
                  <a:schemeClr val="bg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練習問題生成</a:t>
            </a:r>
            <a:r>
              <a:rPr lang="ja-JP" altLang="en-US" sz="3733">
                <a:latin typeface="MS UI Gothic" panose="020B0600070205080204" pitchFamily="34" charset="-128"/>
                <a:ea typeface="MS UI Gothic" panose="020B0600070205080204" pitchFamily="34" charset="-128"/>
              </a:rPr>
              <a:t>画面ー</a:t>
            </a:r>
          </a:p>
        </p:txBody>
      </p:sp>
    </p:spTree>
    <p:extLst>
      <p:ext uri="{BB962C8B-B14F-4D97-AF65-F5344CB8AC3E}">
        <p14:creationId xmlns:p14="http://schemas.microsoft.com/office/powerpoint/2010/main" val="4142549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76FE7-0D40-D8CE-8725-F6FC48BC3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9D3B5FC8-51AA-6781-26E7-741C54BD8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027" y="981471"/>
            <a:ext cx="6613947" cy="5570101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77F9BA0-1433-0E6F-FE46-405F270ADC67}"/>
              </a:ext>
            </a:extLst>
          </p:cNvPr>
          <p:cNvSpPr txBox="1"/>
          <p:nvPr/>
        </p:nvSpPr>
        <p:spPr>
          <a:xfrm>
            <a:off x="3126302" y="283844"/>
            <a:ext cx="5939446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3733">
                <a:latin typeface="MS UI Gothic" panose="020B0600070205080204" pitchFamily="34" charset="-128"/>
                <a:ea typeface="MS UI Gothic" panose="020B0600070205080204" pitchFamily="34" charset="-128"/>
              </a:rPr>
              <a:t>ー教師</a:t>
            </a:r>
            <a:r>
              <a:rPr lang="en-US" altLang="ja-JP" sz="3733" dirty="0">
                <a:latin typeface="MS UI Gothic" panose="020B0600070205080204" pitchFamily="34" charset="-128"/>
                <a:ea typeface="MS UI Gothic" panose="020B0600070205080204" pitchFamily="34" charset="-128"/>
              </a:rPr>
              <a:t>UI</a:t>
            </a:r>
            <a:r>
              <a:rPr lang="ja-JP" altLang="en-US" sz="3733">
                <a:solidFill>
                  <a:schemeClr val="bg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学習ログ確認</a:t>
            </a:r>
            <a:r>
              <a:rPr lang="ja-JP" altLang="en-US" sz="3733">
                <a:latin typeface="MS UI Gothic" panose="020B0600070205080204" pitchFamily="34" charset="-128"/>
                <a:ea typeface="MS UI Gothic" panose="020B0600070205080204" pitchFamily="34" charset="-128"/>
              </a:rPr>
              <a:t>画面ー</a:t>
            </a:r>
          </a:p>
        </p:txBody>
      </p:sp>
    </p:spTree>
    <p:extLst>
      <p:ext uri="{BB962C8B-B14F-4D97-AF65-F5344CB8AC3E}">
        <p14:creationId xmlns:p14="http://schemas.microsoft.com/office/powerpoint/2010/main" val="4037501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AE868-D8ED-DFC2-8F54-62CE1782A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554CD54F-45C4-084A-8CBA-B9D5C5849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718" y="981471"/>
            <a:ext cx="6338565" cy="5472687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3A77D95-531F-8BE8-3232-6813A9D1CFA4}"/>
              </a:ext>
            </a:extLst>
          </p:cNvPr>
          <p:cNvSpPr txBox="1"/>
          <p:nvPr/>
        </p:nvSpPr>
        <p:spPr>
          <a:xfrm>
            <a:off x="2808907" y="283844"/>
            <a:ext cx="6574236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3733">
                <a:latin typeface="MS UI Gothic" panose="020B0600070205080204" pitchFamily="34" charset="-128"/>
                <a:ea typeface="MS UI Gothic" panose="020B0600070205080204" pitchFamily="34" charset="-128"/>
              </a:rPr>
              <a:t>魔法の黒板ー教師</a:t>
            </a:r>
            <a:r>
              <a:rPr lang="en-US" altLang="ja-JP" sz="3733" dirty="0">
                <a:latin typeface="MS UI Gothic" panose="020B0600070205080204" pitchFamily="34" charset="-128"/>
                <a:ea typeface="MS UI Gothic" panose="020B0600070205080204" pitchFamily="34" charset="-128"/>
              </a:rPr>
              <a:t>UI</a:t>
            </a:r>
            <a:r>
              <a:rPr lang="ja-JP" altLang="en-US" sz="3733">
                <a:solidFill>
                  <a:schemeClr val="bg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分析</a:t>
            </a:r>
            <a:r>
              <a:rPr lang="ja-JP" altLang="en-US" sz="3733">
                <a:latin typeface="MS UI Gothic" panose="020B0600070205080204" pitchFamily="34" charset="-128"/>
                <a:ea typeface="MS UI Gothic" panose="020B0600070205080204" pitchFamily="34" charset="-128"/>
              </a:rPr>
              <a:t>画面ー</a:t>
            </a:r>
          </a:p>
        </p:txBody>
      </p:sp>
    </p:spTree>
    <p:extLst>
      <p:ext uri="{BB962C8B-B14F-4D97-AF65-F5344CB8AC3E}">
        <p14:creationId xmlns:p14="http://schemas.microsoft.com/office/powerpoint/2010/main" val="2394534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4429A-81FB-A634-3195-43C2321DE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2148AFD5-A789-9994-B234-349D50C53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95438"/>
            <a:ext cx="7772400" cy="5246885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9567F1-6B84-F3A4-29D7-1DF53861618D}"/>
              </a:ext>
            </a:extLst>
          </p:cNvPr>
          <p:cNvSpPr txBox="1"/>
          <p:nvPr/>
        </p:nvSpPr>
        <p:spPr>
          <a:xfrm>
            <a:off x="2263085" y="283844"/>
            <a:ext cx="7665881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3733">
                <a:latin typeface="MS UI Gothic" panose="020B0600070205080204" pitchFamily="34" charset="-128"/>
                <a:ea typeface="MS UI Gothic" panose="020B0600070205080204" pitchFamily="34" charset="-128"/>
              </a:rPr>
              <a:t>ー教師</a:t>
            </a:r>
            <a:r>
              <a:rPr lang="en-US" altLang="ja-JP" sz="3733" dirty="0">
                <a:latin typeface="MS UI Gothic" panose="020B0600070205080204" pitchFamily="34" charset="-128"/>
                <a:ea typeface="MS UI Gothic" panose="020B0600070205080204" pitchFamily="34" charset="-128"/>
              </a:rPr>
              <a:t>UI</a:t>
            </a:r>
            <a:r>
              <a:rPr lang="ja-JP" altLang="en-US" sz="3733">
                <a:solidFill>
                  <a:schemeClr val="bg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つまづきポイント可視化</a:t>
            </a:r>
            <a:r>
              <a:rPr lang="ja-JP" altLang="en-US" sz="3733">
                <a:latin typeface="MS UI Gothic" panose="020B0600070205080204" pitchFamily="34" charset="-128"/>
                <a:ea typeface="MS UI Gothic" panose="020B0600070205080204" pitchFamily="34" charset="-128"/>
              </a:rPr>
              <a:t>画面ー</a:t>
            </a:r>
          </a:p>
        </p:txBody>
      </p:sp>
    </p:spTree>
    <p:extLst>
      <p:ext uri="{BB962C8B-B14F-4D97-AF65-F5344CB8AC3E}">
        <p14:creationId xmlns:p14="http://schemas.microsoft.com/office/powerpoint/2010/main" val="213345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4249646-67A8-E2A9-9884-1164DE52AF02}"/>
              </a:ext>
            </a:extLst>
          </p:cNvPr>
          <p:cNvSpPr txBox="1"/>
          <p:nvPr/>
        </p:nvSpPr>
        <p:spPr>
          <a:xfrm>
            <a:off x="855624" y="1061278"/>
            <a:ext cx="10480753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3600">
                <a:latin typeface="MS UI Gothic" panose="020B0600070205080204" pitchFamily="34" charset="-128"/>
                <a:ea typeface="MS UI Gothic" panose="020B0600070205080204" pitchFamily="34" charset="-128"/>
              </a:rPr>
              <a:t>生成系</a:t>
            </a:r>
            <a:r>
              <a:rPr kumimoji="1" lang="en-US" altLang="ja-JP" sz="36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AI</a:t>
            </a:r>
            <a:r>
              <a:rPr kumimoji="1" lang="ja-JP" altLang="en-US" sz="3600">
                <a:latin typeface="MS UI Gothic" panose="020B0600070205080204" pitchFamily="34" charset="-128"/>
                <a:ea typeface="MS UI Gothic" panose="020B0600070205080204" pitchFamily="34" charset="-128"/>
              </a:rPr>
              <a:t>を活用した即時質問応答型学習支援システム</a:t>
            </a:r>
            <a:endParaRPr kumimoji="1" lang="en-US" altLang="ja-JP" sz="36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endParaRPr kumimoji="1" lang="en-US" altLang="ja-JP" sz="9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lang="ja-JP" altLang="en-US" sz="6000">
                <a:latin typeface="MS UI Gothic" panose="020B0600070205080204" pitchFamily="34" charset="-128"/>
                <a:ea typeface="MS UI Gothic" panose="020B0600070205080204" pitchFamily="34" charset="-128"/>
              </a:rPr>
              <a:t>🪄「魔法の黒板」🪄</a:t>
            </a:r>
            <a:endParaRPr lang="en-US" altLang="ja-JP" sz="60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endParaRPr lang="en-US" altLang="ja-JP" sz="9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kumimoji="1" lang="ja-JP" altLang="en-US" sz="3600">
                <a:latin typeface="MS UI Gothic" panose="020B0600070205080204" pitchFamily="34" charset="-128"/>
                <a:ea typeface="MS UI Gothic" panose="020B0600070205080204" pitchFamily="34" charset="-128"/>
              </a:rPr>
              <a:t>の開発と薬学教育における教育効果の検証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EB372F0-7B2A-A458-C6A8-E29774EF3EC0}"/>
              </a:ext>
            </a:extLst>
          </p:cNvPr>
          <p:cNvSpPr txBox="1"/>
          <p:nvPr/>
        </p:nvSpPr>
        <p:spPr>
          <a:xfrm>
            <a:off x="3855642" y="4254500"/>
            <a:ext cx="4480714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神戸学院大学</a:t>
            </a:r>
            <a:r>
              <a:rPr lang="en-US" altLang="ja-JP" sz="3600" dirty="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 </a:t>
            </a:r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薬学部</a:t>
            </a:r>
            <a:endParaRPr lang="en-US" altLang="ja-JP" sz="3600" dirty="0">
              <a:latin typeface="MS UI Gothic" panose="020B0600070205080204" pitchFamily="34" charset="-128"/>
              <a:ea typeface="MS UI Gothic" panose="020B0600070205080204" pitchFamily="34" charset="-128"/>
              <a:cs typeface="Yu Gothic" pitchFamily="34" charset="-120"/>
            </a:endParaRPr>
          </a:p>
          <a:p>
            <a:pPr algn="ctr"/>
            <a:endParaRPr lang="en-US" altLang="ja-JP" sz="9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橋本</a:t>
            </a:r>
            <a:r>
              <a:rPr lang="en-US" altLang="ja-JP" sz="3600" dirty="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 </a:t>
            </a:r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保彦</a:t>
            </a:r>
            <a:r>
              <a:rPr lang="ja-JP" altLang="en-US" sz="360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、</a:t>
            </a:r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辰見</a:t>
            </a:r>
            <a:r>
              <a:rPr lang="en-US" altLang="ja-JP" sz="3600" dirty="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 </a:t>
            </a:r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明俊</a:t>
            </a:r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3811708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0678" y="228600"/>
            <a:ext cx="1149064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962FF"/>
                </a:solidFill>
              </a:defRPr>
            </a:pPr>
            <a:r>
              <a:rPr sz="48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研究の背景と課題</a:t>
            </a:r>
            <a:r>
              <a:rPr sz="48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:「</a:t>
            </a:r>
            <a:r>
              <a:rPr sz="48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魔法の黒板」開発の経緯</a:t>
            </a:r>
            <a:endParaRPr sz="4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1000" y="800100"/>
            <a:ext cx="11430000" cy="1524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4" name="TextBox 3"/>
          <p:cNvSpPr txBox="1"/>
          <p:nvPr/>
        </p:nvSpPr>
        <p:spPr>
          <a:xfrm>
            <a:off x="381000" y="990600"/>
            <a:ext cx="2068195" cy="4513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80000"/>
                </a:solidFill>
              </a:defRPr>
            </a:pPr>
            <a:r>
              <a:rPr sz="2333" dirty="0"/>
              <a:t>📊 </a:t>
            </a:r>
            <a:r>
              <a:rPr sz="2333" dirty="0" err="1">
                <a:solidFill>
                  <a:schemeClr val="bg1"/>
                </a:solidFill>
              </a:rPr>
              <a:t>課題の発見</a:t>
            </a:r>
            <a:endParaRPr sz="2333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447800"/>
            <a:ext cx="5334000" cy="533400"/>
          </a:xfrm>
          <a:prstGeom prst="rect">
            <a:avLst/>
          </a:prstGeom>
          <a:solidFill>
            <a:srgbClr val="FFC8C8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sz="1500" dirty="0" err="1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成績不振の顕在化</a:t>
            </a:r>
            <a:endParaRPr sz="1500" dirty="0">
              <a:solidFill>
                <a:schemeClr val="tx1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2095500"/>
            <a:ext cx="5334000" cy="533400"/>
          </a:xfrm>
          <a:prstGeom prst="rect">
            <a:avLst/>
          </a:prstGeom>
          <a:solidFill>
            <a:srgbClr val="FFDCB4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sz="1500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反転講義導入→成績の二極化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000" y="2743200"/>
            <a:ext cx="5334000" cy="533400"/>
          </a:xfrm>
          <a:prstGeom prst="rect">
            <a:avLst/>
          </a:prstGeom>
          <a:solidFill>
            <a:srgbClr val="C8E6FF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sz="1500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学生面談実施→本質的課題発見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3429000"/>
            <a:ext cx="1430200" cy="374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4C8"/>
                </a:solidFill>
              </a:defRPr>
            </a:pPr>
            <a:r>
              <a:rPr sz="1833"/>
              <a:t>💬 学生の声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3810000"/>
            <a:ext cx="5334000" cy="381000"/>
          </a:xfrm>
          <a:prstGeom prst="rect">
            <a:avLst/>
          </a:prstGeom>
          <a:solidFill>
            <a:srgbClr val="FFF5E6"/>
          </a:solidFill>
          <a:ln w="12700">
            <a:solidFill>
              <a:srgbClr val="C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 dirty="0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• </a:t>
            </a:r>
            <a:r>
              <a:rPr dirty="0" err="1"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先生に聞きにくい</a:t>
            </a:r>
            <a:endParaRPr dirty="0">
              <a:solidFill>
                <a:schemeClr val="tx1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1000" y="4267200"/>
            <a:ext cx="5334000" cy="381000"/>
          </a:xfrm>
          <a:prstGeom prst="rect">
            <a:avLst/>
          </a:prstGeom>
          <a:solidFill>
            <a:srgbClr val="FFF5E6"/>
          </a:solidFill>
          <a:ln w="12700">
            <a:solidFill>
              <a:srgbClr val="C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• 何度も質問して怒られないか不安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000" y="4724399"/>
            <a:ext cx="5334000" cy="381000"/>
          </a:xfrm>
          <a:prstGeom prst="rect">
            <a:avLst/>
          </a:prstGeom>
          <a:solidFill>
            <a:srgbClr val="FFF5E6"/>
          </a:solidFill>
          <a:ln w="12700">
            <a:solidFill>
              <a:srgbClr val="C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• 疑問が解決できず試験日を迎えた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1000" y="5181599"/>
            <a:ext cx="5334000" cy="381000"/>
          </a:xfrm>
          <a:prstGeom prst="rect">
            <a:avLst/>
          </a:prstGeom>
          <a:solidFill>
            <a:srgbClr val="FFF5E6"/>
          </a:solidFill>
          <a:ln w="12700">
            <a:solidFill>
              <a:srgbClr val="C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rPr>
                <a:solidFill>
                  <a:schemeClr val="tx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• 夜中に疑問が生じても聞けない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0" y="990600"/>
            <a:ext cx="5715000" cy="1676400"/>
          </a:xfrm>
          <a:prstGeom prst="rect">
            <a:avLst/>
          </a:prstGeom>
          <a:solidFill>
            <a:srgbClr val="FFF0F0"/>
          </a:solidFill>
          <a:ln w="317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400" b="1">
                <a:solidFill>
                  <a:srgbClr val="C80000"/>
                </a:solidFill>
              </a:defRPr>
            </a:pPr>
            <a:r>
              <a:rPr sz="20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⚠️ </a:t>
            </a:r>
            <a:r>
              <a:rPr sz="20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教員側の課題認識</a:t>
            </a:r>
            <a:endParaRPr sz="20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spcBef>
                <a:spcPts val="667"/>
              </a:spcBef>
              <a:defRPr sz="1800" b="1"/>
            </a:pPr>
            <a:r>
              <a:rPr sz="15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❌ </a:t>
            </a:r>
            <a:r>
              <a:rPr sz="1500" dirty="0" err="1">
                <a:solidFill>
                  <a:srgbClr val="FF00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学生が困っていることを把握していない</a:t>
            </a:r>
            <a:endParaRPr sz="1500" dirty="0">
              <a:solidFill>
                <a:srgbClr val="FF00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spcBef>
                <a:spcPts val="667"/>
              </a:spcBef>
              <a:defRPr sz="1800" b="1"/>
            </a:pPr>
            <a:r>
              <a:rPr sz="1500" dirty="0">
                <a:solidFill>
                  <a:srgbClr val="FF00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❌ </a:t>
            </a:r>
            <a:r>
              <a:rPr sz="1500" dirty="0" err="1">
                <a:solidFill>
                  <a:srgbClr val="FF00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学習状況を把握していない</a:t>
            </a:r>
            <a:endParaRPr sz="1500" dirty="0">
              <a:solidFill>
                <a:srgbClr val="FF00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96000" y="2819400"/>
            <a:ext cx="1468672" cy="4513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00"/>
                </a:solidFill>
              </a:defRPr>
            </a:pPr>
            <a:r>
              <a:rPr sz="2333" dirty="0"/>
              <a:t>💡 </a:t>
            </a:r>
            <a:r>
              <a:rPr sz="2333" dirty="0" err="1">
                <a:solidFill>
                  <a:srgbClr val="FFFF00"/>
                </a:solidFill>
              </a:rPr>
              <a:t>解決策</a:t>
            </a:r>
            <a:endParaRPr sz="2333" dirty="0">
              <a:solidFill>
                <a:srgbClr val="FFFF00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096000" y="3276600"/>
            <a:ext cx="381000" cy="3810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500"/>
              <a:t>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53200" y="3276600"/>
            <a:ext cx="5257800" cy="381000"/>
          </a:xfrm>
          <a:prstGeom prst="rect">
            <a:avLst/>
          </a:prstGeom>
          <a:solidFill>
            <a:srgbClr val="E6F0FF"/>
          </a:solidFill>
          <a:ln w="1905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sz="1500">
                <a:solidFill>
                  <a:schemeClr val="tx1"/>
                </a:solidFill>
              </a:rPr>
              <a:t>24時間質問対応</a:t>
            </a:r>
          </a:p>
        </p:txBody>
      </p:sp>
      <p:sp>
        <p:nvSpPr>
          <p:cNvPr id="17" name="Oval 16"/>
          <p:cNvSpPr/>
          <p:nvPr/>
        </p:nvSpPr>
        <p:spPr>
          <a:xfrm>
            <a:off x="6096000" y="3810000"/>
            <a:ext cx="381000" cy="3810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500"/>
              <a:t>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3200" y="3810000"/>
            <a:ext cx="5257800" cy="381000"/>
          </a:xfrm>
          <a:prstGeom prst="rect">
            <a:avLst/>
          </a:prstGeom>
          <a:solidFill>
            <a:srgbClr val="F0FFF0"/>
          </a:solidFill>
          <a:ln w="1905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sz="1500">
                <a:solidFill>
                  <a:schemeClr val="tx1"/>
                </a:solidFill>
              </a:rPr>
              <a:t>心理的安全性の確保</a:t>
            </a:r>
          </a:p>
        </p:txBody>
      </p:sp>
      <p:sp>
        <p:nvSpPr>
          <p:cNvPr id="19" name="Oval 18"/>
          <p:cNvSpPr/>
          <p:nvPr/>
        </p:nvSpPr>
        <p:spPr>
          <a:xfrm>
            <a:off x="6096000" y="4343400"/>
            <a:ext cx="381000" cy="3810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500"/>
              <a:t>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4343400"/>
            <a:ext cx="5257800" cy="381000"/>
          </a:xfrm>
          <a:prstGeom prst="rect">
            <a:avLst/>
          </a:prstGeom>
          <a:solidFill>
            <a:srgbClr val="FFF5E6"/>
          </a:solidFill>
          <a:ln w="1905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sz="1500">
                <a:solidFill>
                  <a:schemeClr val="tx1"/>
                </a:solidFill>
              </a:rPr>
              <a:t>学習状況の可視化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0" y="4876800"/>
            <a:ext cx="5715000" cy="1524000"/>
          </a:xfrm>
          <a:prstGeom prst="rect">
            <a:avLst/>
          </a:prstGeom>
          <a:solidFill>
            <a:srgbClr val="FFFADC"/>
          </a:solidFill>
          <a:ln w="38100">
            <a:solidFill>
              <a:srgbClr val="FF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3200" b="1">
                <a:solidFill>
                  <a:srgbClr val="C86400"/>
                </a:solidFill>
              </a:defRPr>
            </a:pPr>
            <a:r>
              <a:rPr sz="2667"/>
              <a:t>✨「魔法の黒板」の誕生✨</a:t>
            </a:r>
          </a:p>
          <a:p>
            <a:pPr algn="ctr">
              <a:defRPr sz="2000" b="1">
                <a:solidFill>
                  <a:srgbClr val="2962FF"/>
                </a:solidFill>
              </a:defRPr>
            </a:pPr>
            <a:r>
              <a:rPr sz="1667"/>
              <a:t>AI技術を活用した教育支援システム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4852D-6DC8-315F-78FD-90CEBE833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E15A6F8-45A9-5C88-BC0A-57C194718EBB}"/>
              </a:ext>
            </a:extLst>
          </p:cNvPr>
          <p:cNvSpPr txBox="1"/>
          <p:nvPr/>
        </p:nvSpPr>
        <p:spPr>
          <a:xfrm>
            <a:off x="4520888" y="355600"/>
            <a:ext cx="31502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800">
                <a:latin typeface="MS UI Gothic" panose="020B0600070205080204" pitchFamily="34" charset="-128"/>
                <a:ea typeface="MS UI Gothic" panose="020B0600070205080204" pitchFamily="34" charset="-128"/>
              </a:rPr>
              <a:t>研究の目的</a:t>
            </a:r>
            <a:endParaRPr kumimoji="1" lang="en-US" altLang="ja-JP" sz="4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7917807-8FF5-5CF6-4D69-4C98257A2620}"/>
              </a:ext>
            </a:extLst>
          </p:cNvPr>
          <p:cNvSpPr txBox="1"/>
          <p:nvPr/>
        </p:nvSpPr>
        <p:spPr>
          <a:xfrm>
            <a:off x="892161" y="1454047"/>
            <a:ext cx="1039419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 dirty="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🎯 </a:t>
            </a:r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主目的</a:t>
            </a:r>
            <a:r>
              <a:rPr lang="ja-JP" altLang="en-US" sz="360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：</a:t>
            </a:r>
            <a:endParaRPr lang="en-US" altLang="ja-JP" sz="3600" dirty="0">
              <a:latin typeface="MS UI Gothic" panose="020B0600070205080204" pitchFamily="34" charset="-128"/>
              <a:ea typeface="MS UI Gothic" panose="020B0600070205080204" pitchFamily="34" charset="-128"/>
              <a:cs typeface="Yu Gothic" pitchFamily="34" charset="-120"/>
            </a:endParaRPr>
          </a:p>
          <a:p>
            <a:r>
              <a:rPr lang="ja-JP" altLang="en-US" sz="3600" b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薬学教育に特化した学習支援システム「魔法の黒板」を</a:t>
            </a:r>
            <a:endParaRPr lang="en-US" altLang="ja-JP" sz="3600" b="1" dirty="0">
              <a:latin typeface="MS UI Gothic" panose="020B0600070205080204" pitchFamily="34" charset="-128"/>
              <a:ea typeface="MS UI Gothic" panose="020B0600070205080204" pitchFamily="34" charset="-128"/>
              <a:cs typeface="Yu Gothic" pitchFamily="34" charset="-120"/>
            </a:endParaRPr>
          </a:p>
          <a:p>
            <a:r>
              <a:rPr lang="ja-JP" altLang="en-US" sz="3600" b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開発し、　</a:t>
            </a:r>
            <a:r>
              <a:rPr lang="en-US" altLang="ja-JP" sz="3600" b="1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学生の学習成果に与える影響を明らかにする</a:t>
            </a:r>
            <a:endParaRPr lang="en-US" altLang="ja-JP" sz="36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A64C0F0-3D5F-9F15-86E6-ABEB55DB21B0}"/>
              </a:ext>
            </a:extLst>
          </p:cNvPr>
          <p:cNvSpPr txBox="1"/>
          <p:nvPr/>
        </p:nvSpPr>
        <p:spPr>
          <a:xfrm>
            <a:off x="892161" y="3649627"/>
            <a:ext cx="851226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📈</a:t>
            </a:r>
            <a:r>
              <a:rPr lang="en-US" altLang="ja-JP" sz="3600" dirty="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 </a:t>
            </a:r>
            <a:r>
              <a:rPr lang="ja-JP" altLang="en-US" sz="360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副次的</a:t>
            </a:r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目的</a:t>
            </a:r>
            <a:r>
              <a:rPr lang="ja-JP" altLang="en-US" sz="360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：</a:t>
            </a:r>
            <a:endParaRPr lang="en-US" altLang="ja-JP" sz="3600" dirty="0">
              <a:latin typeface="MS UI Gothic" panose="020B0600070205080204" pitchFamily="34" charset="-128"/>
              <a:ea typeface="MS UI Gothic" panose="020B0600070205080204" pitchFamily="34" charset="-128"/>
              <a:cs typeface="Yu Gothic" pitchFamily="34" charset="-120"/>
            </a:endParaRPr>
          </a:p>
          <a:p>
            <a:r>
              <a:rPr lang="ja-JP" altLang="en-US" sz="360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　</a:t>
            </a:r>
            <a:r>
              <a:rPr lang="en-US" altLang="ja-JP" sz="3600" dirty="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①</a:t>
            </a:r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学習行動・学習意欲の変化</a:t>
            </a:r>
            <a:endParaRPr lang="en-US" altLang="ja-JP" sz="3600" dirty="0">
              <a:latin typeface="MS UI Gothic" panose="020B0600070205080204" pitchFamily="34" charset="-128"/>
              <a:ea typeface="MS UI Gothic" panose="020B0600070205080204" pitchFamily="34" charset="-128"/>
              <a:cs typeface="Yu Gothic" pitchFamily="34" charset="-120"/>
            </a:endParaRPr>
          </a:p>
          <a:p>
            <a:r>
              <a:rPr lang="ja-JP" altLang="en-US" sz="3600">
                <a:latin typeface="MS UI Gothic" panose="020B0600070205080204" pitchFamily="34" charset="-128"/>
                <a:ea typeface="MS UI Gothic" panose="020B0600070205080204" pitchFamily="34" charset="-128"/>
              </a:rPr>
              <a:t>　</a:t>
            </a:r>
            <a:r>
              <a:rPr lang="en-US" altLang="ja-JP" sz="36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②</a:t>
            </a:r>
            <a:r>
              <a:rPr lang="en-US" altLang="ja-JP" sz="3600" dirty="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 「</a:t>
            </a:r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つまずきの地図」の作成による講義改善</a:t>
            </a:r>
            <a:endParaRPr lang="en-US" altLang="ja-JP" sz="36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88940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F84A0-6C7F-D619-B0A5-50B89BEDB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869C66E-A717-228D-E7E8-B063DF0C21E7}"/>
              </a:ext>
            </a:extLst>
          </p:cNvPr>
          <p:cNvSpPr/>
          <p:nvPr/>
        </p:nvSpPr>
        <p:spPr>
          <a:xfrm>
            <a:off x="154646" y="1318432"/>
            <a:ext cx="5887453" cy="54994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17EBB75-8229-CBFA-79A9-E746EA233AAB}"/>
              </a:ext>
            </a:extLst>
          </p:cNvPr>
          <p:cNvSpPr txBox="1"/>
          <p:nvPr/>
        </p:nvSpPr>
        <p:spPr>
          <a:xfrm>
            <a:off x="1197134" y="355600"/>
            <a:ext cx="98058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>
                <a:latin typeface="MS UI Gothic" panose="020B0600070205080204" pitchFamily="34" charset="-128"/>
                <a:ea typeface="MS UI Gothic" panose="020B0600070205080204" pitchFamily="34" charset="-128"/>
              </a:rPr>
              <a:t>国内外研究における本研究の位置づけ</a:t>
            </a:r>
            <a:endParaRPr kumimoji="1" lang="ja-JP" altLang="en-US" sz="480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C73F362-9DA1-F994-5996-263438AA1A5B}"/>
              </a:ext>
            </a:extLst>
          </p:cNvPr>
          <p:cNvSpPr txBox="1"/>
          <p:nvPr/>
        </p:nvSpPr>
        <p:spPr>
          <a:xfrm>
            <a:off x="587783" y="1697581"/>
            <a:ext cx="51764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海外</a:t>
            </a:r>
            <a:r>
              <a:rPr lang="en-US" altLang="ja-JP" sz="2400" b="1" dirty="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: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en-US" altLang="ja-JP" sz="2400" dirty="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 Khan </a:t>
            </a:r>
            <a:r>
              <a:rPr lang="en-US" altLang="ja-JP" sz="2400" dirty="0" err="1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Academy等が個別指導型AI実践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8064022-3CF8-D912-43DC-82498C1F229B}"/>
              </a:ext>
            </a:extLst>
          </p:cNvPr>
          <p:cNvSpPr txBox="1"/>
          <p:nvPr/>
        </p:nvSpPr>
        <p:spPr>
          <a:xfrm>
            <a:off x="587783" y="2660108"/>
            <a:ext cx="48590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国内</a:t>
            </a:r>
            <a:r>
              <a:rPr lang="en-US" altLang="ja-JP" sz="2400" b="1" dirty="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: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en-US" altLang="ja-JP" sz="2400" dirty="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 </a:t>
            </a:r>
            <a:r>
              <a:rPr lang="en-US" altLang="ja-JP" sz="2400" dirty="0" err="1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英語・数学など基礎科目中心に導入</a:t>
            </a:r>
            <a:endParaRPr kumimoji="1" lang="ja-JP" altLang="en-US" sz="240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DBAC818-7AEE-5704-9DB6-838BAC3B9FA4}"/>
              </a:ext>
            </a:extLst>
          </p:cNvPr>
          <p:cNvSpPr txBox="1"/>
          <p:nvPr/>
        </p:nvSpPr>
        <p:spPr>
          <a:xfrm>
            <a:off x="587783" y="3622635"/>
            <a:ext cx="46297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96167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課題</a:t>
            </a:r>
            <a:r>
              <a:rPr lang="en-US" altLang="ja-JP" sz="2400" b="1" dirty="0">
                <a:solidFill>
                  <a:srgbClr val="F96167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: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en-US" altLang="ja-JP" sz="2400" dirty="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 </a:t>
            </a:r>
            <a:r>
              <a:rPr lang="en-US" altLang="ja-JP" sz="2400" dirty="0" err="1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医療系専門科目での体系的導入</a:t>
            </a:r>
            <a:r>
              <a:rPr lang="en-US" altLang="ja-JP" sz="2400" dirty="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・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en-US" altLang="ja-JP" sz="2400" dirty="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 </a:t>
            </a:r>
            <a:r>
              <a:rPr lang="en-US" altLang="ja-JP" sz="2400" dirty="0" err="1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研究は限定的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A9120BA7-8E85-37F2-0C3B-037AFAD9D6BB}"/>
              </a:ext>
            </a:extLst>
          </p:cNvPr>
          <p:cNvSpPr/>
          <p:nvPr/>
        </p:nvSpPr>
        <p:spPr>
          <a:xfrm>
            <a:off x="1053005" y="5265982"/>
            <a:ext cx="36576" cy="1097280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ja-JP" altLang="en-US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42CEA81F-4F09-C960-5ECE-470666179093}"/>
              </a:ext>
            </a:extLst>
          </p:cNvPr>
          <p:cNvSpPr/>
          <p:nvPr/>
        </p:nvSpPr>
        <p:spPr>
          <a:xfrm>
            <a:off x="1053005" y="6317543"/>
            <a:ext cx="4162555" cy="45719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ja-JP" altLang="en-US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9F8658C-DBB9-BC4E-724A-0ADC7E09058F}"/>
              </a:ext>
            </a:extLst>
          </p:cNvPr>
          <p:cNvSpPr/>
          <p:nvPr/>
        </p:nvSpPr>
        <p:spPr>
          <a:xfrm>
            <a:off x="331915" y="5395924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666666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専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666666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門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666666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性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DD7559C4-B211-533C-A0CB-4EE08E13AB6A}"/>
              </a:ext>
            </a:extLst>
          </p:cNvPr>
          <p:cNvSpPr/>
          <p:nvPr/>
        </p:nvSpPr>
        <p:spPr>
          <a:xfrm>
            <a:off x="824405" y="498203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66666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高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536400B1-72CF-3E15-07AD-B74B038C3A10}"/>
              </a:ext>
            </a:extLst>
          </p:cNvPr>
          <p:cNvSpPr/>
          <p:nvPr/>
        </p:nvSpPr>
        <p:spPr>
          <a:xfrm>
            <a:off x="824405" y="61731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66666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低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0E9BC98A-83B2-F6D6-4E48-20549F1BC979}"/>
              </a:ext>
            </a:extLst>
          </p:cNvPr>
          <p:cNvSpPr/>
          <p:nvPr/>
        </p:nvSpPr>
        <p:spPr>
          <a:xfrm>
            <a:off x="2012002" y="6465888"/>
            <a:ext cx="2101515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666666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体系性・研究基盤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E9585585-FCA8-0768-11F6-F0F2DC5F136D}"/>
              </a:ext>
            </a:extLst>
          </p:cNvPr>
          <p:cNvSpPr/>
          <p:nvPr/>
        </p:nvSpPr>
        <p:spPr>
          <a:xfrm>
            <a:off x="649548" y="6421655"/>
            <a:ext cx="8871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66666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限定的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00E25132-C605-D4A8-1D63-ECFCDB5EE4A9}"/>
              </a:ext>
            </a:extLst>
          </p:cNvPr>
          <p:cNvSpPr/>
          <p:nvPr/>
        </p:nvSpPr>
        <p:spPr>
          <a:xfrm>
            <a:off x="4737876" y="6421655"/>
            <a:ext cx="8871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66666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体系的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121DDF1A-A6C7-591C-EEF4-B9410FAD561F}"/>
              </a:ext>
            </a:extLst>
          </p:cNvPr>
          <p:cNvSpPr/>
          <p:nvPr/>
        </p:nvSpPr>
        <p:spPr>
          <a:xfrm>
            <a:off x="1173323" y="5745642"/>
            <a:ext cx="1347392" cy="551206"/>
          </a:xfrm>
          <a:prstGeom prst="ellipse">
            <a:avLst/>
          </a:prstGeom>
          <a:solidFill>
            <a:srgbClr val="CCCCCC">
              <a:alpha val="60000"/>
            </a:srgbClr>
          </a:solidFill>
          <a:ln w="190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ja-JP" altLang="en-US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C6D6B148-BCC2-A84A-5CF5-C12B7F5E0F64}"/>
              </a:ext>
            </a:extLst>
          </p:cNvPr>
          <p:cNvSpPr/>
          <p:nvPr/>
        </p:nvSpPr>
        <p:spPr>
          <a:xfrm>
            <a:off x="1173323" y="5745642"/>
            <a:ext cx="1460806" cy="597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55555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基礎科目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555555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既存研究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FF0C828B-7422-6588-E945-F0EAD72544A8}"/>
              </a:ext>
            </a:extLst>
          </p:cNvPr>
          <p:cNvSpPr/>
          <p:nvPr/>
        </p:nvSpPr>
        <p:spPr>
          <a:xfrm>
            <a:off x="3247565" y="5180959"/>
            <a:ext cx="1527206" cy="664003"/>
          </a:xfrm>
          <a:prstGeom prst="ellipse">
            <a:avLst/>
          </a:prstGeom>
          <a:solidFill>
            <a:srgbClr val="F96167">
              <a:alpha val="85000"/>
            </a:srgbClr>
          </a:solidFill>
          <a:ln w="317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ja-JP" altLang="en-US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59722689-2165-DB0B-DF1F-54C042F9D43E}"/>
              </a:ext>
            </a:extLst>
          </p:cNvPr>
          <p:cNvSpPr/>
          <p:nvPr/>
        </p:nvSpPr>
        <p:spPr>
          <a:xfrm>
            <a:off x="3364351" y="5284360"/>
            <a:ext cx="12936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本研究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(薬学専門)</a:t>
            </a:r>
            <a:endParaRPr lang="en-US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CB25262-A8F7-D6AC-11C7-8A911F6234AF}"/>
              </a:ext>
            </a:extLst>
          </p:cNvPr>
          <p:cNvSpPr txBox="1"/>
          <p:nvPr/>
        </p:nvSpPr>
        <p:spPr>
          <a:xfrm>
            <a:off x="2174882" y="1056822"/>
            <a:ext cx="1846980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現状と課題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FF4029E-70AD-D840-ABEC-0C394E9BBCA1}"/>
              </a:ext>
            </a:extLst>
          </p:cNvPr>
          <p:cNvSpPr/>
          <p:nvPr/>
        </p:nvSpPr>
        <p:spPr>
          <a:xfrm>
            <a:off x="6190329" y="1310412"/>
            <a:ext cx="5887453" cy="54994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664788E-FE72-CE83-C950-5B26528812DB}"/>
              </a:ext>
            </a:extLst>
          </p:cNvPr>
          <p:cNvSpPr txBox="1"/>
          <p:nvPr/>
        </p:nvSpPr>
        <p:spPr>
          <a:xfrm>
            <a:off x="8503115" y="1048802"/>
            <a:ext cx="1261884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本研究</a:t>
            </a:r>
            <a:endParaRPr kumimoji="1" lang="ja-JP" altLang="en-US" sz="280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B3CB93C-6403-A00C-6B18-FFBB28077236}"/>
              </a:ext>
            </a:extLst>
          </p:cNvPr>
          <p:cNvSpPr txBox="1"/>
          <p:nvPr/>
        </p:nvSpPr>
        <p:spPr>
          <a:xfrm>
            <a:off x="6391175" y="1612237"/>
            <a:ext cx="55467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ja-JP" altLang="en-US" sz="240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薬学モデル・コアカリキュラム</a:t>
            </a:r>
            <a:r>
              <a:rPr lang="en-US" altLang="ja-JP" sz="2400" dirty="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SBOs</a:t>
            </a:r>
            <a:r>
              <a:rPr lang="ja-JP" altLang="en-US" sz="240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に準拠</a:t>
            </a:r>
            <a:endParaRPr lang="en-US" altLang="ja-JP" sz="2400" dirty="0">
              <a:solidFill>
                <a:srgbClr val="212121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40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　・</a:t>
            </a:r>
            <a:r>
              <a:rPr lang="en-US" altLang="ja-JP" sz="2400" dirty="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137</a:t>
            </a:r>
            <a:r>
              <a:rPr lang="ja-JP" altLang="en-US" sz="240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項目の専門知識エースの構築</a:t>
            </a:r>
            <a:endParaRPr lang="en-US" altLang="ja-JP" sz="2400" dirty="0">
              <a:solidFill>
                <a:srgbClr val="212121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40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　・医療系教育に特化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D8F0FFC-7D77-3C74-4500-067A02098D3E}"/>
              </a:ext>
            </a:extLst>
          </p:cNvPr>
          <p:cNvSpPr txBox="1"/>
          <p:nvPr/>
        </p:nvSpPr>
        <p:spPr>
          <a:xfrm>
            <a:off x="6391175" y="3287996"/>
            <a:ext cx="45784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2. </a:t>
            </a:r>
            <a:r>
              <a:rPr lang="ja-JP" altLang="en-US" sz="240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医療系教育における体系的導入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kumimoji="1" lang="ja-JP" altLang="en-US" sz="240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　・実証研究によるエビづンスの構築</a:t>
            </a:r>
            <a:endParaRPr kumimoji="1" lang="en-US" altLang="ja-JP" sz="2400" dirty="0">
              <a:solidFill>
                <a:srgbClr val="212121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400">
                <a:solidFill>
                  <a:srgbClr val="21212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　・学習効果の定量的評価</a:t>
            </a:r>
            <a:endParaRPr kumimoji="1" lang="ja-JP" altLang="en-US" sz="240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28FF21D-A718-D688-F764-519FAD34BA72}"/>
              </a:ext>
            </a:extLst>
          </p:cNvPr>
          <p:cNvSpPr txBox="1"/>
          <p:nvPr/>
        </p:nvSpPr>
        <p:spPr>
          <a:xfrm>
            <a:off x="6391175" y="4963755"/>
            <a:ext cx="37802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3. </a:t>
            </a:r>
            <a:r>
              <a:rPr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先駆的モデルケースの確立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　・他の医療系専門救育への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　　展開可能性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3832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7369035F-CCA0-F185-C877-6E7EC14A21A0}"/>
              </a:ext>
            </a:extLst>
          </p:cNvPr>
          <p:cNvGrpSpPr/>
          <p:nvPr/>
        </p:nvGrpSpPr>
        <p:grpSpPr>
          <a:xfrm>
            <a:off x="474128" y="1414272"/>
            <a:ext cx="4402667" cy="4216998"/>
            <a:chOff x="270932" y="1414272"/>
            <a:chExt cx="4402667" cy="4216998"/>
          </a:xfrm>
        </p:grpSpPr>
        <p:sp>
          <p:nvSpPr>
            <p:cNvPr id="4" name="Shape 2"/>
            <p:cNvSpPr/>
            <p:nvPr/>
          </p:nvSpPr>
          <p:spPr>
            <a:xfrm>
              <a:off x="270932" y="1414272"/>
              <a:ext cx="4402667" cy="4216998"/>
            </a:xfrm>
            <a:prstGeom prst="rect">
              <a:avLst/>
            </a:prstGeom>
            <a:solidFill>
              <a:srgbClr val="D5F4E6"/>
            </a:solidFill>
            <a:ln w="25400">
              <a:solidFill>
                <a:srgbClr val="27AE60"/>
              </a:solidFill>
              <a:prstDash val="solid"/>
            </a:ln>
          </p:spPr>
          <p:txBody>
            <a:bodyPr/>
            <a:lstStyle/>
            <a:p>
              <a:endParaRPr lang="ja-JP" altLang="en-US" sz="2400"/>
            </a:p>
          </p:txBody>
        </p:sp>
        <p:sp>
          <p:nvSpPr>
            <p:cNvPr id="5" name="Text 3"/>
            <p:cNvSpPr/>
            <p:nvPr/>
          </p:nvSpPr>
          <p:spPr>
            <a:xfrm>
              <a:off x="480905" y="1788802"/>
              <a:ext cx="3982720" cy="2926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ts val="2400"/>
                </a:lnSpc>
              </a:pPr>
              <a:r>
                <a:rPr lang="en-US" sz="2800" b="1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👨‍🎓 </a:t>
              </a:r>
              <a:r>
                <a:rPr lang="en-US" sz="2800" b="1" dirty="0" err="1">
                  <a:latin typeface="MS UI Gothic" panose="020B0600070205080204" pitchFamily="34" charset="-128"/>
                  <a:ea typeface="MS UI Gothic" panose="020B0600070205080204" pitchFamily="34" charset="-128"/>
                </a:rPr>
                <a:t>学生入力画面</a:t>
              </a: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</a:t>
              </a:r>
              <a:r>
                <a:rPr lang="en-US" sz="2800" dirty="0">
                  <a:solidFill>
                    <a:srgbClr val="FF0000"/>
                  </a:solidFill>
                  <a:latin typeface="MS UI Gothic" panose="020B0600070205080204" pitchFamily="34" charset="-128"/>
                  <a:ea typeface="MS UI Gothic" panose="020B0600070205080204" pitchFamily="34" charset="-128"/>
                </a:rPr>
                <a:t>24時間質問対応</a:t>
              </a:r>
            </a:p>
            <a:p>
              <a:pPr>
                <a:lnSpc>
                  <a:spcPts val="2400"/>
                </a:lnSpc>
                <a:buSzPct val="100000"/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・カテゴリー別質問</a:t>
              </a:r>
            </a:p>
            <a:p>
              <a:pPr>
                <a:lnSpc>
                  <a:spcPts val="2400"/>
                </a:lnSpc>
                <a:buSzPct val="100000"/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・練習問題生成</a:t>
              </a:r>
              <a:endParaRPr lang="en-US" sz="9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 marL="0" lvl="1"/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  (5択2正解形式)</a:t>
              </a:r>
            </a:p>
            <a:p>
              <a:pPr>
                <a:lnSpc>
                  <a:spcPts val="2400"/>
                </a:lnSpc>
                <a:buSzPct val="100000"/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・難易度選択機能</a:t>
              </a:r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3F0A0A7E-6B2A-34A9-00A9-E825A765EFB0}"/>
              </a:ext>
            </a:extLst>
          </p:cNvPr>
          <p:cNvGrpSpPr/>
          <p:nvPr/>
        </p:nvGrpSpPr>
        <p:grpSpPr>
          <a:xfrm>
            <a:off x="5216132" y="3035091"/>
            <a:ext cx="1463040" cy="975360"/>
            <a:chOff x="5242560" y="2804160"/>
            <a:chExt cx="1463040" cy="975360"/>
          </a:xfrm>
        </p:grpSpPr>
        <p:sp>
          <p:nvSpPr>
            <p:cNvPr id="6" name="Shape 4"/>
            <p:cNvSpPr/>
            <p:nvPr/>
          </p:nvSpPr>
          <p:spPr>
            <a:xfrm>
              <a:off x="5242560" y="2804160"/>
              <a:ext cx="1463040" cy="97536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/>
          </p:spPr>
          <p:txBody>
            <a:bodyPr/>
            <a:lstStyle/>
            <a:p>
              <a:endParaRPr lang="ja-JP" altLang="en-US" sz="2400"/>
            </a:p>
          </p:txBody>
        </p:sp>
        <p:sp>
          <p:nvSpPr>
            <p:cNvPr id="7" name="Text 5"/>
            <p:cNvSpPr/>
            <p:nvPr/>
          </p:nvSpPr>
          <p:spPr>
            <a:xfrm>
              <a:off x="5242560" y="2926080"/>
              <a:ext cx="146304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AIエンジン</a:t>
              </a:r>
            </a:p>
            <a:p>
              <a:pPr algn="ctr"/>
              <a:r>
                <a:rPr lang="en-US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RAG+知識</a:t>
              </a:r>
            </a:p>
            <a:p>
              <a:pPr algn="ctr"/>
              <a:r>
                <a:rPr lang="en-US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ベース</a:t>
              </a: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EE8DC803-5809-FF00-3F9B-1538E52E4988}"/>
              </a:ext>
            </a:extLst>
          </p:cNvPr>
          <p:cNvGrpSpPr/>
          <p:nvPr/>
        </p:nvGrpSpPr>
        <p:grpSpPr>
          <a:xfrm>
            <a:off x="7006549" y="1414272"/>
            <a:ext cx="4677834" cy="4216998"/>
            <a:chOff x="7108147" y="1414272"/>
            <a:chExt cx="4677834" cy="4216998"/>
          </a:xfrm>
        </p:grpSpPr>
        <p:sp>
          <p:nvSpPr>
            <p:cNvPr id="8" name="Shape 6"/>
            <p:cNvSpPr/>
            <p:nvPr/>
          </p:nvSpPr>
          <p:spPr>
            <a:xfrm>
              <a:off x="7108147" y="1414272"/>
              <a:ext cx="4677834" cy="4216998"/>
            </a:xfrm>
            <a:prstGeom prst="rect">
              <a:avLst/>
            </a:prstGeom>
            <a:solidFill>
              <a:srgbClr val="FEF5E7"/>
            </a:solidFill>
            <a:ln w="25400">
              <a:solidFill>
                <a:srgbClr val="F39C12"/>
              </a:solidFill>
              <a:prstDash val="solid"/>
            </a:ln>
          </p:spPr>
          <p:txBody>
            <a:bodyPr/>
            <a:lstStyle/>
            <a:p>
              <a:endParaRPr lang="ja-JP" altLang="en-US" sz="2400"/>
            </a:p>
          </p:txBody>
        </p:sp>
        <p:sp>
          <p:nvSpPr>
            <p:cNvPr id="9" name="Text 7"/>
            <p:cNvSpPr/>
            <p:nvPr/>
          </p:nvSpPr>
          <p:spPr>
            <a:xfrm>
              <a:off x="7313464" y="2059731"/>
              <a:ext cx="4267200" cy="2926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ts val="2400"/>
                </a:lnSpc>
              </a:pPr>
              <a:r>
                <a:rPr lang="en-US" sz="2800" b="1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👨‍🏫 </a:t>
              </a:r>
              <a:r>
                <a:rPr lang="en-US" sz="2800" b="1" dirty="0" err="1">
                  <a:latin typeface="MS UI Gothic" panose="020B0600070205080204" pitchFamily="34" charset="-128"/>
                  <a:ea typeface="MS UI Gothic" panose="020B0600070205080204" pitchFamily="34" charset="-128"/>
                </a:rPr>
                <a:t>教員確認画面</a:t>
              </a: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・学習履歴の確認</a:t>
              </a:r>
            </a:p>
            <a:p>
              <a:pPr>
                <a:lnSpc>
                  <a:spcPts val="2400"/>
                </a:lnSpc>
                <a:buSzPct val="100000"/>
              </a:pPr>
              <a:endParaRPr lang="en-US" sz="9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</a:t>
              </a:r>
              <a:r>
                <a:rPr lang="en-US" sz="2800" dirty="0">
                  <a:solidFill>
                    <a:srgbClr val="FF0000"/>
                  </a:solidFill>
                  <a:latin typeface="MS UI Gothic" panose="020B0600070205080204" pitchFamily="34" charset="-128"/>
                  <a:ea typeface="MS UI Gothic" panose="020B0600070205080204" pitchFamily="34" charset="-128"/>
                </a:rPr>
                <a:t>つまずきポイントの可視化</a:t>
              </a:r>
            </a:p>
            <a:p>
              <a:pPr>
                <a:lnSpc>
                  <a:spcPts val="2400"/>
                </a:lnSpc>
                <a:buSzPct val="100000"/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・FAQ自動抽出</a:t>
              </a:r>
            </a:p>
            <a:p>
              <a:pPr>
                <a:lnSpc>
                  <a:spcPts val="2400"/>
                </a:lnSpc>
                <a:buSzPct val="100000"/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</a:t>
              </a:r>
              <a:r>
                <a:rPr lang="en-US" sz="2800" dirty="0">
                  <a:solidFill>
                    <a:srgbClr val="FF0000"/>
                  </a:solidFill>
                  <a:latin typeface="MS UI Gothic" panose="020B0600070205080204" pitchFamily="34" charset="-128"/>
                  <a:ea typeface="MS UI Gothic" panose="020B0600070205080204" pitchFamily="34" charset="-128"/>
                </a:rPr>
                <a:t>データ分析</a:t>
              </a:r>
              <a:endParaRPr lang="en-US" sz="800" dirty="0">
                <a:solidFill>
                  <a:srgbClr val="FF0000"/>
                </a:solidFill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（学習行動、学習パターン）</a:t>
              </a:r>
            </a:p>
            <a:p>
              <a:pPr>
                <a:lnSpc>
                  <a:spcPts val="2400"/>
                </a:lnSpc>
                <a:buSzPct val="100000"/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・出力機能 (CSV/Excel)</a:t>
              </a:r>
            </a:p>
          </p:txBody>
        </p:sp>
      </p:grpSp>
      <p:sp>
        <p:nvSpPr>
          <p:cNvPr id="11" name="Text 9"/>
          <p:cNvSpPr/>
          <p:nvPr/>
        </p:nvSpPr>
        <p:spPr>
          <a:xfrm>
            <a:off x="922503" y="5753190"/>
            <a:ext cx="10050299" cy="1009982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r>
              <a:rPr lang="ja-JP" altLang="en-US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　　　　</a:t>
            </a:r>
            <a:r>
              <a:rPr lang="en-US" altLang="ja-JP" b="1" dirty="0">
                <a:solidFill>
                  <a:srgbClr val="4A235A"/>
                </a:solidFill>
              </a:rPr>
              <a:t>🔧 </a:t>
            </a:r>
            <a:r>
              <a:rPr lang="en-US" dirty="0" err="1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技術基盤</a:t>
            </a:r>
            <a:endParaRPr lang="en-US" dirty="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lang="en-US" dirty="0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OpenAI GPT-4o / Claude Sonnet4・Opus4  |  RAG + 137項目知識ベース  |  著作権クリア教材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3F0840E-EC0D-36FA-65F8-ED73424B34A5}"/>
              </a:ext>
            </a:extLst>
          </p:cNvPr>
          <p:cNvSpPr txBox="1"/>
          <p:nvPr/>
        </p:nvSpPr>
        <p:spPr>
          <a:xfrm>
            <a:off x="1383742" y="355600"/>
            <a:ext cx="91278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>
                <a:latin typeface="MS UI Gothic" panose="020B0600070205080204" pitchFamily="34" charset="-128"/>
                <a:ea typeface="MS UI Gothic" panose="020B0600070205080204" pitchFamily="34" charset="-128"/>
              </a:rPr>
              <a:t>システムの概要と研究の</a:t>
            </a:r>
            <a:r>
              <a:rPr lang="en-US" altLang="ja-JP" sz="4800" dirty="0">
                <a:solidFill>
                  <a:schemeClr val="bg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3</a:t>
            </a:r>
            <a:r>
              <a:rPr lang="ja-JP" altLang="en-US" sz="4800">
                <a:solidFill>
                  <a:schemeClr val="bg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つの独創性</a:t>
            </a:r>
            <a:endParaRPr kumimoji="1" lang="ja-JP" altLang="en-US" sz="4800">
              <a:solidFill>
                <a:schemeClr val="bg1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6" name="下矢印 15">
            <a:extLst>
              <a:ext uri="{FF2B5EF4-FFF2-40B4-BE49-F238E27FC236}">
                <a16:creationId xmlns:a16="http://schemas.microsoft.com/office/drawing/2014/main" id="{02E6938F-B7F3-740F-D81D-AF0436437004}"/>
              </a:ext>
            </a:extLst>
          </p:cNvPr>
          <p:cNvSpPr/>
          <p:nvPr/>
        </p:nvSpPr>
        <p:spPr>
          <a:xfrm flipV="1">
            <a:off x="5705336" y="4132370"/>
            <a:ext cx="484632" cy="1498899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5252D-921B-396A-A862-2AFBC4311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5E8494A-0D54-5536-82CF-5B77F7BF0EF5}"/>
              </a:ext>
            </a:extLst>
          </p:cNvPr>
          <p:cNvSpPr txBox="1"/>
          <p:nvPr/>
        </p:nvSpPr>
        <p:spPr>
          <a:xfrm>
            <a:off x="4176249" y="355600"/>
            <a:ext cx="38395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3600">
                <a:latin typeface="MS UI Gothic" panose="020B0600070205080204" pitchFamily="34" charset="-128"/>
                <a:ea typeface="MS UI Gothic" panose="020B0600070205080204" pitchFamily="34" charset="-128"/>
              </a:rPr>
              <a:t>研究の</a:t>
            </a:r>
            <a:r>
              <a:rPr lang="en-US" altLang="ja-JP" sz="36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3</a:t>
            </a:r>
            <a:r>
              <a:rPr lang="ja-JP" altLang="en-US" sz="3600">
                <a:latin typeface="MS UI Gothic" panose="020B0600070205080204" pitchFamily="34" charset="-128"/>
                <a:ea typeface="MS UI Gothic" panose="020B0600070205080204" pitchFamily="34" charset="-128"/>
              </a:rPr>
              <a:t>つの独創性</a:t>
            </a:r>
            <a:endParaRPr kumimoji="1" lang="ja-JP" altLang="en-US" sz="360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FA65F33-5394-CA09-DE2C-807394E9154B}"/>
              </a:ext>
            </a:extLst>
          </p:cNvPr>
          <p:cNvSpPr txBox="1"/>
          <p:nvPr/>
        </p:nvSpPr>
        <p:spPr>
          <a:xfrm>
            <a:off x="803904" y="989355"/>
            <a:ext cx="4046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b="1" dirty="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① 24時間リアルタイム対応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7498BFD-0F51-30F9-3D88-CAE59DF8B7C6}"/>
              </a:ext>
            </a:extLst>
          </p:cNvPr>
          <p:cNvSpPr txBox="1"/>
          <p:nvPr/>
        </p:nvSpPr>
        <p:spPr>
          <a:xfrm>
            <a:off x="803904" y="2823084"/>
            <a:ext cx="28071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b="1" dirty="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② </a:t>
            </a:r>
            <a:r>
              <a:rPr lang="en-US" altLang="ja-JP" sz="2800" b="1" dirty="0" err="1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つまずきの地図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6EE9A54-3EF6-41FE-88C8-041B011B6B03}"/>
              </a:ext>
            </a:extLst>
          </p:cNvPr>
          <p:cNvSpPr txBox="1"/>
          <p:nvPr/>
        </p:nvSpPr>
        <p:spPr>
          <a:xfrm>
            <a:off x="803904" y="4656813"/>
            <a:ext cx="41969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b="1" dirty="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③ </a:t>
            </a:r>
            <a:r>
              <a:rPr lang="en-US" altLang="ja-JP" sz="2800" b="1" dirty="0" err="1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学習行動の時系列分析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1D34E3D5-DB79-0AE8-E8D6-A28A8B2DB35E}"/>
              </a:ext>
            </a:extLst>
          </p:cNvPr>
          <p:cNvSpPr/>
          <p:nvPr/>
        </p:nvSpPr>
        <p:spPr>
          <a:xfrm>
            <a:off x="1598379" y="1500719"/>
            <a:ext cx="9833548" cy="133422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80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いつでも・どこでも何度でも質問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  <a:cs typeface="Yu Gothic" pitchFamily="34" charset="-120"/>
            </a:endParaRPr>
          </a:p>
          <a:p>
            <a:r>
              <a:rPr lang="ja-JP" altLang="en-US" sz="280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　　→</a:t>
            </a:r>
            <a:r>
              <a:rPr lang="en-US" altLang="ja-JP" sz="2800" dirty="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 </a:t>
            </a:r>
            <a:r>
              <a:rPr lang="en-US" altLang="ja-JP" sz="2800" dirty="0" err="1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時間的・心理的障壁を解消、疑問を放置しない環境を構築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AD704524-1C8C-9016-895D-598654531088}"/>
              </a:ext>
            </a:extLst>
          </p:cNvPr>
          <p:cNvSpPr/>
          <p:nvPr/>
        </p:nvSpPr>
        <p:spPr>
          <a:xfrm>
            <a:off x="1598379" y="3334448"/>
            <a:ext cx="9833548" cy="133422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2800" dirty="0" err="1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質問データを定量分析し、学習困難点を可視化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80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　　</a:t>
            </a:r>
            <a:r>
              <a:rPr lang="en-US" altLang="ja-JP" sz="2800" dirty="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→ </a:t>
            </a:r>
            <a:r>
              <a:rPr lang="en-US" altLang="ja-JP" sz="2800" dirty="0" err="1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教員が講義改善・演習問題作成に活用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41264A89-DCCD-9994-ADB4-600049FEFA8C}"/>
              </a:ext>
            </a:extLst>
          </p:cNvPr>
          <p:cNvSpPr/>
          <p:nvPr/>
        </p:nvSpPr>
        <p:spPr>
          <a:xfrm>
            <a:off x="1598379" y="5168178"/>
            <a:ext cx="9833548" cy="133422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2800" dirty="0" err="1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いつ、どのように学習しているかを把握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80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　　</a:t>
            </a:r>
            <a:r>
              <a:rPr lang="en-US" altLang="ja-JP" sz="2800" dirty="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→ </a:t>
            </a:r>
            <a:r>
              <a:rPr lang="en-US" altLang="ja-JP" sz="2800" dirty="0" err="1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学習パターンの特徴を明らかに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DAE7A204-5D29-DD51-5026-2EB36799F745}"/>
              </a:ext>
            </a:extLst>
          </p:cNvPr>
          <p:cNvGrpSpPr/>
          <p:nvPr/>
        </p:nvGrpSpPr>
        <p:grpSpPr>
          <a:xfrm>
            <a:off x="406400" y="1835272"/>
            <a:ext cx="11379200" cy="3877285"/>
            <a:chOff x="406400" y="1835272"/>
            <a:chExt cx="11379200" cy="3877285"/>
          </a:xfrm>
        </p:grpSpPr>
        <p:sp>
          <p:nvSpPr>
            <p:cNvPr id="11" name="角丸四角形 10">
              <a:extLst>
                <a:ext uri="{FF2B5EF4-FFF2-40B4-BE49-F238E27FC236}">
                  <a16:creationId xmlns:a16="http://schemas.microsoft.com/office/drawing/2014/main" id="{6293C309-FECC-4B24-C6DD-6E67BC140FB0}"/>
                </a:ext>
              </a:extLst>
            </p:cNvPr>
            <p:cNvSpPr/>
            <p:nvPr/>
          </p:nvSpPr>
          <p:spPr>
            <a:xfrm>
              <a:off x="406400" y="1835272"/>
              <a:ext cx="11379200" cy="3877285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FF6050DC-60C4-16B1-D6F6-DD98765023B1}"/>
                </a:ext>
              </a:extLst>
            </p:cNvPr>
            <p:cNvGrpSpPr/>
            <p:nvPr/>
          </p:nvGrpSpPr>
          <p:grpSpPr>
            <a:xfrm>
              <a:off x="1089629" y="2764072"/>
              <a:ext cx="10012743" cy="2019685"/>
              <a:chOff x="899948" y="2815603"/>
              <a:chExt cx="10012743" cy="2019685"/>
            </a:xfrm>
          </p:grpSpPr>
          <p:sp>
            <p:nvSpPr>
              <p:cNvPr id="30" name="右中かっこ 29">
                <a:extLst>
                  <a:ext uri="{FF2B5EF4-FFF2-40B4-BE49-F238E27FC236}">
                    <a16:creationId xmlns:a16="http://schemas.microsoft.com/office/drawing/2014/main" id="{5B0AA772-3E73-8367-7E7C-79D7C1CF816C}"/>
                  </a:ext>
                </a:extLst>
              </p:cNvPr>
              <p:cNvSpPr/>
              <p:nvPr/>
            </p:nvSpPr>
            <p:spPr>
              <a:xfrm>
                <a:off x="6245069" y="3088384"/>
                <a:ext cx="489487" cy="1474122"/>
              </a:xfrm>
              <a:prstGeom prst="rightBrac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4800" b="1"/>
              </a:p>
            </p:txBody>
          </p:sp>
          <p:grpSp>
            <p:nvGrpSpPr>
              <p:cNvPr id="9" name="グループ化 8">
                <a:extLst>
                  <a:ext uri="{FF2B5EF4-FFF2-40B4-BE49-F238E27FC236}">
                    <a16:creationId xmlns:a16="http://schemas.microsoft.com/office/drawing/2014/main" id="{92A17FF7-34DE-5D59-8BB8-661577DDA4A9}"/>
                  </a:ext>
                </a:extLst>
              </p:cNvPr>
              <p:cNvGrpSpPr/>
              <p:nvPr/>
            </p:nvGrpSpPr>
            <p:grpSpPr>
              <a:xfrm>
                <a:off x="899948" y="2815603"/>
                <a:ext cx="5019323" cy="2019685"/>
                <a:chOff x="899948" y="2815603"/>
                <a:chExt cx="5019323" cy="2019685"/>
              </a:xfrm>
            </p:grpSpPr>
            <p:sp>
              <p:nvSpPr>
                <p:cNvPr id="34" name="テキスト ボックス 33">
                  <a:extLst>
                    <a:ext uri="{FF2B5EF4-FFF2-40B4-BE49-F238E27FC236}">
                      <a16:creationId xmlns:a16="http://schemas.microsoft.com/office/drawing/2014/main" id="{C2640098-864A-D368-2D1F-23F766C0BD27}"/>
                    </a:ext>
                  </a:extLst>
                </p:cNvPr>
                <p:cNvSpPr txBox="1"/>
                <p:nvPr/>
              </p:nvSpPr>
              <p:spPr>
                <a:xfrm>
                  <a:off x="899948" y="2815603"/>
                  <a:ext cx="5019323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ja-JP" altLang="en-US" sz="4800" b="1">
                      <a:latin typeface="MS UI Gothic" panose="020B0600070205080204" pitchFamily="34" charset="-128"/>
                      <a:ea typeface="MS UI Gothic" panose="020B0600070205080204" pitchFamily="34" charset="-128"/>
                    </a:rPr>
                    <a:t>教員による「教える」</a:t>
                  </a:r>
                  <a:endParaRPr lang="en-US" altLang="ja-JP" sz="4800" b="1" dirty="0">
                    <a:latin typeface="MS UI Gothic" panose="020B0600070205080204" pitchFamily="34" charset="-128"/>
                    <a:ea typeface="MS UI Gothic" panose="020B0600070205080204" pitchFamily="34" charset="-128"/>
                  </a:endParaRPr>
                </a:p>
              </p:txBody>
            </p:sp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48890491-FDBE-CFAF-2654-164C184714AD}"/>
                    </a:ext>
                  </a:extLst>
                </p:cNvPr>
                <p:cNvSpPr txBox="1"/>
                <p:nvPr/>
              </p:nvSpPr>
              <p:spPr>
                <a:xfrm>
                  <a:off x="3009500" y="3409947"/>
                  <a:ext cx="800219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ja-JP" altLang="en-US" sz="4800" b="1">
                      <a:latin typeface="MS UI Gothic" panose="020B0600070205080204" pitchFamily="34" charset="-128"/>
                      <a:ea typeface="MS UI Gothic" panose="020B0600070205080204" pitchFamily="34" charset="-128"/>
                    </a:rPr>
                    <a:t>＋</a:t>
                  </a:r>
                  <a:endParaRPr lang="en-US" altLang="ja-JP" sz="4800" b="1" dirty="0">
                    <a:latin typeface="MS UI Gothic" panose="020B0600070205080204" pitchFamily="34" charset="-128"/>
                    <a:ea typeface="MS UI Gothic" panose="020B0600070205080204" pitchFamily="34" charset="-128"/>
                  </a:endParaRPr>
                </a:p>
              </p:txBody>
            </p:sp>
            <p:sp>
              <p:nvSpPr>
                <p:cNvPr id="36" name="テキスト ボックス 35">
                  <a:extLst>
                    <a:ext uri="{FF2B5EF4-FFF2-40B4-BE49-F238E27FC236}">
                      <a16:creationId xmlns:a16="http://schemas.microsoft.com/office/drawing/2014/main" id="{75E86FBD-13E2-F20B-937A-B8709CCB0927}"/>
                    </a:ext>
                  </a:extLst>
                </p:cNvPr>
                <p:cNvSpPr txBox="1"/>
                <p:nvPr/>
              </p:nvSpPr>
              <p:spPr>
                <a:xfrm>
                  <a:off x="1244593" y="4004291"/>
                  <a:ext cx="4330032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4800" b="1" dirty="0">
                      <a:latin typeface="MS UI Gothic" panose="020B0600070205080204" pitchFamily="34" charset="-128"/>
                      <a:ea typeface="MS UI Gothic" panose="020B0600070205080204" pitchFamily="34" charset="-128"/>
                    </a:rPr>
                    <a:t>AI</a:t>
                  </a:r>
                  <a:r>
                    <a:rPr lang="ja-JP" altLang="en-US" sz="4800" b="1">
                      <a:latin typeface="MS UI Gothic" panose="020B0600070205080204" pitchFamily="34" charset="-128"/>
                      <a:ea typeface="MS UI Gothic" panose="020B0600070205080204" pitchFamily="34" charset="-128"/>
                    </a:rPr>
                    <a:t>による「支える」</a:t>
                  </a:r>
                  <a:endParaRPr lang="en-US" altLang="ja-JP" sz="4800" b="1" dirty="0">
                    <a:latin typeface="MS UI Gothic" panose="020B0600070205080204" pitchFamily="34" charset="-128"/>
                    <a:ea typeface="MS UI Gothic" panose="020B0600070205080204" pitchFamily="34" charset="-128"/>
                  </a:endParaRPr>
                </a:p>
              </p:txBody>
            </p:sp>
          </p:grpSp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5F7565FB-34D4-4F2A-E30D-51518616B8C1}"/>
                  </a:ext>
                </a:extLst>
              </p:cNvPr>
              <p:cNvSpPr txBox="1"/>
              <p:nvPr/>
            </p:nvSpPr>
            <p:spPr>
              <a:xfrm>
                <a:off x="7060354" y="3040615"/>
                <a:ext cx="3852337" cy="156966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ja-JP" altLang="en-US" sz="4800" b="1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人と</a:t>
                </a:r>
                <a:r>
                  <a:rPr lang="en-US" altLang="ja-JP" sz="4800" b="1" dirty="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AI</a:t>
                </a:r>
                <a:r>
                  <a:rPr lang="ja-JP" altLang="en-US" sz="4800" b="1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との融合</a:t>
                </a:r>
                <a:endParaRPr lang="en-US" altLang="ja-JP" sz="4800" b="1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  <a:p>
                <a:pPr algn="ctr"/>
                <a:r>
                  <a:rPr lang="ja-JP" altLang="en-US" sz="4800" b="1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教育改革</a:t>
                </a:r>
                <a:endParaRPr lang="en-US" altLang="ja-JP" sz="4800" b="1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417424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F7075-58B3-B98A-5BEB-B35AE9E73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D651C7A-4D7D-8B06-0461-93915C15B2AC}"/>
              </a:ext>
            </a:extLst>
          </p:cNvPr>
          <p:cNvSpPr txBox="1"/>
          <p:nvPr/>
        </p:nvSpPr>
        <p:spPr>
          <a:xfrm>
            <a:off x="4006332" y="355600"/>
            <a:ext cx="41793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48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3</a:t>
            </a:r>
            <a:r>
              <a:rPr lang="ja-JP" altLang="en-US" sz="4800">
                <a:latin typeface="MS UI Gothic" panose="020B0600070205080204" pitchFamily="34" charset="-128"/>
                <a:ea typeface="MS UI Gothic" panose="020B0600070205080204" pitchFamily="34" charset="-128"/>
              </a:rPr>
              <a:t>つの独創性より</a:t>
            </a:r>
            <a:endParaRPr kumimoji="1" lang="ja-JP" altLang="en-US" sz="480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2BF1170-AF6B-A254-FEB6-3ABA54184B72}"/>
              </a:ext>
            </a:extLst>
          </p:cNvPr>
          <p:cNvSpPr txBox="1"/>
          <p:nvPr/>
        </p:nvSpPr>
        <p:spPr>
          <a:xfrm>
            <a:off x="803904" y="989355"/>
            <a:ext cx="4046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b="1" dirty="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① 24時間リアルタイム対応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5A985F0-6536-3DA8-780B-3836DF768175}"/>
              </a:ext>
            </a:extLst>
          </p:cNvPr>
          <p:cNvSpPr txBox="1"/>
          <p:nvPr/>
        </p:nvSpPr>
        <p:spPr>
          <a:xfrm>
            <a:off x="803904" y="2823084"/>
            <a:ext cx="28071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b="1" dirty="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② </a:t>
            </a:r>
            <a:r>
              <a:rPr lang="en-US" altLang="ja-JP" sz="2800" b="1" dirty="0" err="1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つまずきの地図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5CD4397-33EB-8694-2286-EF83636CFC6E}"/>
              </a:ext>
            </a:extLst>
          </p:cNvPr>
          <p:cNvSpPr txBox="1"/>
          <p:nvPr/>
        </p:nvSpPr>
        <p:spPr>
          <a:xfrm>
            <a:off x="803904" y="4656813"/>
            <a:ext cx="41969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b="1" dirty="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③ </a:t>
            </a:r>
            <a:r>
              <a:rPr lang="en-US" altLang="ja-JP" sz="2800" b="1" dirty="0" err="1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学習行動の時系列分析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EBA63E42-9532-36C4-D1EB-DC2BC8ECF059}"/>
              </a:ext>
            </a:extLst>
          </p:cNvPr>
          <p:cNvSpPr/>
          <p:nvPr/>
        </p:nvSpPr>
        <p:spPr>
          <a:xfrm>
            <a:off x="1598379" y="1500719"/>
            <a:ext cx="9833548" cy="133422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80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いつでも・どこでも何度でも質問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  <a:cs typeface="Yu Gothic" pitchFamily="34" charset="-120"/>
            </a:endParaRPr>
          </a:p>
          <a:p>
            <a:r>
              <a:rPr lang="ja-JP" altLang="en-US" sz="280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　　→</a:t>
            </a:r>
            <a:r>
              <a:rPr lang="en-US" altLang="ja-JP" sz="2800" dirty="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 </a:t>
            </a:r>
            <a:r>
              <a:rPr lang="en-US" altLang="ja-JP" sz="2800" dirty="0" err="1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時間的・心理的障壁を解消、疑問を放置しない環境を構築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43A65E5B-6374-BEF3-C9B6-E4C0337E6351}"/>
              </a:ext>
            </a:extLst>
          </p:cNvPr>
          <p:cNvSpPr/>
          <p:nvPr/>
        </p:nvSpPr>
        <p:spPr>
          <a:xfrm>
            <a:off x="1598379" y="3334448"/>
            <a:ext cx="9833548" cy="133422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2800" dirty="0" err="1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質問データを定量分析し、学習困難点を可視化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80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　　</a:t>
            </a:r>
            <a:r>
              <a:rPr lang="en-US" altLang="ja-JP" sz="2800" dirty="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→ </a:t>
            </a:r>
            <a:r>
              <a:rPr lang="en-US" altLang="ja-JP" sz="2800" dirty="0" err="1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教員が講義改善・演習問題作成に活用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87660FC7-FE0D-8ABD-BE3B-76EC06C1A65F}"/>
              </a:ext>
            </a:extLst>
          </p:cNvPr>
          <p:cNvSpPr/>
          <p:nvPr/>
        </p:nvSpPr>
        <p:spPr>
          <a:xfrm>
            <a:off x="1598379" y="5168178"/>
            <a:ext cx="9833548" cy="133422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2800" dirty="0" err="1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いつ、どのように学習しているかを把握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80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　　</a:t>
            </a:r>
            <a:r>
              <a:rPr lang="en-US" altLang="ja-JP" sz="2800" dirty="0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→ </a:t>
            </a:r>
            <a:r>
              <a:rPr lang="en-US" altLang="ja-JP" sz="2800" dirty="0" err="1">
                <a:solidFill>
                  <a:schemeClr val="bg1">
                    <a:lumMod val="75000"/>
                  </a:schemeClr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学習パターンの特徴を明らかに</a:t>
            </a:r>
            <a:endParaRPr lang="en-US" altLang="ja-JP" sz="2800" dirty="0">
              <a:solidFill>
                <a:schemeClr val="bg1">
                  <a:lumMod val="75000"/>
                </a:schemeClr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DC9045A1-8BD4-A5EA-2C04-73C445C05E07}"/>
              </a:ext>
            </a:extLst>
          </p:cNvPr>
          <p:cNvGrpSpPr/>
          <p:nvPr/>
        </p:nvGrpSpPr>
        <p:grpSpPr>
          <a:xfrm>
            <a:off x="406400" y="1157941"/>
            <a:ext cx="11379200" cy="3877285"/>
            <a:chOff x="406400" y="1835272"/>
            <a:chExt cx="11379200" cy="3877285"/>
          </a:xfrm>
        </p:grpSpPr>
        <p:sp>
          <p:nvSpPr>
            <p:cNvPr id="11" name="角丸四角形 10">
              <a:extLst>
                <a:ext uri="{FF2B5EF4-FFF2-40B4-BE49-F238E27FC236}">
                  <a16:creationId xmlns:a16="http://schemas.microsoft.com/office/drawing/2014/main" id="{3CD7CE7B-A52C-F298-24FE-71C8A5BC1844}"/>
                </a:ext>
              </a:extLst>
            </p:cNvPr>
            <p:cNvSpPr/>
            <p:nvPr/>
          </p:nvSpPr>
          <p:spPr>
            <a:xfrm>
              <a:off x="406400" y="1835272"/>
              <a:ext cx="11379200" cy="3877285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25981D23-D3C1-C9E9-0D61-63824B28B33F}"/>
                </a:ext>
              </a:extLst>
            </p:cNvPr>
            <p:cNvGrpSpPr/>
            <p:nvPr/>
          </p:nvGrpSpPr>
          <p:grpSpPr>
            <a:xfrm>
              <a:off x="1089629" y="2679407"/>
              <a:ext cx="10012743" cy="2189015"/>
              <a:chOff x="899948" y="2730938"/>
              <a:chExt cx="10012743" cy="2189015"/>
            </a:xfrm>
          </p:grpSpPr>
          <p:sp>
            <p:nvSpPr>
              <p:cNvPr id="13" name="右中かっこ 12">
                <a:extLst>
                  <a:ext uri="{FF2B5EF4-FFF2-40B4-BE49-F238E27FC236}">
                    <a16:creationId xmlns:a16="http://schemas.microsoft.com/office/drawing/2014/main" id="{B1268C4C-B1E8-CFEA-7A1B-85C40BA97943}"/>
                  </a:ext>
                </a:extLst>
              </p:cNvPr>
              <p:cNvSpPr/>
              <p:nvPr/>
            </p:nvSpPr>
            <p:spPr>
              <a:xfrm>
                <a:off x="6245069" y="3088384"/>
                <a:ext cx="489487" cy="1474122"/>
              </a:xfrm>
              <a:prstGeom prst="rightBrac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4800" b="1"/>
              </a:p>
            </p:txBody>
          </p:sp>
          <p:grpSp>
            <p:nvGrpSpPr>
              <p:cNvPr id="14" name="グループ化 13">
                <a:extLst>
                  <a:ext uri="{FF2B5EF4-FFF2-40B4-BE49-F238E27FC236}">
                    <a16:creationId xmlns:a16="http://schemas.microsoft.com/office/drawing/2014/main" id="{3461A169-6216-2A09-749B-CDDB4E563D49}"/>
                  </a:ext>
                </a:extLst>
              </p:cNvPr>
              <p:cNvGrpSpPr/>
              <p:nvPr/>
            </p:nvGrpSpPr>
            <p:grpSpPr>
              <a:xfrm>
                <a:off x="899948" y="2730938"/>
                <a:ext cx="5019323" cy="2189015"/>
                <a:chOff x="899948" y="2730938"/>
                <a:chExt cx="5019323" cy="2189015"/>
              </a:xfrm>
            </p:grpSpPr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B2815F62-7222-F6EE-7528-703E44F85C62}"/>
                    </a:ext>
                  </a:extLst>
                </p:cNvPr>
                <p:cNvSpPr txBox="1"/>
                <p:nvPr/>
              </p:nvSpPr>
              <p:spPr>
                <a:xfrm>
                  <a:off x="899948" y="2730938"/>
                  <a:ext cx="5019323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ja-JP" altLang="en-US" sz="4800" b="1">
                      <a:latin typeface="MS UI Gothic" panose="020B0600070205080204" pitchFamily="34" charset="-128"/>
                      <a:ea typeface="MS UI Gothic" panose="020B0600070205080204" pitchFamily="34" charset="-128"/>
                    </a:rPr>
                    <a:t>教員による「教える」</a:t>
                  </a:r>
                  <a:endParaRPr lang="en-US" altLang="ja-JP" sz="4800" b="1" dirty="0">
                    <a:latin typeface="MS UI Gothic" panose="020B0600070205080204" pitchFamily="34" charset="-128"/>
                    <a:ea typeface="MS UI Gothic" panose="020B0600070205080204" pitchFamily="34" charset="-128"/>
                  </a:endParaRPr>
                </a:p>
              </p:txBody>
            </p:sp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BCAE9ADA-8ABC-BC9E-E98A-13348DE0A443}"/>
                    </a:ext>
                  </a:extLst>
                </p:cNvPr>
                <p:cNvSpPr txBox="1"/>
                <p:nvPr/>
              </p:nvSpPr>
              <p:spPr>
                <a:xfrm>
                  <a:off x="3009500" y="3409947"/>
                  <a:ext cx="800219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ja-JP" altLang="en-US" sz="4800" b="1">
                      <a:latin typeface="MS UI Gothic" panose="020B0600070205080204" pitchFamily="34" charset="-128"/>
                      <a:ea typeface="MS UI Gothic" panose="020B0600070205080204" pitchFamily="34" charset="-128"/>
                    </a:rPr>
                    <a:t>＋</a:t>
                  </a:r>
                  <a:endParaRPr lang="en-US" altLang="ja-JP" sz="4800" b="1" dirty="0">
                    <a:latin typeface="MS UI Gothic" panose="020B0600070205080204" pitchFamily="34" charset="-128"/>
                    <a:ea typeface="MS UI Gothic" panose="020B0600070205080204" pitchFamily="34" charset="-128"/>
                  </a:endParaRPr>
                </a:p>
              </p:txBody>
            </p:sp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0D122E3C-4F0E-44E7-CA15-5D2559BCE2FA}"/>
                    </a:ext>
                  </a:extLst>
                </p:cNvPr>
                <p:cNvSpPr txBox="1"/>
                <p:nvPr/>
              </p:nvSpPr>
              <p:spPr>
                <a:xfrm>
                  <a:off x="1244593" y="4088956"/>
                  <a:ext cx="4330032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4800" b="1" dirty="0">
                      <a:latin typeface="MS UI Gothic" panose="020B0600070205080204" pitchFamily="34" charset="-128"/>
                      <a:ea typeface="MS UI Gothic" panose="020B0600070205080204" pitchFamily="34" charset="-128"/>
                    </a:rPr>
                    <a:t>AI</a:t>
                  </a:r>
                  <a:r>
                    <a:rPr lang="ja-JP" altLang="en-US" sz="4800" b="1">
                      <a:latin typeface="MS UI Gothic" panose="020B0600070205080204" pitchFamily="34" charset="-128"/>
                      <a:ea typeface="MS UI Gothic" panose="020B0600070205080204" pitchFamily="34" charset="-128"/>
                    </a:rPr>
                    <a:t>による「支える」</a:t>
                  </a:r>
                  <a:endParaRPr lang="en-US" altLang="ja-JP" sz="4800" b="1" dirty="0">
                    <a:latin typeface="MS UI Gothic" panose="020B0600070205080204" pitchFamily="34" charset="-128"/>
                    <a:ea typeface="MS UI Gothic" panose="020B0600070205080204" pitchFamily="34" charset="-128"/>
                  </a:endParaRPr>
                </a:p>
              </p:txBody>
            </p:sp>
          </p:grpSp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47466163-2CC6-B485-149A-69F9C5D92E65}"/>
                  </a:ext>
                </a:extLst>
              </p:cNvPr>
              <p:cNvSpPr txBox="1"/>
              <p:nvPr/>
            </p:nvSpPr>
            <p:spPr>
              <a:xfrm>
                <a:off x="7060354" y="3040615"/>
                <a:ext cx="3852337" cy="156966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ja-JP" altLang="en-US" sz="4800" b="1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人と</a:t>
                </a:r>
                <a:r>
                  <a:rPr lang="en-US" altLang="ja-JP" sz="4800" b="1" dirty="0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AI</a:t>
                </a:r>
                <a:r>
                  <a:rPr lang="ja-JP" altLang="en-US" sz="4800" b="1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との融合</a:t>
                </a:r>
                <a:endParaRPr lang="en-US" altLang="ja-JP" sz="4800" b="1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  <a:p>
                <a:pPr algn="ctr"/>
                <a:r>
                  <a:rPr lang="ja-JP" altLang="en-US" sz="4800" b="1"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教育改革</a:t>
                </a:r>
                <a:endParaRPr lang="en-US" altLang="ja-JP" sz="4800" b="1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</p:txBody>
          </p:sp>
        </p:grpSp>
      </p:grpSp>
      <p:sp>
        <p:nvSpPr>
          <p:cNvPr id="9" name="雲形吹き出し 8">
            <a:extLst>
              <a:ext uri="{FF2B5EF4-FFF2-40B4-BE49-F238E27FC236}">
                <a16:creationId xmlns:a16="http://schemas.microsoft.com/office/drawing/2014/main" id="{1EAFB659-BBA1-A798-E905-6B636D29C41C}"/>
              </a:ext>
            </a:extLst>
          </p:cNvPr>
          <p:cNvSpPr/>
          <p:nvPr/>
        </p:nvSpPr>
        <p:spPr>
          <a:xfrm>
            <a:off x="6629918" y="4225536"/>
            <a:ext cx="5319787" cy="2406637"/>
          </a:xfrm>
          <a:prstGeom prst="cloudCallout">
            <a:avLst>
              <a:gd name="adj1" fmla="val -39428"/>
              <a:gd name="adj2" fmla="val -7176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学習意欲向上</a:t>
            </a:r>
            <a:endParaRPr kumimoji="1" lang="en-US" altLang="ja-JP" sz="3600" dirty="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lang="ja-JP" altLang="en-US" sz="3600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教員負担軽減</a:t>
            </a:r>
            <a:endParaRPr kumimoji="1" lang="ja-JP" altLang="en-US" sz="360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66272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829F9B0C-EEA8-2B54-7B13-BBDAB6DF6757}"/>
              </a:ext>
            </a:extLst>
          </p:cNvPr>
          <p:cNvGrpSpPr/>
          <p:nvPr/>
        </p:nvGrpSpPr>
        <p:grpSpPr>
          <a:xfrm>
            <a:off x="975360" y="1270002"/>
            <a:ext cx="10241280" cy="1341120"/>
            <a:chOff x="975360" y="1270002"/>
            <a:chExt cx="10241280" cy="1341120"/>
          </a:xfrm>
        </p:grpSpPr>
        <p:sp>
          <p:nvSpPr>
            <p:cNvPr id="4" name="Shape 2"/>
            <p:cNvSpPr/>
            <p:nvPr/>
          </p:nvSpPr>
          <p:spPr>
            <a:xfrm>
              <a:off x="975360" y="1270002"/>
              <a:ext cx="10241280" cy="1341120"/>
            </a:xfrm>
            <a:prstGeom prst="rect">
              <a:avLst/>
            </a:prstGeom>
            <a:solidFill>
              <a:srgbClr val="E8F8F5"/>
            </a:solidFill>
            <a:ln/>
          </p:spPr>
          <p:txBody>
            <a:bodyPr/>
            <a:lstStyle/>
            <a:p>
              <a:endPara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1219200" y="1391922"/>
              <a:ext cx="18288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800" b="1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準備期</a:t>
              </a: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3291840" y="1391922"/>
              <a:ext cx="24384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2026年4～8月</a:t>
              </a:r>
            </a:p>
          </p:txBody>
        </p:sp>
        <p:sp>
          <p:nvSpPr>
            <p:cNvPr id="7" name="Text 5"/>
            <p:cNvSpPr/>
            <p:nvPr/>
          </p:nvSpPr>
          <p:spPr>
            <a:xfrm>
              <a:off x="6096000" y="1452882"/>
              <a:ext cx="4876800" cy="975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システム最終調整</a:t>
              </a:r>
            </a:p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倫理審査申請</a:t>
              </a:r>
            </a:p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パイロット実施（30名）</a:t>
              </a:r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245E54A5-797A-A84D-60D2-87C1BD2BF30B}"/>
              </a:ext>
            </a:extLst>
          </p:cNvPr>
          <p:cNvGrpSpPr/>
          <p:nvPr/>
        </p:nvGrpSpPr>
        <p:grpSpPr>
          <a:xfrm>
            <a:off x="975360" y="2759004"/>
            <a:ext cx="10241280" cy="1341120"/>
            <a:chOff x="975360" y="2871897"/>
            <a:chExt cx="10241280" cy="1341120"/>
          </a:xfrm>
        </p:grpSpPr>
        <p:sp>
          <p:nvSpPr>
            <p:cNvPr id="8" name="Shape 6"/>
            <p:cNvSpPr/>
            <p:nvPr/>
          </p:nvSpPr>
          <p:spPr>
            <a:xfrm>
              <a:off x="975360" y="2871897"/>
              <a:ext cx="10241280" cy="1341120"/>
            </a:xfrm>
            <a:prstGeom prst="rect">
              <a:avLst/>
            </a:prstGeom>
            <a:solidFill>
              <a:srgbClr val="FEF5E7"/>
            </a:solidFill>
            <a:ln/>
          </p:spPr>
          <p:txBody>
            <a:bodyPr/>
            <a:lstStyle/>
            <a:p>
              <a:endPara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219200" y="2993817"/>
              <a:ext cx="18288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800" b="1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実証期</a:t>
              </a: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3291840" y="2993817"/>
              <a:ext cx="24384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800" i="1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2026年9月～2027年1月</a:t>
              </a: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6096000" y="3054777"/>
              <a:ext cx="4876800" cy="975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本実装（250名対象）</a:t>
              </a:r>
            </a:p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学習データ収集</a:t>
              </a:r>
            </a:p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定期的モニタリング</a:t>
              </a: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5C6C304-5D78-745F-2900-08CB10961639}"/>
              </a:ext>
            </a:extLst>
          </p:cNvPr>
          <p:cNvGrpSpPr/>
          <p:nvPr/>
        </p:nvGrpSpPr>
        <p:grpSpPr>
          <a:xfrm>
            <a:off x="975360" y="4248006"/>
            <a:ext cx="10241280" cy="1341120"/>
            <a:chOff x="975360" y="4490722"/>
            <a:chExt cx="10241280" cy="1341120"/>
          </a:xfrm>
        </p:grpSpPr>
        <p:sp>
          <p:nvSpPr>
            <p:cNvPr id="12" name="Shape 10"/>
            <p:cNvSpPr/>
            <p:nvPr/>
          </p:nvSpPr>
          <p:spPr>
            <a:xfrm>
              <a:off x="975360" y="4490722"/>
              <a:ext cx="10241280" cy="1341120"/>
            </a:xfrm>
            <a:prstGeom prst="rect">
              <a:avLst/>
            </a:prstGeom>
            <a:solidFill>
              <a:srgbClr val="E8F8F5"/>
            </a:solidFill>
            <a:ln/>
          </p:spPr>
          <p:txBody>
            <a:bodyPr/>
            <a:lstStyle/>
            <a:p>
              <a:endPara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1219200" y="4612642"/>
              <a:ext cx="18288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800" b="1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分析期</a:t>
              </a: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3291840" y="4612642"/>
              <a:ext cx="24384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800" i="1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2027年2～3月</a:t>
              </a: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6096000" y="4673602"/>
              <a:ext cx="4876800" cy="975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成績データ分析</a:t>
              </a:r>
            </a:p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10年分データとの比較</a:t>
              </a:r>
            </a:p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学生アンケート実施</a:t>
              </a:r>
            </a:p>
          </p:txBody>
        </p:sp>
      </p:grpSp>
      <p:sp>
        <p:nvSpPr>
          <p:cNvPr id="17" name="Text 15"/>
          <p:cNvSpPr/>
          <p:nvPr/>
        </p:nvSpPr>
        <p:spPr>
          <a:xfrm>
            <a:off x="975360" y="5737009"/>
            <a:ext cx="10241280" cy="9753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r>
              <a:rPr lang="ja-JP" altLang="en-US" sz="2000">
                <a:latin typeface="MS UI Gothic" panose="020B0600070205080204" pitchFamily="34" charset="-128"/>
                <a:ea typeface="MS UI Gothic" panose="020B0600070205080204" pitchFamily="34" charset="-128"/>
              </a:rPr>
              <a:t>　　　　　　　</a:t>
            </a:r>
            <a:r>
              <a:rPr lang="en-US" sz="24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📊</a:t>
            </a:r>
            <a:r>
              <a:rPr lang="en-US" sz="24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評価指標</a:t>
            </a:r>
            <a:endParaRPr lang="en-US" sz="20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lang="en-US" sz="20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成績向上度</a:t>
            </a:r>
            <a:r>
              <a:rPr lang="en-US" sz="20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 | 利用頻度 | 質問内容分析 | 学習行動パターン | 学生満足度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4118303-F764-5148-20D4-7178A8703E7B}"/>
              </a:ext>
            </a:extLst>
          </p:cNvPr>
          <p:cNvSpPr txBox="1"/>
          <p:nvPr/>
        </p:nvSpPr>
        <p:spPr>
          <a:xfrm>
            <a:off x="4772564" y="355600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>
                <a:latin typeface="MS UI Gothic" panose="020B0600070205080204" pitchFamily="34" charset="-128"/>
                <a:ea typeface="MS UI Gothic" panose="020B0600070205080204" pitchFamily="34" charset="-128"/>
              </a:rPr>
              <a:t>研究計画</a:t>
            </a:r>
            <a:endParaRPr kumimoji="1" lang="ja-JP" altLang="en-US" sz="480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角丸四角形 2">
            <a:extLst>
              <a:ext uri="{FF2B5EF4-FFF2-40B4-BE49-F238E27FC236}">
                <a16:creationId xmlns:a16="http://schemas.microsoft.com/office/drawing/2014/main" id="{3DB583EB-1291-4519-7561-34E267049470}"/>
              </a:ext>
            </a:extLst>
          </p:cNvPr>
          <p:cNvSpPr/>
          <p:nvPr/>
        </p:nvSpPr>
        <p:spPr>
          <a:xfrm>
            <a:off x="609599" y="4087662"/>
            <a:ext cx="11209867" cy="26856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角丸四角形 1">
            <a:extLst>
              <a:ext uri="{FF2B5EF4-FFF2-40B4-BE49-F238E27FC236}">
                <a16:creationId xmlns:a16="http://schemas.microsoft.com/office/drawing/2014/main" id="{410DE9AA-DE00-28C8-7C4B-5224EF85681E}"/>
              </a:ext>
            </a:extLst>
          </p:cNvPr>
          <p:cNvSpPr/>
          <p:nvPr/>
        </p:nvSpPr>
        <p:spPr>
          <a:xfrm>
            <a:off x="609600" y="1293666"/>
            <a:ext cx="11209867" cy="268566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4907" y="1293666"/>
            <a:ext cx="10966027" cy="25671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🎯 </a:t>
            </a:r>
            <a:r>
              <a:rPr lang="en-US" sz="2800" b="1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直接的成果</a:t>
            </a:r>
            <a:endParaRPr lang="en-US" sz="2800" b="1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・</a:t>
            </a:r>
            <a:r>
              <a:rPr lang="en-US" altLang="ja-JP" sz="28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学生の学習効果向上：24時間サポートによる</a:t>
            </a:r>
            <a:r>
              <a: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つまづきの改善・</a:t>
            </a:r>
            <a:r>
              <a:rPr lang="en-US" altLang="ja-JP" sz="28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理解度</a:t>
            </a:r>
            <a:r>
              <a: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向上</a:t>
            </a:r>
            <a:endParaRPr lang="en-US" altLang="ja-JP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・</a:t>
            </a:r>
            <a:r>
              <a:rPr lang="en-US" altLang="ja-JP" sz="28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教員の教育改善：つまずきポイントの可視化とデータに基づく授業改善</a:t>
            </a:r>
            <a:endParaRPr lang="en-US" altLang="ja-JP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・</a:t>
            </a:r>
            <a:r>
              <a:rPr lang="en-US" altLang="ja-JP" sz="28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定量的評価モデル</a:t>
            </a:r>
            <a:r>
              <a:rPr lang="en-US" altLang="ja-JP" sz="28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：</a:t>
            </a:r>
            <a:r>
              <a: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過去の成績</a:t>
            </a:r>
            <a:r>
              <a:rPr lang="en-US" altLang="ja-JP" sz="28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との比較による客観的効果</a:t>
            </a:r>
            <a:endParaRPr lang="en-US" altLang="ja-JP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1998" y="3979334"/>
            <a:ext cx="9964541" cy="25671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MS UI Gothic" panose="020B0600070205080204" pitchFamily="34" charset="-128"/>
                <a:ea typeface="MS UI Gothic" panose="020B0600070205080204" pitchFamily="34" charset="-128"/>
              </a:rPr>
              <a:t>🌟 </a:t>
            </a:r>
            <a:r>
              <a:rPr lang="en-US" sz="2800" b="1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波及効果</a:t>
            </a:r>
            <a:endParaRPr lang="en-US" sz="2800" b="1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2800" b="1">
                <a:latin typeface="MS UI Gothic" panose="020B0600070205080204" pitchFamily="34" charset="-128"/>
                <a:ea typeface="MS UI Gothic" panose="020B0600070205080204" pitchFamily="34" charset="-128"/>
              </a:rPr>
              <a:t>・</a:t>
            </a:r>
            <a:r>
              <a:rPr lang="en-US" altLang="ja-JP" sz="2800" b="1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他領域への展開</a:t>
            </a:r>
            <a:r>
              <a:rPr lang="en-US" altLang="ja-JP" sz="28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→病態学など他の専門科目への応用</a:t>
            </a:r>
            <a:endParaRPr lang="en-US" altLang="ja-JP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2800" b="1">
                <a:latin typeface="MS UI Gothic" panose="020B0600070205080204" pitchFamily="34" charset="-128"/>
                <a:ea typeface="MS UI Gothic" panose="020B0600070205080204" pitchFamily="34" charset="-128"/>
              </a:rPr>
              <a:t>・</a:t>
            </a:r>
            <a:r>
              <a:rPr lang="en-US" altLang="ja-JP" sz="2800" b="1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実装モデルの提供</a:t>
            </a:r>
            <a:r>
              <a:rPr lang="en-US" altLang="ja-JP" sz="28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→他大学の薬学・医療系教育への導入支援</a:t>
            </a:r>
            <a:endParaRPr lang="en-US" altLang="ja-JP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2800" b="1">
                <a:latin typeface="MS UI Gothic" panose="020B0600070205080204" pitchFamily="34" charset="-128"/>
                <a:ea typeface="MS UI Gothic" panose="020B0600070205080204" pitchFamily="34" charset="-128"/>
              </a:rPr>
              <a:t>・</a:t>
            </a:r>
            <a:r>
              <a:rPr lang="en-US" altLang="ja-JP" sz="2800" b="1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AI教育研究の発展</a:t>
            </a:r>
            <a:r>
              <a:rPr lang="en-US" altLang="ja-JP" sz="28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→専門教育におけるAI活用の学術的知見蓄積</a:t>
            </a:r>
            <a:endParaRPr lang="en-US" altLang="ja-JP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86747" y="5745480"/>
            <a:ext cx="9177867" cy="2225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33"/>
              </a:lnSpc>
            </a:pPr>
            <a:endParaRPr lang="en-US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C942594-093D-E5BB-8ECD-2D1C7903751B}"/>
              </a:ext>
            </a:extLst>
          </p:cNvPr>
          <p:cNvSpPr txBox="1"/>
          <p:nvPr/>
        </p:nvSpPr>
        <p:spPr>
          <a:xfrm>
            <a:off x="4013544" y="355600"/>
            <a:ext cx="41649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800">
                <a:latin typeface="MS UI Gothic" panose="020B0600070205080204" pitchFamily="34" charset="-128"/>
                <a:ea typeface="MS UI Gothic" panose="020B0600070205080204" pitchFamily="34" charset="-128"/>
              </a:rPr>
              <a:t>期待される成果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D63CF-24F4-026D-A9E9-6637C8587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6B0F1DC-1A13-F821-F263-EA3BF1B1CF94}"/>
              </a:ext>
            </a:extLst>
          </p:cNvPr>
          <p:cNvSpPr txBox="1"/>
          <p:nvPr/>
        </p:nvSpPr>
        <p:spPr>
          <a:xfrm>
            <a:off x="5325600" y="355600"/>
            <a:ext cx="15408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800">
                <a:latin typeface="MS UI Gothic" panose="020B0600070205080204" pitchFamily="34" charset="-128"/>
                <a:ea typeface="MS UI Gothic" panose="020B0600070205080204" pitchFamily="34" charset="-128"/>
              </a:rPr>
              <a:t>まとめ</a:t>
            </a:r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21E5A08D-5EB1-67F4-9FF9-D7D583243DF5}"/>
              </a:ext>
            </a:extLst>
          </p:cNvPr>
          <p:cNvSpPr/>
          <p:nvPr/>
        </p:nvSpPr>
        <p:spPr>
          <a:xfrm>
            <a:off x="769011" y="5411449"/>
            <a:ext cx="10658007" cy="116923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 i="1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「魔法の黒板」で学びの未来を変える！</a:t>
            </a:r>
          </a:p>
        </p:txBody>
      </p:sp>
    </p:spTree>
    <p:extLst>
      <p:ext uri="{BB962C8B-B14F-4D97-AF65-F5344CB8AC3E}">
        <p14:creationId xmlns:p14="http://schemas.microsoft.com/office/powerpoint/2010/main" val="36023467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4249646-67A8-E2A9-9884-1164DE52AF02}"/>
              </a:ext>
            </a:extLst>
          </p:cNvPr>
          <p:cNvSpPr txBox="1"/>
          <p:nvPr/>
        </p:nvSpPr>
        <p:spPr>
          <a:xfrm>
            <a:off x="855624" y="1061278"/>
            <a:ext cx="10480753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3600">
                <a:latin typeface="MS UI Gothic" panose="020B0600070205080204" pitchFamily="34" charset="-128"/>
                <a:ea typeface="MS UI Gothic" panose="020B0600070205080204" pitchFamily="34" charset="-128"/>
              </a:rPr>
              <a:t>生成系</a:t>
            </a:r>
            <a:r>
              <a:rPr kumimoji="1" lang="en-US" altLang="ja-JP" sz="36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AI</a:t>
            </a:r>
            <a:r>
              <a:rPr kumimoji="1" lang="ja-JP" altLang="en-US" sz="3600">
                <a:latin typeface="MS UI Gothic" panose="020B0600070205080204" pitchFamily="34" charset="-128"/>
                <a:ea typeface="MS UI Gothic" panose="020B0600070205080204" pitchFamily="34" charset="-128"/>
              </a:rPr>
              <a:t>を活用した即時質問応答型学習支援システム</a:t>
            </a:r>
            <a:endParaRPr kumimoji="1" lang="en-US" altLang="ja-JP" sz="36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endParaRPr kumimoji="1" lang="en-US" altLang="ja-JP" sz="9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lang="ja-JP" altLang="en-US" sz="6000">
                <a:latin typeface="MS UI Gothic" panose="020B0600070205080204" pitchFamily="34" charset="-128"/>
                <a:ea typeface="MS UI Gothic" panose="020B0600070205080204" pitchFamily="34" charset="-128"/>
              </a:rPr>
              <a:t>🪄「魔法の黒板」🪄</a:t>
            </a:r>
            <a:endParaRPr lang="en-US" altLang="ja-JP" sz="60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endParaRPr lang="en-US" altLang="ja-JP" sz="9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kumimoji="1" lang="ja-JP" altLang="en-US" sz="3600">
                <a:latin typeface="MS UI Gothic" panose="020B0600070205080204" pitchFamily="34" charset="-128"/>
                <a:ea typeface="MS UI Gothic" panose="020B0600070205080204" pitchFamily="34" charset="-128"/>
              </a:rPr>
              <a:t>の開発と薬学教育における教育効果の検証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EB372F0-7B2A-A458-C6A8-E29774EF3EC0}"/>
              </a:ext>
            </a:extLst>
          </p:cNvPr>
          <p:cNvSpPr txBox="1"/>
          <p:nvPr/>
        </p:nvSpPr>
        <p:spPr>
          <a:xfrm>
            <a:off x="3855642" y="4254500"/>
            <a:ext cx="4480714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神戸学院大学</a:t>
            </a:r>
            <a:r>
              <a:rPr lang="en-US" altLang="ja-JP" sz="3600" dirty="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 </a:t>
            </a:r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薬学部</a:t>
            </a:r>
            <a:endParaRPr lang="en-US" altLang="ja-JP" sz="3600" dirty="0">
              <a:latin typeface="MS UI Gothic" panose="020B0600070205080204" pitchFamily="34" charset="-128"/>
              <a:ea typeface="MS UI Gothic" panose="020B0600070205080204" pitchFamily="34" charset="-128"/>
              <a:cs typeface="Yu Gothic" pitchFamily="34" charset="-120"/>
            </a:endParaRPr>
          </a:p>
          <a:p>
            <a:pPr algn="ctr"/>
            <a:endParaRPr lang="en-US" altLang="ja-JP" sz="9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橋本</a:t>
            </a:r>
            <a:r>
              <a:rPr lang="en-US" altLang="ja-JP" sz="3600" dirty="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 </a:t>
            </a:r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保彦</a:t>
            </a:r>
            <a:r>
              <a:rPr lang="ja-JP" altLang="en-US" sz="360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、</a:t>
            </a:r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辰見</a:t>
            </a:r>
            <a:r>
              <a:rPr lang="en-US" altLang="ja-JP" sz="3600" dirty="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 </a:t>
            </a:r>
            <a:r>
              <a:rPr lang="en-US" altLang="ja-JP" sz="36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明俊</a:t>
            </a:r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33142855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角丸四角形 14">
            <a:extLst>
              <a:ext uri="{FF2B5EF4-FFF2-40B4-BE49-F238E27FC236}">
                <a16:creationId xmlns:a16="http://schemas.microsoft.com/office/drawing/2014/main" id="{33870A41-1648-B999-D3F6-D20BDC9EC505}"/>
              </a:ext>
            </a:extLst>
          </p:cNvPr>
          <p:cNvSpPr/>
          <p:nvPr/>
        </p:nvSpPr>
        <p:spPr>
          <a:xfrm>
            <a:off x="6495132" y="1796143"/>
            <a:ext cx="5206998" cy="4669971"/>
          </a:xfrm>
          <a:prstGeom prst="roundRect">
            <a:avLst>
              <a:gd name="adj" fmla="val 1002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7E52AB28-F56A-2B43-6692-6B4843A545EE}"/>
              </a:ext>
            </a:extLst>
          </p:cNvPr>
          <p:cNvSpPr/>
          <p:nvPr/>
        </p:nvSpPr>
        <p:spPr>
          <a:xfrm>
            <a:off x="489870" y="1796143"/>
            <a:ext cx="5206998" cy="4669971"/>
          </a:xfrm>
          <a:prstGeom prst="roundRect">
            <a:avLst>
              <a:gd name="adj" fmla="val 1002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DFD1B44-4055-0CCB-12E6-97FB0A37A87F}"/>
              </a:ext>
            </a:extLst>
          </p:cNvPr>
          <p:cNvSpPr txBox="1"/>
          <p:nvPr/>
        </p:nvSpPr>
        <p:spPr>
          <a:xfrm>
            <a:off x="540659" y="359230"/>
            <a:ext cx="4270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研究の意義・発展性（その</a:t>
            </a:r>
            <a:r>
              <a:rPr kumimoji="1" lang="en-US" altLang="ja-JP" sz="28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1</a:t>
            </a:r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D11EDF5-6E83-D091-0244-E2862A84321F}"/>
              </a:ext>
            </a:extLst>
          </p:cNvPr>
          <p:cNvSpPr txBox="1"/>
          <p:nvPr/>
        </p:nvSpPr>
        <p:spPr>
          <a:xfrm>
            <a:off x="540659" y="968827"/>
            <a:ext cx="73468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MS UI Gothic" panose="020B0600070205080204" pitchFamily="34" charset="-128"/>
                <a:ea typeface="MS UI Gothic" panose="020B0600070205080204" pitchFamily="34" charset="-128"/>
              </a:rPr>
              <a:t>背景：学生の学習における「つまずき」の問題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A6ED954-F00B-78A0-0AAF-DCBFCF347F29}"/>
              </a:ext>
            </a:extLst>
          </p:cNvPr>
          <p:cNvSpPr txBox="1"/>
          <p:nvPr/>
        </p:nvSpPr>
        <p:spPr>
          <a:xfrm>
            <a:off x="1037358" y="1992087"/>
            <a:ext cx="41120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⚠️ </a:t>
            </a:r>
            <a:r>
              <a:rPr lang="en-US" altLang="ja-JP" sz="28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従来の学習環境の限界</a:t>
            </a:r>
            <a:endParaRPr lang="en-US" altLang="ja-JP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3D51BD5-3178-79FA-47A2-DD07BEDD71E3}"/>
              </a:ext>
            </a:extLst>
          </p:cNvPr>
          <p:cNvSpPr txBox="1"/>
          <p:nvPr/>
        </p:nvSpPr>
        <p:spPr>
          <a:xfrm>
            <a:off x="1037358" y="2779820"/>
            <a:ext cx="38058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★時間的制約</a:t>
            </a:r>
            <a:endParaRPr kumimoji="1"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　・教員への質問は学内のみ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　・休日・夜間は質問できない</a:t>
            </a:r>
            <a:endParaRPr kumimoji="1"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3346838-1645-1031-BE02-897C97F85C7F}"/>
              </a:ext>
            </a:extLst>
          </p:cNvPr>
          <p:cNvSpPr txBox="1"/>
          <p:nvPr/>
        </p:nvSpPr>
        <p:spPr>
          <a:xfrm>
            <a:off x="1037358" y="4355133"/>
            <a:ext cx="40302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★心理的抵抗</a:t>
            </a:r>
            <a:endParaRPr kumimoji="1"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　・何度も質問することへの躊躇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　・基礎的な質問をしづらい</a:t>
            </a:r>
            <a:endParaRPr kumimoji="1"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4751E0E-6323-7352-B238-8476060590F5}"/>
              </a:ext>
            </a:extLst>
          </p:cNvPr>
          <p:cNvSpPr txBox="1"/>
          <p:nvPr/>
        </p:nvSpPr>
        <p:spPr>
          <a:xfrm>
            <a:off x="7354404" y="1992087"/>
            <a:ext cx="34884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🧑‍🎓学生の声（面談より）</a:t>
            </a:r>
            <a:endParaRPr lang="en-US" altLang="ja-JP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278C877-0708-3326-CF01-90D44A09934C}"/>
              </a:ext>
            </a:extLst>
          </p:cNvPr>
          <p:cNvSpPr txBox="1"/>
          <p:nvPr/>
        </p:nvSpPr>
        <p:spPr>
          <a:xfrm>
            <a:off x="6776358" y="2779820"/>
            <a:ext cx="4597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「先生に聞きに行くことは緊張します」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241F750-E4A8-1268-1E5D-3807D929FAAA}"/>
              </a:ext>
            </a:extLst>
          </p:cNvPr>
          <p:cNvSpPr txBox="1"/>
          <p:nvPr/>
        </p:nvSpPr>
        <p:spPr>
          <a:xfrm>
            <a:off x="6776358" y="3551146"/>
            <a:ext cx="4831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「何度も聞いて怒られないか不安です」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3B37A27-C396-91F6-2086-CE87073BADC4}"/>
              </a:ext>
            </a:extLst>
          </p:cNvPr>
          <p:cNvSpPr txBox="1"/>
          <p:nvPr/>
        </p:nvSpPr>
        <p:spPr>
          <a:xfrm>
            <a:off x="6776358" y="4322472"/>
            <a:ext cx="48429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「夜間に疑問が生じても解決できない」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DF2F56A-01B2-9DCA-3B59-AEB8FCEE5E1E}"/>
              </a:ext>
            </a:extLst>
          </p:cNvPr>
          <p:cNvSpPr txBox="1"/>
          <p:nvPr/>
        </p:nvSpPr>
        <p:spPr>
          <a:xfrm>
            <a:off x="6776358" y="5093797"/>
            <a:ext cx="4079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「未解決のまま試験日を迎えた」</a:t>
            </a:r>
          </a:p>
        </p:txBody>
      </p:sp>
    </p:spTree>
    <p:extLst>
      <p:ext uri="{BB962C8B-B14F-4D97-AF65-F5344CB8AC3E}">
        <p14:creationId xmlns:p14="http://schemas.microsoft.com/office/powerpoint/2010/main" val="32401403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03DF1-10CF-25FD-2661-4ACB37FEE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角丸四角形 14">
            <a:extLst>
              <a:ext uri="{FF2B5EF4-FFF2-40B4-BE49-F238E27FC236}">
                <a16:creationId xmlns:a16="http://schemas.microsoft.com/office/drawing/2014/main" id="{2EE0BA58-6EB3-3AE0-43AD-FEF60884E5EA}"/>
              </a:ext>
            </a:extLst>
          </p:cNvPr>
          <p:cNvSpPr/>
          <p:nvPr/>
        </p:nvSpPr>
        <p:spPr>
          <a:xfrm>
            <a:off x="6495132" y="1796143"/>
            <a:ext cx="5206998" cy="4669971"/>
          </a:xfrm>
          <a:prstGeom prst="roundRect">
            <a:avLst>
              <a:gd name="adj" fmla="val 1002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E6CB43CF-3416-AAC2-B254-EE91558989A6}"/>
              </a:ext>
            </a:extLst>
          </p:cNvPr>
          <p:cNvSpPr/>
          <p:nvPr/>
        </p:nvSpPr>
        <p:spPr>
          <a:xfrm>
            <a:off x="489870" y="1796143"/>
            <a:ext cx="5206998" cy="4669971"/>
          </a:xfrm>
          <a:prstGeom prst="roundRect">
            <a:avLst>
              <a:gd name="adj" fmla="val 1002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C9AA001-6D20-761D-A345-49843B7553C2}"/>
              </a:ext>
            </a:extLst>
          </p:cNvPr>
          <p:cNvSpPr txBox="1"/>
          <p:nvPr/>
        </p:nvSpPr>
        <p:spPr>
          <a:xfrm>
            <a:off x="540659" y="359230"/>
            <a:ext cx="4270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研究の意義・発展性（その</a:t>
            </a:r>
            <a:r>
              <a:rPr kumimoji="1" lang="en-US" altLang="ja-JP" sz="28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1</a:t>
            </a:r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1F9FE9D-4B65-F6D5-66AF-28B15CB725B1}"/>
              </a:ext>
            </a:extLst>
          </p:cNvPr>
          <p:cNvSpPr txBox="1"/>
          <p:nvPr/>
        </p:nvSpPr>
        <p:spPr>
          <a:xfrm>
            <a:off x="540659" y="968827"/>
            <a:ext cx="73468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MS UI Gothic" panose="020B0600070205080204" pitchFamily="34" charset="-128"/>
                <a:ea typeface="MS UI Gothic" panose="020B0600070205080204" pitchFamily="34" charset="-128"/>
              </a:rPr>
              <a:t>背景：学生の学習における「つまずき」の問題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851D347-BA38-EFDC-D33E-3D8D5FC4FDB9}"/>
              </a:ext>
            </a:extLst>
          </p:cNvPr>
          <p:cNvSpPr txBox="1"/>
          <p:nvPr/>
        </p:nvSpPr>
        <p:spPr>
          <a:xfrm>
            <a:off x="1037358" y="1992087"/>
            <a:ext cx="41120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⚠️ </a:t>
            </a:r>
            <a:r>
              <a:rPr lang="en-US" altLang="ja-JP" sz="28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従来の学習環境の限界</a:t>
            </a:r>
            <a:endParaRPr lang="en-US" altLang="ja-JP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D11ED45-51E4-3F6E-50E0-38756B099A40}"/>
              </a:ext>
            </a:extLst>
          </p:cNvPr>
          <p:cNvSpPr txBox="1"/>
          <p:nvPr/>
        </p:nvSpPr>
        <p:spPr>
          <a:xfrm>
            <a:off x="1037358" y="2779820"/>
            <a:ext cx="38058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★時間的制約</a:t>
            </a:r>
            <a:endParaRPr kumimoji="1"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　・教員への質問は学内のみ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　・休日・夜間は質問できない</a:t>
            </a:r>
            <a:endParaRPr kumimoji="1"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44FB45E-3092-95AD-F705-31063ADA6097}"/>
              </a:ext>
            </a:extLst>
          </p:cNvPr>
          <p:cNvSpPr txBox="1"/>
          <p:nvPr/>
        </p:nvSpPr>
        <p:spPr>
          <a:xfrm>
            <a:off x="1037358" y="4355133"/>
            <a:ext cx="40302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★心理的抵抗</a:t>
            </a:r>
            <a:endParaRPr kumimoji="1"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　・何度も質問することへの躊躇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　・基礎的な質問をしづらい</a:t>
            </a:r>
            <a:endParaRPr kumimoji="1"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F0228D5-524A-0BFD-CED2-D8CD36153597}"/>
              </a:ext>
            </a:extLst>
          </p:cNvPr>
          <p:cNvSpPr txBox="1"/>
          <p:nvPr/>
        </p:nvSpPr>
        <p:spPr>
          <a:xfrm>
            <a:off x="7354404" y="1992087"/>
            <a:ext cx="34884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🧑‍🎓学生の声（面談より）</a:t>
            </a:r>
            <a:endParaRPr lang="en-US" altLang="ja-JP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2AF98B2-62FD-AB1B-C11C-F0EEF2CE5825}"/>
              </a:ext>
            </a:extLst>
          </p:cNvPr>
          <p:cNvSpPr txBox="1"/>
          <p:nvPr/>
        </p:nvSpPr>
        <p:spPr>
          <a:xfrm>
            <a:off x="6776358" y="2779820"/>
            <a:ext cx="4597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「先生に聞きに行くことは緊張します」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FE26394-8C16-B172-3645-5EAACC41C5B7}"/>
              </a:ext>
            </a:extLst>
          </p:cNvPr>
          <p:cNvSpPr txBox="1"/>
          <p:nvPr/>
        </p:nvSpPr>
        <p:spPr>
          <a:xfrm>
            <a:off x="6776358" y="3551146"/>
            <a:ext cx="4831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「何度も聞いて怒られないか不安です」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E459CB4-DC6A-6EFD-BC1B-5CCD1B1BE4DE}"/>
              </a:ext>
            </a:extLst>
          </p:cNvPr>
          <p:cNvSpPr txBox="1"/>
          <p:nvPr/>
        </p:nvSpPr>
        <p:spPr>
          <a:xfrm>
            <a:off x="6776358" y="4322472"/>
            <a:ext cx="48429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「夜間に疑問が生じても解決できない」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E21BCC6-5B4F-4813-4CB8-2830D2B1C875}"/>
              </a:ext>
            </a:extLst>
          </p:cNvPr>
          <p:cNvSpPr txBox="1"/>
          <p:nvPr/>
        </p:nvSpPr>
        <p:spPr>
          <a:xfrm>
            <a:off x="6776358" y="5093797"/>
            <a:ext cx="4079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「未解決のまま試験日を迎えた」</a:t>
            </a:r>
          </a:p>
        </p:txBody>
      </p:sp>
      <p:sp>
        <p:nvSpPr>
          <p:cNvPr id="5" name="雲形吹き出し 4">
            <a:extLst>
              <a:ext uri="{FF2B5EF4-FFF2-40B4-BE49-F238E27FC236}">
                <a16:creationId xmlns:a16="http://schemas.microsoft.com/office/drawing/2014/main" id="{9AB8AEEE-36B7-38CF-C799-512479B1608D}"/>
              </a:ext>
            </a:extLst>
          </p:cNvPr>
          <p:cNvSpPr/>
          <p:nvPr/>
        </p:nvSpPr>
        <p:spPr>
          <a:xfrm>
            <a:off x="2351368" y="555787"/>
            <a:ext cx="8193904" cy="3624425"/>
          </a:xfrm>
          <a:prstGeom prst="cloudCallout">
            <a:avLst>
              <a:gd name="adj1" fmla="val -10936"/>
              <a:gd name="adj2" fmla="val 7783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疑問の放置</a:t>
            </a:r>
            <a:endParaRPr lang="en-US" altLang="ja-JP" sz="2800" dirty="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lang="ja-JP" altLang="en-US" sz="2800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↓</a:t>
            </a:r>
            <a:endParaRPr lang="en-US" altLang="ja-JP" sz="2800" dirty="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lang="ja-JP" altLang="en-US" sz="2800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学習意欲の低下・理解の断片化</a:t>
            </a:r>
            <a:endParaRPr lang="en-US" altLang="ja-JP" sz="2800" dirty="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endParaRPr kumimoji="1" lang="ja-JP" altLang="en-US" sz="280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8412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474D6-D0DE-B8D2-CEA5-2D230A562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角丸四角形 5">
            <a:extLst>
              <a:ext uri="{FF2B5EF4-FFF2-40B4-BE49-F238E27FC236}">
                <a16:creationId xmlns:a16="http://schemas.microsoft.com/office/drawing/2014/main" id="{52E20E74-A02D-468C-3D6E-B00A23238465}"/>
              </a:ext>
            </a:extLst>
          </p:cNvPr>
          <p:cNvSpPr/>
          <p:nvPr/>
        </p:nvSpPr>
        <p:spPr>
          <a:xfrm>
            <a:off x="130633" y="1714497"/>
            <a:ext cx="6974188" cy="4767943"/>
          </a:xfrm>
          <a:prstGeom prst="roundRect">
            <a:avLst>
              <a:gd name="adj" fmla="val 6393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76767C8-F5DD-1E7E-7496-29775DF10787}"/>
              </a:ext>
            </a:extLst>
          </p:cNvPr>
          <p:cNvSpPr txBox="1"/>
          <p:nvPr/>
        </p:nvSpPr>
        <p:spPr>
          <a:xfrm>
            <a:off x="540659" y="359230"/>
            <a:ext cx="4270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研究の意義・発展性（その</a:t>
            </a:r>
            <a:r>
              <a:rPr kumimoji="1" lang="en-US" altLang="ja-JP" sz="28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2</a:t>
            </a:r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36ACB89-CE4A-1406-49BD-39857F8A2135}"/>
              </a:ext>
            </a:extLst>
          </p:cNvPr>
          <p:cNvSpPr txBox="1"/>
          <p:nvPr/>
        </p:nvSpPr>
        <p:spPr>
          <a:xfrm>
            <a:off x="540659" y="968827"/>
            <a:ext cx="55515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MS UI Gothic" panose="020B0600070205080204" pitchFamily="34" charset="-128"/>
                <a:ea typeface="MS UI Gothic" panose="020B0600070205080204" pitchFamily="34" charset="-128"/>
              </a:rPr>
              <a:t>本研究の意義と将来への発展性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31D068D-078B-E3A9-25D1-7F2FA5DF7D04}"/>
              </a:ext>
            </a:extLst>
          </p:cNvPr>
          <p:cNvSpPr txBox="1"/>
          <p:nvPr/>
        </p:nvSpPr>
        <p:spPr>
          <a:xfrm>
            <a:off x="165100" y="1943902"/>
            <a:ext cx="6058069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🎯 </a:t>
            </a:r>
            <a:r>
              <a:rPr lang="en-US" altLang="ja-JP" sz="32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主目的</a:t>
            </a:r>
            <a:r>
              <a:rPr lang="ja-JP" altLang="en-US" sz="320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：</a:t>
            </a:r>
            <a:endParaRPr lang="en-US" altLang="ja-JP" sz="3200" dirty="0">
              <a:latin typeface="MS UI Gothic" panose="020B0600070205080204" pitchFamily="34" charset="-128"/>
              <a:ea typeface="MS UI Gothic" panose="020B0600070205080204" pitchFamily="34" charset="-128"/>
              <a:cs typeface="Yu Gothic" pitchFamily="34" charset="-120"/>
            </a:endParaRPr>
          </a:p>
          <a:p>
            <a:endParaRPr lang="en-US" altLang="ja-JP" sz="900" dirty="0">
              <a:latin typeface="MS UI Gothic" panose="020B0600070205080204" pitchFamily="34" charset="-128"/>
              <a:ea typeface="MS UI Gothic" panose="020B0600070205080204" pitchFamily="34" charset="-128"/>
              <a:cs typeface="Yu Gothic" pitchFamily="34" charset="-120"/>
            </a:endParaRPr>
          </a:p>
          <a:p>
            <a:r>
              <a:rPr lang="ja-JP" altLang="en-US" sz="3200" b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「魔法の黒板」が</a:t>
            </a:r>
            <a:r>
              <a:rPr lang="en-US" altLang="ja-JP" sz="3200" b="1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学生の学習成果に</a:t>
            </a:r>
            <a:endParaRPr lang="en-US" altLang="ja-JP" sz="3200" b="1" dirty="0">
              <a:latin typeface="MS UI Gothic" panose="020B0600070205080204" pitchFamily="34" charset="-128"/>
              <a:ea typeface="MS UI Gothic" panose="020B0600070205080204" pitchFamily="34" charset="-128"/>
              <a:cs typeface="Yu Gothic" pitchFamily="34" charset="-120"/>
            </a:endParaRPr>
          </a:p>
          <a:p>
            <a:r>
              <a:rPr lang="en-US" altLang="ja-JP" sz="3200" b="1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与える影響を明らかにする</a:t>
            </a:r>
            <a:endParaRPr lang="en-US" altLang="ja-JP" sz="3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469C74D-0316-1474-B611-3322C311D593}"/>
              </a:ext>
            </a:extLst>
          </p:cNvPr>
          <p:cNvSpPr txBox="1"/>
          <p:nvPr/>
        </p:nvSpPr>
        <p:spPr>
          <a:xfrm>
            <a:off x="165100" y="3927210"/>
            <a:ext cx="693972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📈</a:t>
            </a:r>
            <a:r>
              <a:rPr lang="en-US" altLang="ja-JP" sz="3200" dirty="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 </a:t>
            </a:r>
            <a:r>
              <a:rPr lang="ja-JP" altLang="en-US" sz="320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副次的</a:t>
            </a:r>
            <a:r>
              <a:rPr lang="en-US" altLang="ja-JP" sz="32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目的</a:t>
            </a:r>
            <a:r>
              <a:rPr lang="ja-JP" altLang="en-US" sz="320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：</a:t>
            </a:r>
            <a:endParaRPr lang="en-US" altLang="ja-JP" sz="3200" dirty="0">
              <a:latin typeface="MS UI Gothic" panose="020B0600070205080204" pitchFamily="34" charset="-128"/>
              <a:ea typeface="MS UI Gothic" panose="020B0600070205080204" pitchFamily="34" charset="-128"/>
              <a:cs typeface="Yu Gothic" pitchFamily="34" charset="-120"/>
            </a:endParaRPr>
          </a:p>
          <a:p>
            <a:r>
              <a:rPr lang="ja-JP" altLang="en-US" sz="320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　</a:t>
            </a:r>
            <a:r>
              <a:rPr lang="en-US" altLang="ja-JP" sz="3200" dirty="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①</a:t>
            </a:r>
            <a:r>
              <a:rPr lang="en-US" altLang="ja-JP" sz="32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学習行動・学習意欲の変化</a:t>
            </a:r>
            <a:endParaRPr lang="en-US" altLang="ja-JP" sz="3200" dirty="0">
              <a:latin typeface="MS UI Gothic" panose="020B0600070205080204" pitchFamily="34" charset="-128"/>
              <a:ea typeface="MS UI Gothic" panose="020B0600070205080204" pitchFamily="34" charset="-128"/>
              <a:cs typeface="Yu Gothic" pitchFamily="34" charset="-120"/>
            </a:endParaRPr>
          </a:p>
          <a:p>
            <a:r>
              <a:rPr lang="ja-JP" altLang="en-US" sz="3200">
                <a:latin typeface="MS UI Gothic" panose="020B0600070205080204" pitchFamily="34" charset="-128"/>
                <a:ea typeface="MS UI Gothic" panose="020B0600070205080204" pitchFamily="34" charset="-128"/>
              </a:rPr>
              <a:t>　</a:t>
            </a:r>
            <a:r>
              <a:rPr lang="en-US" altLang="ja-JP" sz="32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②</a:t>
            </a:r>
            <a:r>
              <a:rPr lang="en-US" altLang="ja-JP" sz="3200" dirty="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 「</a:t>
            </a:r>
            <a:r>
              <a:rPr lang="en-US" altLang="ja-JP" sz="32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つまずきの地図」の作成</a:t>
            </a:r>
            <a:endParaRPr lang="en-US" altLang="ja-JP" sz="3200" dirty="0">
              <a:latin typeface="MS UI Gothic" panose="020B0600070205080204" pitchFamily="34" charset="-128"/>
              <a:ea typeface="MS UI Gothic" panose="020B0600070205080204" pitchFamily="34" charset="-128"/>
              <a:cs typeface="Yu Gothic" pitchFamily="34" charset="-120"/>
            </a:endParaRPr>
          </a:p>
          <a:p>
            <a:r>
              <a:rPr lang="ja-JP" altLang="en-US" sz="320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　→　</a:t>
            </a:r>
            <a:r>
              <a:rPr lang="en-US" altLang="ja-JP" sz="3200" dirty="0" err="1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講義改善</a:t>
            </a:r>
            <a:r>
              <a:rPr lang="ja-JP" altLang="en-US" sz="3200"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・演習問題作成への活用</a:t>
            </a:r>
            <a:endParaRPr lang="en-US" altLang="ja-JP" sz="3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124925CF-C033-6D08-9539-B4297AE1C79B}"/>
              </a:ext>
            </a:extLst>
          </p:cNvPr>
          <p:cNvSpPr/>
          <p:nvPr/>
        </p:nvSpPr>
        <p:spPr>
          <a:xfrm>
            <a:off x="7298881" y="1714496"/>
            <a:ext cx="4758949" cy="4767943"/>
          </a:xfrm>
          <a:prstGeom prst="roundRect">
            <a:avLst>
              <a:gd name="adj" fmla="val 6393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A5FD9-52B6-B2DD-2168-B0FF8ACE76C3}"/>
              </a:ext>
            </a:extLst>
          </p:cNvPr>
          <p:cNvSpPr txBox="1"/>
          <p:nvPr/>
        </p:nvSpPr>
        <p:spPr>
          <a:xfrm>
            <a:off x="7805067" y="1943902"/>
            <a:ext cx="33169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MS UI Gothic" panose="020B0600070205080204" pitchFamily="34" charset="-128"/>
                <a:ea typeface="MS UI Gothic" panose="020B0600070205080204" pitchFamily="34" charset="-128"/>
              </a:rPr>
              <a:t>🚀将来への発展性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A180D3E-D928-7F8F-163D-4A53F7ADE001}"/>
              </a:ext>
            </a:extLst>
          </p:cNvPr>
          <p:cNvSpPr txBox="1"/>
          <p:nvPr/>
        </p:nvSpPr>
        <p:spPr>
          <a:xfrm>
            <a:off x="7560609" y="2669923"/>
            <a:ext cx="4379725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★他の専門科目への発展</a:t>
            </a:r>
            <a:endParaRPr kumimoji="1"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　・薬物治療、病態学など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endParaRPr lang="en-US" altLang="ja-JP" sz="9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★他大学への導入支援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　・薬学、医療系教育全般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endParaRPr lang="en-US" altLang="ja-JP" sz="9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★</a:t>
            </a:r>
            <a:r>
              <a:rPr lang="en-US" altLang="ja-JP" sz="24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AI</a:t>
            </a:r>
            <a:r>
              <a:rPr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教育研究の発展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ja-JP" altLang="en-US" sz="2400">
                <a:latin typeface="MS UI Gothic" panose="020B0600070205080204" pitchFamily="34" charset="-128"/>
                <a:ea typeface="MS UI Gothic" panose="020B0600070205080204" pitchFamily="34" charset="-128"/>
              </a:rPr>
              <a:t>　・専門教育における知見の蓄積</a:t>
            </a:r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endParaRPr lang="en-US" altLang="ja-JP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663853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28DCB-1122-0A3F-FCD0-BD2A2A4DC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5434142-12B8-261F-E855-96961565CAFB}"/>
              </a:ext>
            </a:extLst>
          </p:cNvPr>
          <p:cNvSpPr txBox="1"/>
          <p:nvPr/>
        </p:nvSpPr>
        <p:spPr>
          <a:xfrm>
            <a:off x="540659" y="359230"/>
            <a:ext cx="4629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教育・</a:t>
            </a:r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研究上の新規性（その</a:t>
            </a:r>
            <a:r>
              <a:rPr lang="en-US" altLang="ja-JP" sz="28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1</a:t>
            </a:r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053CBB9-6709-02CB-BD98-B8CBFB56DABA}"/>
              </a:ext>
            </a:extLst>
          </p:cNvPr>
          <p:cNvSpPr txBox="1"/>
          <p:nvPr/>
        </p:nvSpPr>
        <p:spPr>
          <a:xfrm>
            <a:off x="540659" y="968827"/>
            <a:ext cx="34339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MS UI Gothic" panose="020B0600070205080204" pitchFamily="34" charset="-128"/>
                <a:ea typeface="MS UI Gothic" panose="020B0600070205080204" pitchFamily="34" charset="-128"/>
              </a:rPr>
              <a:t>研究の</a:t>
            </a:r>
            <a:r>
              <a:rPr kumimoji="1" lang="en-US" altLang="ja-JP" sz="32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3</a:t>
            </a:r>
            <a:r>
              <a:rPr kumimoji="1" lang="ja-JP" altLang="en-US" sz="3200">
                <a:latin typeface="MS UI Gothic" panose="020B0600070205080204" pitchFamily="34" charset="-128"/>
                <a:ea typeface="MS UI Gothic" panose="020B0600070205080204" pitchFamily="34" charset="-128"/>
              </a:rPr>
              <a:t>つの革新性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AB93A772-74AD-5C14-9377-5F3C59AC18AE}"/>
              </a:ext>
            </a:extLst>
          </p:cNvPr>
          <p:cNvGrpSpPr/>
          <p:nvPr/>
        </p:nvGrpSpPr>
        <p:grpSpPr>
          <a:xfrm>
            <a:off x="288405" y="1730821"/>
            <a:ext cx="3433953" cy="3853036"/>
            <a:chOff x="174102" y="2024743"/>
            <a:chExt cx="3433953" cy="3853036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151779CA-7AB5-5036-987B-BB4FE23A7A3B}"/>
                </a:ext>
              </a:extLst>
            </p:cNvPr>
            <p:cNvSpPr/>
            <p:nvPr/>
          </p:nvSpPr>
          <p:spPr>
            <a:xfrm>
              <a:off x="174102" y="2024743"/>
              <a:ext cx="3433953" cy="3853036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A0222DF9-16D5-C574-A11C-7A9959BA8049}"/>
                </a:ext>
              </a:extLst>
            </p:cNvPr>
            <p:cNvGrpSpPr/>
            <p:nvPr/>
          </p:nvGrpSpPr>
          <p:grpSpPr>
            <a:xfrm>
              <a:off x="656638" y="2122715"/>
              <a:ext cx="2468880" cy="3657093"/>
              <a:chOff x="747235" y="2220686"/>
              <a:chExt cx="2468880" cy="3657093"/>
            </a:xfrm>
          </p:grpSpPr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EE2E0BF3-54D7-252E-F45F-985B497B726F}"/>
                  </a:ext>
                </a:extLst>
              </p:cNvPr>
              <p:cNvGrpSpPr/>
              <p:nvPr/>
            </p:nvGrpSpPr>
            <p:grpSpPr>
              <a:xfrm>
                <a:off x="1475797" y="2220686"/>
                <a:ext cx="1011757" cy="1005840"/>
                <a:chOff x="1280160" y="1600200"/>
                <a:chExt cx="1011757" cy="1005840"/>
              </a:xfrm>
            </p:grpSpPr>
            <p:sp>
              <p:nvSpPr>
                <p:cNvPr id="5" name="Shape 3">
                  <a:extLst>
                    <a:ext uri="{FF2B5EF4-FFF2-40B4-BE49-F238E27FC236}">
                      <a16:creationId xmlns:a16="http://schemas.microsoft.com/office/drawing/2014/main" id="{CA6CD829-B3AA-4AB5-FE60-03FAF08EAD11}"/>
                    </a:ext>
                  </a:extLst>
                </p:cNvPr>
                <p:cNvSpPr/>
                <p:nvPr/>
              </p:nvSpPr>
              <p:spPr>
                <a:xfrm>
                  <a:off x="1280160" y="1600200"/>
                  <a:ext cx="1005840" cy="1005840"/>
                </a:xfrm>
                <a:prstGeom prst="ellipse">
                  <a:avLst/>
                </a:prstGeom>
                <a:solidFill>
                  <a:srgbClr val="028090"/>
                </a:solidFill>
                <a:ln/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6" name="Text 4">
                  <a:extLst>
                    <a:ext uri="{FF2B5EF4-FFF2-40B4-BE49-F238E27FC236}">
                      <a16:creationId xmlns:a16="http://schemas.microsoft.com/office/drawing/2014/main" id="{9B84D193-9BEC-FFA3-59DD-9F5C77B4E0A4}"/>
                    </a:ext>
                  </a:extLst>
                </p:cNvPr>
                <p:cNvSpPr/>
                <p:nvPr/>
              </p:nvSpPr>
              <p:spPr>
                <a:xfrm>
                  <a:off x="1286077" y="1861456"/>
                  <a:ext cx="1005840" cy="5486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4800" b="1" dirty="0">
                      <a:solidFill>
                        <a:srgbClr val="FFFFFF"/>
                      </a:solidFill>
                    </a:rPr>
                    <a:t>① </a:t>
                  </a:r>
                  <a:endParaRPr lang="en-US" sz="4800" dirty="0"/>
                </a:p>
              </p:txBody>
            </p:sp>
          </p:grpSp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4453D12F-C7F1-3573-41C8-96D1FA55BE4E}"/>
                  </a:ext>
                </a:extLst>
              </p:cNvPr>
              <p:cNvSpPr/>
              <p:nvPr/>
            </p:nvSpPr>
            <p:spPr>
              <a:xfrm>
                <a:off x="747235" y="3683218"/>
                <a:ext cx="246888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24時間リアルタイム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質問応答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</p:txBody>
          </p:sp>
          <p:sp>
            <p:nvSpPr>
              <p:cNvPr id="8" name="Text 6">
                <a:extLst>
                  <a:ext uri="{FF2B5EF4-FFF2-40B4-BE49-F238E27FC236}">
                    <a16:creationId xmlns:a16="http://schemas.microsoft.com/office/drawing/2014/main" id="{46788130-6D74-0A4D-CEE0-265159381165}"/>
                  </a:ext>
                </a:extLst>
              </p:cNvPr>
              <p:cNvSpPr/>
              <p:nvPr/>
            </p:nvSpPr>
            <p:spPr>
              <a:xfrm>
                <a:off x="747235" y="3911818"/>
                <a:ext cx="2468880" cy="196596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いつでも・どこでも・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何度でも質問可能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→時間的・心理的障壁を解消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</p:txBody>
          </p:sp>
        </p:grp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BE31C77C-43F0-AF55-2BA5-A9B9C2B051F6}"/>
              </a:ext>
            </a:extLst>
          </p:cNvPr>
          <p:cNvGrpSpPr/>
          <p:nvPr/>
        </p:nvGrpSpPr>
        <p:grpSpPr>
          <a:xfrm>
            <a:off x="4366227" y="1730821"/>
            <a:ext cx="3433953" cy="3853036"/>
            <a:chOff x="4276417" y="2024743"/>
            <a:chExt cx="3433953" cy="3853036"/>
          </a:xfrm>
        </p:grpSpPr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9923914D-AAC1-E491-2B8A-199960BE3CBA}"/>
                </a:ext>
              </a:extLst>
            </p:cNvPr>
            <p:cNvSpPr/>
            <p:nvPr/>
          </p:nvSpPr>
          <p:spPr>
            <a:xfrm>
              <a:off x="4276417" y="2024743"/>
              <a:ext cx="3433953" cy="3853036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D5029B9C-99DB-DF72-134E-F6E1F5772D13}"/>
                </a:ext>
              </a:extLst>
            </p:cNvPr>
            <p:cNvGrpSpPr/>
            <p:nvPr/>
          </p:nvGrpSpPr>
          <p:grpSpPr>
            <a:xfrm>
              <a:off x="4758953" y="2122715"/>
              <a:ext cx="2468880" cy="3657093"/>
              <a:chOff x="4849550" y="2220686"/>
              <a:chExt cx="2468880" cy="3657093"/>
            </a:xfrm>
          </p:grpSpPr>
          <p:grpSp>
            <p:nvGrpSpPr>
              <p:cNvPr id="24" name="グループ化 23">
                <a:extLst>
                  <a:ext uri="{FF2B5EF4-FFF2-40B4-BE49-F238E27FC236}">
                    <a16:creationId xmlns:a16="http://schemas.microsoft.com/office/drawing/2014/main" id="{2ABAB721-7A31-8F83-2808-74D4E97C6CB6}"/>
                  </a:ext>
                </a:extLst>
              </p:cNvPr>
              <p:cNvGrpSpPr/>
              <p:nvPr/>
            </p:nvGrpSpPr>
            <p:grpSpPr>
              <a:xfrm>
                <a:off x="5581070" y="2220686"/>
                <a:ext cx="1005840" cy="1005840"/>
                <a:chOff x="4069080" y="1600200"/>
                <a:chExt cx="1005840" cy="1005840"/>
              </a:xfrm>
            </p:grpSpPr>
            <p:sp>
              <p:nvSpPr>
                <p:cNvPr id="10" name="Shape 8">
                  <a:extLst>
                    <a:ext uri="{FF2B5EF4-FFF2-40B4-BE49-F238E27FC236}">
                      <a16:creationId xmlns:a16="http://schemas.microsoft.com/office/drawing/2014/main" id="{8D5CCBCD-1FCB-EA3A-D849-AFA504F08B94}"/>
                    </a:ext>
                  </a:extLst>
                </p:cNvPr>
                <p:cNvSpPr/>
                <p:nvPr/>
              </p:nvSpPr>
              <p:spPr>
                <a:xfrm>
                  <a:off x="4069080" y="1600200"/>
                  <a:ext cx="1005840" cy="1005840"/>
                </a:xfrm>
                <a:prstGeom prst="ellipse">
                  <a:avLst/>
                </a:prstGeom>
                <a:solidFill>
                  <a:srgbClr val="00A896"/>
                </a:solidFill>
                <a:ln/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11" name="Text 9">
                  <a:extLst>
                    <a:ext uri="{FF2B5EF4-FFF2-40B4-BE49-F238E27FC236}">
                      <a16:creationId xmlns:a16="http://schemas.microsoft.com/office/drawing/2014/main" id="{7FE7F3E0-5F0C-DA79-D137-A1FA0E15B354}"/>
                    </a:ext>
                  </a:extLst>
                </p:cNvPr>
                <p:cNvSpPr/>
                <p:nvPr/>
              </p:nvSpPr>
              <p:spPr>
                <a:xfrm>
                  <a:off x="4069080" y="1861458"/>
                  <a:ext cx="1005840" cy="5486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4800" b="1" dirty="0">
                      <a:solidFill>
                        <a:srgbClr val="FFFFFF"/>
                      </a:solidFill>
                    </a:rPr>
                    <a:t>②</a:t>
                  </a:r>
                  <a:endParaRPr lang="en-US" sz="4800" dirty="0"/>
                </a:p>
              </p:txBody>
            </p:sp>
          </p:grpSp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A76B5F25-1D64-8B7F-EED3-E875147A8EF6}"/>
                  </a:ext>
                </a:extLst>
              </p:cNvPr>
              <p:cNvSpPr/>
              <p:nvPr/>
            </p:nvSpPr>
            <p:spPr>
              <a:xfrm>
                <a:off x="4849550" y="3636371"/>
                <a:ext cx="246888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つまずきの地図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(可視化)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</p:txBody>
          </p:sp>
          <p:sp>
            <p:nvSpPr>
              <p:cNvPr id="13" name="Text 11">
                <a:extLst>
                  <a:ext uri="{FF2B5EF4-FFF2-40B4-BE49-F238E27FC236}">
                    <a16:creationId xmlns:a16="http://schemas.microsoft.com/office/drawing/2014/main" id="{4C9DC9E8-0DF3-CB92-7B7C-041ACA2A5DEF}"/>
                  </a:ext>
                </a:extLst>
              </p:cNvPr>
              <p:cNvSpPr/>
              <p:nvPr/>
            </p:nvSpPr>
            <p:spPr>
              <a:xfrm>
                <a:off x="4849550" y="3911818"/>
                <a:ext cx="2468880" cy="196596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質問データを定量分析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学習困難点を可視化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→講義改善・演習問題作成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</p:txBody>
          </p:sp>
        </p:grp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C7C6F32E-7A34-073C-93F0-2417292B56BA}"/>
              </a:ext>
            </a:extLst>
          </p:cNvPr>
          <p:cNvGrpSpPr/>
          <p:nvPr/>
        </p:nvGrpSpPr>
        <p:grpSpPr>
          <a:xfrm>
            <a:off x="8444048" y="1730821"/>
            <a:ext cx="3433953" cy="3853036"/>
            <a:chOff x="8378732" y="2024743"/>
            <a:chExt cx="3433953" cy="3853036"/>
          </a:xfrm>
        </p:grpSpPr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2BD438AE-1DEF-A8C6-BF85-79F5B409A346}"/>
                </a:ext>
              </a:extLst>
            </p:cNvPr>
            <p:cNvSpPr/>
            <p:nvPr/>
          </p:nvSpPr>
          <p:spPr>
            <a:xfrm>
              <a:off x="8378732" y="2024743"/>
              <a:ext cx="3433953" cy="3853036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22503277-1F0F-58EC-406B-962BEE7F3308}"/>
                </a:ext>
              </a:extLst>
            </p:cNvPr>
            <p:cNvGrpSpPr/>
            <p:nvPr/>
          </p:nvGrpSpPr>
          <p:grpSpPr>
            <a:xfrm>
              <a:off x="8861268" y="2122715"/>
              <a:ext cx="2468880" cy="3657093"/>
              <a:chOff x="8951865" y="2220686"/>
              <a:chExt cx="2468880" cy="3657093"/>
            </a:xfrm>
          </p:grpSpPr>
          <p:grpSp>
            <p:nvGrpSpPr>
              <p:cNvPr id="23" name="グループ化 22">
                <a:extLst>
                  <a:ext uri="{FF2B5EF4-FFF2-40B4-BE49-F238E27FC236}">
                    <a16:creationId xmlns:a16="http://schemas.microsoft.com/office/drawing/2014/main" id="{702DAAA8-C6C6-6769-289B-6838B24BBE7B}"/>
                  </a:ext>
                </a:extLst>
              </p:cNvPr>
              <p:cNvGrpSpPr/>
              <p:nvPr/>
            </p:nvGrpSpPr>
            <p:grpSpPr>
              <a:xfrm>
                <a:off x="9683385" y="2220686"/>
                <a:ext cx="1005840" cy="1005840"/>
                <a:chOff x="9617528" y="2220686"/>
                <a:chExt cx="1005840" cy="1005840"/>
              </a:xfrm>
            </p:grpSpPr>
            <p:sp>
              <p:nvSpPr>
                <p:cNvPr id="15" name="Shape 13">
                  <a:extLst>
                    <a:ext uri="{FF2B5EF4-FFF2-40B4-BE49-F238E27FC236}">
                      <a16:creationId xmlns:a16="http://schemas.microsoft.com/office/drawing/2014/main" id="{C4B8F90E-0CFB-5778-C0CC-ABADB67F15E8}"/>
                    </a:ext>
                  </a:extLst>
                </p:cNvPr>
                <p:cNvSpPr/>
                <p:nvPr/>
              </p:nvSpPr>
              <p:spPr>
                <a:xfrm>
                  <a:off x="9617528" y="2220686"/>
                  <a:ext cx="1005840" cy="1005840"/>
                </a:xfrm>
                <a:prstGeom prst="ellipse">
                  <a:avLst/>
                </a:prstGeom>
                <a:solidFill>
                  <a:srgbClr val="02C39A"/>
                </a:solidFill>
                <a:ln/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16" name="Text 14">
                  <a:extLst>
                    <a:ext uri="{FF2B5EF4-FFF2-40B4-BE49-F238E27FC236}">
                      <a16:creationId xmlns:a16="http://schemas.microsoft.com/office/drawing/2014/main" id="{B34809D4-250F-F4FA-857B-DEE266ADF30E}"/>
                    </a:ext>
                  </a:extLst>
                </p:cNvPr>
                <p:cNvSpPr/>
                <p:nvPr/>
              </p:nvSpPr>
              <p:spPr>
                <a:xfrm>
                  <a:off x="9617528" y="2481944"/>
                  <a:ext cx="1005840" cy="5486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4800" b="1" dirty="0">
                      <a:solidFill>
                        <a:srgbClr val="FFFFFF"/>
                      </a:solidFill>
                    </a:rPr>
                    <a:t>③</a:t>
                  </a:r>
                  <a:endParaRPr lang="en-US" sz="4800" dirty="0"/>
                </a:p>
              </p:txBody>
            </p:sp>
          </p:grpSp>
          <p:sp>
            <p:nvSpPr>
              <p:cNvPr id="17" name="Text 15">
                <a:extLst>
                  <a:ext uri="{FF2B5EF4-FFF2-40B4-BE49-F238E27FC236}">
                    <a16:creationId xmlns:a16="http://schemas.microsoft.com/office/drawing/2014/main" id="{4575BB18-E108-33B7-0564-B0D9D56BDB69}"/>
                  </a:ext>
                </a:extLst>
              </p:cNvPr>
              <p:cNvSpPr/>
              <p:nvPr/>
            </p:nvSpPr>
            <p:spPr>
              <a:xfrm>
                <a:off x="8951865" y="3636371"/>
                <a:ext cx="246888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学習行動の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時系列分析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</p:txBody>
          </p:sp>
          <p:sp>
            <p:nvSpPr>
              <p:cNvPr id="18" name="Text 16">
                <a:extLst>
                  <a:ext uri="{FF2B5EF4-FFF2-40B4-BE49-F238E27FC236}">
                    <a16:creationId xmlns:a16="http://schemas.microsoft.com/office/drawing/2014/main" id="{121927DC-E1D2-2FA6-088F-579F5C813129}"/>
                  </a:ext>
                </a:extLst>
              </p:cNvPr>
              <p:cNvSpPr/>
              <p:nvPr/>
            </p:nvSpPr>
            <p:spPr>
              <a:xfrm>
                <a:off x="8951865" y="3911818"/>
                <a:ext cx="2468880" cy="196596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いつ・どのように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学習しているかを把握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→</a:t>
                </a:r>
                <a:r>
                  <a:rPr lang="en-US" dirty="0" err="1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学習パターンの解明</a:t>
                </a:r>
                <a:endParaRPr lang="en-US" dirty="0">
                  <a:solidFill>
                    <a:srgbClr val="2C3E50"/>
                  </a:solidFill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  <a:p>
                <a:pPr marL="0" indent="0" algn="ctr">
                  <a:buNone/>
                </a:pP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</p:txBody>
          </p:sp>
        </p:grpSp>
      </p:grp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3994A78-399F-2DCD-0444-2771603F362D}"/>
              </a:ext>
            </a:extLst>
          </p:cNvPr>
          <p:cNvSpPr txBox="1"/>
          <p:nvPr/>
        </p:nvSpPr>
        <p:spPr>
          <a:xfrm>
            <a:off x="1472779" y="5692132"/>
            <a:ext cx="924644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800" dirty="0" err="1">
                <a:solidFill>
                  <a:srgbClr val="FFFFFF"/>
                </a:solidFill>
                <a:highlight>
                  <a:srgbClr val="008080"/>
                </a:highlight>
                <a:latin typeface="MS UI Gothic" panose="020B0600070205080204" pitchFamily="34" charset="-128"/>
                <a:ea typeface="MS UI Gothic" panose="020B0600070205080204" pitchFamily="34" charset="-128"/>
              </a:rPr>
              <a:t>国内外での位置づけ</a:t>
            </a:r>
            <a:r>
              <a:rPr lang="en-US" altLang="ja-JP" sz="2800" dirty="0">
                <a:solidFill>
                  <a:srgbClr val="FFFFFF"/>
                </a:solidFill>
                <a:highlight>
                  <a:srgbClr val="008080"/>
                </a:highlight>
                <a:latin typeface="MS UI Gothic" panose="020B0600070205080204" pitchFamily="34" charset="-128"/>
                <a:ea typeface="MS UI Gothic" panose="020B0600070205080204" pitchFamily="34" charset="-128"/>
              </a:rPr>
              <a:t>:</a:t>
            </a:r>
          </a:p>
          <a:p>
            <a:pPr algn="ctr"/>
            <a:r>
              <a:rPr lang="en-US" altLang="ja-JP" sz="2800" dirty="0" err="1">
                <a:solidFill>
                  <a:srgbClr val="FFFFFF"/>
                </a:solidFill>
                <a:highlight>
                  <a:srgbClr val="008080"/>
                </a:highlight>
                <a:latin typeface="MS UI Gothic" panose="020B0600070205080204" pitchFamily="34" charset="-128"/>
                <a:ea typeface="MS UI Gothic" panose="020B0600070205080204" pitchFamily="34" charset="-128"/>
              </a:rPr>
              <a:t>薬学教育における生成系AIの体系的導入・実証研究は先駆的</a:t>
            </a:r>
            <a:endParaRPr kumimoji="1" lang="ja-JP" altLang="en-US" sz="2800">
              <a:highlight>
                <a:srgbClr val="008080"/>
              </a:highlight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84654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7369035F-CCA0-F185-C877-6E7EC14A21A0}"/>
              </a:ext>
            </a:extLst>
          </p:cNvPr>
          <p:cNvGrpSpPr/>
          <p:nvPr/>
        </p:nvGrpSpPr>
        <p:grpSpPr>
          <a:xfrm>
            <a:off x="474128" y="1544904"/>
            <a:ext cx="4402667" cy="4216998"/>
            <a:chOff x="270932" y="1414272"/>
            <a:chExt cx="4402667" cy="4216998"/>
          </a:xfrm>
        </p:grpSpPr>
        <p:sp>
          <p:nvSpPr>
            <p:cNvPr id="4" name="Shape 2"/>
            <p:cNvSpPr/>
            <p:nvPr/>
          </p:nvSpPr>
          <p:spPr>
            <a:xfrm>
              <a:off x="270932" y="1414272"/>
              <a:ext cx="4402667" cy="4216998"/>
            </a:xfrm>
            <a:prstGeom prst="rect">
              <a:avLst/>
            </a:prstGeom>
            <a:solidFill>
              <a:srgbClr val="D5F4E6"/>
            </a:solidFill>
            <a:ln w="25400">
              <a:solidFill>
                <a:srgbClr val="27AE60"/>
              </a:solidFill>
              <a:prstDash val="solid"/>
            </a:ln>
          </p:spPr>
          <p:txBody>
            <a:bodyPr/>
            <a:lstStyle/>
            <a:p>
              <a:endParaRPr lang="ja-JP" altLang="en-US" sz="2400"/>
            </a:p>
          </p:txBody>
        </p:sp>
        <p:sp>
          <p:nvSpPr>
            <p:cNvPr id="5" name="Text 3"/>
            <p:cNvSpPr/>
            <p:nvPr/>
          </p:nvSpPr>
          <p:spPr>
            <a:xfrm>
              <a:off x="480905" y="1788802"/>
              <a:ext cx="3982720" cy="2926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ts val="2400"/>
                </a:lnSpc>
              </a:pPr>
              <a:r>
                <a:rPr lang="en-US" sz="2800" b="1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👨‍🎓 </a:t>
              </a:r>
              <a:r>
                <a:rPr lang="en-US" sz="2800" b="1" dirty="0" err="1">
                  <a:latin typeface="MS UI Gothic" panose="020B0600070205080204" pitchFamily="34" charset="-128"/>
                  <a:ea typeface="MS UI Gothic" panose="020B0600070205080204" pitchFamily="34" charset="-128"/>
                </a:rPr>
                <a:t>学生入力画面</a:t>
              </a: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</a:t>
              </a:r>
              <a:r>
                <a:rPr lang="en-US" sz="2800" dirty="0">
                  <a:solidFill>
                    <a:srgbClr val="FF0000"/>
                  </a:solidFill>
                  <a:latin typeface="MS UI Gothic" panose="020B0600070205080204" pitchFamily="34" charset="-128"/>
                  <a:ea typeface="MS UI Gothic" panose="020B0600070205080204" pitchFamily="34" charset="-128"/>
                </a:rPr>
                <a:t>24時間質問対応</a:t>
              </a:r>
            </a:p>
            <a:p>
              <a:pPr>
                <a:lnSpc>
                  <a:spcPts val="2400"/>
                </a:lnSpc>
                <a:buSzPct val="100000"/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・カテゴリー別質問</a:t>
              </a:r>
            </a:p>
            <a:p>
              <a:pPr>
                <a:lnSpc>
                  <a:spcPts val="2400"/>
                </a:lnSpc>
                <a:buSzPct val="100000"/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・練習問題生成</a:t>
              </a:r>
              <a:endParaRPr lang="en-US" sz="9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 marL="0" lvl="1"/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  (5択2正解形式)</a:t>
              </a:r>
            </a:p>
            <a:p>
              <a:pPr>
                <a:lnSpc>
                  <a:spcPts val="2400"/>
                </a:lnSpc>
                <a:buSzPct val="100000"/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・難易度選択機能</a:t>
              </a:r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3F0A0A7E-6B2A-34A9-00A9-E825A765EFB0}"/>
              </a:ext>
            </a:extLst>
          </p:cNvPr>
          <p:cNvGrpSpPr/>
          <p:nvPr/>
        </p:nvGrpSpPr>
        <p:grpSpPr>
          <a:xfrm>
            <a:off x="5216132" y="2888130"/>
            <a:ext cx="1463040" cy="975360"/>
            <a:chOff x="5242560" y="2804160"/>
            <a:chExt cx="1463040" cy="975360"/>
          </a:xfrm>
        </p:grpSpPr>
        <p:sp>
          <p:nvSpPr>
            <p:cNvPr id="6" name="Shape 4"/>
            <p:cNvSpPr/>
            <p:nvPr/>
          </p:nvSpPr>
          <p:spPr>
            <a:xfrm>
              <a:off x="5242560" y="2804160"/>
              <a:ext cx="1463040" cy="97536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/>
          </p:spPr>
          <p:txBody>
            <a:bodyPr/>
            <a:lstStyle/>
            <a:p>
              <a:endParaRPr lang="ja-JP" altLang="en-US" sz="2400"/>
            </a:p>
          </p:txBody>
        </p:sp>
        <p:sp>
          <p:nvSpPr>
            <p:cNvPr id="7" name="Text 5"/>
            <p:cNvSpPr/>
            <p:nvPr/>
          </p:nvSpPr>
          <p:spPr>
            <a:xfrm>
              <a:off x="5242560" y="2926080"/>
              <a:ext cx="146304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AIエンジン</a:t>
              </a:r>
            </a:p>
            <a:p>
              <a:pPr algn="ctr"/>
              <a:r>
                <a:rPr lang="en-US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RAG+知識</a:t>
              </a:r>
            </a:p>
            <a:p>
              <a:pPr algn="ctr"/>
              <a:r>
                <a:rPr lang="en-US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ベース</a:t>
              </a: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EE8DC803-5809-FF00-3F9B-1538E52E4988}"/>
              </a:ext>
            </a:extLst>
          </p:cNvPr>
          <p:cNvGrpSpPr/>
          <p:nvPr/>
        </p:nvGrpSpPr>
        <p:grpSpPr>
          <a:xfrm>
            <a:off x="7006549" y="1544904"/>
            <a:ext cx="4677834" cy="4216998"/>
            <a:chOff x="7108147" y="1414272"/>
            <a:chExt cx="4677834" cy="4216998"/>
          </a:xfrm>
        </p:grpSpPr>
        <p:sp>
          <p:nvSpPr>
            <p:cNvPr id="8" name="Shape 6"/>
            <p:cNvSpPr/>
            <p:nvPr/>
          </p:nvSpPr>
          <p:spPr>
            <a:xfrm>
              <a:off x="7108147" y="1414272"/>
              <a:ext cx="4677834" cy="4216998"/>
            </a:xfrm>
            <a:prstGeom prst="rect">
              <a:avLst/>
            </a:prstGeom>
            <a:solidFill>
              <a:srgbClr val="FEF5E7"/>
            </a:solidFill>
            <a:ln w="25400">
              <a:solidFill>
                <a:srgbClr val="F39C12"/>
              </a:solidFill>
              <a:prstDash val="solid"/>
            </a:ln>
          </p:spPr>
          <p:txBody>
            <a:bodyPr/>
            <a:lstStyle/>
            <a:p>
              <a:endParaRPr lang="ja-JP" altLang="en-US" sz="2400"/>
            </a:p>
          </p:txBody>
        </p:sp>
        <p:sp>
          <p:nvSpPr>
            <p:cNvPr id="9" name="Text 7"/>
            <p:cNvSpPr/>
            <p:nvPr/>
          </p:nvSpPr>
          <p:spPr>
            <a:xfrm>
              <a:off x="7313464" y="2059731"/>
              <a:ext cx="4267200" cy="2926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ts val="2400"/>
                </a:lnSpc>
              </a:pPr>
              <a:r>
                <a:rPr lang="en-US" sz="2800" b="1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👨‍🏫 </a:t>
              </a:r>
              <a:r>
                <a:rPr lang="en-US" sz="2800" b="1" dirty="0" err="1">
                  <a:latin typeface="MS UI Gothic" panose="020B0600070205080204" pitchFamily="34" charset="-128"/>
                  <a:ea typeface="MS UI Gothic" panose="020B0600070205080204" pitchFamily="34" charset="-128"/>
                </a:rPr>
                <a:t>教員確認画面</a:t>
              </a: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・学習履歴の確認</a:t>
              </a:r>
            </a:p>
            <a:p>
              <a:pPr>
                <a:lnSpc>
                  <a:spcPts val="2400"/>
                </a:lnSpc>
                <a:buSzPct val="100000"/>
              </a:pPr>
              <a:endParaRPr lang="en-US" sz="9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</a:t>
              </a:r>
              <a:r>
                <a:rPr lang="en-US" sz="2800" dirty="0">
                  <a:solidFill>
                    <a:srgbClr val="FF0000"/>
                  </a:solidFill>
                  <a:latin typeface="MS UI Gothic" panose="020B0600070205080204" pitchFamily="34" charset="-128"/>
                  <a:ea typeface="MS UI Gothic" panose="020B0600070205080204" pitchFamily="34" charset="-128"/>
                </a:rPr>
                <a:t>つまずきポイントの可視化</a:t>
              </a:r>
            </a:p>
            <a:p>
              <a:pPr>
                <a:lnSpc>
                  <a:spcPts val="2400"/>
                </a:lnSpc>
                <a:buSzPct val="100000"/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・FAQ自動抽出</a:t>
              </a:r>
            </a:p>
            <a:p>
              <a:pPr>
                <a:lnSpc>
                  <a:spcPts val="2400"/>
                </a:lnSpc>
                <a:buSzPct val="100000"/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</a:t>
              </a:r>
              <a:r>
                <a:rPr lang="en-US" sz="2800" dirty="0">
                  <a:solidFill>
                    <a:srgbClr val="FF0000"/>
                  </a:solidFill>
                  <a:latin typeface="MS UI Gothic" panose="020B0600070205080204" pitchFamily="34" charset="-128"/>
                  <a:ea typeface="MS UI Gothic" panose="020B0600070205080204" pitchFamily="34" charset="-128"/>
                </a:rPr>
                <a:t>データ分析</a:t>
              </a:r>
              <a:endParaRPr lang="en-US" sz="800" dirty="0">
                <a:solidFill>
                  <a:srgbClr val="FF0000"/>
                </a:solidFill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（学習行動、学習パターン）</a:t>
              </a:r>
            </a:p>
            <a:p>
              <a:pPr>
                <a:lnSpc>
                  <a:spcPts val="2400"/>
                </a:lnSpc>
                <a:buSzPct val="100000"/>
              </a:pP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  <a:p>
              <a:pPr>
                <a:lnSpc>
                  <a:spcPts val="2400"/>
                </a:lnSpc>
                <a:buSzPct val="100000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・出力機能 (CSV/Excel)</a:t>
              </a:r>
            </a:p>
          </p:txBody>
        </p:sp>
      </p:grpSp>
      <p:sp>
        <p:nvSpPr>
          <p:cNvPr id="11" name="Text 9"/>
          <p:cNvSpPr/>
          <p:nvPr/>
        </p:nvSpPr>
        <p:spPr>
          <a:xfrm>
            <a:off x="922503" y="5753190"/>
            <a:ext cx="10050299" cy="1009982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r>
              <a:rPr lang="ja-JP" altLang="en-US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　　　　</a:t>
            </a:r>
            <a:r>
              <a:rPr lang="en-US" altLang="ja-JP" b="1" dirty="0">
                <a:solidFill>
                  <a:srgbClr val="4A235A"/>
                </a:solidFill>
              </a:rPr>
              <a:t>🔧 </a:t>
            </a:r>
            <a:r>
              <a:rPr lang="en-US" dirty="0" err="1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技術基盤</a:t>
            </a:r>
            <a:endParaRPr lang="en-US" dirty="0">
              <a:solidFill>
                <a:srgbClr val="FFFF00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lang="en-US" dirty="0">
                <a:solidFill>
                  <a:srgbClr val="FFFF0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OpenAI GPT-4o / Claude Sonnet4・Opus4  |  RAG + 137項目知識ベース  |  著作権クリア教材</a:t>
            </a:r>
          </a:p>
        </p:txBody>
      </p:sp>
      <p:sp>
        <p:nvSpPr>
          <p:cNvPr id="16" name="下矢印 15">
            <a:extLst>
              <a:ext uri="{FF2B5EF4-FFF2-40B4-BE49-F238E27FC236}">
                <a16:creationId xmlns:a16="http://schemas.microsoft.com/office/drawing/2014/main" id="{02E6938F-B7F3-740F-D81D-AF0436437004}"/>
              </a:ext>
            </a:extLst>
          </p:cNvPr>
          <p:cNvSpPr/>
          <p:nvPr/>
        </p:nvSpPr>
        <p:spPr>
          <a:xfrm flipV="1">
            <a:off x="5705336" y="3985409"/>
            <a:ext cx="484632" cy="1498899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CDE7700-AFE1-DABF-3A17-3B4E06567639}"/>
              </a:ext>
            </a:extLst>
          </p:cNvPr>
          <p:cNvSpPr txBox="1"/>
          <p:nvPr/>
        </p:nvSpPr>
        <p:spPr>
          <a:xfrm>
            <a:off x="540659" y="359230"/>
            <a:ext cx="48093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教育・</a:t>
            </a:r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研究上の新規性（その</a:t>
            </a:r>
            <a:r>
              <a:rPr kumimoji="1" lang="en-US" altLang="ja-JP" sz="28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2</a:t>
            </a:r>
            <a:r>
              <a:rPr kumimoji="1"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F0AC8C3-2F0E-4D53-83C1-319982FA814B}"/>
              </a:ext>
            </a:extLst>
          </p:cNvPr>
          <p:cNvSpPr txBox="1"/>
          <p:nvPr/>
        </p:nvSpPr>
        <p:spPr>
          <a:xfrm>
            <a:off x="540659" y="968827"/>
            <a:ext cx="51908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>
                <a:latin typeface="MS UI Gothic" panose="020B0600070205080204" pitchFamily="34" charset="-128"/>
                <a:ea typeface="MS UI Gothic" panose="020B0600070205080204" pitchFamily="34" charset="-128"/>
              </a:rPr>
              <a:t>「魔法の黒板」のシステム概要</a:t>
            </a:r>
            <a:endParaRPr kumimoji="1" lang="ja-JP" altLang="en-US" sz="320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829F9B0C-EEA8-2B54-7B13-BBDAB6DF6757}"/>
              </a:ext>
            </a:extLst>
          </p:cNvPr>
          <p:cNvGrpSpPr/>
          <p:nvPr/>
        </p:nvGrpSpPr>
        <p:grpSpPr>
          <a:xfrm>
            <a:off x="975360" y="1270002"/>
            <a:ext cx="10241280" cy="1341120"/>
            <a:chOff x="975360" y="1270002"/>
            <a:chExt cx="10241280" cy="1341120"/>
          </a:xfrm>
        </p:grpSpPr>
        <p:sp>
          <p:nvSpPr>
            <p:cNvPr id="4" name="Shape 2"/>
            <p:cNvSpPr/>
            <p:nvPr/>
          </p:nvSpPr>
          <p:spPr>
            <a:xfrm>
              <a:off x="975360" y="1270002"/>
              <a:ext cx="10241280" cy="1341120"/>
            </a:xfrm>
            <a:prstGeom prst="rect">
              <a:avLst/>
            </a:prstGeom>
            <a:solidFill>
              <a:srgbClr val="E8F8F5"/>
            </a:solidFill>
            <a:ln/>
          </p:spPr>
          <p:txBody>
            <a:bodyPr/>
            <a:lstStyle/>
            <a:p>
              <a:endPara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1219200" y="1391922"/>
              <a:ext cx="18288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800" b="1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準備期</a:t>
              </a: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3291840" y="1391922"/>
              <a:ext cx="24384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2026年4～8月</a:t>
              </a:r>
            </a:p>
          </p:txBody>
        </p:sp>
        <p:sp>
          <p:nvSpPr>
            <p:cNvPr id="7" name="Text 5"/>
            <p:cNvSpPr/>
            <p:nvPr/>
          </p:nvSpPr>
          <p:spPr>
            <a:xfrm>
              <a:off x="6096000" y="1452882"/>
              <a:ext cx="4876800" cy="975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システム最終調整</a:t>
              </a:r>
            </a:p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倫理審査申請</a:t>
              </a:r>
            </a:p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パイロット実施（30名）</a:t>
              </a:r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245E54A5-797A-A84D-60D2-87C1BD2BF30B}"/>
              </a:ext>
            </a:extLst>
          </p:cNvPr>
          <p:cNvGrpSpPr/>
          <p:nvPr/>
        </p:nvGrpSpPr>
        <p:grpSpPr>
          <a:xfrm>
            <a:off x="975360" y="2759004"/>
            <a:ext cx="10241280" cy="1341120"/>
            <a:chOff x="975360" y="2871897"/>
            <a:chExt cx="10241280" cy="1341120"/>
          </a:xfrm>
        </p:grpSpPr>
        <p:sp>
          <p:nvSpPr>
            <p:cNvPr id="8" name="Shape 6"/>
            <p:cNvSpPr/>
            <p:nvPr/>
          </p:nvSpPr>
          <p:spPr>
            <a:xfrm>
              <a:off x="975360" y="2871897"/>
              <a:ext cx="10241280" cy="1341120"/>
            </a:xfrm>
            <a:prstGeom prst="rect">
              <a:avLst/>
            </a:prstGeom>
            <a:solidFill>
              <a:srgbClr val="FEF5E7"/>
            </a:solidFill>
            <a:ln/>
          </p:spPr>
          <p:txBody>
            <a:bodyPr/>
            <a:lstStyle/>
            <a:p>
              <a:endPara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219200" y="2993817"/>
              <a:ext cx="18288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800" b="1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実証期</a:t>
              </a: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3291840" y="2993817"/>
              <a:ext cx="24384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800" i="1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2026年9月～2027年1月</a:t>
              </a: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6096000" y="3054777"/>
              <a:ext cx="4876800" cy="975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本実装（250名対象）</a:t>
              </a:r>
            </a:p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学習データ収集</a:t>
              </a:r>
            </a:p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定期的モニタリング</a:t>
              </a: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45C6C304-5D78-745F-2900-08CB10961639}"/>
              </a:ext>
            </a:extLst>
          </p:cNvPr>
          <p:cNvGrpSpPr/>
          <p:nvPr/>
        </p:nvGrpSpPr>
        <p:grpSpPr>
          <a:xfrm>
            <a:off x="975360" y="4248006"/>
            <a:ext cx="10241280" cy="1341120"/>
            <a:chOff x="975360" y="4490722"/>
            <a:chExt cx="10241280" cy="1341120"/>
          </a:xfrm>
        </p:grpSpPr>
        <p:sp>
          <p:nvSpPr>
            <p:cNvPr id="12" name="Shape 10"/>
            <p:cNvSpPr/>
            <p:nvPr/>
          </p:nvSpPr>
          <p:spPr>
            <a:xfrm>
              <a:off x="975360" y="4490722"/>
              <a:ext cx="10241280" cy="1341120"/>
            </a:xfrm>
            <a:prstGeom prst="rect">
              <a:avLst/>
            </a:prstGeom>
            <a:solidFill>
              <a:srgbClr val="E8F8F5"/>
            </a:solidFill>
            <a:ln/>
          </p:spPr>
          <p:txBody>
            <a:bodyPr/>
            <a:lstStyle/>
            <a:p>
              <a:endPara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1219200" y="4612642"/>
              <a:ext cx="18288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800" b="1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分析期</a:t>
              </a: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3291840" y="4612642"/>
              <a:ext cx="2438400" cy="487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800" i="1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2027年2～3月</a:t>
              </a:r>
              <a:endParaRPr lang="en-US" sz="2800" dirty="0">
                <a:latin typeface="MS UI Gothic" panose="020B0600070205080204" pitchFamily="34" charset="-128"/>
                <a:ea typeface="MS UI Gothic" panose="020B0600070205080204" pitchFamily="34" charset="-128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6096000" y="4673602"/>
              <a:ext cx="4876800" cy="975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成績データ分析</a:t>
              </a:r>
            </a:p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10年分データとの比較</a:t>
              </a:r>
            </a:p>
            <a:p>
              <a:pPr marL="457189" indent="-457189">
                <a:buSzPct val="100000"/>
                <a:buChar char="•"/>
              </a:pPr>
              <a:r>
                <a:rPr lang="en-US" sz="2800" dirty="0">
                  <a:latin typeface="MS UI Gothic" panose="020B0600070205080204" pitchFamily="34" charset="-128"/>
                  <a:ea typeface="MS UI Gothic" panose="020B0600070205080204" pitchFamily="34" charset="-128"/>
                </a:rPr>
                <a:t>学生アンケート実施</a:t>
              </a:r>
            </a:p>
          </p:txBody>
        </p:sp>
      </p:grpSp>
      <p:sp>
        <p:nvSpPr>
          <p:cNvPr id="17" name="Text 15"/>
          <p:cNvSpPr/>
          <p:nvPr/>
        </p:nvSpPr>
        <p:spPr>
          <a:xfrm>
            <a:off x="975360" y="5737009"/>
            <a:ext cx="10241280" cy="9753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r>
              <a:rPr lang="ja-JP" altLang="en-US" sz="2000">
                <a:latin typeface="MS UI Gothic" panose="020B0600070205080204" pitchFamily="34" charset="-128"/>
                <a:ea typeface="MS UI Gothic" panose="020B0600070205080204" pitchFamily="34" charset="-128"/>
              </a:rPr>
              <a:t>　　　　　　　</a:t>
            </a:r>
            <a:r>
              <a:rPr lang="en-US" sz="24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📊</a:t>
            </a:r>
            <a:r>
              <a:rPr lang="en-US" sz="24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評価指標</a:t>
            </a:r>
            <a:endParaRPr lang="en-US" sz="20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lang="en-US" sz="20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成績向上度</a:t>
            </a:r>
            <a:r>
              <a:rPr lang="en-US" sz="20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 | 利用頻度 | 質問内容分析 | 学習行動パターン | 学生満足度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4118303-F764-5148-20D4-7178A8703E7B}"/>
              </a:ext>
            </a:extLst>
          </p:cNvPr>
          <p:cNvSpPr txBox="1"/>
          <p:nvPr/>
        </p:nvSpPr>
        <p:spPr>
          <a:xfrm>
            <a:off x="4772564" y="355600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>
                <a:latin typeface="MS UI Gothic" panose="020B0600070205080204" pitchFamily="34" charset="-128"/>
                <a:ea typeface="MS UI Gothic" panose="020B0600070205080204" pitchFamily="34" charset="-128"/>
              </a:rPr>
              <a:t>研究計画</a:t>
            </a:r>
            <a:endParaRPr kumimoji="1" lang="ja-JP" altLang="en-US" sz="480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2880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b="1" dirty="0">
                <a:solidFill>
                  <a:srgbClr val="FFFFFF"/>
                </a:solidFill>
              </a:rPr>
              <a:t>生成系AIを活用した</a:t>
            </a:r>
            <a:endParaRPr lang="en-US" sz="3733" dirty="0"/>
          </a:p>
        </p:txBody>
      </p:sp>
      <p:sp>
        <p:nvSpPr>
          <p:cNvPr id="3" name="Text 1"/>
          <p:cNvSpPr/>
          <p:nvPr/>
        </p:nvSpPr>
        <p:spPr>
          <a:xfrm>
            <a:off x="609600" y="2438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rgbClr val="FFFFFF"/>
                </a:solidFill>
              </a:rPr>
              <a:t>即時質問応答型学習支援システム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600" y="3291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333" b="1" dirty="0">
                <a:solidFill>
                  <a:srgbClr val="02C39A"/>
                </a:solidFill>
              </a:rPr>
              <a:t>🪄「魔法の黒板」🪄</a:t>
            </a:r>
            <a:endParaRPr lang="en-US" sz="5333" dirty="0"/>
          </a:p>
        </p:txBody>
      </p:sp>
      <p:sp>
        <p:nvSpPr>
          <p:cNvPr id="5" name="Text 3"/>
          <p:cNvSpPr/>
          <p:nvPr/>
        </p:nvSpPr>
        <p:spPr>
          <a:xfrm>
            <a:off x="609600" y="41452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</a:rPr>
              <a:t>の開発と薬学教育における教育効果の検証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0960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FFFFFF"/>
                </a:solidFill>
              </a:rPr>
              <a:t>神戸学院大学 薬学部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9600" y="5974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FFFFFF"/>
                </a:solidFill>
              </a:rPr>
              <a:t>橋本 保彦、辰見 明俊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dirty="0">
                <a:solidFill>
                  <a:schemeClr val="bg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①研究の意義・発展性(その1)</a:t>
            </a:r>
          </a:p>
        </p:txBody>
      </p:sp>
      <p:sp>
        <p:nvSpPr>
          <p:cNvPr id="3" name="Text 1"/>
          <p:cNvSpPr/>
          <p:nvPr/>
        </p:nvSpPr>
        <p:spPr>
          <a:xfrm>
            <a:off x="609600" y="10972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chemeClr val="bg1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背景:学生の学習における「つまずき」問題</a:t>
            </a:r>
            <a:endParaRPr lang="en-US" sz="4267" dirty="0">
              <a:solidFill>
                <a:schemeClr val="bg1"/>
              </a:solidFill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21920" y="1807985"/>
            <a:ext cx="6217920" cy="500169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3440" y="1807985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02809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⚠️ 従来の学習環境の限界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3439" y="2804160"/>
            <a:ext cx="5242559" cy="3169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2400" dirty="0">
                <a:solidFill>
                  <a:srgbClr val="2C3E5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★</a:t>
            </a:r>
            <a:r>
              <a:rPr lang="en-US" sz="2400" dirty="0" err="1">
                <a:solidFill>
                  <a:srgbClr val="2C3E5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時間的制約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457189" lvl="1">
              <a:buSzPct val="100000"/>
            </a:pPr>
            <a:r>
              <a:rPr lang="en-US" sz="2400" dirty="0">
                <a:solidFill>
                  <a:srgbClr val="2C3E5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・</a:t>
            </a:r>
            <a:r>
              <a:rPr lang="en-US" sz="2400" dirty="0" err="1">
                <a:solidFill>
                  <a:srgbClr val="2C3E5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教員への質問は授業時間内のみ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457189" lvl="1">
              <a:lnSpc>
                <a:spcPct val="150000"/>
              </a:lnSpc>
              <a:buSzPct val="100000"/>
            </a:pPr>
            <a:r>
              <a:rPr lang="en-US" sz="2400" dirty="0">
                <a:solidFill>
                  <a:srgbClr val="2C3E5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・</a:t>
            </a:r>
            <a:r>
              <a:rPr lang="en-US" sz="2400" dirty="0" err="1">
                <a:solidFill>
                  <a:srgbClr val="2C3E5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夜間・休日は質問できない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sz="2400" dirty="0">
                <a:solidFill>
                  <a:srgbClr val="2C3E5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★</a:t>
            </a:r>
            <a:r>
              <a:rPr lang="en-US" sz="2400" dirty="0" err="1">
                <a:solidFill>
                  <a:srgbClr val="2C3E5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心理的抵抗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457189" lvl="1">
              <a:buSzPct val="100000"/>
            </a:pPr>
            <a:r>
              <a:rPr lang="en-US" sz="2400" dirty="0">
                <a:solidFill>
                  <a:srgbClr val="2C3E5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 ・</a:t>
            </a:r>
            <a:r>
              <a:rPr lang="en-US" sz="2400" dirty="0" err="1">
                <a:solidFill>
                  <a:srgbClr val="2C3E5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何度も質問することへの躊躇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457189" lvl="1">
              <a:lnSpc>
                <a:spcPct val="150000"/>
              </a:lnSpc>
              <a:buSzPct val="100000"/>
            </a:pPr>
            <a:r>
              <a:rPr lang="en-US" sz="2400" dirty="0">
                <a:solidFill>
                  <a:srgbClr val="2C3E5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 ・</a:t>
            </a:r>
            <a:r>
              <a:rPr lang="en-US" sz="2400" dirty="0" err="1">
                <a:solidFill>
                  <a:srgbClr val="2C3E5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基礎的な質問がしづらい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sz="2400" dirty="0">
                <a:solidFill>
                  <a:srgbClr val="2C3E5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★</a:t>
            </a:r>
            <a:r>
              <a:rPr lang="en-US" sz="2400" dirty="0" err="1">
                <a:solidFill>
                  <a:srgbClr val="2C3E5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疑問の放置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457189" lvl="1">
              <a:buSzPct val="100000"/>
            </a:pPr>
            <a:r>
              <a:rPr lang="en-US" sz="2400" dirty="0">
                <a:solidFill>
                  <a:srgbClr val="2C3E5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 ・</a:t>
            </a:r>
            <a:r>
              <a:rPr lang="en-US" sz="2400" dirty="0" err="1">
                <a:solidFill>
                  <a:srgbClr val="2C3E5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解決できないまま次の内容へ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marL="457189" lvl="1">
              <a:buSzPct val="100000"/>
            </a:pPr>
            <a:r>
              <a:rPr lang="en-US" sz="2400" dirty="0">
                <a:solidFill>
                  <a:srgbClr val="2C3E5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 ・</a:t>
            </a:r>
            <a:r>
              <a:rPr lang="en-US" sz="2400" dirty="0" err="1">
                <a:solidFill>
                  <a:srgbClr val="2C3E50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学習意欲の低下・理解の断片化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339840" y="1950720"/>
            <a:ext cx="5849187" cy="42672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ja-JP" altLang="en-US" sz="240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0" y="219456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014F59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💬 学生の実際の声(面談より)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0" y="2926080"/>
            <a:ext cx="5605347" cy="3169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i="1" dirty="0">
                <a:solidFill>
                  <a:srgbClr val="014F59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「</a:t>
            </a:r>
            <a:r>
              <a:rPr lang="en-US" sz="2400" i="1" dirty="0" err="1">
                <a:solidFill>
                  <a:srgbClr val="014F59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先生に聞きに行くのは緊張します</a:t>
            </a:r>
            <a:r>
              <a:rPr lang="en-US" sz="2400" i="1" dirty="0">
                <a:solidFill>
                  <a:srgbClr val="014F59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...」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en-US" sz="2400" i="1" dirty="0">
                <a:solidFill>
                  <a:srgbClr val="014F59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「</a:t>
            </a:r>
            <a:r>
              <a:rPr lang="en-US" sz="2400" i="1" dirty="0" err="1">
                <a:solidFill>
                  <a:srgbClr val="014F59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何度も同じことを聞いて怒られないか不安</a:t>
            </a:r>
            <a:r>
              <a:rPr lang="en-US" sz="2400" i="1" dirty="0">
                <a:solidFill>
                  <a:srgbClr val="014F59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」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en-US" sz="2400" i="1" dirty="0">
                <a:solidFill>
                  <a:srgbClr val="014F59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「</a:t>
            </a:r>
            <a:r>
              <a:rPr lang="en-US" sz="2400" i="1" dirty="0" err="1">
                <a:solidFill>
                  <a:srgbClr val="014F59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夜中に疑問が生じても解決できない</a:t>
            </a:r>
            <a:r>
              <a:rPr lang="en-US" sz="2400" i="1" dirty="0">
                <a:solidFill>
                  <a:srgbClr val="014F59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」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en-US" sz="2400" i="1" dirty="0">
                <a:solidFill>
                  <a:srgbClr val="014F59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「</a:t>
            </a:r>
            <a:r>
              <a:rPr lang="en-US" sz="2400" i="1" dirty="0" err="1">
                <a:solidFill>
                  <a:srgbClr val="014F59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疑問が解決できず試験日を迎えてしまった</a:t>
            </a:r>
            <a:r>
              <a:rPr lang="en-US" sz="2400" i="1" dirty="0">
                <a:solidFill>
                  <a:srgbClr val="014F59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」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chemeClr val="bg1"/>
                </a:solidFill>
              </a:rPr>
              <a:t>①研究の意義・発展性(その2)</a:t>
            </a:r>
            <a:endParaRPr lang="en-US" sz="2667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0972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chemeClr val="bg1"/>
                </a:solidFill>
              </a:rPr>
              <a:t>本研究の意義と将来的発展</a:t>
            </a:r>
            <a:endParaRPr lang="en-US" sz="4267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950720"/>
            <a:ext cx="10972800" cy="1219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5" name="Text 3"/>
          <p:cNvSpPr/>
          <p:nvPr/>
        </p:nvSpPr>
        <p:spPr>
          <a:xfrm>
            <a:off x="853440" y="2133600"/>
            <a:ext cx="1048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FFFF"/>
                </a:solidFill>
              </a:rPr>
              <a:t>🎯 主目的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3440" y="2499360"/>
            <a:ext cx="104851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 err="1">
                <a:solidFill>
                  <a:srgbClr val="FFFFFF"/>
                </a:solidFill>
              </a:rPr>
              <a:t>生成系AIを活用した即時質問応答型学習支援システム「魔法の黒板」が、薬学教育における学生の学習成果に与える影響を明らかにする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600" y="3413760"/>
            <a:ext cx="5364480" cy="2316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8" name="Text 6"/>
          <p:cNvSpPr/>
          <p:nvPr/>
        </p:nvSpPr>
        <p:spPr>
          <a:xfrm>
            <a:off x="853440" y="359664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28090"/>
                </a:solidFill>
              </a:rPr>
              <a:t>📈 副次目的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853440" y="4023360"/>
            <a:ext cx="487680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2C3E50"/>
                </a:solidFill>
              </a:rPr>
              <a:t>① 学習行動・学習意欲の変化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2C3E50"/>
                </a:solidFill>
              </a:rPr>
              <a:t>② つまずきの地図(可視化)</a:t>
            </a:r>
            <a:endParaRPr lang="en-US" sz="1733" dirty="0"/>
          </a:p>
          <a:p>
            <a:r>
              <a:rPr lang="en-US" sz="1600" i="1" dirty="0">
                <a:solidFill>
                  <a:srgbClr val="2C3E50"/>
                </a:solidFill>
              </a:rPr>
              <a:t>   → </a:t>
            </a:r>
            <a:r>
              <a:rPr lang="en-US" sz="1600" i="1" dirty="0" err="1">
                <a:solidFill>
                  <a:srgbClr val="2C3E50"/>
                </a:solidFill>
              </a:rPr>
              <a:t>講義改善・演習問題作成への活用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6217920" y="3413760"/>
            <a:ext cx="5364480" cy="2316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1" name="Text 9"/>
          <p:cNvSpPr/>
          <p:nvPr/>
        </p:nvSpPr>
        <p:spPr>
          <a:xfrm>
            <a:off x="6461760" y="359664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28090"/>
                </a:solidFill>
              </a:rPr>
              <a:t>🌟 将来的発展可能性</a:t>
            </a:r>
            <a:endParaRPr lang="en-US" sz="2133" dirty="0"/>
          </a:p>
        </p:txBody>
      </p:sp>
      <p:sp>
        <p:nvSpPr>
          <p:cNvPr id="12" name="Text 10"/>
          <p:cNvSpPr/>
          <p:nvPr/>
        </p:nvSpPr>
        <p:spPr>
          <a:xfrm>
            <a:off x="6461760" y="4023360"/>
            <a:ext cx="487680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2C3E50"/>
                </a:solidFill>
              </a:rPr>
              <a:t>他の専門科目への展開</a:t>
            </a:r>
            <a:endParaRPr lang="en-US" sz="1733" dirty="0"/>
          </a:p>
          <a:p>
            <a:pPr marL="914377" lvl="1" indent="-457189">
              <a:buSzPct val="100000"/>
              <a:buChar char="•"/>
            </a:pPr>
            <a:r>
              <a:rPr lang="en-US" sz="1467" dirty="0">
                <a:solidFill>
                  <a:srgbClr val="2C3E50"/>
                </a:solidFill>
              </a:rPr>
              <a:t>• 病態学、薬物治療学など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2C3E50"/>
                </a:solidFill>
              </a:rPr>
              <a:t>他大学への導入支援</a:t>
            </a:r>
            <a:endParaRPr lang="en-US" sz="1733" dirty="0"/>
          </a:p>
          <a:p>
            <a:pPr marL="914377" lvl="1" indent="-457189">
              <a:buSzPct val="100000"/>
              <a:buChar char="•"/>
            </a:pPr>
            <a:r>
              <a:rPr lang="en-US" sz="1467" dirty="0">
                <a:solidFill>
                  <a:srgbClr val="2C3E50"/>
                </a:solidFill>
              </a:rPr>
              <a:t>• 薬学・医療系教育全般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2C3E50"/>
                </a:solidFill>
              </a:rPr>
              <a:t>AI教育研究の発展</a:t>
            </a:r>
            <a:endParaRPr lang="en-US" sz="1733" dirty="0"/>
          </a:p>
          <a:p>
            <a:pPr marL="914377" lvl="1" indent="-457189">
              <a:buSzPct val="100000"/>
              <a:buChar char="•"/>
            </a:pPr>
            <a:r>
              <a:rPr lang="en-US" sz="1467" dirty="0">
                <a:solidFill>
                  <a:srgbClr val="2C3E50"/>
                </a:solidFill>
              </a:rPr>
              <a:t>• 専門教育における知見蓄積</a:t>
            </a:r>
            <a:endParaRPr lang="en-US" sz="1733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chemeClr val="bg1"/>
                </a:solidFill>
              </a:rPr>
              <a:t>③教育・研究上の新規性(その1)</a:t>
            </a:r>
            <a:endParaRPr lang="en-US" sz="2667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0972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chemeClr val="bg1"/>
                </a:solidFill>
              </a:rPr>
              <a:t>研究の3つの革新性</a:t>
            </a:r>
            <a:endParaRPr lang="en-US" sz="4267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950720"/>
            <a:ext cx="3535680" cy="4023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5" name="Shape 3"/>
          <p:cNvSpPr/>
          <p:nvPr/>
        </p:nvSpPr>
        <p:spPr>
          <a:xfrm>
            <a:off x="1706880" y="2133600"/>
            <a:ext cx="1341120" cy="13411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6" name="Text 4"/>
          <p:cNvSpPr/>
          <p:nvPr/>
        </p:nvSpPr>
        <p:spPr>
          <a:xfrm>
            <a:off x="1706880" y="2438400"/>
            <a:ext cx="134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400" b="1" dirty="0">
                <a:solidFill>
                  <a:srgbClr val="FFFFFF"/>
                </a:solidFill>
              </a:rPr>
              <a:t>① 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32918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2C3E50"/>
                </a:solidFill>
              </a:rPr>
              <a:t>24時間リアルタイム</a:t>
            </a:r>
            <a:endParaRPr lang="en-US" sz="2133" dirty="0"/>
          </a:p>
          <a:p>
            <a:pPr algn="ctr"/>
            <a:r>
              <a:rPr lang="en-US" sz="2133" b="1" dirty="0">
                <a:solidFill>
                  <a:srgbClr val="2C3E50"/>
                </a:solidFill>
              </a:rPr>
              <a:t>質問応答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32918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2C3E50"/>
                </a:solidFill>
              </a:rPr>
              <a:t>いつでも・どこでも・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2C3E50"/>
                </a:solidFill>
              </a:rPr>
              <a:t>何度でも質問可能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2C3E50"/>
                </a:solidFill>
              </a:rPr>
              <a:t>→時間的・心理的障壁を解消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28160" y="1950720"/>
            <a:ext cx="3535680" cy="4023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0" name="Shape 8"/>
          <p:cNvSpPr/>
          <p:nvPr/>
        </p:nvSpPr>
        <p:spPr>
          <a:xfrm>
            <a:off x="5425440" y="2133600"/>
            <a:ext cx="1341120" cy="13411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1" name="Text 9"/>
          <p:cNvSpPr/>
          <p:nvPr/>
        </p:nvSpPr>
        <p:spPr>
          <a:xfrm>
            <a:off x="5425440" y="2438400"/>
            <a:ext cx="134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400" b="1" dirty="0">
                <a:solidFill>
                  <a:srgbClr val="FFFFFF"/>
                </a:solidFill>
              </a:rPr>
              <a:t>②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450080" y="3657600"/>
            <a:ext cx="32918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2C3E50"/>
                </a:solidFill>
              </a:rPr>
              <a:t>つまずきの地図</a:t>
            </a:r>
            <a:endParaRPr lang="en-US" sz="2133" dirty="0"/>
          </a:p>
          <a:p>
            <a:pPr algn="ctr"/>
            <a:r>
              <a:rPr lang="en-US" sz="2133" b="1" dirty="0">
                <a:solidFill>
                  <a:srgbClr val="2C3E50"/>
                </a:solidFill>
              </a:rPr>
              <a:t>(可視化)</a:t>
            </a:r>
            <a:endParaRPr lang="en-US" sz="2133" dirty="0"/>
          </a:p>
        </p:txBody>
      </p:sp>
      <p:sp>
        <p:nvSpPr>
          <p:cNvPr id="13" name="Text 11"/>
          <p:cNvSpPr/>
          <p:nvPr/>
        </p:nvSpPr>
        <p:spPr>
          <a:xfrm>
            <a:off x="4450080" y="4389120"/>
            <a:ext cx="32918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2C3E50"/>
                </a:solidFill>
              </a:rPr>
              <a:t>質問データを定量分析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2C3E50"/>
                </a:solidFill>
              </a:rPr>
              <a:t>学習困難点を可視化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2C3E50"/>
                </a:solidFill>
              </a:rPr>
              <a:t>→講義改善・演習問題作成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1950720"/>
            <a:ext cx="3535680" cy="4023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5" name="Shape 13"/>
          <p:cNvSpPr/>
          <p:nvPr/>
        </p:nvSpPr>
        <p:spPr>
          <a:xfrm>
            <a:off x="9144000" y="2133600"/>
            <a:ext cx="1341120" cy="13411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6" name="Text 14"/>
          <p:cNvSpPr/>
          <p:nvPr/>
        </p:nvSpPr>
        <p:spPr>
          <a:xfrm>
            <a:off x="9144000" y="2438400"/>
            <a:ext cx="134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400" b="1" dirty="0">
                <a:solidFill>
                  <a:srgbClr val="FFFFFF"/>
                </a:solidFill>
              </a:rPr>
              <a:t>③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8168640" y="3657600"/>
            <a:ext cx="32918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2C3E50"/>
                </a:solidFill>
              </a:rPr>
              <a:t>学習行動の</a:t>
            </a:r>
            <a:endParaRPr lang="en-US" sz="2133" dirty="0"/>
          </a:p>
          <a:p>
            <a:pPr algn="ctr"/>
            <a:r>
              <a:rPr lang="en-US" sz="2133" b="1" dirty="0">
                <a:solidFill>
                  <a:srgbClr val="2C3E50"/>
                </a:solidFill>
              </a:rPr>
              <a:t>時系列分析</a:t>
            </a:r>
            <a:endParaRPr lang="en-US" sz="2133" dirty="0"/>
          </a:p>
        </p:txBody>
      </p:sp>
      <p:sp>
        <p:nvSpPr>
          <p:cNvPr id="18" name="Text 16"/>
          <p:cNvSpPr/>
          <p:nvPr/>
        </p:nvSpPr>
        <p:spPr>
          <a:xfrm>
            <a:off x="8168640" y="4389120"/>
            <a:ext cx="32918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2C3E50"/>
                </a:solidFill>
              </a:rPr>
              <a:t>いつ・どのように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2C3E50"/>
                </a:solidFill>
              </a:rPr>
              <a:t>学習しているかを把握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2C3E50"/>
                </a:solidFill>
              </a:rPr>
              <a:t>→学習パターンの解明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600" y="6096000"/>
            <a:ext cx="10972800" cy="4876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20" name="Text 18"/>
          <p:cNvSpPr/>
          <p:nvPr/>
        </p:nvSpPr>
        <p:spPr>
          <a:xfrm>
            <a:off x="731520" y="6156960"/>
            <a:ext cx="1072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✨ 国内外での位置づけ:薬学教育における生成系AIの体系的導入・実証研究は先駆的</a:t>
            </a:r>
            <a:endParaRPr lang="en-US" sz="1733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28DCB-1122-0A3F-FCD0-BD2A2A4DC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5434142-12B8-261F-E855-96961565CAFB}"/>
              </a:ext>
            </a:extLst>
          </p:cNvPr>
          <p:cNvSpPr txBox="1"/>
          <p:nvPr/>
        </p:nvSpPr>
        <p:spPr>
          <a:xfrm>
            <a:off x="540659" y="359229"/>
            <a:ext cx="4629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教育・研究上の新規性（その</a:t>
            </a:r>
            <a:r>
              <a:rPr lang="en-US" altLang="ja-JP" sz="28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1</a:t>
            </a:r>
            <a:r>
              <a:rPr lang="ja-JP" altLang="en-US" sz="2800">
                <a:latin typeface="MS UI Gothic" panose="020B0600070205080204" pitchFamily="34" charset="-128"/>
                <a:ea typeface="MS UI Gothic" panose="020B0600070205080204" pitchFamily="34" charset="-128"/>
              </a:rPr>
              <a:t>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053CBB9-6709-02CB-BD98-B8CBFB56DABA}"/>
              </a:ext>
            </a:extLst>
          </p:cNvPr>
          <p:cNvSpPr txBox="1"/>
          <p:nvPr/>
        </p:nvSpPr>
        <p:spPr>
          <a:xfrm>
            <a:off x="540659" y="968829"/>
            <a:ext cx="34339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>
                <a:latin typeface="MS UI Gothic" panose="020B0600070205080204" pitchFamily="34" charset="-128"/>
                <a:ea typeface="MS UI Gothic" panose="020B0600070205080204" pitchFamily="34" charset="-128"/>
              </a:rPr>
              <a:t>研究の</a:t>
            </a:r>
            <a:r>
              <a:rPr lang="en-US" altLang="ja-JP" sz="32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3</a:t>
            </a:r>
            <a:r>
              <a:rPr lang="ja-JP" altLang="en-US" sz="3200">
                <a:latin typeface="MS UI Gothic" panose="020B0600070205080204" pitchFamily="34" charset="-128"/>
                <a:ea typeface="MS UI Gothic" panose="020B0600070205080204" pitchFamily="34" charset="-128"/>
              </a:rPr>
              <a:t>つの革新性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AB93A772-74AD-5C14-9377-5F3C59AC18AE}"/>
              </a:ext>
            </a:extLst>
          </p:cNvPr>
          <p:cNvGrpSpPr/>
          <p:nvPr/>
        </p:nvGrpSpPr>
        <p:grpSpPr>
          <a:xfrm>
            <a:off x="288406" y="1730822"/>
            <a:ext cx="3433953" cy="3853036"/>
            <a:chOff x="174102" y="2024743"/>
            <a:chExt cx="3433953" cy="3853036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151779CA-7AB5-5036-987B-BB4FE23A7A3B}"/>
                </a:ext>
              </a:extLst>
            </p:cNvPr>
            <p:cNvSpPr/>
            <p:nvPr/>
          </p:nvSpPr>
          <p:spPr>
            <a:xfrm>
              <a:off x="174102" y="2024743"/>
              <a:ext cx="3433953" cy="3853036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A0222DF9-16D5-C574-A11C-7A9959BA8049}"/>
                </a:ext>
              </a:extLst>
            </p:cNvPr>
            <p:cNvGrpSpPr/>
            <p:nvPr/>
          </p:nvGrpSpPr>
          <p:grpSpPr>
            <a:xfrm>
              <a:off x="656638" y="2122715"/>
              <a:ext cx="2468880" cy="3657093"/>
              <a:chOff x="747235" y="2220686"/>
              <a:chExt cx="2468880" cy="3657093"/>
            </a:xfrm>
          </p:grpSpPr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EE2E0BF3-54D7-252E-F45F-985B497B726F}"/>
                  </a:ext>
                </a:extLst>
              </p:cNvPr>
              <p:cNvGrpSpPr/>
              <p:nvPr/>
            </p:nvGrpSpPr>
            <p:grpSpPr>
              <a:xfrm>
                <a:off x="1475797" y="2220686"/>
                <a:ext cx="1011757" cy="1005840"/>
                <a:chOff x="1280160" y="1600200"/>
                <a:chExt cx="1011757" cy="1005840"/>
              </a:xfrm>
            </p:grpSpPr>
            <p:sp>
              <p:nvSpPr>
                <p:cNvPr id="5" name="Shape 3">
                  <a:extLst>
                    <a:ext uri="{FF2B5EF4-FFF2-40B4-BE49-F238E27FC236}">
                      <a16:creationId xmlns:a16="http://schemas.microsoft.com/office/drawing/2014/main" id="{CA6CD829-B3AA-4AB5-FE60-03FAF08EAD11}"/>
                    </a:ext>
                  </a:extLst>
                </p:cNvPr>
                <p:cNvSpPr/>
                <p:nvPr/>
              </p:nvSpPr>
              <p:spPr>
                <a:xfrm>
                  <a:off x="1280160" y="1600200"/>
                  <a:ext cx="1005840" cy="1005840"/>
                </a:xfrm>
                <a:prstGeom prst="ellipse">
                  <a:avLst/>
                </a:prstGeom>
                <a:solidFill>
                  <a:srgbClr val="028090"/>
                </a:solidFill>
                <a:ln/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6" name="Text 4">
                  <a:extLst>
                    <a:ext uri="{FF2B5EF4-FFF2-40B4-BE49-F238E27FC236}">
                      <a16:creationId xmlns:a16="http://schemas.microsoft.com/office/drawing/2014/main" id="{9B84D193-9BEC-FFA3-59DD-9F5C77B4E0A4}"/>
                    </a:ext>
                  </a:extLst>
                </p:cNvPr>
                <p:cNvSpPr/>
                <p:nvPr/>
              </p:nvSpPr>
              <p:spPr>
                <a:xfrm>
                  <a:off x="1286077" y="1861456"/>
                  <a:ext cx="1005840" cy="5486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4800" b="1" dirty="0">
                      <a:solidFill>
                        <a:srgbClr val="FFFFFF"/>
                      </a:solidFill>
                    </a:rPr>
                    <a:t>① </a:t>
                  </a:r>
                  <a:endParaRPr lang="en-US" sz="4800" dirty="0"/>
                </a:p>
              </p:txBody>
            </p:sp>
          </p:grpSp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4453D12F-C7F1-3573-41C8-96D1FA55BE4E}"/>
                  </a:ext>
                </a:extLst>
              </p:cNvPr>
              <p:cNvSpPr/>
              <p:nvPr/>
            </p:nvSpPr>
            <p:spPr>
              <a:xfrm>
                <a:off x="747235" y="3683218"/>
                <a:ext cx="246888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b="1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24時間リアルタイム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  <a:p>
                <a:pPr algn="ctr"/>
                <a:r>
                  <a:rPr lang="en-US" b="1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質問応答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</p:txBody>
          </p:sp>
          <p:sp>
            <p:nvSpPr>
              <p:cNvPr id="8" name="Text 6">
                <a:extLst>
                  <a:ext uri="{FF2B5EF4-FFF2-40B4-BE49-F238E27FC236}">
                    <a16:creationId xmlns:a16="http://schemas.microsoft.com/office/drawing/2014/main" id="{46788130-6D74-0A4D-CEE0-265159381165}"/>
                  </a:ext>
                </a:extLst>
              </p:cNvPr>
              <p:cNvSpPr/>
              <p:nvPr/>
            </p:nvSpPr>
            <p:spPr>
              <a:xfrm>
                <a:off x="747235" y="3911818"/>
                <a:ext cx="2468880" cy="196596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いつでも・どこでも・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  <a:p>
                <a:pPr algn="ctr"/>
                <a:r>
                  <a:rPr lang="en-US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何度でも質問可能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  <a:p>
                <a:pPr algn="ctr"/>
                <a:r>
                  <a:rPr lang="en-US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→時間的・心理的障壁を解消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</p:txBody>
          </p:sp>
        </p:grp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BE31C77C-43F0-AF55-2BA5-A9B9C2B051F6}"/>
              </a:ext>
            </a:extLst>
          </p:cNvPr>
          <p:cNvGrpSpPr/>
          <p:nvPr/>
        </p:nvGrpSpPr>
        <p:grpSpPr>
          <a:xfrm>
            <a:off x="4366229" y="1730822"/>
            <a:ext cx="3433953" cy="3853036"/>
            <a:chOff x="4276417" y="2024743"/>
            <a:chExt cx="3433953" cy="3853036"/>
          </a:xfrm>
        </p:grpSpPr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9923914D-AAC1-E491-2B8A-199960BE3CBA}"/>
                </a:ext>
              </a:extLst>
            </p:cNvPr>
            <p:cNvSpPr/>
            <p:nvPr/>
          </p:nvSpPr>
          <p:spPr>
            <a:xfrm>
              <a:off x="4276417" y="2024743"/>
              <a:ext cx="3433953" cy="3853036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D5029B9C-99DB-DF72-134E-F6E1F5772D13}"/>
                </a:ext>
              </a:extLst>
            </p:cNvPr>
            <p:cNvGrpSpPr/>
            <p:nvPr/>
          </p:nvGrpSpPr>
          <p:grpSpPr>
            <a:xfrm>
              <a:off x="4758953" y="2122715"/>
              <a:ext cx="2468880" cy="3657093"/>
              <a:chOff x="4849550" y="2220686"/>
              <a:chExt cx="2468880" cy="3657093"/>
            </a:xfrm>
          </p:grpSpPr>
          <p:grpSp>
            <p:nvGrpSpPr>
              <p:cNvPr id="24" name="グループ化 23">
                <a:extLst>
                  <a:ext uri="{FF2B5EF4-FFF2-40B4-BE49-F238E27FC236}">
                    <a16:creationId xmlns:a16="http://schemas.microsoft.com/office/drawing/2014/main" id="{2ABAB721-7A31-8F83-2808-74D4E97C6CB6}"/>
                  </a:ext>
                </a:extLst>
              </p:cNvPr>
              <p:cNvGrpSpPr/>
              <p:nvPr/>
            </p:nvGrpSpPr>
            <p:grpSpPr>
              <a:xfrm>
                <a:off x="5581070" y="2220686"/>
                <a:ext cx="1005840" cy="1005840"/>
                <a:chOff x="4069080" y="1600200"/>
                <a:chExt cx="1005840" cy="1005840"/>
              </a:xfrm>
            </p:grpSpPr>
            <p:sp>
              <p:nvSpPr>
                <p:cNvPr id="10" name="Shape 8">
                  <a:extLst>
                    <a:ext uri="{FF2B5EF4-FFF2-40B4-BE49-F238E27FC236}">
                      <a16:creationId xmlns:a16="http://schemas.microsoft.com/office/drawing/2014/main" id="{8D5CCBCD-1FCB-EA3A-D849-AFA504F08B94}"/>
                    </a:ext>
                  </a:extLst>
                </p:cNvPr>
                <p:cNvSpPr/>
                <p:nvPr/>
              </p:nvSpPr>
              <p:spPr>
                <a:xfrm>
                  <a:off x="4069080" y="1600200"/>
                  <a:ext cx="1005840" cy="1005840"/>
                </a:xfrm>
                <a:prstGeom prst="ellipse">
                  <a:avLst/>
                </a:prstGeom>
                <a:solidFill>
                  <a:srgbClr val="00A896"/>
                </a:solidFill>
                <a:ln/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11" name="Text 9">
                  <a:extLst>
                    <a:ext uri="{FF2B5EF4-FFF2-40B4-BE49-F238E27FC236}">
                      <a16:creationId xmlns:a16="http://schemas.microsoft.com/office/drawing/2014/main" id="{7FE7F3E0-5F0C-DA79-D137-A1FA0E15B354}"/>
                    </a:ext>
                  </a:extLst>
                </p:cNvPr>
                <p:cNvSpPr/>
                <p:nvPr/>
              </p:nvSpPr>
              <p:spPr>
                <a:xfrm>
                  <a:off x="4069080" y="1861458"/>
                  <a:ext cx="1005840" cy="5486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4800" b="1" dirty="0">
                      <a:solidFill>
                        <a:srgbClr val="FFFFFF"/>
                      </a:solidFill>
                    </a:rPr>
                    <a:t>②</a:t>
                  </a:r>
                  <a:endParaRPr lang="en-US" sz="4800" dirty="0"/>
                </a:p>
              </p:txBody>
            </p:sp>
          </p:grpSp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A76B5F25-1D64-8B7F-EED3-E875147A8EF6}"/>
                  </a:ext>
                </a:extLst>
              </p:cNvPr>
              <p:cNvSpPr/>
              <p:nvPr/>
            </p:nvSpPr>
            <p:spPr>
              <a:xfrm>
                <a:off x="4849550" y="3636371"/>
                <a:ext cx="246888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b="1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つまずきの地図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  <a:p>
                <a:pPr algn="ctr"/>
                <a:r>
                  <a:rPr lang="en-US" b="1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(可視化)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</p:txBody>
          </p:sp>
          <p:sp>
            <p:nvSpPr>
              <p:cNvPr id="13" name="Text 11">
                <a:extLst>
                  <a:ext uri="{FF2B5EF4-FFF2-40B4-BE49-F238E27FC236}">
                    <a16:creationId xmlns:a16="http://schemas.microsoft.com/office/drawing/2014/main" id="{4C9DC9E8-0DF3-CB92-7B7C-041ACA2A5DEF}"/>
                  </a:ext>
                </a:extLst>
              </p:cNvPr>
              <p:cNvSpPr/>
              <p:nvPr/>
            </p:nvSpPr>
            <p:spPr>
              <a:xfrm>
                <a:off x="4849550" y="3911818"/>
                <a:ext cx="2468880" cy="196596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質問データを定量分析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  <a:p>
                <a:pPr algn="ctr"/>
                <a:r>
                  <a:rPr lang="en-US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学習困難点を可視化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  <a:p>
                <a:pPr algn="ctr"/>
                <a:r>
                  <a:rPr lang="en-US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→講義改善・演習問題作成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</p:txBody>
          </p:sp>
        </p:grp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C7C6F32E-7A34-073C-93F0-2417292B56BA}"/>
              </a:ext>
            </a:extLst>
          </p:cNvPr>
          <p:cNvGrpSpPr/>
          <p:nvPr/>
        </p:nvGrpSpPr>
        <p:grpSpPr>
          <a:xfrm>
            <a:off x="8444049" y="1730822"/>
            <a:ext cx="3433953" cy="3853036"/>
            <a:chOff x="8378732" y="2024743"/>
            <a:chExt cx="3433953" cy="3853036"/>
          </a:xfrm>
        </p:grpSpPr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2BD438AE-1DEF-A8C6-BF85-79F5B409A346}"/>
                </a:ext>
              </a:extLst>
            </p:cNvPr>
            <p:cNvSpPr/>
            <p:nvPr/>
          </p:nvSpPr>
          <p:spPr>
            <a:xfrm>
              <a:off x="8378732" y="2024743"/>
              <a:ext cx="3433953" cy="3853036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22503277-1F0F-58EC-406B-962BEE7F3308}"/>
                </a:ext>
              </a:extLst>
            </p:cNvPr>
            <p:cNvGrpSpPr/>
            <p:nvPr/>
          </p:nvGrpSpPr>
          <p:grpSpPr>
            <a:xfrm>
              <a:off x="8861268" y="2122715"/>
              <a:ext cx="2468880" cy="3657093"/>
              <a:chOff x="8951865" y="2220686"/>
              <a:chExt cx="2468880" cy="3657093"/>
            </a:xfrm>
          </p:grpSpPr>
          <p:grpSp>
            <p:nvGrpSpPr>
              <p:cNvPr id="23" name="グループ化 22">
                <a:extLst>
                  <a:ext uri="{FF2B5EF4-FFF2-40B4-BE49-F238E27FC236}">
                    <a16:creationId xmlns:a16="http://schemas.microsoft.com/office/drawing/2014/main" id="{702DAAA8-C6C6-6769-289B-6838B24BBE7B}"/>
                  </a:ext>
                </a:extLst>
              </p:cNvPr>
              <p:cNvGrpSpPr/>
              <p:nvPr/>
            </p:nvGrpSpPr>
            <p:grpSpPr>
              <a:xfrm>
                <a:off x="9683385" y="2220686"/>
                <a:ext cx="1005840" cy="1005840"/>
                <a:chOff x="9617528" y="2220686"/>
                <a:chExt cx="1005840" cy="1005840"/>
              </a:xfrm>
            </p:grpSpPr>
            <p:sp>
              <p:nvSpPr>
                <p:cNvPr id="15" name="Shape 13">
                  <a:extLst>
                    <a:ext uri="{FF2B5EF4-FFF2-40B4-BE49-F238E27FC236}">
                      <a16:creationId xmlns:a16="http://schemas.microsoft.com/office/drawing/2014/main" id="{C4B8F90E-0CFB-5778-C0CC-ABADB67F15E8}"/>
                    </a:ext>
                  </a:extLst>
                </p:cNvPr>
                <p:cNvSpPr/>
                <p:nvPr/>
              </p:nvSpPr>
              <p:spPr>
                <a:xfrm>
                  <a:off x="9617528" y="2220686"/>
                  <a:ext cx="1005840" cy="1005840"/>
                </a:xfrm>
                <a:prstGeom prst="ellipse">
                  <a:avLst/>
                </a:prstGeom>
                <a:solidFill>
                  <a:srgbClr val="02C39A"/>
                </a:solidFill>
                <a:ln/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16" name="Text 14">
                  <a:extLst>
                    <a:ext uri="{FF2B5EF4-FFF2-40B4-BE49-F238E27FC236}">
                      <a16:creationId xmlns:a16="http://schemas.microsoft.com/office/drawing/2014/main" id="{B34809D4-250F-F4FA-857B-DEE266ADF30E}"/>
                    </a:ext>
                  </a:extLst>
                </p:cNvPr>
                <p:cNvSpPr/>
                <p:nvPr/>
              </p:nvSpPr>
              <p:spPr>
                <a:xfrm>
                  <a:off x="9617528" y="2481944"/>
                  <a:ext cx="1005840" cy="5486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4800" b="1" dirty="0">
                      <a:solidFill>
                        <a:srgbClr val="FFFFFF"/>
                      </a:solidFill>
                    </a:rPr>
                    <a:t>③</a:t>
                  </a:r>
                  <a:endParaRPr lang="en-US" sz="4800" dirty="0"/>
                </a:p>
              </p:txBody>
            </p:sp>
          </p:grpSp>
          <p:sp>
            <p:nvSpPr>
              <p:cNvPr id="17" name="Text 15">
                <a:extLst>
                  <a:ext uri="{FF2B5EF4-FFF2-40B4-BE49-F238E27FC236}">
                    <a16:creationId xmlns:a16="http://schemas.microsoft.com/office/drawing/2014/main" id="{4575BB18-E108-33B7-0564-B0D9D56BDB69}"/>
                  </a:ext>
                </a:extLst>
              </p:cNvPr>
              <p:cNvSpPr/>
              <p:nvPr/>
            </p:nvSpPr>
            <p:spPr>
              <a:xfrm>
                <a:off x="8951865" y="3636371"/>
                <a:ext cx="246888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b="1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学習行動の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  <a:p>
                <a:pPr algn="ctr"/>
                <a:r>
                  <a:rPr lang="en-US" b="1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時系列分析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</p:txBody>
          </p:sp>
          <p:sp>
            <p:nvSpPr>
              <p:cNvPr id="18" name="Text 16">
                <a:extLst>
                  <a:ext uri="{FF2B5EF4-FFF2-40B4-BE49-F238E27FC236}">
                    <a16:creationId xmlns:a16="http://schemas.microsoft.com/office/drawing/2014/main" id="{121927DC-E1D2-2FA6-088F-579F5C813129}"/>
                  </a:ext>
                </a:extLst>
              </p:cNvPr>
              <p:cNvSpPr/>
              <p:nvPr/>
            </p:nvSpPr>
            <p:spPr>
              <a:xfrm>
                <a:off x="8951865" y="3911818"/>
                <a:ext cx="2468880" cy="196596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いつ・どのように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  <a:p>
                <a:pPr algn="ctr"/>
                <a:r>
                  <a:rPr lang="en-US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学習しているかを把握</a:t>
                </a:r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  <a:p>
                <a:pPr algn="ctr"/>
                <a:r>
                  <a:rPr lang="en-US" dirty="0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→</a:t>
                </a:r>
                <a:r>
                  <a:rPr lang="en-US" dirty="0" err="1">
                    <a:solidFill>
                      <a:srgbClr val="2C3E50"/>
                    </a:solidFill>
                    <a:latin typeface="MS UI Gothic" panose="020B0600070205080204" pitchFamily="34" charset="-128"/>
                    <a:ea typeface="MS UI Gothic" panose="020B0600070205080204" pitchFamily="34" charset="-128"/>
                  </a:rPr>
                  <a:t>学習パターンの解明</a:t>
                </a:r>
                <a:endParaRPr lang="en-US" dirty="0">
                  <a:solidFill>
                    <a:srgbClr val="2C3E50"/>
                  </a:solidFill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  <a:p>
                <a:pPr algn="ctr"/>
                <a:endParaRPr lang="en-US" dirty="0">
                  <a:latin typeface="MS UI Gothic" panose="020B0600070205080204" pitchFamily="34" charset="-128"/>
                  <a:ea typeface="MS UI Gothic" panose="020B0600070205080204" pitchFamily="34" charset="-128"/>
                </a:endParaRPr>
              </a:p>
            </p:txBody>
          </p:sp>
        </p:grpSp>
      </p:grp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3994A78-399F-2DCD-0444-2771603F362D}"/>
              </a:ext>
            </a:extLst>
          </p:cNvPr>
          <p:cNvSpPr txBox="1"/>
          <p:nvPr/>
        </p:nvSpPr>
        <p:spPr>
          <a:xfrm>
            <a:off x="1472778" y="5692133"/>
            <a:ext cx="924644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800" dirty="0" err="1">
                <a:solidFill>
                  <a:srgbClr val="FFFFFF"/>
                </a:solidFill>
                <a:highlight>
                  <a:srgbClr val="008080"/>
                </a:highlight>
                <a:latin typeface="MS UI Gothic" panose="020B0600070205080204" pitchFamily="34" charset="-128"/>
                <a:ea typeface="MS UI Gothic" panose="020B0600070205080204" pitchFamily="34" charset="-128"/>
              </a:rPr>
              <a:t>国内外での位置づけ</a:t>
            </a:r>
            <a:r>
              <a:rPr lang="en-US" altLang="ja-JP" sz="2800" dirty="0">
                <a:solidFill>
                  <a:srgbClr val="FFFFFF"/>
                </a:solidFill>
                <a:highlight>
                  <a:srgbClr val="008080"/>
                </a:highlight>
                <a:latin typeface="MS UI Gothic" panose="020B0600070205080204" pitchFamily="34" charset="-128"/>
                <a:ea typeface="MS UI Gothic" panose="020B0600070205080204" pitchFamily="34" charset="-128"/>
              </a:rPr>
              <a:t>:</a:t>
            </a:r>
          </a:p>
          <a:p>
            <a:pPr algn="ctr"/>
            <a:r>
              <a:rPr lang="en-US" altLang="ja-JP" sz="2800" dirty="0" err="1">
                <a:solidFill>
                  <a:srgbClr val="FFFFFF"/>
                </a:solidFill>
                <a:highlight>
                  <a:srgbClr val="008080"/>
                </a:highlight>
                <a:latin typeface="MS UI Gothic" panose="020B0600070205080204" pitchFamily="34" charset="-128"/>
                <a:ea typeface="MS UI Gothic" panose="020B0600070205080204" pitchFamily="34" charset="-128"/>
              </a:rPr>
              <a:t>薬学教育における生成系AIの体系的導入・実証研究は先駆的</a:t>
            </a:r>
            <a:endParaRPr lang="ja-JP" altLang="en-US" sz="2800">
              <a:highlight>
                <a:srgbClr val="008080"/>
              </a:highlight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52037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chemeClr val="bg1"/>
                </a:solidFill>
              </a:rPr>
              <a:t>③教育・研究上の新規性(その2)</a:t>
            </a:r>
            <a:endParaRPr lang="en-US" sz="2667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0972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chemeClr val="bg1"/>
                </a:solidFill>
              </a:rPr>
              <a:t>「魔法の黒板」システム概要(既に稼働中)</a:t>
            </a:r>
            <a:endParaRPr lang="en-US" sz="4267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950720"/>
            <a:ext cx="5364480" cy="304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5" name="Text 3"/>
          <p:cNvSpPr/>
          <p:nvPr/>
        </p:nvSpPr>
        <p:spPr>
          <a:xfrm>
            <a:off x="853440" y="213360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28090"/>
                </a:solidFill>
              </a:rPr>
              <a:t>👨‍🎓 学生用インターフェース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3440" y="2743200"/>
            <a:ext cx="4876800" cy="2072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24時間質問対応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カテゴリー別質問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練習問題生成(5択2正解形式)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難易度選択機能</a:t>
            </a:r>
            <a:endParaRPr lang="en-US" sz="1867" dirty="0"/>
          </a:p>
        </p:txBody>
      </p:sp>
      <p:sp>
        <p:nvSpPr>
          <p:cNvPr id="7" name="Shape 5"/>
          <p:cNvSpPr/>
          <p:nvPr/>
        </p:nvSpPr>
        <p:spPr>
          <a:xfrm>
            <a:off x="6217920" y="1950720"/>
            <a:ext cx="5364480" cy="304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8" name="Text 6"/>
          <p:cNvSpPr/>
          <p:nvPr/>
        </p:nvSpPr>
        <p:spPr>
          <a:xfrm>
            <a:off x="6461760" y="213360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28090"/>
                </a:solidFill>
              </a:rPr>
              <a:t>👨‍🏫 教員用インターフェース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61760" y="2743200"/>
            <a:ext cx="4876800" cy="2072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学習履歴の確認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つまずきポイントの可視化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FAQ自動抽出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データ分析・出力機能</a:t>
            </a:r>
            <a:endParaRPr lang="en-US" sz="1867" dirty="0"/>
          </a:p>
        </p:txBody>
      </p:sp>
      <p:sp>
        <p:nvSpPr>
          <p:cNvPr id="10" name="Shape 8"/>
          <p:cNvSpPr/>
          <p:nvPr/>
        </p:nvSpPr>
        <p:spPr>
          <a:xfrm>
            <a:off x="609600" y="5242560"/>
            <a:ext cx="10972800" cy="1219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1" name="Text 9"/>
          <p:cNvSpPr/>
          <p:nvPr/>
        </p:nvSpPr>
        <p:spPr>
          <a:xfrm>
            <a:off x="853440" y="5425440"/>
            <a:ext cx="1048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FFFFFF"/>
                </a:solidFill>
              </a:rPr>
              <a:t>🔧 技術基盤</a:t>
            </a:r>
            <a:endParaRPr lang="en-US" sz="2133" dirty="0"/>
          </a:p>
        </p:txBody>
      </p:sp>
      <p:sp>
        <p:nvSpPr>
          <p:cNvPr id="12" name="Text 10"/>
          <p:cNvSpPr/>
          <p:nvPr/>
        </p:nvSpPr>
        <p:spPr>
          <a:xfrm>
            <a:off x="853440" y="5791200"/>
            <a:ext cx="104851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dirty="0">
                <a:solidFill>
                  <a:srgbClr val="FFFFFF"/>
                </a:solidFill>
              </a:rPr>
              <a:t>OpenAI GPT-4o / Claude Sonnet 4・Opus 4  |  RAG + 137項目知識ベース  |  著作権クリア(オリジナル教材)</a:t>
            </a:r>
            <a:endParaRPr lang="en-US" sz="1733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chemeClr val="bg1"/>
                </a:solidFill>
              </a:rPr>
              <a:t>④研究成果の教育・研究への反映(その1)</a:t>
            </a:r>
            <a:endParaRPr lang="en-US" sz="2667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0972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chemeClr val="bg1"/>
                </a:solidFill>
              </a:rPr>
              <a:t>研究デザイン:厳密な実証実験</a:t>
            </a:r>
            <a:endParaRPr lang="en-US" sz="4267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950720"/>
            <a:ext cx="5364480" cy="1706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5" name="Text 3"/>
          <p:cNvSpPr/>
          <p:nvPr/>
        </p:nvSpPr>
        <p:spPr>
          <a:xfrm>
            <a:off x="853440" y="213360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28090"/>
                </a:solidFill>
              </a:rPr>
              <a:t>📊 比較対象</a:t>
            </a:r>
            <a:endParaRPr lang="en-US" sz="2133" dirty="0"/>
          </a:p>
        </p:txBody>
      </p:sp>
      <p:sp>
        <p:nvSpPr>
          <p:cNvPr id="6" name="Text 4"/>
          <p:cNvSpPr/>
          <p:nvPr/>
        </p:nvSpPr>
        <p:spPr>
          <a:xfrm>
            <a:off x="853440" y="2560320"/>
            <a:ext cx="4876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過去10年間の試験成績・演習問題データ</a:t>
            </a:r>
            <a:endParaRPr lang="en-US" sz="1733" dirty="0"/>
          </a:p>
          <a:p>
            <a:r>
              <a:rPr lang="en-US" sz="1733" dirty="0">
                <a:solidFill>
                  <a:srgbClr val="2C3E50"/>
                </a:solidFill>
              </a:rPr>
              <a:t>→長期的データとの比較により客観的評価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6217920" y="1950720"/>
            <a:ext cx="5364480" cy="1706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8" name="Text 6"/>
          <p:cNvSpPr/>
          <p:nvPr/>
        </p:nvSpPr>
        <p:spPr>
          <a:xfrm>
            <a:off x="6461760" y="213360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28090"/>
                </a:solidFill>
              </a:rPr>
              <a:t>📈 評価指標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6461760" y="2560320"/>
            <a:ext cx="4876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</a:rPr>
              <a:t>① 試験成績</a:t>
            </a:r>
            <a:endParaRPr lang="en-US" sz="1600" dirty="0"/>
          </a:p>
          <a:p>
            <a:r>
              <a:rPr lang="en-US" sz="1600" dirty="0">
                <a:solidFill>
                  <a:srgbClr val="2C3E50"/>
                </a:solidFill>
              </a:rPr>
              <a:t>② システム利用ログ(頻度・内容)</a:t>
            </a:r>
            <a:endParaRPr lang="en-US" sz="1600" dirty="0"/>
          </a:p>
          <a:p>
            <a:r>
              <a:rPr lang="en-US" sz="1600" dirty="0">
                <a:solidFill>
                  <a:srgbClr val="2C3E50"/>
                </a:solidFill>
              </a:rPr>
              <a:t>③ 学習行動パターン</a:t>
            </a:r>
            <a:endParaRPr lang="en-US" sz="1600" dirty="0"/>
          </a:p>
          <a:p>
            <a:r>
              <a:rPr lang="en-US" sz="1600" dirty="0">
                <a:solidFill>
                  <a:srgbClr val="2C3E50"/>
                </a:solidFill>
              </a:rPr>
              <a:t>④ 学生満足度アンケート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3901440"/>
            <a:ext cx="10972800" cy="2560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1" name="Text 9"/>
          <p:cNvSpPr/>
          <p:nvPr/>
        </p:nvSpPr>
        <p:spPr>
          <a:xfrm>
            <a:off x="853440" y="4084320"/>
            <a:ext cx="1048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28090"/>
                </a:solidFill>
              </a:rPr>
              <a:t>📅 実施フェーズ</a:t>
            </a:r>
            <a:endParaRPr lang="en-US" sz="2133" dirty="0"/>
          </a:p>
        </p:txBody>
      </p:sp>
      <p:sp>
        <p:nvSpPr>
          <p:cNvPr id="12" name="Shape 10"/>
          <p:cNvSpPr/>
          <p:nvPr/>
        </p:nvSpPr>
        <p:spPr>
          <a:xfrm>
            <a:off x="975360" y="4632960"/>
            <a:ext cx="2438400" cy="975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3" name="Text 11"/>
          <p:cNvSpPr/>
          <p:nvPr/>
        </p:nvSpPr>
        <p:spPr>
          <a:xfrm>
            <a:off x="975360" y="4693920"/>
            <a:ext cx="24384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</a:rPr>
              <a:t>4-5月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FFFFFF"/>
                </a:solidFill>
              </a:rPr>
              <a:t>システム整理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FFFFFF"/>
                </a:solidFill>
              </a:rPr>
              <a:t>倫理審査</a:t>
            </a:r>
            <a:endParaRPr lang="en-US" sz="1467" dirty="0"/>
          </a:p>
        </p:txBody>
      </p:sp>
      <p:sp>
        <p:nvSpPr>
          <p:cNvPr id="14" name="Shape 12"/>
          <p:cNvSpPr/>
          <p:nvPr/>
        </p:nvSpPr>
        <p:spPr>
          <a:xfrm>
            <a:off x="3657600" y="4632960"/>
            <a:ext cx="2438400" cy="9753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5" name="Text 13"/>
          <p:cNvSpPr/>
          <p:nvPr/>
        </p:nvSpPr>
        <p:spPr>
          <a:xfrm>
            <a:off x="3657600" y="4693920"/>
            <a:ext cx="24384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</a:rPr>
              <a:t>6-8月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FFFFFF"/>
                </a:solidFill>
              </a:rPr>
              <a:t>機能改善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FFFFFF"/>
                </a:solidFill>
              </a:rPr>
              <a:t>運用検証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6339840" y="4632960"/>
            <a:ext cx="1828800" cy="9753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7" name="Text 15"/>
          <p:cNvSpPr/>
          <p:nvPr/>
        </p:nvSpPr>
        <p:spPr>
          <a:xfrm>
            <a:off x="6339840" y="4693920"/>
            <a:ext cx="1828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014F59"/>
                </a:solidFill>
              </a:rPr>
              <a:t>9月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014F59"/>
                </a:solidFill>
              </a:rPr>
              <a:t>プレ実証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014F59"/>
                </a:solidFill>
              </a:rPr>
              <a:t>(30名)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8412480" y="4632960"/>
            <a:ext cx="1828800" cy="975360"/>
          </a:xfrm>
          <a:prstGeom prst="rect">
            <a:avLst/>
          </a:prstGeom>
          <a:solidFill>
            <a:srgbClr val="014F59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9" name="Text 17"/>
          <p:cNvSpPr/>
          <p:nvPr/>
        </p:nvSpPr>
        <p:spPr>
          <a:xfrm>
            <a:off x="8412480" y="4693920"/>
            <a:ext cx="1828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</a:rPr>
              <a:t>10-12月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FFFFFF"/>
                </a:solidFill>
              </a:rPr>
              <a:t>本実証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FFFFFF"/>
                </a:solidFill>
              </a:rPr>
              <a:t>(250名)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10485120" y="4632960"/>
            <a:ext cx="1097280" cy="975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21" name="Text 19"/>
          <p:cNvSpPr/>
          <p:nvPr/>
        </p:nvSpPr>
        <p:spPr>
          <a:xfrm>
            <a:off x="10485120" y="4693920"/>
            <a:ext cx="10972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FFFFFF"/>
                </a:solidFill>
              </a:rPr>
              <a:t>1月~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</a:rPr>
              <a:t>分析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</a:rPr>
              <a:t>公表</a:t>
            </a:r>
            <a:endParaRPr lang="en-US" sz="1333" dirty="0"/>
          </a:p>
        </p:txBody>
      </p:sp>
      <p:sp>
        <p:nvSpPr>
          <p:cNvPr id="22" name="Text 20"/>
          <p:cNvSpPr/>
          <p:nvPr/>
        </p:nvSpPr>
        <p:spPr>
          <a:xfrm>
            <a:off x="853440" y="5852160"/>
            <a:ext cx="1048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i="1" dirty="0">
                <a:solidFill>
                  <a:srgbClr val="028090"/>
                </a:solidFill>
              </a:rPr>
              <a:t>到達目標:学習成果への影響を定量的に実証</a:t>
            </a:r>
            <a:endParaRPr lang="en-US" sz="1733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chemeClr val="bg1"/>
                </a:solidFill>
              </a:rPr>
              <a:t>④研究成果の教育・研究への反映(その2)</a:t>
            </a:r>
            <a:endParaRPr lang="en-US" sz="2667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0972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chemeClr val="bg1"/>
                </a:solidFill>
              </a:rPr>
              <a:t>期待される成果と教育への反映</a:t>
            </a:r>
            <a:endParaRPr lang="en-US" sz="4267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950720"/>
            <a:ext cx="5364480" cy="2682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5" name="Text 3"/>
          <p:cNvSpPr/>
          <p:nvPr/>
        </p:nvSpPr>
        <p:spPr>
          <a:xfrm>
            <a:off x="853440" y="213360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28090"/>
                </a:solidFill>
              </a:rPr>
              <a:t>🎯 教育への反映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3440" y="2743200"/>
            <a:ext cx="487680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つまずきマップによる講義改善</a:t>
            </a:r>
            <a:endParaRPr lang="en-US" sz="1867" dirty="0"/>
          </a:p>
          <a:p>
            <a:pPr marL="914377" lvl="1" indent="-457189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• 学生の理解困難箇所を特定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弱点強化学習の実施</a:t>
            </a:r>
            <a:endParaRPr lang="en-US" sz="1867" dirty="0"/>
          </a:p>
          <a:p>
            <a:pPr marL="914377" lvl="1" indent="-457189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• 個別学習指導への活用</a:t>
            </a:r>
            <a:endParaRPr lang="en-US" sz="1867" dirty="0"/>
          </a:p>
          <a:p>
            <a:pPr marL="457189" indent="-457189">
              <a:buSzPct val="100000"/>
              <a:buChar char="•"/>
            </a:pPr>
            <a:r>
              <a:rPr lang="en-US" sz="1867" dirty="0">
                <a:solidFill>
                  <a:srgbClr val="2C3E50"/>
                </a:solidFill>
              </a:rPr>
              <a:t>演習問題作成への反映</a:t>
            </a:r>
            <a:endParaRPr lang="en-US" sz="1867" dirty="0"/>
          </a:p>
          <a:p>
            <a:pPr marL="914377" lvl="1" indent="-457189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• 頻出質問に基づく問題設計</a:t>
            </a:r>
            <a:endParaRPr lang="en-US" sz="1867" dirty="0"/>
          </a:p>
        </p:txBody>
      </p:sp>
      <p:sp>
        <p:nvSpPr>
          <p:cNvPr id="7" name="Shape 5"/>
          <p:cNvSpPr/>
          <p:nvPr/>
        </p:nvSpPr>
        <p:spPr>
          <a:xfrm>
            <a:off x="6217920" y="1950720"/>
            <a:ext cx="5364480" cy="26822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8" name="Text 6"/>
          <p:cNvSpPr/>
          <p:nvPr/>
        </p:nvSpPr>
        <p:spPr>
          <a:xfrm>
            <a:off x="6461760" y="213360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14F59"/>
                </a:solidFill>
              </a:rPr>
              <a:t>📍 つまずきマップ(可視化例)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6461760" y="2743200"/>
            <a:ext cx="487680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14F59"/>
                </a:solidFill>
              </a:rPr>
              <a:t>【頻出質問トップ3】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14F59"/>
                </a:solidFill>
              </a:rPr>
              <a:t>① 感度・特異度の計算方法(45件)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14F59"/>
                </a:solidFill>
              </a:rPr>
              <a:t>② オッズ比の解釈(38件)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14F59"/>
                </a:solidFill>
              </a:rPr>
              <a:t>③ p値の意味(32件)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4876800"/>
            <a:ext cx="10972800" cy="1463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1" name="Text 9"/>
          <p:cNvSpPr/>
          <p:nvPr/>
        </p:nvSpPr>
        <p:spPr>
          <a:xfrm>
            <a:off x="853440" y="5059680"/>
            <a:ext cx="1048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FFFFFF"/>
                </a:solidFill>
              </a:rPr>
              <a:t>🌟 研究への貢献</a:t>
            </a:r>
            <a:endParaRPr lang="en-US" sz="2133" dirty="0"/>
          </a:p>
        </p:txBody>
      </p:sp>
      <p:sp>
        <p:nvSpPr>
          <p:cNvPr id="12" name="Text 10"/>
          <p:cNvSpPr/>
          <p:nvPr/>
        </p:nvSpPr>
        <p:spPr>
          <a:xfrm>
            <a:off x="853440" y="5486400"/>
            <a:ext cx="1048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FFFFFF"/>
                </a:solidFill>
              </a:rPr>
              <a:t>• 薬学教育における生成系AI活用のエビデンス構築</a:t>
            </a:r>
            <a:endParaRPr lang="en-US" sz="1733" dirty="0"/>
          </a:p>
          <a:p>
            <a:r>
              <a:rPr lang="en-US" sz="1733" dirty="0">
                <a:solidFill>
                  <a:srgbClr val="FFFFFF"/>
                </a:solidFill>
              </a:rPr>
              <a:t>• 学習支援システムの設計指針の提示</a:t>
            </a:r>
            <a:endParaRPr lang="en-US" sz="1733" dirty="0"/>
          </a:p>
          <a:p>
            <a:r>
              <a:rPr lang="en-US" sz="1733" dirty="0">
                <a:solidFill>
                  <a:srgbClr val="FFFFFF"/>
                </a:solidFill>
              </a:rPr>
              <a:t>• 他科目・他大学への展開可能性の実証</a:t>
            </a:r>
            <a:endParaRPr lang="en-US" sz="1733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chemeClr val="bg1"/>
                </a:solidFill>
              </a:rPr>
              <a:t>⑤経費の妥当性</a:t>
            </a:r>
            <a:endParaRPr lang="en-US" sz="2667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0972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chemeClr val="bg1"/>
                </a:solidFill>
              </a:rPr>
              <a:t>研究経費の内訳と合理性</a:t>
            </a:r>
            <a:endParaRPr lang="en-US" sz="4267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1219200" y="2072640"/>
            <a:ext cx="9753600" cy="609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5" name="Text 3"/>
          <p:cNvSpPr/>
          <p:nvPr/>
        </p:nvSpPr>
        <p:spPr>
          <a:xfrm>
            <a:off x="1219200" y="2194560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FFFF"/>
                </a:solidFill>
              </a:rPr>
              <a:t>費目     金額     使途</a:t>
            </a:r>
            <a:endParaRPr lang="en-US" sz="1867" dirty="0"/>
          </a:p>
        </p:txBody>
      </p:sp>
      <p:sp>
        <p:nvSpPr>
          <p:cNvPr id="6" name="Shape 4"/>
          <p:cNvSpPr/>
          <p:nvPr/>
        </p:nvSpPr>
        <p:spPr>
          <a:xfrm>
            <a:off x="1219200" y="2682240"/>
            <a:ext cx="97536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7" name="Text 5"/>
          <p:cNvSpPr/>
          <p:nvPr/>
        </p:nvSpPr>
        <p:spPr>
          <a:xfrm>
            <a:off x="1341120" y="2865120"/>
            <a:ext cx="268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機器備品費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4023360" y="2865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dirty="0">
                <a:solidFill>
                  <a:srgbClr val="2C3E50"/>
                </a:solidFill>
              </a:rPr>
              <a:t>290千円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5974080" y="2865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</a:rPr>
              <a:t>MacBook Pro(開発・動作確認用)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19200" y="3413760"/>
            <a:ext cx="975360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1" name="Text 9"/>
          <p:cNvSpPr/>
          <p:nvPr/>
        </p:nvSpPr>
        <p:spPr>
          <a:xfrm>
            <a:off x="1341120" y="3596640"/>
            <a:ext cx="268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消耗品費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4023360" y="3596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dirty="0">
                <a:solidFill>
                  <a:srgbClr val="2C3E50"/>
                </a:solidFill>
              </a:rPr>
              <a:t>110千円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5974080" y="3596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</a:rPr>
              <a:t>生成系AI使用料(GPT/Claude/Gemini・API)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19200" y="4145280"/>
            <a:ext cx="97536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5" name="Text 13"/>
          <p:cNvSpPr/>
          <p:nvPr/>
        </p:nvSpPr>
        <p:spPr>
          <a:xfrm>
            <a:off x="1341120" y="4328160"/>
            <a:ext cx="268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図書費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4023360" y="4328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dirty="0">
                <a:solidFill>
                  <a:srgbClr val="2C3E50"/>
                </a:solidFill>
              </a:rPr>
              <a:t>20千円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5974080" y="4328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</a:rPr>
              <a:t>教育工学・生成系AI関連書籍・学術雑誌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19200" y="4876800"/>
            <a:ext cx="975360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9" name="Text 17"/>
          <p:cNvSpPr/>
          <p:nvPr/>
        </p:nvSpPr>
        <p:spPr>
          <a:xfrm>
            <a:off x="1341120" y="5059680"/>
            <a:ext cx="268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旅費交通費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4023360" y="5059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dirty="0">
                <a:solidFill>
                  <a:srgbClr val="2C3E50"/>
                </a:solidFill>
              </a:rPr>
              <a:t>80千円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5974080" y="5059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</a:rPr>
              <a:t>日本医療薬学会年会(石川県)での発表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19200" y="5608320"/>
            <a:ext cx="97536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23" name="Text 21"/>
          <p:cNvSpPr/>
          <p:nvPr/>
        </p:nvSpPr>
        <p:spPr>
          <a:xfrm>
            <a:off x="1341120" y="5791200"/>
            <a:ext cx="268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その他</a:t>
            </a:r>
            <a:endParaRPr lang="en-US" sz="1733" dirty="0"/>
          </a:p>
        </p:txBody>
      </p:sp>
      <p:sp>
        <p:nvSpPr>
          <p:cNvPr id="24" name="Text 22"/>
          <p:cNvSpPr/>
          <p:nvPr/>
        </p:nvSpPr>
        <p:spPr>
          <a:xfrm>
            <a:off x="4023360" y="5791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733" dirty="0">
                <a:solidFill>
                  <a:srgbClr val="2C3E50"/>
                </a:solidFill>
              </a:rPr>
              <a:t>500千円</a:t>
            </a:r>
            <a:endParaRPr lang="en-US" sz="1733" dirty="0"/>
          </a:p>
        </p:txBody>
      </p:sp>
      <p:sp>
        <p:nvSpPr>
          <p:cNvPr id="25" name="Text 23"/>
          <p:cNvSpPr/>
          <p:nvPr/>
        </p:nvSpPr>
        <p:spPr>
          <a:xfrm>
            <a:off x="5974080" y="5791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C3E50"/>
                </a:solidFill>
              </a:rPr>
              <a:t>英語論文投稿料・英文校閲料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19200" y="6339840"/>
            <a:ext cx="9753600" cy="609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27" name="Text 25"/>
          <p:cNvSpPr/>
          <p:nvPr/>
        </p:nvSpPr>
        <p:spPr>
          <a:xfrm>
            <a:off x="1341120" y="6522720"/>
            <a:ext cx="268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FFFF"/>
                </a:solidFill>
              </a:rPr>
              <a:t>合計</a:t>
            </a:r>
            <a:endParaRPr lang="en-US" sz="1867" dirty="0"/>
          </a:p>
        </p:txBody>
      </p:sp>
      <p:sp>
        <p:nvSpPr>
          <p:cNvPr id="28" name="Text 26"/>
          <p:cNvSpPr/>
          <p:nvPr/>
        </p:nvSpPr>
        <p:spPr>
          <a:xfrm>
            <a:off x="4023360" y="6522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867" b="1" dirty="0">
                <a:solidFill>
                  <a:srgbClr val="FFFFFF"/>
                </a:solidFill>
              </a:rPr>
              <a:t>1,000千円</a:t>
            </a:r>
            <a:endParaRPr lang="en-US" sz="1867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chemeClr val="bg1"/>
                </a:solidFill>
              </a:rPr>
              <a:t>⑥年次計画の妥当性</a:t>
            </a:r>
            <a:endParaRPr lang="en-US" sz="2667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0972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chemeClr val="bg1"/>
                </a:solidFill>
              </a:rPr>
              <a:t>実施スケジュールと到達目標</a:t>
            </a:r>
            <a:endParaRPr lang="en-US" sz="4267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950720"/>
            <a:ext cx="5364480" cy="1706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5" name="Text 3"/>
          <p:cNvSpPr/>
          <p:nvPr/>
        </p:nvSpPr>
        <p:spPr>
          <a:xfrm>
            <a:off x="853440" y="213360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28090"/>
                </a:solidFill>
              </a:rPr>
              <a:t>📅 4-5月:研究基盤の整理</a:t>
            </a:r>
            <a:endParaRPr lang="en-US" sz="2133" dirty="0"/>
          </a:p>
        </p:txBody>
      </p:sp>
      <p:sp>
        <p:nvSpPr>
          <p:cNvPr id="6" name="Text 4"/>
          <p:cNvSpPr/>
          <p:nvPr/>
        </p:nvSpPr>
        <p:spPr>
          <a:xfrm>
            <a:off x="853440" y="2560320"/>
            <a:ext cx="4876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システムの研究用途への整備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倫理審査申請・承認取得</a:t>
            </a:r>
            <a:endParaRPr lang="en-US" sz="1600" dirty="0"/>
          </a:p>
          <a:p>
            <a:r>
              <a:rPr lang="en-US" sz="1467" i="1" dirty="0">
                <a:solidFill>
                  <a:srgbClr val="2C3E50"/>
                </a:solidFill>
              </a:rPr>
              <a:t>到達目標:倫理承認、安定稼働の確認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950720"/>
            <a:ext cx="5364480" cy="1706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8" name="Text 6"/>
          <p:cNvSpPr/>
          <p:nvPr/>
        </p:nvSpPr>
        <p:spPr>
          <a:xfrm>
            <a:off x="6461760" y="213360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28090"/>
                </a:solidFill>
              </a:rPr>
              <a:t>📅 6-8月:機能改善・運用検証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6461760" y="2560320"/>
            <a:ext cx="4876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履修済み学生での動作検証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つまずき分類・可視化機能実装</a:t>
            </a:r>
            <a:endParaRPr lang="en-US" sz="1600" dirty="0"/>
          </a:p>
          <a:p>
            <a:r>
              <a:rPr lang="en-US" sz="1467" i="1" dirty="0">
                <a:solidFill>
                  <a:srgbClr val="2C3E50"/>
                </a:solidFill>
              </a:rPr>
              <a:t>到達目標:研究データ取得可能性確認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3901440"/>
            <a:ext cx="5364480" cy="1584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1" name="Text 9"/>
          <p:cNvSpPr/>
          <p:nvPr/>
        </p:nvSpPr>
        <p:spPr>
          <a:xfrm>
            <a:off x="853440" y="408432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28090"/>
                </a:solidFill>
              </a:rPr>
              <a:t>📅 9月:プレ実証実験</a:t>
            </a:r>
            <a:endParaRPr lang="en-US" sz="2133" dirty="0"/>
          </a:p>
        </p:txBody>
      </p:sp>
      <p:sp>
        <p:nvSpPr>
          <p:cNvPr id="12" name="Text 10"/>
          <p:cNvSpPr/>
          <p:nvPr/>
        </p:nvSpPr>
        <p:spPr>
          <a:xfrm>
            <a:off x="853440" y="4511040"/>
            <a:ext cx="4876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3年生約30名での試行導入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システム安定性・回答適切性検証</a:t>
            </a:r>
            <a:endParaRPr lang="en-US" sz="1600" dirty="0"/>
          </a:p>
          <a:p>
            <a:r>
              <a:rPr lang="en-US" sz="1467" i="1" dirty="0">
                <a:solidFill>
                  <a:srgbClr val="2C3E50"/>
                </a:solidFill>
              </a:rPr>
              <a:t>到達目標:本実証に向けた課題改善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3901440"/>
            <a:ext cx="5364480" cy="1584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4" name="Text 12"/>
          <p:cNvSpPr/>
          <p:nvPr/>
        </p:nvSpPr>
        <p:spPr>
          <a:xfrm>
            <a:off x="6461760" y="408432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28090"/>
                </a:solidFill>
              </a:rPr>
              <a:t>📅 10-12月:本実証実験</a:t>
            </a:r>
            <a:endParaRPr lang="en-US" sz="2133" dirty="0"/>
          </a:p>
        </p:txBody>
      </p:sp>
      <p:sp>
        <p:nvSpPr>
          <p:cNvPr id="15" name="Text 13"/>
          <p:cNvSpPr/>
          <p:nvPr/>
        </p:nvSpPr>
        <p:spPr>
          <a:xfrm>
            <a:off x="6461760" y="4511040"/>
            <a:ext cx="4876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3年生全体(約250名)での本格導入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学習ログ・試験成績データ収集</a:t>
            </a:r>
            <a:endParaRPr lang="en-US" sz="1600" dirty="0"/>
          </a:p>
          <a:p>
            <a:r>
              <a:rPr lang="en-US" sz="1467" i="1" dirty="0">
                <a:solidFill>
                  <a:srgbClr val="2C3E50"/>
                </a:solidFill>
              </a:rPr>
              <a:t>到達目標:学習成果との関連性解明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" y="5730240"/>
            <a:ext cx="10972800" cy="8534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7" name="Text 15"/>
          <p:cNvSpPr/>
          <p:nvPr/>
        </p:nvSpPr>
        <p:spPr>
          <a:xfrm>
            <a:off x="853440" y="5913120"/>
            <a:ext cx="1048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FFFFFF"/>
                </a:solidFill>
              </a:rPr>
              <a:t>📅 1月以降:分析・成果公表</a:t>
            </a:r>
            <a:endParaRPr lang="en-US" sz="2133" dirty="0"/>
          </a:p>
        </p:txBody>
      </p:sp>
      <p:sp>
        <p:nvSpPr>
          <p:cNvPr id="18" name="Text 16"/>
          <p:cNvSpPr/>
          <p:nvPr/>
        </p:nvSpPr>
        <p:spPr>
          <a:xfrm>
            <a:off x="853440" y="6278880"/>
            <a:ext cx="104851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FFFFFF"/>
                </a:solidFill>
              </a:rPr>
              <a:t>データ分析、学会発表(日本医療薬学会)、学術論文投稿</a:t>
            </a:r>
            <a:endParaRPr lang="en-US" sz="1733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chemeClr val="bg1"/>
                </a:solidFill>
              </a:rPr>
              <a:t>②従来の研究成績</a:t>
            </a:r>
            <a:endParaRPr lang="en-US" sz="2667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0972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chemeClr val="bg1"/>
                </a:solidFill>
              </a:rPr>
              <a:t>過去3年間の研究業績と本研究への連続性</a:t>
            </a:r>
            <a:endParaRPr lang="en-US" sz="4267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950720"/>
            <a:ext cx="10972800" cy="2438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5" name="Text 3"/>
          <p:cNvSpPr/>
          <p:nvPr/>
        </p:nvSpPr>
        <p:spPr>
          <a:xfrm>
            <a:off x="853440" y="2133600"/>
            <a:ext cx="1048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28090"/>
                </a:solidFill>
              </a:rPr>
              <a:t>📚 原著論文(査読付き):4編</a:t>
            </a:r>
            <a:endParaRPr lang="en-US" sz="2133" dirty="0"/>
          </a:p>
        </p:txBody>
      </p:sp>
      <p:sp>
        <p:nvSpPr>
          <p:cNvPr id="6" name="Text 4"/>
          <p:cNvSpPr/>
          <p:nvPr/>
        </p:nvSpPr>
        <p:spPr>
          <a:xfrm>
            <a:off x="853440" y="2621280"/>
            <a:ext cx="1048512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2C3E50"/>
                </a:solidFill>
              </a:rPr>
              <a:t>VR教育ツール開発と教育効果検証(薬学雑誌, 2024)</a:t>
            </a:r>
            <a:endParaRPr lang="en-US" sz="1733" dirty="0"/>
          </a:p>
          <a:p>
            <a:pPr marL="0" lvl="1"/>
            <a:r>
              <a:rPr lang="en-US" sz="1467" i="1" dirty="0">
                <a:solidFill>
                  <a:srgbClr val="2C3E50"/>
                </a:solidFill>
              </a:rPr>
              <a:t>→ 教育改善ツール開発と定量的評価の実績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2C3E50"/>
                </a:solidFill>
              </a:rPr>
              <a:t>医薬品副作用ビッグデータ解析 2編</a:t>
            </a:r>
            <a:endParaRPr lang="en-US" sz="1733" dirty="0"/>
          </a:p>
          <a:p>
            <a:r>
              <a:rPr lang="en-US" sz="1467" dirty="0">
                <a:solidFill>
                  <a:srgbClr val="2C3E50"/>
                </a:solidFill>
              </a:rPr>
              <a:t>(日本総合病院精神医学会雑誌、日本精神薬学会雑誌)</a:t>
            </a:r>
            <a:endParaRPr lang="en-US" sz="1733" dirty="0"/>
          </a:p>
          <a:p>
            <a:pPr marL="0" lvl="1"/>
            <a:r>
              <a:rPr lang="en-US" sz="1467" i="1" dirty="0">
                <a:solidFill>
                  <a:srgbClr val="2C3E50"/>
                </a:solidFill>
              </a:rPr>
              <a:t>→ 大規模データからのパターン抽出手法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2C3E50"/>
                </a:solidFill>
              </a:rPr>
              <a:t>システマティックレビュー(Addiction誌, 2024)</a:t>
            </a:r>
            <a:endParaRPr lang="en-US" sz="1733" dirty="0"/>
          </a:p>
          <a:p>
            <a:pPr marL="0" lvl="1"/>
            <a:r>
              <a:rPr lang="en-US" sz="1467" i="1" dirty="0">
                <a:solidFill>
                  <a:srgbClr val="2C3E50"/>
                </a:solidFill>
              </a:rPr>
              <a:t>→ 国際水準の研究デザイン能力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609600" y="4511040"/>
            <a:ext cx="10972800" cy="853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8" name="Text 6"/>
          <p:cNvSpPr/>
          <p:nvPr/>
        </p:nvSpPr>
        <p:spPr>
          <a:xfrm>
            <a:off x="853440" y="4693920"/>
            <a:ext cx="1048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28090"/>
                </a:solidFill>
              </a:rPr>
              <a:t>🌍 国際学会発表:1件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853440" y="5059680"/>
            <a:ext cx="104851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欧州神経精神薬理学会議(ECNP, 2024年9月, ミラノ)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609600" y="5608320"/>
            <a:ext cx="10972800" cy="975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1" name="Text 9"/>
          <p:cNvSpPr/>
          <p:nvPr/>
        </p:nvSpPr>
        <p:spPr>
          <a:xfrm>
            <a:off x="853440" y="5791200"/>
            <a:ext cx="1048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FFFFFF"/>
                </a:solidFill>
              </a:rPr>
              <a:t>🔗 本研究への連続性</a:t>
            </a:r>
            <a:endParaRPr lang="en-US" sz="2133" dirty="0"/>
          </a:p>
        </p:txBody>
      </p:sp>
      <p:sp>
        <p:nvSpPr>
          <p:cNvPr id="12" name="Text 10"/>
          <p:cNvSpPr/>
          <p:nvPr/>
        </p:nvSpPr>
        <p:spPr>
          <a:xfrm>
            <a:off x="853440" y="6156960"/>
            <a:ext cx="1048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dirty="0">
                <a:solidFill>
                  <a:srgbClr val="FFFFFF"/>
                </a:solidFill>
              </a:rPr>
              <a:t>教育改善ツール開発  ×  大規模データ解析  ×  厳密な研究デザイン</a:t>
            </a:r>
            <a:endParaRPr lang="en-US" sz="1733" dirty="0"/>
          </a:p>
          <a:p>
            <a:pPr algn="ctr"/>
            <a:r>
              <a:rPr lang="en-US" sz="1733" dirty="0">
                <a:solidFill>
                  <a:srgbClr val="FFFFFF"/>
                </a:solidFill>
              </a:rPr>
              <a:t>                    ↓</a:t>
            </a:r>
            <a:endParaRPr lang="en-US" sz="1733" dirty="0"/>
          </a:p>
          <a:p>
            <a:pPr algn="ctr"/>
            <a:r>
              <a:rPr lang="en-US" sz="1733" dirty="0">
                <a:solidFill>
                  <a:srgbClr val="FFFFFF"/>
                </a:solidFill>
              </a:rPr>
              <a:t>        「魔法の黒板」研究の実行可能性を保証</a:t>
            </a:r>
            <a:endParaRPr lang="en-US" sz="1733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b="1" dirty="0">
                <a:solidFill>
                  <a:srgbClr val="FFFFFF"/>
                </a:solidFill>
              </a:rPr>
              <a:t>まとめ</a:t>
            </a:r>
            <a:endParaRPr lang="en-US" sz="3733" dirty="0"/>
          </a:p>
        </p:txBody>
      </p:sp>
      <p:sp>
        <p:nvSpPr>
          <p:cNvPr id="3" name="Text 1"/>
          <p:cNvSpPr/>
          <p:nvPr/>
        </p:nvSpPr>
        <p:spPr>
          <a:xfrm>
            <a:off x="609600" y="134112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i="1" dirty="0">
                <a:solidFill>
                  <a:srgbClr val="02C39A"/>
                </a:solidFill>
              </a:rPr>
              <a:t>「魔法の黒板」で学びの未来を変える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19200" y="2194560"/>
            <a:ext cx="9753600" cy="1341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5" name="Text 3"/>
          <p:cNvSpPr/>
          <p:nvPr/>
        </p:nvSpPr>
        <p:spPr>
          <a:xfrm>
            <a:off x="1463040" y="2377440"/>
            <a:ext cx="926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28090"/>
                </a:solidFill>
              </a:rPr>
              <a:t>① 学生の学習成果向上</a:t>
            </a:r>
            <a:endParaRPr lang="en-US" sz="2133" dirty="0"/>
          </a:p>
        </p:txBody>
      </p:sp>
      <p:sp>
        <p:nvSpPr>
          <p:cNvPr id="6" name="Text 4"/>
          <p:cNvSpPr/>
          <p:nvPr/>
        </p:nvSpPr>
        <p:spPr>
          <a:xfrm>
            <a:off x="1463040" y="2804160"/>
            <a:ext cx="9265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24時間質問応答による即時的疑問解決と個別最適化学習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1219200" y="3657600"/>
            <a:ext cx="9753600" cy="1341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8" name="Text 6"/>
          <p:cNvSpPr/>
          <p:nvPr/>
        </p:nvSpPr>
        <p:spPr>
          <a:xfrm>
            <a:off x="1463040" y="3840480"/>
            <a:ext cx="926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28090"/>
                </a:solidFill>
              </a:rPr>
              <a:t>② 教育の質向上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1463040" y="4267200"/>
            <a:ext cx="9265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つまずきマップによる講義改善とエビデンスに基づく教育設計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1219200" y="5120640"/>
            <a:ext cx="9753600" cy="1341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1" name="Text 9"/>
          <p:cNvSpPr/>
          <p:nvPr/>
        </p:nvSpPr>
        <p:spPr>
          <a:xfrm>
            <a:off x="1463040" y="5303520"/>
            <a:ext cx="926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28090"/>
                </a:solidFill>
              </a:rPr>
              <a:t>③ 薬学教育への貢献</a:t>
            </a:r>
            <a:endParaRPr lang="en-US" sz="2133" dirty="0"/>
          </a:p>
        </p:txBody>
      </p:sp>
      <p:sp>
        <p:nvSpPr>
          <p:cNvPr id="12" name="Text 10"/>
          <p:cNvSpPr/>
          <p:nvPr/>
        </p:nvSpPr>
        <p:spPr>
          <a:xfrm>
            <a:off x="1463040" y="5730240"/>
            <a:ext cx="92659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生成系AI活用の実証的知見と他科目・他大学への展開可能性</a:t>
            </a:r>
            <a:endParaRPr lang="en-US" sz="17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2963</Words>
  <Application>Microsoft Macintosh PowerPoint</Application>
  <PresentationFormat>ワイド画面</PresentationFormat>
  <Paragraphs>804</Paragraphs>
  <Slides>50</Slides>
  <Notes>28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50</vt:i4>
      </vt:variant>
    </vt:vector>
  </HeadingPairs>
  <TitlesOfParts>
    <vt:vector size="55" baseType="lpstr">
      <vt:lpstr>MS UI Gothic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橋本　保彦</dc:creator>
  <cp:lastModifiedBy>橋本　保彦</cp:lastModifiedBy>
  <cp:revision>26</cp:revision>
  <cp:lastPrinted>2026-02-07T06:32:54Z</cp:lastPrinted>
  <dcterms:created xsi:type="dcterms:W3CDTF">2026-01-28T04:13:33Z</dcterms:created>
  <dcterms:modified xsi:type="dcterms:W3CDTF">2026-02-07T06:55:07Z</dcterms:modified>
</cp:coreProperties>
</file>