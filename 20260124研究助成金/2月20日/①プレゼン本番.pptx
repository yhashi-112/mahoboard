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96" r:id="rId3"/>
    <p:sldId id="295" r:id="rId4"/>
    <p:sldId id="258" r:id="rId5"/>
    <p:sldId id="278" r:id="rId6"/>
    <p:sldId id="292" r:id="rId7"/>
    <p:sldId id="303" r:id="rId8"/>
    <p:sldId id="293" r:id="rId9"/>
    <p:sldId id="288" r:id="rId10"/>
    <p:sldId id="282" r:id="rId11"/>
    <p:sldId id="304" r:id="rId12"/>
    <p:sldId id="289" r:id="rId13"/>
    <p:sldId id="305" r:id="rId14"/>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6341"/>
    <p:restoredTop sz="64387"/>
  </p:normalViewPr>
  <p:slideViewPr>
    <p:cSldViewPr snapToGrid="0">
      <p:cViewPr varScale="1">
        <p:scale>
          <a:sx n="63" d="100"/>
          <a:sy n="63" d="100"/>
        </p:scale>
        <p:origin x="1728" y="184"/>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304C761-8069-7841-ACDA-AB0F463787F0}" type="datetimeFigureOut">
              <a:rPr kumimoji="1" lang="ja-JP" altLang="en-US" smtClean="0"/>
              <a:t>2026/2/20</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6CB60D-A68C-D74B-8949-411CD6AAB588}" type="slidenum">
              <a:rPr kumimoji="1" lang="ja-JP" altLang="en-US" smtClean="0"/>
              <a:t>‹#›</a:t>
            </a:fld>
            <a:endParaRPr kumimoji="1" lang="ja-JP" altLang="en-US"/>
          </a:p>
        </p:txBody>
      </p:sp>
    </p:spTree>
    <p:extLst>
      <p:ext uri="{BB962C8B-B14F-4D97-AF65-F5344CB8AC3E}">
        <p14:creationId xmlns:p14="http://schemas.microsoft.com/office/powerpoint/2010/main" val="80217026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ja-JP" sz="1200" kern="1200">
                <a:solidFill>
                  <a:schemeClr val="tx1"/>
                </a:solidFill>
                <a:effectLst/>
                <a:latin typeface="+mn-lt"/>
                <a:ea typeface="+mn-ea"/>
                <a:cs typeface="+mn-cs"/>
              </a:rPr>
              <a:t>生成系</a:t>
            </a:r>
            <a:r>
              <a:rPr kumimoji="1" lang="en-US" altLang="ja-JP" sz="1200" kern="1200" dirty="0">
                <a:solidFill>
                  <a:schemeClr val="tx1"/>
                </a:solidFill>
                <a:effectLst/>
                <a:latin typeface="+mn-lt"/>
                <a:ea typeface="+mn-ea"/>
                <a:cs typeface="+mn-cs"/>
              </a:rPr>
              <a:t>AI</a:t>
            </a:r>
            <a:r>
              <a:rPr kumimoji="1" lang="ja-JP" altLang="ja-JP" sz="1200" kern="1200">
                <a:solidFill>
                  <a:schemeClr val="tx1"/>
                </a:solidFill>
                <a:effectLst/>
                <a:latin typeface="+mn-lt"/>
                <a:ea typeface="+mn-ea"/>
                <a:cs typeface="+mn-cs"/>
              </a:rPr>
              <a:t>を活用した即時質問応答方学習支援システム「魔法の黒板」の開発と</a:t>
            </a:r>
            <a:endParaRPr kumimoji="1" lang="en-US" altLang="ja-JP"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kern="1200">
                <a:solidFill>
                  <a:schemeClr val="tx1"/>
                </a:solidFill>
                <a:effectLst/>
                <a:latin typeface="+mn-lt"/>
                <a:ea typeface="+mn-ea"/>
                <a:cs typeface="+mn-cs"/>
              </a:rPr>
              <a:t>薬学教育における</a:t>
            </a:r>
            <a:r>
              <a:rPr kumimoji="1" lang="ja-JP" altLang="ja-JP" sz="1200" kern="1200">
                <a:solidFill>
                  <a:schemeClr val="tx1"/>
                </a:solidFill>
                <a:effectLst/>
                <a:latin typeface="+mn-lt"/>
                <a:ea typeface="+mn-ea"/>
                <a:cs typeface="+mn-cs"/>
              </a:rPr>
              <a:t>教育効果の検証について発表します。</a:t>
            </a:r>
            <a:endParaRPr kumimoji="1" lang="en-US" altLang="ja-JP"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ja-JP" sz="1200" kern="1200">
                <a:solidFill>
                  <a:schemeClr val="tx1"/>
                </a:solidFill>
                <a:effectLst/>
                <a:latin typeface="+mn-lt"/>
                <a:ea typeface="+mn-ea"/>
                <a:cs typeface="+mn-cs"/>
              </a:rPr>
              <a:t>薬学部の橋本です。よろしくお願いします。</a:t>
            </a:r>
          </a:p>
          <a:p>
            <a:endParaRPr kumimoji="1" lang="ja-JP" altLang="en-US"/>
          </a:p>
        </p:txBody>
      </p:sp>
      <p:sp>
        <p:nvSpPr>
          <p:cNvPr id="4" name="スライド番号プレースホルダー 3"/>
          <p:cNvSpPr>
            <a:spLocks noGrp="1"/>
          </p:cNvSpPr>
          <p:nvPr>
            <p:ph type="sldNum" sz="quarter" idx="5"/>
          </p:nvPr>
        </p:nvSpPr>
        <p:spPr/>
        <p:txBody>
          <a:bodyPr/>
          <a:lstStyle/>
          <a:p>
            <a:fld id="{A56CB60D-A68C-D74B-8949-411CD6AAB588}" type="slidenum">
              <a:rPr kumimoji="1" lang="ja-JP" altLang="en-US" smtClean="0"/>
              <a:t>1</a:t>
            </a:fld>
            <a:endParaRPr kumimoji="1" lang="ja-JP" altLang="en-US"/>
          </a:p>
        </p:txBody>
      </p:sp>
    </p:spTree>
    <p:extLst>
      <p:ext uri="{BB962C8B-B14F-4D97-AF65-F5344CB8AC3E}">
        <p14:creationId xmlns:p14="http://schemas.microsoft.com/office/powerpoint/2010/main" val="40052545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DC2C10-E561-6367-D93A-1585EEAAC92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93B5E0F-7449-83D2-8107-033246D974B2}"/>
              </a:ext>
            </a:extLst>
          </p:cNvPr>
          <p:cNvSpPr>
            <a:spLocks noGrp="1" noRot="1" noChangeAspect="1"/>
          </p:cNvSpPr>
          <p:nvPr>
            <p:ph type="sldImg"/>
          </p:nvPr>
        </p:nvSpPr>
        <p:spPr/>
        <p:txBody>
          <a:bodyPr/>
          <a:lstStyle/>
          <a:p>
            <a:endParaRPr lang="ja-JP" altLang="en-US"/>
          </a:p>
        </p:txBody>
      </p:sp>
      <p:sp>
        <p:nvSpPr>
          <p:cNvPr id="3" name="ノート プレースホルダー 2">
            <a:extLst>
              <a:ext uri="{FF2B5EF4-FFF2-40B4-BE49-F238E27FC236}">
                <a16:creationId xmlns:a16="http://schemas.microsoft.com/office/drawing/2014/main" id="{F4DC1034-E40E-CA2C-1716-73C3B80719E7}"/>
              </a:ext>
            </a:extLst>
          </p:cNvPr>
          <p:cNvSpPr>
            <a:spLocks noGrp="1"/>
          </p:cNvSpPr>
          <p:nvPr>
            <p:ph type="body" idx="1"/>
          </p:nvPr>
        </p:nvSpPr>
        <p:spPr/>
        <p:txBody>
          <a:bodyPr/>
          <a:lstStyle/>
          <a:p>
            <a:r>
              <a:rPr kumimoji="1" lang="ja-JP" altLang="en-US" sz="1200" kern="1200">
                <a:solidFill>
                  <a:schemeClr val="tx1"/>
                </a:solidFill>
                <a:effectLst/>
                <a:latin typeface="+mn-lt"/>
                <a:ea typeface="+mn-ea"/>
                <a:cs typeface="+mn-cs"/>
              </a:rPr>
              <a:t>研究の意義と発展性です。</a:t>
            </a:r>
            <a:endParaRPr kumimoji="1" lang="en-US" altLang="ja-JP" sz="1200" kern="1200" dirty="0">
              <a:solidFill>
                <a:schemeClr val="tx1"/>
              </a:solidFill>
              <a:effectLst/>
              <a:latin typeface="+mn-lt"/>
              <a:ea typeface="+mn-ea"/>
              <a:cs typeface="+mn-cs"/>
            </a:endParaRPr>
          </a:p>
          <a:p>
            <a:endParaRPr kumimoji="1" lang="en-US" altLang="ja-JP" sz="1200" kern="1200" dirty="0">
              <a:solidFill>
                <a:schemeClr val="tx1"/>
              </a:solidFill>
              <a:effectLst/>
              <a:latin typeface="+mn-lt"/>
              <a:ea typeface="+mn-ea"/>
              <a:cs typeface="+mn-cs"/>
            </a:endParaRPr>
          </a:p>
          <a:p>
            <a:r>
              <a:rPr kumimoji="1" lang="ja-JP" altLang="ja-JP" sz="1200" kern="1200">
                <a:solidFill>
                  <a:schemeClr val="tx1"/>
                </a:solidFill>
                <a:effectLst/>
                <a:latin typeface="+mn-lt"/>
                <a:ea typeface="+mn-ea"/>
                <a:cs typeface="+mn-cs"/>
              </a:rPr>
              <a:t>背景です。学生の成績不振を改善するために、従来の講義形式から反転講義</a:t>
            </a:r>
            <a:r>
              <a:rPr kumimoji="1" lang="ja-JP" altLang="en-US" sz="1200" kern="1200">
                <a:solidFill>
                  <a:schemeClr val="tx1"/>
                </a:solidFill>
                <a:effectLst/>
                <a:latin typeface="+mn-lt"/>
                <a:ea typeface="+mn-ea"/>
                <a:cs typeface="+mn-cs"/>
              </a:rPr>
              <a:t>・演習問題を</a:t>
            </a:r>
            <a:r>
              <a:rPr kumimoji="1" lang="ja-JP" altLang="ja-JP" sz="1200" kern="1200">
                <a:solidFill>
                  <a:schemeClr val="tx1"/>
                </a:solidFill>
                <a:effectLst/>
                <a:latin typeface="+mn-lt"/>
                <a:ea typeface="+mn-ea"/>
                <a:cs typeface="+mn-cs"/>
              </a:rPr>
              <a:t>導入しました。</a:t>
            </a:r>
            <a:endParaRPr kumimoji="1" lang="en-US" altLang="ja-JP" sz="1200" kern="1200" dirty="0">
              <a:solidFill>
                <a:schemeClr val="tx1"/>
              </a:solidFill>
              <a:effectLst/>
              <a:latin typeface="+mn-lt"/>
              <a:ea typeface="+mn-ea"/>
              <a:cs typeface="+mn-cs"/>
            </a:endParaRPr>
          </a:p>
          <a:p>
            <a:r>
              <a:rPr kumimoji="1" lang="ja-JP" altLang="ja-JP" sz="1200" kern="1200">
                <a:solidFill>
                  <a:schemeClr val="tx1"/>
                </a:solidFill>
                <a:effectLst/>
                <a:latin typeface="+mn-lt"/>
                <a:ea typeface="+mn-ea"/>
                <a:cs typeface="+mn-cs"/>
              </a:rPr>
              <a:t>その結果、成績の二極化が生</a:t>
            </a:r>
            <a:r>
              <a:rPr kumimoji="1" lang="ja-JP" altLang="en-US" sz="1200" kern="1200">
                <a:solidFill>
                  <a:schemeClr val="tx1"/>
                </a:solidFill>
                <a:effectLst/>
                <a:latin typeface="+mn-lt"/>
                <a:ea typeface="+mn-ea"/>
                <a:cs typeface="+mn-cs"/>
              </a:rPr>
              <a:t>じ</a:t>
            </a:r>
            <a:r>
              <a:rPr kumimoji="1" lang="ja-JP" altLang="ja-JP" sz="1200" kern="1200">
                <a:solidFill>
                  <a:schemeClr val="tx1"/>
                </a:solidFill>
                <a:effectLst/>
                <a:latin typeface="+mn-lt"/>
                <a:ea typeface="+mn-ea"/>
                <a:cs typeface="+mn-cs"/>
              </a:rPr>
              <a:t>ました。</a:t>
            </a:r>
            <a:endParaRPr kumimoji="1" lang="en-US" altLang="ja-JP" sz="1200" kern="1200" dirty="0">
              <a:solidFill>
                <a:schemeClr val="tx1"/>
              </a:solidFill>
              <a:effectLst/>
              <a:latin typeface="+mn-lt"/>
              <a:ea typeface="+mn-ea"/>
              <a:cs typeface="+mn-cs"/>
            </a:endParaRPr>
          </a:p>
          <a:p>
            <a:endParaRPr kumimoji="1" lang="ja-JP" altLang="ja-JP" sz="1200" kern="1200">
              <a:solidFill>
                <a:schemeClr val="tx1"/>
              </a:solidFill>
              <a:effectLst/>
              <a:latin typeface="+mn-lt"/>
              <a:ea typeface="+mn-ea"/>
              <a:cs typeface="+mn-cs"/>
            </a:endParaRPr>
          </a:p>
          <a:p>
            <a:r>
              <a:rPr kumimoji="1" lang="ja-JP" altLang="ja-JP" sz="1200" kern="1200">
                <a:solidFill>
                  <a:schemeClr val="tx1"/>
                </a:solidFill>
                <a:effectLst/>
                <a:latin typeface="+mn-lt"/>
                <a:ea typeface="+mn-ea"/>
                <a:cs typeface="+mn-cs"/>
              </a:rPr>
              <a:t>そこで対策を考えたのですが、まず教員側が「学生の困っている内容がわからない」ことに気づきました。</a:t>
            </a:r>
            <a:endParaRPr kumimoji="1" lang="en-US" altLang="ja-JP" sz="1200" kern="1200" dirty="0">
              <a:solidFill>
                <a:schemeClr val="tx1"/>
              </a:solidFill>
              <a:effectLst/>
              <a:latin typeface="+mn-lt"/>
              <a:ea typeface="+mn-ea"/>
              <a:cs typeface="+mn-cs"/>
            </a:endParaRPr>
          </a:p>
          <a:p>
            <a:endParaRPr kumimoji="1" lang="ja-JP" altLang="ja-JP" sz="1200" kern="1200">
              <a:solidFill>
                <a:schemeClr val="tx1"/>
              </a:solidFill>
              <a:effectLst/>
              <a:latin typeface="+mn-lt"/>
              <a:ea typeface="+mn-ea"/>
              <a:cs typeface="+mn-cs"/>
            </a:endParaRPr>
          </a:p>
          <a:p>
            <a:r>
              <a:rPr kumimoji="1" lang="ja-JP" altLang="ja-JP" sz="1200" kern="1200">
                <a:solidFill>
                  <a:schemeClr val="tx1"/>
                </a:solidFill>
                <a:effectLst/>
                <a:latin typeface="+mn-lt"/>
                <a:ea typeface="+mn-ea"/>
                <a:cs typeface="+mn-cs"/>
              </a:rPr>
              <a:t>学生</a:t>
            </a:r>
            <a:r>
              <a:rPr kumimoji="1" lang="ja-JP" altLang="en-US" sz="1200" kern="1200">
                <a:solidFill>
                  <a:schemeClr val="tx1"/>
                </a:solidFill>
                <a:effectLst/>
                <a:latin typeface="+mn-lt"/>
                <a:ea typeface="+mn-ea"/>
                <a:cs typeface="+mn-cs"/>
              </a:rPr>
              <a:t>と</a:t>
            </a:r>
            <a:r>
              <a:rPr kumimoji="1" lang="ja-JP" altLang="ja-JP" sz="1200" kern="1200">
                <a:solidFill>
                  <a:schemeClr val="tx1"/>
                </a:solidFill>
                <a:effectLst/>
                <a:latin typeface="+mn-lt"/>
                <a:ea typeface="+mn-ea"/>
                <a:cs typeface="+mn-cs"/>
              </a:rPr>
              <a:t>面談したところ、</a:t>
            </a:r>
          </a:p>
          <a:p>
            <a:r>
              <a:rPr kumimoji="1" lang="ja-JP" altLang="ja-JP" sz="1200" kern="1200">
                <a:solidFill>
                  <a:schemeClr val="tx1"/>
                </a:solidFill>
                <a:effectLst/>
                <a:latin typeface="+mn-lt"/>
                <a:ea typeface="+mn-ea"/>
                <a:cs typeface="+mn-cs"/>
              </a:rPr>
              <a:t>「先生に聞きにくい」「怒られないか不安」という心理的抵抗</a:t>
            </a:r>
            <a:r>
              <a:rPr kumimoji="1" lang="ja-JP" altLang="en-US" sz="1200" kern="1200">
                <a:solidFill>
                  <a:schemeClr val="tx1"/>
                </a:solidFill>
                <a:effectLst/>
                <a:latin typeface="+mn-lt"/>
                <a:ea typeface="+mn-ea"/>
                <a:cs typeface="+mn-cs"/>
              </a:rPr>
              <a:t>があること、</a:t>
            </a:r>
            <a:endParaRPr kumimoji="1" lang="ja-JP" altLang="ja-JP" sz="1200" kern="1200">
              <a:solidFill>
                <a:schemeClr val="tx1"/>
              </a:solidFill>
              <a:effectLst/>
              <a:latin typeface="+mn-lt"/>
              <a:ea typeface="+mn-ea"/>
              <a:cs typeface="+mn-cs"/>
            </a:endParaRPr>
          </a:p>
          <a:p>
            <a:r>
              <a:rPr kumimoji="1" lang="ja-JP" altLang="ja-JP" sz="1200" kern="1200">
                <a:solidFill>
                  <a:schemeClr val="tx1"/>
                </a:solidFill>
                <a:effectLst/>
                <a:latin typeface="+mn-lt"/>
                <a:ea typeface="+mn-ea"/>
                <a:cs typeface="+mn-cs"/>
              </a:rPr>
              <a:t>「疑問が解決できず試験日を迎えた」「夜中に疑問が生じても聞けない」という時間的制約</a:t>
            </a:r>
            <a:r>
              <a:rPr kumimoji="1" lang="ja-JP" altLang="en-US" sz="1200" kern="1200">
                <a:solidFill>
                  <a:schemeClr val="tx1"/>
                </a:solidFill>
                <a:effectLst/>
                <a:latin typeface="+mn-lt"/>
                <a:ea typeface="+mn-ea"/>
                <a:cs typeface="+mn-cs"/>
              </a:rPr>
              <a:t>がある</a:t>
            </a:r>
            <a:r>
              <a:rPr kumimoji="1" lang="ja-JP" altLang="ja-JP" sz="1200" kern="1200">
                <a:solidFill>
                  <a:schemeClr val="tx1"/>
                </a:solidFill>
                <a:effectLst/>
                <a:latin typeface="+mn-lt"/>
                <a:ea typeface="+mn-ea"/>
                <a:cs typeface="+mn-cs"/>
              </a:rPr>
              <a:t>という</a:t>
            </a:r>
            <a:r>
              <a:rPr kumimoji="1" lang="ja-JP" altLang="en-US" sz="1200" kern="1200">
                <a:solidFill>
                  <a:schemeClr val="tx1"/>
                </a:solidFill>
                <a:effectLst/>
                <a:latin typeface="+mn-lt"/>
                <a:ea typeface="+mn-ea"/>
                <a:cs typeface="+mn-cs"/>
              </a:rPr>
              <a:t>こと</a:t>
            </a:r>
            <a:r>
              <a:rPr kumimoji="1" lang="ja-JP" altLang="ja-JP" sz="1200" kern="1200">
                <a:solidFill>
                  <a:schemeClr val="tx1"/>
                </a:solidFill>
                <a:effectLst/>
                <a:latin typeface="+mn-lt"/>
                <a:ea typeface="+mn-ea"/>
                <a:cs typeface="+mn-cs"/>
              </a:rPr>
              <a:t>が明らかになりました。</a:t>
            </a:r>
            <a:endParaRPr kumimoji="1" lang="en-US" altLang="ja-JP" sz="1200" kern="1200" dirty="0">
              <a:solidFill>
                <a:schemeClr val="tx1"/>
              </a:solidFill>
              <a:effectLst/>
              <a:latin typeface="+mn-lt"/>
              <a:ea typeface="+mn-ea"/>
              <a:cs typeface="+mn-cs"/>
            </a:endParaRPr>
          </a:p>
          <a:p>
            <a:endParaRPr kumimoji="1" lang="ja-JP" altLang="ja-JP" sz="1200" kern="1200">
              <a:solidFill>
                <a:schemeClr val="tx1"/>
              </a:solidFill>
              <a:effectLst/>
              <a:latin typeface="+mn-lt"/>
              <a:ea typeface="+mn-ea"/>
              <a:cs typeface="+mn-cs"/>
            </a:endParaRPr>
          </a:p>
          <a:p>
            <a:r>
              <a:rPr kumimoji="1" lang="ja-JP" altLang="ja-JP" sz="1200" kern="1200">
                <a:solidFill>
                  <a:schemeClr val="tx1"/>
                </a:solidFill>
                <a:effectLst/>
                <a:latin typeface="+mn-lt"/>
                <a:ea typeface="+mn-ea"/>
                <a:cs typeface="+mn-cs"/>
              </a:rPr>
              <a:t>そこで、</a:t>
            </a:r>
            <a:endParaRPr kumimoji="1" lang="en-US" altLang="ja-JP" sz="1200" kern="1200" dirty="0">
              <a:solidFill>
                <a:schemeClr val="tx1"/>
              </a:solidFill>
              <a:effectLst/>
              <a:latin typeface="+mn-lt"/>
              <a:ea typeface="+mn-ea"/>
              <a:cs typeface="+mn-cs"/>
            </a:endParaRPr>
          </a:p>
          <a:p>
            <a:r>
              <a:rPr kumimoji="1" lang="en-US" altLang="ja-JP" sz="1200" kern="1200" dirty="0">
                <a:solidFill>
                  <a:schemeClr val="tx1"/>
                </a:solidFill>
                <a:effectLst/>
                <a:latin typeface="+mn-lt"/>
                <a:ea typeface="+mn-ea"/>
                <a:cs typeface="+mn-cs"/>
              </a:rPr>
              <a:t>24</a:t>
            </a:r>
            <a:r>
              <a:rPr kumimoji="1" lang="ja-JP" altLang="ja-JP" sz="1200" kern="1200">
                <a:solidFill>
                  <a:schemeClr val="tx1"/>
                </a:solidFill>
                <a:effectLst/>
                <a:latin typeface="+mn-lt"/>
                <a:ea typeface="+mn-ea"/>
                <a:cs typeface="+mn-cs"/>
              </a:rPr>
              <a:t>時間いつでも</a:t>
            </a:r>
            <a:r>
              <a:rPr kumimoji="1" lang="ja-JP" altLang="en-US" sz="1200" kern="1200">
                <a:solidFill>
                  <a:schemeClr val="tx1"/>
                </a:solidFill>
                <a:effectLst/>
                <a:latin typeface="+mn-lt"/>
                <a:ea typeface="+mn-ea"/>
                <a:cs typeface="+mn-cs"/>
              </a:rPr>
              <a:t>　</a:t>
            </a:r>
            <a:endParaRPr kumimoji="1" lang="en-US" altLang="ja-JP" sz="1200" kern="1200" dirty="0">
              <a:solidFill>
                <a:schemeClr val="tx1"/>
              </a:solidFill>
              <a:effectLst/>
              <a:latin typeface="+mn-lt"/>
              <a:ea typeface="+mn-ea"/>
              <a:cs typeface="+mn-cs"/>
            </a:endParaRPr>
          </a:p>
          <a:p>
            <a:r>
              <a:rPr kumimoji="1" lang="ja-JP" altLang="en-US" sz="1200" kern="1200">
                <a:solidFill>
                  <a:schemeClr val="tx1"/>
                </a:solidFill>
                <a:effectLst/>
                <a:latin typeface="+mn-lt"/>
                <a:ea typeface="+mn-ea"/>
                <a:cs typeface="+mn-cs"/>
              </a:rPr>
              <a:t>学生自身もモバイルで</a:t>
            </a:r>
            <a:r>
              <a:rPr kumimoji="1" lang="ja-JP" altLang="ja-JP" sz="1200" kern="1200">
                <a:solidFill>
                  <a:schemeClr val="tx1"/>
                </a:solidFill>
                <a:effectLst/>
                <a:latin typeface="+mn-lt"/>
                <a:ea typeface="+mn-ea"/>
                <a:cs typeface="+mn-cs"/>
              </a:rPr>
              <a:t>質問でき、</a:t>
            </a:r>
            <a:endParaRPr kumimoji="1" lang="en-US" altLang="ja-JP" sz="1200" kern="1200" dirty="0">
              <a:solidFill>
                <a:schemeClr val="tx1"/>
              </a:solidFill>
              <a:effectLst/>
              <a:latin typeface="+mn-lt"/>
              <a:ea typeface="+mn-ea"/>
              <a:cs typeface="+mn-cs"/>
            </a:endParaRPr>
          </a:p>
          <a:p>
            <a:r>
              <a:rPr kumimoji="1" lang="ja-JP" altLang="ja-JP" sz="1200" kern="1200">
                <a:solidFill>
                  <a:schemeClr val="tx1"/>
                </a:solidFill>
                <a:effectLst/>
                <a:latin typeface="+mn-lt"/>
                <a:ea typeface="+mn-ea"/>
                <a:cs typeface="+mn-cs"/>
              </a:rPr>
              <a:t>かつ、</a:t>
            </a:r>
            <a:endParaRPr kumimoji="1" lang="en-US" altLang="ja-JP" sz="1200" kern="1200" dirty="0">
              <a:solidFill>
                <a:schemeClr val="tx1"/>
              </a:solidFill>
              <a:effectLst/>
              <a:latin typeface="+mn-lt"/>
              <a:ea typeface="+mn-ea"/>
              <a:cs typeface="+mn-cs"/>
            </a:endParaRPr>
          </a:p>
          <a:p>
            <a:r>
              <a:rPr kumimoji="1" lang="ja-JP" altLang="ja-JP" sz="1200" kern="1200">
                <a:solidFill>
                  <a:schemeClr val="tx1"/>
                </a:solidFill>
                <a:effectLst/>
                <a:latin typeface="+mn-lt"/>
                <a:ea typeface="+mn-ea"/>
                <a:cs typeface="+mn-cs"/>
              </a:rPr>
              <a:t>教員が学生の困りごとを把握できる</a:t>
            </a:r>
            <a:r>
              <a:rPr kumimoji="1" lang="ja-JP" altLang="en-US" sz="1200" kern="1200">
                <a:solidFill>
                  <a:schemeClr val="tx1"/>
                </a:solidFill>
                <a:effectLst/>
                <a:latin typeface="+mn-lt"/>
                <a:ea typeface="+mn-ea"/>
                <a:cs typeface="+mn-cs"/>
              </a:rPr>
              <a:t>学習支援ツールの</a:t>
            </a:r>
            <a:r>
              <a:rPr kumimoji="1" lang="ja-JP" altLang="ja-JP" sz="1200" kern="1200">
                <a:solidFill>
                  <a:schemeClr val="tx1"/>
                </a:solidFill>
                <a:effectLst/>
                <a:latin typeface="+mn-lt"/>
                <a:ea typeface="+mn-ea"/>
                <a:cs typeface="+mn-cs"/>
              </a:rPr>
              <a:t>作成を</a:t>
            </a:r>
            <a:r>
              <a:rPr kumimoji="1" lang="ja-JP" altLang="en-US" sz="1200" kern="1200">
                <a:solidFill>
                  <a:schemeClr val="tx1"/>
                </a:solidFill>
                <a:effectLst/>
                <a:latin typeface="+mn-lt"/>
                <a:ea typeface="+mn-ea"/>
                <a:cs typeface="+mn-cs"/>
              </a:rPr>
              <a:t>思いつきました。</a:t>
            </a:r>
            <a:endParaRPr kumimoji="1" lang="en-US" altLang="ja-JP" sz="1200" kern="1200" dirty="0">
              <a:solidFill>
                <a:schemeClr val="tx1"/>
              </a:solidFill>
              <a:effectLst/>
              <a:latin typeface="+mn-lt"/>
              <a:ea typeface="+mn-ea"/>
              <a:cs typeface="+mn-cs"/>
            </a:endParaRPr>
          </a:p>
          <a:p>
            <a:endParaRPr kumimoji="1" lang="ja-JP" altLang="en-US"/>
          </a:p>
        </p:txBody>
      </p:sp>
      <p:sp>
        <p:nvSpPr>
          <p:cNvPr id="4" name="スライド番号プレースホルダー 3">
            <a:extLst>
              <a:ext uri="{FF2B5EF4-FFF2-40B4-BE49-F238E27FC236}">
                <a16:creationId xmlns:a16="http://schemas.microsoft.com/office/drawing/2014/main" id="{255F5DCA-48ED-386D-7341-716BC7A3811C}"/>
              </a:ext>
            </a:extLst>
          </p:cNvPr>
          <p:cNvSpPr>
            <a:spLocks noGrp="1"/>
          </p:cNvSpPr>
          <p:nvPr>
            <p:ph type="sldNum" sz="quarter" idx="5"/>
          </p:nvPr>
        </p:nvSpPr>
        <p:spPr/>
        <p:txBody>
          <a:bodyPr/>
          <a:lstStyle/>
          <a:p>
            <a:fld id="{A56CB60D-A68C-D74B-8949-411CD6AAB588}" type="slidenum">
              <a:rPr kumimoji="1" lang="ja-JP" altLang="en-US" smtClean="0"/>
              <a:t>2</a:t>
            </a:fld>
            <a:endParaRPr kumimoji="1" lang="ja-JP" altLang="en-US"/>
          </a:p>
        </p:txBody>
      </p:sp>
    </p:spTree>
    <p:extLst>
      <p:ext uri="{BB962C8B-B14F-4D97-AF65-F5344CB8AC3E}">
        <p14:creationId xmlns:p14="http://schemas.microsoft.com/office/powerpoint/2010/main" val="31279768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ja-JP" sz="1200" kern="1200">
                <a:solidFill>
                  <a:schemeClr val="tx1"/>
                </a:solidFill>
                <a:effectLst/>
                <a:latin typeface="+mn-lt"/>
                <a:ea typeface="+mn-ea"/>
                <a:cs typeface="+mn-cs"/>
              </a:rPr>
              <a:t>それが「魔法の黒板」です。</a:t>
            </a:r>
          </a:p>
          <a:p>
            <a:endParaRPr kumimoji="1" lang="ja-JP" altLang="en-US"/>
          </a:p>
        </p:txBody>
      </p:sp>
      <p:sp>
        <p:nvSpPr>
          <p:cNvPr id="4" name="スライド番号プレースホルダー 3"/>
          <p:cNvSpPr>
            <a:spLocks noGrp="1"/>
          </p:cNvSpPr>
          <p:nvPr>
            <p:ph type="sldNum" sz="quarter" idx="5"/>
          </p:nvPr>
        </p:nvSpPr>
        <p:spPr/>
        <p:txBody>
          <a:bodyPr/>
          <a:lstStyle/>
          <a:p>
            <a:fld id="{A56CB60D-A68C-D74B-8949-411CD6AAB588}" type="slidenum">
              <a:rPr kumimoji="1" lang="ja-JP" altLang="en-US" smtClean="0"/>
              <a:t>3</a:t>
            </a:fld>
            <a:endParaRPr kumimoji="1" lang="ja-JP" altLang="en-US"/>
          </a:p>
        </p:txBody>
      </p:sp>
    </p:spTree>
    <p:extLst>
      <p:ext uri="{BB962C8B-B14F-4D97-AF65-F5344CB8AC3E}">
        <p14:creationId xmlns:p14="http://schemas.microsoft.com/office/powerpoint/2010/main" val="5571156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en-US" altLang="ja-JP" sz="1200" kern="1200" dirty="0">
              <a:solidFill>
                <a:schemeClr val="tx1"/>
              </a:solidFill>
              <a:effectLst/>
              <a:latin typeface="+mn-lt"/>
              <a:ea typeface="+mn-ea"/>
              <a:cs typeface="+mn-cs"/>
            </a:endParaRPr>
          </a:p>
          <a:p>
            <a:r>
              <a:rPr kumimoji="1" lang="ja-JP" altLang="ja-JP" sz="1200" kern="1200">
                <a:solidFill>
                  <a:schemeClr val="tx1"/>
                </a:solidFill>
                <a:effectLst/>
                <a:latin typeface="+mn-lt"/>
                <a:ea typeface="+mn-ea"/>
                <a:cs typeface="+mn-cs"/>
              </a:rPr>
              <a:t>本研究の主目的は、「魔法の黒板」が学習成果に与える影響を明らかにすることです。</a:t>
            </a:r>
          </a:p>
          <a:p>
            <a:endParaRPr kumimoji="1" lang="en-US" altLang="ja-JP" sz="1200" kern="1200" dirty="0">
              <a:solidFill>
                <a:schemeClr val="tx1"/>
              </a:solidFill>
              <a:effectLst/>
              <a:latin typeface="+mn-lt"/>
              <a:ea typeface="+mn-ea"/>
              <a:cs typeface="+mn-cs"/>
            </a:endParaRPr>
          </a:p>
          <a:p>
            <a:r>
              <a:rPr kumimoji="1" lang="ja-JP" altLang="ja-JP" sz="1200" kern="1200">
                <a:solidFill>
                  <a:schemeClr val="tx1"/>
                </a:solidFill>
                <a:effectLst/>
                <a:latin typeface="+mn-lt"/>
                <a:ea typeface="+mn-ea"/>
                <a:cs typeface="+mn-cs"/>
              </a:rPr>
              <a:t>副次的目的として、</a:t>
            </a:r>
            <a:endParaRPr kumimoji="1" lang="en-US" altLang="ja-JP" sz="1200" kern="1200" dirty="0">
              <a:solidFill>
                <a:schemeClr val="tx1"/>
              </a:solidFill>
              <a:effectLst/>
              <a:latin typeface="+mn-lt"/>
              <a:ea typeface="+mn-ea"/>
              <a:cs typeface="+mn-cs"/>
            </a:endParaRPr>
          </a:p>
          <a:p>
            <a:r>
              <a:rPr kumimoji="1" lang="ja-JP" altLang="en-US" sz="1200" kern="1200">
                <a:solidFill>
                  <a:schemeClr val="tx1"/>
                </a:solidFill>
                <a:effectLst/>
                <a:latin typeface="+mn-lt"/>
                <a:ea typeface="+mn-ea"/>
                <a:cs typeface="+mn-cs"/>
              </a:rPr>
              <a:t>学生の</a:t>
            </a:r>
            <a:r>
              <a:rPr kumimoji="1" lang="ja-JP" altLang="ja-JP" sz="1200" kern="1200">
                <a:solidFill>
                  <a:schemeClr val="tx1"/>
                </a:solidFill>
                <a:effectLst/>
                <a:latin typeface="+mn-lt"/>
                <a:ea typeface="+mn-ea"/>
                <a:cs typeface="+mn-cs"/>
              </a:rPr>
              <a:t>学習行動</a:t>
            </a:r>
            <a:r>
              <a:rPr kumimoji="1" lang="ja-JP" altLang="en-US" sz="1200" kern="1200">
                <a:solidFill>
                  <a:schemeClr val="tx1"/>
                </a:solidFill>
                <a:effectLst/>
                <a:latin typeface="+mn-lt"/>
                <a:ea typeface="+mn-ea"/>
                <a:cs typeface="+mn-cs"/>
              </a:rPr>
              <a:t>・意欲</a:t>
            </a:r>
            <a:r>
              <a:rPr kumimoji="1" lang="ja-JP" altLang="ja-JP" sz="1200" kern="1200">
                <a:solidFill>
                  <a:schemeClr val="tx1"/>
                </a:solidFill>
                <a:effectLst/>
                <a:latin typeface="+mn-lt"/>
                <a:ea typeface="+mn-ea"/>
                <a:cs typeface="+mn-cs"/>
              </a:rPr>
              <a:t>の変化</a:t>
            </a:r>
            <a:r>
              <a:rPr kumimoji="1" lang="ja-JP" altLang="en-US" sz="1200" kern="1200">
                <a:solidFill>
                  <a:schemeClr val="tx1"/>
                </a:solidFill>
                <a:effectLst/>
                <a:latin typeface="+mn-lt"/>
                <a:ea typeface="+mn-ea"/>
                <a:cs typeface="+mn-cs"/>
              </a:rPr>
              <a:t>の確認</a:t>
            </a:r>
            <a:r>
              <a:rPr kumimoji="1" lang="ja-JP" altLang="ja-JP" sz="1200" kern="1200">
                <a:solidFill>
                  <a:schemeClr val="tx1"/>
                </a:solidFill>
                <a:effectLst/>
                <a:latin typeface="+mn-lt"/>
                <a:ea typeface="+mn-ea"/>
                <a:cs typeface="+mn-cs"/>
              </a:rPr>
              <a:t>と</a:t>
            </a:r>
            <a:endParaRPr kumimoji="1" lang="en-US" altLang="ja-JP" sz="1200" kern="1200" dirty="0">
              <a:solidFill>
                <a:schemeClr val="tx1"/>
              </a:solidFill>
              <a:effectLst/>
              <a:latin typeface="+mn-lt"/>
              <a:ea typeface="+mn-ea"/>
              <a:cs typeface="+mn-cs"/>
            </a:endParaRPr>
          </a:p>
          <a:p>
            <a:r>
              <a:rPr kumimoji="1" lang="ja-JP" altLang="en-US" sz="1200" kern="1200">
                <a:solidFill>
                  <a:schemeClr val="tx1"/>
                </a:solidFill>
                <a:effectLst/>
                <a:latin typeface="+mn-lt"/>
                <a:ea typeface="+mn-ea"/>
                <a:cs typeface="+mn-cs"/>
              </a:rPr>
              <a:t>学生のつまずきポイントを可視化できる</a:t>
            </a:r>
            <a:r>
              <a:rPr kumimoji="1" lang="ja-JP" altLang="ja-JP" sz="1200" kern="1200">
                <a:solidFill>
                  <a:schemeClr val="tx1"/>
                </a:solidFill>
                <a:effectLst/>
                <a:latin typeface="+mn-lt"/>
                <a:ea typeface="+mn-ea"/>
                <a:cs typeface="+mn-cs"/>
              </a:rPr>
              <a:t>「つまずきの地図」作成</a:t>
            </a:r>
            <a:r>
              <a:rPr kumimoji="1" lang="ja-JP" altLang="en-US" sz="1200" kern="1200">
                <a:solidFill>
                  <a:schemeClr val="tx1"/>
                </a:solidFill>
                <a:effectLst/>
                <a:latin typeface="+mn-lt"/>
                <a:ea typeface="+mn-ea"/>
                <a:cs typeface="+mn-cs"/>
              </a:rPr>
              <a:t>と応用</a:t>
            </a:r>
            <a:r>
              <a:rPr kumimoji="1" lang="ja-JP" altLang="ja-JP" sz="1200" kern="1200">
                <a:solidFill>
                  <a:schemeClr val="tx1"/>
                </a:solidFill>
                <a:effectLst/>
                <a:latin typeface="+mn-lt"/>
                <a:ea typeface="+mn-ea"/>
                <a:cs typeface="+mn-cs"/>
              </a:rPr>
              <a:t>です。</a:t>
            </a:r>
            <a:endParaRPr kumimoji="1" lang="en-US" altLang="ja-JP" sz="1200" kern="1200" dirty="0">
              <a:solidFill>
                <a:schemeClr val="tx1"/>
              </a:solidFill>
              <a:effectLst/>
              <a:latin typeface="+mn-lt"/>
              <a:ea typeface="+mn-ea"/>
              <a:cs typeface="+mn-cs"/>
            </a:endParaRPr>
          </a:p>
          <a:p>
            <a:endParaRPr kumimoji="1" lang="ja-JP" altLang="ja-JP" sz="1200" kern="1200">
              <a:solidFill>
                <a:schemeClr val="tx1"/>
              </a:solidFill>
              <a:effectLst/>
              <a:latin typeface="+mn-lt"/>
              <a:ea typeface="+mn-ea"/>
              <a:cs typeface="+mn-cs"/>
            </a:endParaRPr>
          </a:p>
          <a:p>
            <a:r>
              <a:rPr kumimoji="1" lang="ja-JP" altLang="ja-JP" sz="1200" kern="1200">
                <a:solidFill>
                  <a:schemeClr val="tx1"/>
                </a:solidFill>
                <a:effectLst/>
                <a:latin typeface="+mn-lt"/>
                <a:ea typeface="+mn-ea"/>
                <a:cs typeface="+mn-cs"/>
              </a:rPr>
              <a:t>将来</a:t>
            </a:r>
            <a:r>
              <a:rPr kumimoji="1" lang="ja-JP" altLang="en-US" sz="1200" kern="1200">
                <a:solidFill>
                  <a:schemeClr val="tx1"/>
                </a:solidFill>
                <a:effectLst/>
                <a:latin typeface="+mn-lt"/>
                <a:ea typeface="+mn-ea"/>
                <a:cs typeface="+mn-cs"/>
              </a:rPr>
              <a:t>への発展性</a:t>
            </a:r>
            <a:r>
              <a:rPr kumimoji="1" lang="ja-JP" altLang="ja-JP" sz="1200" kern="1200">
                <a:solidFill>
                  <a:schemeClr val="tx1"/>
                </a:solidFill>
                <a:effectLst/>
                <a:latin typeface="+mn-lt"/>
                <a:ea typeface="+mn-ea"/>
                <a:cs typeface="+mn-cs"/>
              </a:rPr>
              <a:t>は、</a:t>
            </a:r>
            <a:endParaRPr kumimoji="1" lang="en-US" altLang="ja-JP" sz="1200" kern="1200" dirty="0">
              <a:solidFill>
                <a:schemeClr val="tx1"/>
              </a:solidFill>
              <a:effectLst/>
              <a:latin typeface="+mn-lt"/>
              <a:ea typeface="+mn-ea"/>
              <a:cs typeface="+mn-cs"/>
            </a:endParaRPr>
          </a:p>
          <a:p>
            <a:r>
              <a:rPr kumimoji="1" lang="ja-JP" altLang="ja-JP" sz="1200" kern="1200">
                <a:solidFill>
                  <a:schemeClr val="tx1"/>
                </a:solidFill>
                <a:effectLst/>
                <a:latin typeface="+mn-lt"/>
                <a:ea typeface="+mn-ea"/>
                <a:cs typeface="+mn-cs"/>
              </a:rPr>
              <a:t>他の専門科目</a:t>
            </a:r>
            <a:r>
              <a:rPr kumimoji="1" lang="ja-JP" altLang="en-US" sz="1200" kern="1200">
                <a:solidFill>
                  <a:schemeClr val="tx1"/>
                </a:solidFill>
                <a:effectLst/>
                <a:latin typeface="+mn-lt"/>
                <a:ea typeface="+mn-ea"/>
                <a:cs typeface="+mn-cs"/>
              </a:rPr>
              <a:t>への発展、</a:t>
            </a:r>
            <a:endParaRPr kumimoji="1" lang="en-US" altLang="ja-JP" sz="1200" kern="1200" dirty="0">
              <a:solidFill>
                <a:schemeClr val="tx1"/>
              </a:solidFill>
              <a:effectLst/>
              <a:latin typeface="+mn-lt"/>
              <a:ea typeface="+mn-ea"/>
              <a:cs typeface="+mn-cs"/>
            </a:endParaRPr>
          </a:p>
          <a:p>
            <a:r>
              <a:rPr kumimoji="1" lang="ja-JP" altLang="ja-JP" sz="1200" kern="1200">
                <a:solidFill>
                  <a:schemeClr val="tx1"/>
                </a:solidFill>
                <a:effectLst/>
                <a:latin typeface="+mn-lt"/>
                <a:ea typeface="+mn-ea"/>
                <a:cs typeface="+mn-cs"/>
              </a:rPr>
              <a:t>他大学への</a:t>
            </a:r>
            <a:r>
              <a:rPr kumimoji="1" lang="ja-JP" altLang="en-US" sz="1200" kern="1200">
                <a:solidFill>
                  <a:schemeClr val="tx1"/>
                </a:solidFill>
                <a:effectLst/>
                <a:latin typeface="+mn-lt"/>
                <a:ea typeface="+mn-ea"/>
                <a:cs typeface="+mn-cs"/>
              </a:rPr>
              <a:t>導入支援</a:t>
            </a:r>
            <a:r>
              <a:rPr kumimoji="1" lang="ja-JP" altLang="ja-JP" sz="1200" kern="1200">
                <a:solidFill>
                  <a:schemeClr val="tx1"/>
                </a:solidFill>
                <a:effectLst/>
                <a:latin typeface="+mn-lt"/>
                <a:ea typeface="+mn-ea"/>
                <a:cs typeface="+mn-cs"/>
              </a:rPr>
              <a:t>、</a:t>
            </a:r>
            <a:endParaRPr kumimoji="1" lang="en-US" altLang="ja-JP" sz="1200" kern="1200" dirty="0">
              <a:solidFill>
                <a:schemeClr val="tx1"/>
              </a:solidFill>
              <a:effectLst/>
              <a:latin typeface="+mn-lt"/>
              <a:ea typeface="+mn-ea"/>
              <a:cs typeface="+mn-cs"/>
            </a:endParaRPr>
          </a:p>
          <a:p>
            <a:r>
              <a:rPr kumimoji="1" lang="ja-JP" altLang="en-US" sz="1200" kern="1200">
                <a:solidFill>
                  <a:schemeClr val="tx1"/>
                </a:solidFill>
                <a:effectLst/>
                <a:latin typeface="+mn-lt"/>
                <a:ea typeface="+mn-ea"/>
                <a:cs typeface="+mn-cs"/>
              </a:rPr>
              <a:t>教育への</a:t>
            </a:r>
            <a:r>
              <a:rPr kumimoji="1" lang="en-US" altLang="ja-JP" sz="1200" kern="1200" dirty="0">
                <a:solidFill>
                  <a:schemeClr val="tx1"/>
                </a:solidFill>
                <a:effectLst/>
                <a:latin typeface="+mn-lt"/>
                <a:ea typeface="+mn-ea"/>
                <a:cs typeface="+mn-cs"/>
              </a:rPr>
              <a:t>AI</a:t>
            </a:r>
            <a:r>
              <a:rPr kumimoji="1" lang="ja-JP" altLang="en-US" sz="1200" kern="1200">
                <a:solidFill>
                  <a:schemeClr val="tx1"/>
                </a:solidFill>
                <a:effectLst/>
                <a:latin typeface="+mn-lt"/>
                <a:ea typeface="+mn-ea"/>
                <a:cs typeface="+mn-cs"/>
              </a:rPr>
              <a:t>導入の可能性を見いだせます</a:t>
            </a:r>
            <a:r>
              <a:rPr kumimoji="1" lang="ja-JP" altLang="ja-JP" sz="1200" kern="1200">
                <a:solidFill>
                  <a:schemeClr val="tx1"/>
                </a:solidFill>
                <a:effectLst/>
                <a:latin typeface="+mn-lt"/>
                <a:ea typeface="+mn-ea"/>
                <a:cs typeface="+mn-cs"/>
              </a:rPr>
              <a:t>。</a:t>
            </a:r>
          </a:p>
          <a:p>
            <a:endParaRPr kumimoji="1" lang="ja-JP" altLang="en-US"/>
          </a:p>
        </p:txBody>
      </p:sp>
      <p:sp>
        <p:nvSpPr>
          <p:cNvPr id="4" name="スライド番号プレースホルダー 3"/>
          <p:cNvSpPr>
            <a:spLocks noGrp="1"/>
          </p:cNvSpPr>
          <p:nvPr>
            <p:ph type="sldNum" sz="quarter" idx="5"/>
          </p:nvPr>
        </p:nvSpPr>
        <p:spPr/>
        <p:txBody>
          <a:bodyPr/>
          <a:lstStyle/>
          <a:p>
            <a:fld id="{A56CB60D-A68C-D74B-8949-411CD6AAB588}" type="slidenum">
              <a:rPr kumimoji="1" lang="ja-JP" altLang="en-US" smtClean="0"/>
              <a:t>4</a:t>
            </a:fld>
            <a:endParaRPr kumimoji="1" lang="ja-JP" altLang="en-US"/>
          </a:p>
        </p:txBody>
      </p:sp>
    </p:spTree>
    <p:extLst>
      <p:ext uri="{BB962C8B-B14F-4D97-AF65-F5344CB8AC3E}">
        <p14:creationId xmlns:p14="http://schemas.microsoft.com/office/powerpoint/2010/main" val="13246706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ja-JP" altLang="en-US"/>
          </a:p>
        </p:txBody>
      </p:sp>
      <p:sp>
        <p:nvSpPr>
          <p:cNvPr id="3" name="Notes Placeholder 2"/>
          <p:cNvSpPr>
            <a:spLocks noGrp="1"/>
          </p:cNvSpPr>
          <p:nvPr>
            <p:ph type="body" idx="1"/>
          </p:nvPr>
        </p:nvSpPr>
        <p:spPr/>
        <p:txBody>
          <a:bodyPr/>
          <a:lstStyle/>
          <a:p>
            <a:r>
              <a:rPr kumimoji="1" lang="ja-JP" altLang="ja-JP" sz="1200" kern="1200">
                <a:solidFill>
                  <a:schemeClr val="tx1"/>
                </a:solidFill>
                <a:effectLst/>
                <a:latin typeface="+mn-lt"/>
                <a:ea typeface="+mn-ea"/>
                <a:cs typeface="+mn-cs"/>
              </a:rPr>
              <a:t>新規性について</a:t>
            </a:r>
          </a:p>
          <a:p>
            <a:endParaRPr kumimoji="1" lang="en-US" altLang="ja-JP" sz="1200" kern="1200" dirty="0">
              <a:solidFill>
                <a:schemeClr val="tx1"/>
              </a:solidFill>
              <a:effectLst/>
              <a:latin typeface="+mn-lt"/>
              <a:ea typeface="+mn-ea"/>
              <a:cs typeface="+mn-cs"/>
            </a:endParaRPr>
          </a:p>
          <a:p>
            <a:r>
              <a:rPr kumimoji="1" lang="ja-JP" altLang="en-US" sz="1200" kern="1200">
                <a:solidFill>
                  <a:schemeClr val="tx1"/>
                </a:solidFill>
                <a:effectLst/>
                <a:latin typeface="+mn-lt"/>
                <a:ea typeface="+mn-ea"/>
                <a:cs typeface="+mn-cs"/>
              </a:rPr>
              <a:t>まず国内外での位置付けですが、</a:t>
            </a:r>
            <a:endParaRPr kumimoji="1" lang="en-US" altLang="ja-JP" sz="1200" kern="1200" dirty="0">
              <a:solidFill>
                <a:schemeClr val="tx1"/>
              </a:solidFill>
              <a:effectLst/>
              <a:latin typeface="+mn-lt"/>
              <a:ea typeface="+mn-ea"/>
              <a:cs typeface="+mn-cs"/>
            </a:endParaRPr>
          </a:p>
          <a:p>
            <a:r>
              <a:rPr kumimoji="1" lang="ja-JP" altLang="en-US" sz="1200" kern="1200">
                <a:solidFill>
                  <a:schemeClr val="tx1"/>
                </a:solidFill>
                <a:effectLst/>
                <a:latin typeface="+mn-lt"/>
                <a:ea typeface="+mn-ea"/>
                <a:cs typeface="+mn-cs"/>
              </a:rPr>
              <a:t>専門領域における生成系</a:t>
            </a:r>
            <a:r>
              <a:rPr kumimoji="1" lang="en-US" altLang="ja-JP" sz="1200" kern="1200" dirty="0">
                <a:solidFill>
                  <a:schemeClr val="tx1"/>
                </a:solidFill>
                <a:effectLst/>
                <a:latin typeface="+mn-lt"/>
                <a:ea typeface="+mn-ea"/>
                <a:cs typeface="+mn-cs"/>
              </a:rPr>
              <a:t>AI</a:t>
            </a:r>
            <a:r>
              <a:rPr kumimoji="1" lang="ja-JP" altLang="en-US" sz="1200" kern="1200">
                <a:solidFill>
                  <a:schemeClr val="tx1"/>
                </a:solidFill>
                <a:effectLst/>
                <a:latin typeface="+mn-lt"/>
                <a:ea typeface="+mn-ea"/>
                <a:cs typeface="+mn-cs"/>
              </a:rPr>
              <a:t>の</a:t>
            </a:r>
            <a:r>
              <a:rPr kumimoji="1" lang="ja-JP" altLang="ja-JP" sz="1200" kern="1200">
                <a:solidFill>
                  <a:schemeClr val="tx1"/>
                </a:solidFill>
                <a:effectLst/>
                <a:latin typeface="+mn-lt"/>
                <a:ea typeface="+mn-ea"/>
                <a:cs typeface="+mn-cs"/>
              </a:rPr>
              <a:t>体系的導入と実証</a:t>
            </a:r>
            <a:r>
              <a:rPr kumimoji="1" lang="ja-JP" altLang="en-US" sz="1200" kern="1200">
                <a:solidFill>
                  <a:schemeClr val="tx1"/>
                </a:solidFill>
                <a:effectLst/>
                <a:latin typeface="+mn-lt"/>
                <a:ea typeface="+mn-ea"/>
                <a:cs typeface="+mn-cs"/>
              </a:rPr>
              <a:t>実験</a:t>
            </a:r>
            <a:r>
              <a:rPr kumimoji="1" lang="ja-JP" altLang="ja-JP" sz="1200" kern="1200">
                <a:solidFill>
                  <a:schemeClr val="tx1"/>
                </a:solidFill>
                <a:effectLst/>
                <a:latin typeface="+mn-lt"/>
                <a:ea typeface="+mn-ea"/>
                <a:cs typeface="+mn-cs"/>
              </a:rPr>
              <a:t>は</a:t>
            </a:r>
            <a:r>
              <a:rPr kumimoji="1" lang="ja-JP" altLang="en-US" sz="1200" kern="1200">
                <a:solidFill>
                  <a:schemeClr val="tx1"/>
                </a:solidFill>
                <a:effectLst/>
                <a:latin typeface="+mn-lt"/>
                <a:ea typeface="+mn-ea"/>
                <a:cs typeface="+mn-cs"/>
              </a:rPr>
              <a:t>、</a:t>
            </a:r>
            <a:r>
              <a:rPr kumimoji="1" lang="ja-JP" altLang="ja-JP" sz="1200" kern="1200">
                <a:solidFill>
                  <a:schemeClr val="tx1"/>
                </a:solidFill>
                <a:effectLst/>
                <a:latin typeface="+mn-lt"/>
                <a:ea typeface="+mn-ea"/>
                <a:cs typeface="+mn-cs"/>
              </a:rPr>
              <a:t>先駆的な取り組みです。</a:t>
            </a:r>
            <a:endParaRPr kumimoji="1" lang="en-US" altLang="ja-JP" sz="1200" kern="1200" dirty="0">
              <a:solidFill>
                <a:schemeClr val="tx1"/>
              </a:solidFill>
              <a:effectLst/>
              <a:latin typeface="+mn-lt"/>
              <a:ea typeface="+mn-ea"/>
              <a:cs typeface="+mn-cs"/>
            </a:endParaRPr>
          </a:p>
          <a:p>
            <a:endParaRPr kumimoji="1" lang="ja-JP" altLang="ja-JP" sz="1200" kern="1200">
              <a:solidFill>
                <a:schemeClr val="tx1"/>
              </a:solidFill>
              <a:effectLst/>
              <a:latin typeface="+mn-lt"/>
              <a:ea typeface="+mn-ea"/>
              <a:cs typeface="+mn-cs"/>
            </a:endParaRPr>
          </a:p>
          <a:p>
            <a:r>
              <a:rPr kumimoji="1" lang="ja-JP" altLang="ja-JP" sz="1200" kern="1200">
                <a:solidFill>
                  <a:schemeClr val="tx1"/>
                </a:solidFill>
                <a:effectLst/>
                <a:latin typeface="+mn-lt"/>
                <a:ea typeface="+mn-ea"/>
                <a:cs typeface="+mn-cs"/>
              </a:rPr>
              <a:t>学生は</a:t>
            </a:r>
            <a:r>
              <a:rPr kumimoji="1" lang="ja-JP" altLang="en-US" sz="1200" kern="1200">
                <a:solidFill>
                  <a:schemeClr val="tx1"/>
                </a:solidFill>
                <a:effectLst/>
                <a:latin typeface="+mn-lt"/>
                <a:ea typeface="+mn-ea"/>
                <a:cs typeface="+mn-cs"/>
              </a:rPr>
              <a:t>学生の画面より</a:t>
            </a:r>
            <a:r>
              <a:rPr kumimoji="1" lang="en-US" altLang="ja-JP" sz="1200" kern="1200" dirty="0">
                <a:solidFill>
                  <a:schemeClr val="tx1"/>
                </a:solidFill>
                <a:effectLst/>
                <a:latin typeface="+mn-lt"/>
                <a:ea typeface="+mn-ea"/>
                <a:cs typeface="+mn-cs"/>
              </a:rPr>
              <a:t>24</a:t>
            </a:r>
            <a:r>
              <a:rPr kumimoji="1" lang="ja-JP" altLang="en-US" sz="1200" kern="1200">
                <a:solidFill>
                  <a:schemeClr val="tx1"/>
                </a:solidFill>
                <a:effectLst/>
                <a:latin typeface="+mn-lt"/>
                <a:ea typeface="+mn-ea"/>
                <a:cs typeface="+mn-cs"/>
              </a:rPr>
              <a:t>時間</a:t>
            </a:r>
            <a:r>
              <a:rPr kumimoji="1" lang="ja-JP" altLang="ja-JP" sz="1200" kern="1200">
                <a:solidFill>
                  <a:schemeClr val="tx1"/>
                </a:solidFill>
                <a:effectLst/>
                <a:latin typeface="+mn-lt"/>
                <a:ea typeface="+mn-ea"/>
                <a:cs typeface="+mn-cs"/>
              </a:rPr>
              <a:t>いつでも質問と練習問題作成を利用でき、</a:t>
            </a:r>
            <a:endParaRPr kumimoji="1" lang="en-US" altLang="ja-JP" sz="1200" kern="1200" dirty="0">
              <a:solidFill>
                <a:schemeClr val="tx1"/>
              </a:solidFill>
              <a:effectLst/>
              <a:latin typeface="+mn-lt"/>
              <a:ea typeface="+mn-ea"/>
              <a:cs typeface="+mn-cs"/>
            </a:endParaRPr>
          </a:p>
          <a:p>
            <a:endParaRPr kumimoji="1" lang="en-US" altLang="ja-JP" sz="1200" kern="1200" dirty="0">
              <a:solidFill>
                <a:schemeClr val="tx1"/>
              </a:solidFill>
              <a:effectLst/>
              <a:latin typeface="+mn-lt"/>
              <a:ea typeface="+mn-ea"/>
              <a:cs typeface="+mn-cs"/>
            </a:endParaRPr>
          </a:p>
          <a:p>
            <a:r>
              <a:rPr kumimoji="1" lang="ja-JP" altLang="ja-JP" sz="1200" kern="1200">
                <a:solidFill>
                  <a:schemeClr val="tx1"/>
                </a:solidFill>
                <a:effectLst/>
                <a:latin typeface="+mn-lt"/>
                <a:ea typeface="+mn-ea"/>
                <a:cs typeface="+mn-cs"/>
              </a:rPr>
              <a:t>教員は</a:t>
            </a:r>
            <a:r>
              <a:rPr kumimoji="1" lang="ja-JP" altLang="en-US" sz="1200" kern="1200">
                <a:solidFill>
                  <a:schemeClr val="tx1"/>
                </a:solidFill>
                <a:effectLst/>
                <a:latin typeface="+mn-lt"/>
                <a:ea typeface="+mn-ea"/>
                <a:cs typeface="+mn-cs"/>
              </a:rPr>
              <a:t>学習履歴を確認し、</a:t>
            </a:r>
            <a:r>
              <a:rPr kumimoji="1" lang="ja-JP" altLang="ja-JP" sz="1200" kern="1200">
                <a:solidFill>
                  <a:schemeClr val="tx1"/>
                </a:solidFill>
                <a:effectLst/>
                <a:latin typeface="+mn-lt"/>
                <a:ea typeface="+mn-ea"/>
                <a:cs typeface="+mn-cs"/>
              </a:rPr>
              <a:t>つまずき</a:t>
            </a:r>
            <a:r>
              <a:rPr kumimoji="1" lang="ja-JP" altLang="en-US" sz="1200" kern="1200">
                <a:solidFill>
                  <a:schemeClr val="tx1"/>
                </a:solidFill>
                <a:effectLst/>
                <a:latin typeface="+mn-lt"/>
                <a:ea typeface="+mn-ea"/>
                <a:cs typeface="+mn-cs"/>
              </a:rPr>
              <a:t>の地図を確認、学習行動の時系列を分析することが</a:t>
            </a:r>
            <a:r>
              <a:rPr kumimoji="1" lang="ja-JP" altLang="ja-JP" sz="1200" kern="1200">
                <a:solidFill>
                  <a:schemeClr val="tx1"/>
                </a:solidFill>
                <a:effectLst/>
                <a:latin typeface="+mn-lt"/>
                <a:ea typeface="+mn-ea"/>
                <a:cs typeface="+mn-cs"/>
              </a:rPr>
              <a:t>可能</a:t>
            </a:r>
            <a:r>
              <a:rPr kumimoji="1" lang="ja-JP" altLang="en-US" sz="1200" kern="1200">
                <a:solidFill>
                  <a:schemeClr val="tx1"/>
                </a:solidFill>
                <a:effectLst/>
                <a:latin typeface="+mn-lt"/>
                <a:ea typeface="+mn-ea"/>
                <a:cs typeface="+mn-cs"/>
              </a:rPr>
              <a:t>となります</a:t>
            </a:r>
            <a:r>
              <a:rPr kumimoji="1" lang="ja-JP" altLang="ja-JP" sz="1200" kern="1200">
                <a:solidFill>
                  <a:schemeClr val="tx1"/>
                </a:solidFill>
                <a:effectLst/>
                <a:latin typeface="+mn-lt"/>
                <a:ea typeface="+mn-ea"/>
                <a:cs typeface="+mn-cs"/>
              </a:rPr>
              <a:t>。</a:t>
            </a:r>
            <a:endParaRPr kumimoji="1" lang="en-US" altLang="ja-JP" sz="1200" kern="1200" dirty="0">
              <a:solidFill>
                <a:schemeClr val="tx1"/>
              </a:solidFill>
              <a:effectLst/>
              <a:latin typeface="+mn-lt"/>
              <a:ea typeface="+mn-ea"/>
              <a:cs typeface="+mn-cs"/>
            </a:endParaRPr>
          </a:p>
          <a:p>
            <a:endParaRPr kumimoji="1" lang="en-US" altLang="ja-JP" sz="1200" kern="1200" dirty="0">
              <a:solidFill>
                <a:schemeClr val="tx1"/>
              </a:solidFill>
              <a:effectLst/>
              <a:latin typeface="+mn-lt"/>
              <a:ea typeface="+mn-ea"/>
              <a:cs typeface="+mn-cs"/>
            </a:endParaRPr>
          </a:p>
          <a:p>
            <a:r>
              <a:rPr kumimoji="1" lang="ja-JP" altLang="en-US" sz="1200" kern="1200">
                <a:solidFill>
                  <a:schemeClr val="tx1"/>
                </a:solidFill>
                <a:effectLst/>
                <a:latin typeface="+mn-lt"/>
                <a:ea typeface="+mn-ea"/>
                <a:cs typeface="+mn-cs"/>
              </a:rPr>
              <a:t>これらが本研究の独創性であり新規性となります</a:t>
            </a:r>
            <a:endParaRPr kumimoji="1" lang="en-US" altLang="ja-JP" sz="1200" kern="1200" dirty="0">
              <a:solidFill>
                <a:schemeClr val="tx1"/>
              </a:solidFill>
              <a:effectLst/>
              <a:latin typeface="+mn-lt"/>
              <a:ea typeface="+mn-ea"/>
              <a:cs typeface="+mn-cs"/>
            </a:endParaRPr>
          </a:p>
          <a:p>
            <a:endParaRPr kumimoji="1" lang="en-US" altLang="ja-JP" sz="1200" kern="1200" dirty="0">
              <a:solidFill>
                <a:schemeClr val="tx1"/>
              </a:solidFill>
              <a:effectLst/>
              <a:latin typeface="+mn-lt"/>
              <a:ea typeface="+mn-ea"/>
              <a:cs typeface="+mn-cs"/>
            </a:endParaRPr>
          </a:p>
          <a:p>
            <a:r>
              <a:rPr kumimoji="1" lang="en-US" altLang="ja-JP" sz="1200" kern="1200" dirty="0">
                <a:solidFill>
                  <a:schemeClr val="tx1"/>
                </a:solidFill>
                <a:effectLst/>
                <a:latin typeface="+mn-lt"/>
                <a:ea typeface="+mn-ea"/>
                <a:cs typeface="+mn-cs"/>
              </a:rPr>
              <a:t> </a:t>
            </a:r>
            <a:endParaRPr kumimoji="1" lang="ja-JP" altLang="ja-JP" sz="1200" kern="120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DC6335-7FD9-1DBA-745E-C5D00E6D56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653CFF-A52D-0EA7-B7D8-E4F866C9AA84}"/>
              </a:ext>
            </a:extLst>
          </p:cNvPr>
          <p:cNvSpPr>
            <a:spLocks noGrp="1" noRot="1" noChangeAspect="1"/>
          </p:cNvSpPr>
          <p:nvPr>
            <p:ph type="sldImg"/>
          </p:nvPr>
        </p:nvSpPr>
        <p:spPr/>
        <p:txBody>
          <a:bodyPr/>
          <a:lstStyle/>
          <a:p>
            <a:endParaRPr lang="ja-JP" altLang="en-US"/>
          </a:p>
        </p:txBody>
      </p:sp>
      <p:sp>
        <p:nvSpPr>
          <p:cNvPr id="3" name="Notes Placeholder 2">
            <a:extLst>
              <a:ext uri="{FF2B5EF4-FFF2-40B4-BE49-F238E27FC236}">
                <a16:creationId xmlns:a16="http://schemas.microsoft.com/office/drawing/2014/main" id="{6E004111-564D-B423-8080-01BC89EB87C7}"/>
              </a:ext>
            </a:extLst>
          </p:cNvPr>
          <p:cNvSpPr>
            <a:spLocks noGrp="1"/>
          </p:cNvSpPr>
          <p:nvPr>
            <p:ph type="body" idx="1"/>
          </p:nvPr>
        </p:nvSpPr>
        <p:spPr/>
        <p:txBody>
          <a:bodyPr/>
          <a:lstStyle/>
          <a:p>
            <a:r>
              <a:rPr kumimoji="1" lang="ja-JP" altLang="ja-JP" sz="1200" b="0" kern="1200">
                <a:solidFill>
                  <a:schemeClr val="tx1"/>
                </a:solidFill>
                <a:effectLst/>
                <a:latin typeface="+mn-lt"/>
                <a:ea typeface="+mn-ea"/>
                <a:cs typeface="+mn-cs"/>
              </a:rPr>
              <a:t>こちらが学生の入力画面です。</a:t>
            </a:r>
            <a:endParaRPr kumimoji="1" lang="en-US" altLang="ja-JP" sz="1200" b="0" kern="1200" dirty="0">
              <a:solidFill>
                <a:schemeClr val="tx1"/>
              </a:solidFill>
              <a:effectLst/>
              <a:latin typeface="+mn-lt"/>
              <a:ea typeface="+mn-ea"/>
              <a:cs typeface="+mn-cs"/>
            </a:endParaRPr>
          </a:p>
          <a:p>
            <a:r>
              <a:rPr kumimoji="1" lang="ja-JP" altLang="ja-JP" sz="1200" b="0" kern="1200">
                <a:solidFill>
                  <a:schemeClr val="tx1"/>
                </a:solidFill>
                <a:effectLst/>
                <a:latin typeface="+mn-lt"/>
                <a:ea typeface="+mn-ea"/>
                <a:cs typeface="+mn-cs"/>
              </a:rPr>
              <a:t>ここ</a:t>
            </a:r>
            <a:r>
              <a:rPr kumimoji="1" lang="ja-JP" altLang="en-US" sz="1200" b="0" kern="1200">
                <a:solidFill>
                  <a:schemeClr val="tx1"/>
                </a:solidFill>
                <a:effectLst/>
                <a:latin typeface="+mn-lt"/>
                <a:ea typeface="+mn-ea"/>
                <a:cs typeface="+mn-cs"/>
              </a:rPr>
              <a:t>で</a:t>
            </a:r>
            <a:r>
              <a:rPr kumimoji="1" lang="ja-JP" altLang="ja-JP" sz="1200" b="0" kern="1200">
                <a:solidFill>
                  <a:schemeClr val="tx1"/>
                </a:solidFill>
                <a:effectLst/>
                <a:latin typeface="+mn-lt"/>
                <a:ea typeface="+mn-ea"/>
                <a:cs typeface="+mn-cs"/>
              </a:rPr>
              <a:t>、質問と練習問題作成を切り替え</a:t>
            </a:r>
            <a:r>
              <a:rPr kumimoji="1" lang="ja-JP" altLang="en-US" sz="1200" b="0" kern="1200">
                <a:solidFill>
                  <a:schemeClr val="tx1"/>
                </a:solidFill>
                <a:effectLst/>
                <a:latin typeface="+mn-lt"/>
                <a:ea typeface="+mn-ea"/>
                <a:cs typeface="+mn-cs"/>
              </a:rPr>
              <a:t>て使うことができます</a:t>
            </a:r>
            <a:endParaRPr kumimoji="1" lang="ja-JP" altLang="ja-JP" sz="1200" b="1" kern="1200">
              <a:solidFill>
                <a:schemeClr val="tx1"/>
              </a:solidFill>
              <a:effectLst/>
              <a:latin typeface="+mn-lt"/>
              <a:ea typeface="+mn-ea"/>
              <a:cs typeface="+mn-cs"/>
            </a:endParaRPr>
          </a:p>
          <a:p>
            <a:endParaRPr kumimoji="1" lang="en-US" altLang="ja-JP" sz="1200" b="0" kern="1200" dirty="0">
              <a:solidFill>
                <a:schemeClr val="tx1"/>
              </a:solidFill>
              <a:effectLst/>
              <a:latin typeface="+mn-lt"/>
              <a:ea typeface="+mn-ea"/>
              <a:cs typeface="+mn-cs"/>
            </a:endParaRPr>
          </a:p>
          <a:p>
            <a:r>
              <a:rPr kumimoji="1" lang="ja-JP" altLang="ja-JP" sz="1200" b="0" kern="1200">
                <a:solidFill>
                  <a:schemeClr val="tx1"/>
                </a:solidFill>
                <a:effectLst/>
                <a:latin typeface="+mn-lt"/>
                <a:ea typeface="+mn-ea"/>
                <a:cs typeface="+mn-cs"/>
              </a:rPr>
              <a:t>こちらが、教員の確認画面で</a:t>
            </a:r>
            <a:r>
              <a:rPr kumimoji="1" lang="ja-JP" altLang="en-US" sz="1200" b="0" kern="1200">
                <a:solidFill>
                  <a:schemeClr val="tx1"/>
                </a:solidFill>
                <a:effectLst/>
                <a:latin typeface="+mn-lt"/>
                <a:ea typeface="+mn-ea"/>
                <a:cs typeface="+mn-cs"/>
              </a:rPr>
              <a:t>、学生の学習ログを確認することができます。</a:t>
            </a:r>
            <a:endParaRPr kumimoji="1" lang="ja-JP" altLang="ja-JP" sz="1200" b="1" kern="1200">
              <a:solidFill>
                <a:schemeClr val="tx1"/>
              </a:solidFill>
              <a:effectLst/>
              <a:latin typeface="+mn-lt"/>
              <a:ea typeface="+mn-ea"/>
              <a:cs typeface="+mn-cs"/>
            </a:endParaRPr>
          </a:p>
          <a:p>
            <a:endParaRPr lang="en-US" dirty="0"/>
          </a:p>
        </p:txBody>
      </p:sp>
      <p:sp>
        <p:nvSpPr>
          <p:cNvPr id="4" name="Slide Number Placeholder 3">
            <a:extLst>
              <a:ext uri="{FF2B5EF4-FFF2-40B4-BE49-F238E27FC236}">
                <a16:creationId xmlns:a16="http://schemas.microsoft.com/office/drawing/2014/main" id="{6384782A-4014-BC23-25DF-B2D6C501A734}"/>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25045210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2CE0A2-A2C1-029B-5F51-A9A8D4E786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7CE72A-879E-0ACD-1176-7C9958348A7C}"/>
              </a:ext>
            </a:extLst>
          </p:cNvPr>
          <p:cNvSpPr>
            <a:spLocks noGrp="1" noRot="1" noChangeAspect="1"/>
          </p:cNvSpPr>
          <p:nvPr>
            <p:ph type="sldImg"/>
          </p:nvPr>
        </p:nvSpPr>
        <p:spPr/>
        <p:txBody>
          <a:bodyPr/>
          <a:lstStyle/>
          <a:p>
            <a:endParaRPr lang="ja-JP" altLang="en-US"/>
          </a:p>
        </p:txBody>
      </p:sp>
      <p:sp>
        <p:nvSpPr>
          <p:cNvPr id="3" name="Notes Placeholder 2">
            <a:extLst>
              <a:ext uri="{FF2B5EF4-FFF2-40B4-BE49-F238E27FC236}">
                <a16:creationId xmlns:a16="http://schemas.microsoft.com/office/drawing/2014/main" id="{6507CB2E-6EF4-E649-002D-0FD3FC566588}"/>
              </a:ext>
            </a:extLst>
          </p:cNvPr>
          <p:cNvSpPr>
            <a:spLocks noGrp="1"/>
          </p:cNvSpPr>
          <p:nvPr>
            <p:ph type="body" idx="1"/>
          </p:nvPr>
        </p:nvSpPr>
        <p:spPr/>
        <p:txBody>
          <a:bodyPr/>
          <a:lstStyle/>
          <a:p>
            <a:r>
              <a:rPr kumimoji="1" lang="ja-JP" altLang="en-US" sz="1200" b="0" kern="1200">
                <a:solidFill>
                  <a:schemeClr val="tx1"/>
                </a:solidFill>
                <a:effectLst/>
                <a:latin typeface="+mn-lt"/>
                <a:ea typeface="+mn-ea"/>
                <a:cs typeface="+mn-cs"/>
              </a:rPr>
              <a:t>例えば、</a:t>
            </a:r>
            <a:r>
              <a:rPr kumimoji="1" lang="ja-JP" altLang="ja-JP" sz="1200" b="0" kern="1200">
                <a:solidFill>
                  <a:schemeClr val="tx1"/>
                </a:solidFill>
                <a:effectLst/>
                <a:latin typeface="+mn-lt"/>
                <a:ea typeface="+mn-ea"/>
                <a:cs typeface="+mn-cs"/>
              </a:rPr>
              <a:t>こちらが</a:t>
            </a:r>
            <a:r>
              <a:rPr kumimoji="1" lang="ja-JP" altLang="en-US" sz="1200" b="0" kern="1200">
                <a:solidFill>
                  <a:schemeClr val="tx1"/>
                </a:solidFill>
                <a:effectLst/>
                <a:latin typeface="+mn-lt"/>
                <a:ea typeface="+mn-ea"/>
                <a:cs typeface="+mn-cs"/>
              </a:rPr>
              <a:t>つまずきの地図の例です。</a:t>
            </a:r>
            <a:endParaRPr kumimoji="1" lang="en-US" altLang="ja-JP" sz="1200" b="0" kern="1200" dirty="0">
              <a:solidFill>
                <a:schemeClr val="tx1"/>
              </a:solidFill>
              <a:effectLst/>
              <a:latin typeface="+mn-lt"/>
              <a:ea typeface="+mn-ea"/>
              <a:cs typeface="+mn-cs"/>
            </a:endParaRPr>
          </a:p>
          <a:p>
            <a:endParaRPr kumimoji="1" lang="en-US" altLang="ja-JP" sz="1200" b="0" kern="1200" dirty="0">
              <a:solidFill>
                <a:schemeClr val="tx1"/>
              </a:solidFill>
              <a:effectLst/>
              <a:latin typeface="+mn-lt"/>
              <a:ea typeface="+mn-ea"/>
              <a:cs typeface="+mn-cs"/>
            </a:endParaRPr>
          </a:p>
          <a:p>
            <a:r>
              <a:rPr kumimoji="1" lang="ja-JP" altLang="en-US" sz="1200" b="0" kern="1200">
                <a:solidFill>
                  <a:schemeClr val="tx1"/>
                </a:solidFill>
                <a:effectLst/>
                <a:latin typeface="+mn-lt"/>
                <a:ea typeface="+mn-ea"/>
                <a:cs typeface="+mn-cs"/>
              </a:rPr>
              <a:t>質問のカテゴリー別にヒートマップ形式で「つまずきの地図」が作成されるようになっております。</a:t>
            </a:r>
            <a:endParaRPr kumimoji="1" lang="en-US" altLang="ja-JP" sz="1200" b="0" kern="1200" dirty="0">
              <a:solidFill>
                <a:schemeClr val="tx1"/>
              </a:solidFill>
              <a:effectLst/>
              <a:latin typeface="+mn-lt"/>
              <a:ea typeface="+mn-ea"/>
              <a:cs typeface="+mn-cs"/>
            </a:endParaRPr>
          </a:p>
          <a:p>
            <a:endParaRPr lang="en-US" dirty="0"/>
          </a:p>
        </p:txBody>
      </p:sp>
      <p:sp>
        <p:nvSpPr>
          <p:cNvPr id="4" name="Slide Number Placeholder 3">
            <a:extLst>
              <a:ext uri="{FF2B5EF4-FFF2-40B4-BE49-F238E27FC236}">
                <a16:creationId xmlns:a16="http://schemas.microsoft.com/office/drawing/2014/main" id="{A28A8D25-74F9-23DC-6780-F3E534A3E04B}"/>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33522286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882156-D565-EB4B-AB80-4B5AD8971A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61E72E-8891-9BD5-E513-93E87598549C}"/>
              </a:ext>
            </a:extLst>
          </p:cNvPr>
          <p:cNvSpPr>
            <a:spLocks noGrp="1" noRot="1" noChangeAspect="1"/>
          </p:cNvSpPr>
          <p:nvPr>
            <p:ph type="sldImg"/>
          </p:nvPr>
        </p:nvSpPr>
        <p:spPr/>
        <p:txBody>
          <a:bodyPr/>
          <a:lstStyle/>
          <a:p>
            <a:endParaRPr lang="ja-JP" altLang="en-US"/>
          </a:p>
        </p:txBody>
      </p:sp>
      <p:sp>
        <p:nvSpPr>
          <p:cNvPr id="3" name="Notes Placeholder 2">
            <a:extLst>
              <a:ext uri="{FF2B5EF4-FFF2-40B4-BE49-F238E27FC236}">
                <a16:creationId xmlns:a16="http://schemas.microsoft.com/office/drawing/2014/main" id="{9BDF81E1-0116-38EC-7DA1-D29337C486F7}"/>
              </a:ext>
            </a:extLst>
          </p:cNvPr>
          <p:cNvSpPr>
            <a:spLocks noGrp="1"/>
          </p:cNvSpPr>
          <p:nvPr>
            <p:ph type="body" idx="1"/>
          </p:nvPr>
        </p:nvSpPr>
        <p:spPr/>
        <p:txBody>
          <a:bodyPr/>
          <a:lstStyle/>
          <a:p>
            <a:r>
              <a:rPr kumimoji="1" lang="ja-JP" altLang="ja-JP" sz="1200" kern="1200">
                <a:solidFill>
                  <a:schemeClr val="tx1"/>
                </a:solidFill>
                <a:effectLst/>
                <a:latin typeface="+mn-lt"/>
                <a:ea typeface="+mn-ea"/>
                <a:cs typeface="+mn-cs"/>
              </a:rPr>
              <a:t>研究成果の教育</a:t>
            </a:r>
            <a:r>
              <a:rPr kumimoji="1" lang="ja-JP" altLang="en-US" sz="1200" kern="1200">
                <a:solidFill>
                  <a:schemeClr val="tx1"/>
                </a:solidFill>
                <a:effectLst/>
                <a:latin typeface="+mn-lt"/>
                <a:ea typeface="+mn-ea"/>
                <a:cs typeface="+mn-cs"/>
              </a:rPr>
              <a:t>・</a:t>
            </a:r>
            <a:r>
              <a:rPr kumimoji="1" lang="ja-JP" altLang="ja-JP" sz="1200" kern="1200">
                <a:solidFill>
                  <a:schemeClr val="tx1"/>
                </a:solidFill>
                <a:effectLst/>
                <a:latin typeface="+mn-lt"/>
                <a:ea typeface="+mn-ea"/>
                <a:cs typeface="+mn-cs"/>
              </a:rPr>
              <a:t>研究面への反映</a:t>
            </a:r>
            <a:r>
              <a:rPr kumimoji="1" lang="ja-JP" altLang="en-US" sz="1200" kern="1200">
                <a:solidFill>
                  <a:schemeClr val="tx1"/>
                </a:solidFill>
                <a:effectLst/>
                <a:latin typeface="+mn-lt"/>
                <a:ea typeface="+mn-ea"/>
                <a:cs typeface="+mn-cs"/>
              </a:rPr>
              <a:t>について</a:t>
            </a:r>
            <a:r>
              <a:rPr kumimoji="1" lang="ja-JP" altLang="ja-JP" sz="1200" kern="1200">
                <a:solidFill>
                  <a:schemeClr val="tx1"/>
                </a:solidFill>
                <a:effectLst/>
                <a:latin typeface="+mn-lt"/>
                <a:ea typeface="+mn-ea"/>
                <a:cs typeface="+mn-cs"/>
              </a:rPr>
              <a:t>です。</a:t>
            </a:r>
            <a:endParaRPr kumimoji="1" lang="en-US" altLang="ja-JP" sz="1200" kern="1200" dirty="0">
              <a:solidFill>
                <a:schemeClr val="tx1"/>
              </a:solidFill>
              <a:effectLst/>
              <a:latin typeface="+mn-lt"/>
              <a:ea typeface="+mn-ea"/>
              <a:cs typeface="+mn-cs"/>
            </a:endParaRPr>
          </a:p>
          <a:p>
            <a:endParaRPr kumimoji="1" lang="ja-JP" altLang="ja-JP" sz="1200" kern="1200">
              <a:solidFill>
                <a:schemeClr val="tx1"/>
              </a:solidFill>
              <a:effectLst/>
              <a:latin typeface="+mn-lt"/>
              <a:ea typeface="+mn-ea"/>
              <a:cs typeface="+mn-cs"/>
            </a:endParaRPr>
          </a:p>
          <a:p>
            <a:r>
              <a:rPr kumimoji="1" lang="ja-JP" altLang="ja-JP" sz="1200" kern="1200">
                <a:solidFill>
                  <a:schemeClr val="tx1"/>
                </a:solidFill>
                <a:effectLst/>
                <a:latin typeface="+mn-lt"/>
                <a:ea typeface="+mn-ea"/>
                <a:cs typeface="+mn-cs"/>
              </a:rPr>
              <a:t>教育面では、</a:t>
            </a:r>
            <a:r>
              <a:rPr kumimoji="1" lang="ja-JP" altLang="en-US" sz="1200" kern="1200">
                <a:solidFill>
                  <a:schemeClr val="tx1"/>
                </a:solidFill>
                <a:effectLst/>
                <a:latin typeface="+mn-lt"/>
                <a:ea typeface="+mn-ea"/>
                <a:cs typeface="+mn-cs"/>
              </a:rPr>
              <a:t>自動生成された</a:t>
            </a:r>
            <a:r>
              <a:rPr kumimoji="1" lang="ja-JP" altLang="ja-JP" sz="1200" kern="1200">
                <a:solidFill>
                  <a:schemeClr val="tx1"/>
                </a:solidFill>
                <a:effectLst/>
                <a:latin typeface="+mn-lt"/>
                <a:ea typeface="+mn-ea"/>
                <a:cs typeface="+mn-cs"/>
              </a:rPr>
              <a:t>「つまずきの地図」</a:t>
            </a:r>
            <a:r>
              <a:rPr kumimoji="1" lang="ja-JP" altLang="en-US" sz="1200" kern="1200">
                <a:solidFill>
                  <a:schemeClr val="tx1"/>
                </a:solidFill>
                <a:effectLst/>
                <a:latin typeface="+mn-lt"/>
                <a:ea typeface="+mn-ea"/>
                <a:cs typeface="+mn-cs"/>
              </a:rPr>
              <a:t>を確認することで</a:t>
            </a:r>
            <a:endParaRPr kumimoji="1" lang="en-US" altLang="ja-JP" sz="1200" kern="1200" dirty="0">
              <a:solidFill>
                <a:schemeClr val="tx1"/>
              </a:solidFill>
              <a:effectLst/>
              <a:latin typeface="+mn-lt"/>
              <a:ea typeface="+mn-ea"/>
              <a:cs typeface="+mn-cs"/>
            </a:endParaRPr>
          </a:p>
          <a:p>
            <a:r>
              <a:rPr kumimoji="1" lang="ja-JP" altLang="ja-JP" sz="1200" kern="1200">
                <a:solidFill>
                  <a:schemeClr val="tx1"/>
                </a:solidFill>
                <a:effectLst/>
                <a:latin typeface="+mn-lt"/>
                <a:ea typeface="+mn-ea"/>
                <a:cs typeface="+mn-cs"/>
              </a:rPr>
              <a:t>講義改善、</a:t>
            </a:r>
            <a:endParaRPr kumimoji="1" lang="en-US" altLang="ja-JP" sz="1200" kern="1200" dirty="0">
              <a:solidFill>
                <a:schemeClr val="tx1"/>
              </a:solidFill>
              <a:effectLst/>
              <a:latin typeface="+mn-lt"/>
              <a:ea typeface="+mn-ea"/>
              <a:cs typeface="+mn-cs"/>
            </a:endParaRPr>
          </a:p>
          <a:p>
            <a:r>
              <a:rPr kumimoji="1" lang="ja-JP" altLang="ja-JP" sz="1200" kern="1200">
                <a:solidFill>
                  <a:schemeClr val="tx1"/>
                </a:solidFill>
                <a:effectLst/>
                <a:latin typeface="+mn-lt"/>
                <a:ea typeface="+mn-ea"/>
                <a:cs typeface="+mn-cs"/>
              </a:rPr>
              <a:t>個別指導への活用、</a:t>
            </a:r>
            <a:endParaRPr kumimoji="1" lang="en-US" altLang="ja-JP" sz="1200" kern="1200" dirty="0">
              <a:solidFill>
                <a:schemeClr val="tx1"/>
              </a:solidFill>
              <a:effectLst/>
              <a:latin typeface="+mn-lt"/>
              <a:ea typeface="+mn-ea"/>
              <a:cs typeface="+mn-cs"/>
            </a:endParaRPr>
          </a:p>
          <a:p>
            <a:r>
              <a:rPr kumimoji="1" lang="ja-JP" altLang="ja-JP" sz="1200" kern="1200">
                <a:solidFill>
                  <a:schemeClr val="tx1"/>
                </a:solidFill>
                <a:effectLst/>
                <a:latin typeface="+mn-lt"/>
                <a:ea typeface="+mn-ea"/>
                <a:cs typeface="+mn-cs"/>
              </a:rPr>
              <a:t>演習問題</a:t>
            </a:r>
            <a:r>
              <a:rPr kumimoji="1" lang="ja-JP" altLang="en-US" sz="1200" kern="1200">
                <a:solidFill>
                  <a:schemeClr val="tx1"/>
                </a:solidFill>
                <a:effectLst/>
                <a:latin typeface="+mn-lt"/>
                <a:ea typeface="+mn-ea"/>
                <a:cs typeface="+mn-cs"/>
              </a:rPr>
              <a:t>作成へ</a:t>
            </a:r>
            <a:endParaRPr kumimoji="1" lang="en-US" altLang="ja-JP" sz="1200" kern="1200" dirty="0">
              <a:solidFill>
                <a:schemeClr val="tx1"/>
              </a:solidFill>
              <a:effectLst/>
              <a:latin typeface="+mn-lt"/>
              <a:ea typeface="+mn-ea"/>
              <a:cs typeface="+mn-cs"/>
            </a:endParaRPr>
          </a:p>
          <a:p>
            <a:r>
              <a:rPr kumimoji="1" lang="ja-JP" altLang="en-US" sz="1200" kern="1200">
                <a:solidFill>
                  <a:schemeClr val="tx1"/>
                </a:solidFill>
                <a:effectLst/>
                <a:latin typeface="+mn-lt"/>
                <a:ea typeface="+mn-ea"/>
                <a:cs typeface="+mn-cs"/>
              </a:rPr>
              <a:t>反映させることが</a:t>
            </a:r>
            <a:r>
              <a:rPr kumimoji="1" lang="ja-JP" altLang="ja-JP" sz="1200" kern="1200">
                <a:solidFill>
                  <a:schemeClr val="tx1"/>
                </a:solidFill>
                <a:effectLst/>
                <a:latin typeface="+mn-lt"/>
                <a:ea typeface="+mn-ea"/>
                <a:cs typeface="+mn-cs"/>
              </a:rPr>
              <a:t>可能</a:t>
            </a:r>
            <a:r>
              <a:rPr kumimoji="1" lang="ja-JP" altLang="en-US" sz="1200" kern="1200">
                <a:solidFill>
                  <a:schemeClr val="tx1"/>
                </a:solidFill>
                <a:effectLst/>
                <a:latin typeface="+mn-lt"/>
                <a:ea typeface="+mn-ea"/>
                <a:cs typeface="+mn-cs"/>
              </a:rPr>
              <a:t>と</a:t>
            </a:r>
            <a:r>
              <a:rPr kumimoji="1" lang="ja-JP" altLang="ja-JP" sz="1200" kern="1200">
                <a:solidFill>
                  <a:schemeClr val="tx1"/>
                </a:solidFill>
                <a:effectLst/>
                <a:latin typeface="+mn-lt"/>
                <a:ea typeface="+mn-ea"/>
                <a:cs typeface="+mn-cs"/>
              </a:rPr>
              <a:t>なります。</a:t>
            </a:r>
            <a:endParaRPr kumimoji="1" lang="en-US" altLang="ja-JP" sz="1200" kern="1200" dirty="0">
              <a:solidFill>
                <a:schemeClr val="tx1"/>
              </a:solidFill>
              <a:effectLst/>
              <a:latin typeface="+mn-lt"/>
              <a:ea typeface="+mn-ea"/>
              <a:cs typeface="+mn-cs"/>
            </a:endParaRPr>
          </a:p>
          <a:p>
            <a:endParaRPr kumimoji="1" lang="ja-JP" altLang="ja-JP" sz="1200" kern="1200">
              <a:solidFill>
                <a:schemeClr val="tx1"/>
              </a:solidFill>
              <a:effectLst/>
              <a:latin typeface="+mn-lt"/>
              <a:ea typeface="+mn-ea"/>
              <a:cs typeface="+mn-cs"/>
            </a:endParaRPr>
          </a:p>
          <a:p>
            <a:r>
              <a:rPr kumimoji="1" lang="ja-JP" altLang="ja-JP" sz="1200" kern="1200">
                <a:solidFill>
                  <a:schemeClr val="tx1"/>
                </a:solidFill>
                <a:effectLst/>
                <a:latin typeface="+mn-lt"/>
                <a:ea typeface="+mn-ea"/>
                <a:cs typeface="+mn-cs"/>
              </a:rPr>
              <a:t>研究面では、</a:t>
            </a:r>
            <a:endParaRPr kumimoji="1" lang="en-US" altLang="ja-JP" sz="1200" kern="1200" dirty="0">
              <a:solidFill>
                <a:schemeClr val="tx1"/>
              </a:solidFill>
              <a:effectLst/>
              <a:latin typeface="+mn-lt"/>
              <a:ea typeface="+mn-ea"/>
              <a:cs typeface="+mn-cs"/>
            </a:endParaRPr>
          </a:p>
          <a:p>
            <a:r>
              <a:rPr kumimoji="1" lang="ja-JP" altLang="en-US" sz="1200" kern="1200">
                <a:solidFill>
                  <a:schemeClr val="tx1"/>
                </a:solidFill>
                <a:effectLst/>
                <a:latin typeface="+mn-lt"/>
                <a:ea typeface="+mn-ea"/>
                <a:cs typeface="+mn-cs"/>
              </a:rPr>
              <a:t>体系的な実証実験を行うことで、</a:t>
            </a:r>
            <a:endParaRPr kumimoji="1" lang="en-US" altLang="ja-JP" sz="1200" kern="1200" dirty="0">
              <a:solidFill>
                <a:schemeClr val="tx1"/>
              </a:solidFill>
              <a:effectLst/>
              <a:latin typeface="+mn-lt"/>
              <a:ea typeface="+mn-ea"/>
              <a:cs typeface="+mn-cs"/>
            </a:endParaRPr>
          </a:p>
          <a:p>
            <a:r>
              <a:rPr kumimoji="1" lang="ja-JP" altLang="ja-JP" sz="1200" kern="1200">
                <a:solidFill>
                  <a:schemeClr val="tx1"/>
                </a:solidFill>
                <a:effectLst/>
                <a:latin typeface="+mn-lt"/>
                <a:ea typeface="+mn-ea"/>
                <a:cs typeface="+mn-cs"/>
              </a:rPr>
              <a:t>生成系</a:t>
            </a:r>
            <a:r>
              <a:rPr kumimoji="1" lang="en-US" altLang="ja-JP" sz="1200" kern="1200" dirty="0">
                <a:solidFill>
                  <a:schemeClr val="tx1"/>
                </a:solidFill>
                <a:effectLst/>
                <a:latin typeface="+mn-lt"/>
                <a:ea typeface="+mn-ea"/>
                <a:cs typeface="+mn-cs"/>
              </a:rPr>
              <a:t>AI</a:t>
            </a:r>
            <a:r>
              <a:rPr kumimoji="1" lang="ja-JP" altLang="ja-JP" sz="1200" kern="1200">
                <a:solidFill>
                  <a:schemeClr val="tx1"/>
                </a:solidFill>
                <a:effectLst/>
                <a:latin typeface="+mn-lt"/>
                <a:ea typeface="+mn-ea"/>
                <a:cs typeface="+mn-cs"/>
              </a:rPr>
              <a:t>活用のエビデンス構築、</a:t>
            </a:r>
            <a:endParaRPr kumimoji="1" lang="en-US" altLang="ja-JP" sz="1200" kern="1200" dirty="0">
              <a:solidFill>
                <a:schemeClr val="tx1"/>
              </a:solidFill>
              <a:effectLst/>
              <a:latin typeface="+mn-lt"/>
              <a:ea typeface="+mn-ea"/>
              <a:cs typeface="+mn-cs"/>
            </a:endParaRPr>
          </a:p>
          <a:p>
            <a:r>
              <a:rPr kumimoji="1" lang="ja-JP" altLang="ja-JP" sz="1200" kern="1200">
                <a:solidFill>
                  <a:schemeClr val="tx1"/>
                </a:solidFill>
                <a:effectLst/>
                <a:latin typeface="+mn-lt"/>
                <a:ea typeface="+mn-ea"/>
                <a:cs typeface="+mn-cs"/>
              </a:rPr>
              <a:t>学習支援システムの設計指針</a:t>
            </a:r>
            <a:r>
              <a:rPr kumimoji="1" lang="ja-JP" altLang="en-US" sz="1200" kern="1200">
                <a:solidFill>
                  <a:schemeClr val="tx1"/>
                </a:solidFill>
                <a:effectLst/>
                <a:latin typeface="+mn-lt"/>
                <a:ea typeface="+mn-ea"/>
                <a:cs typeface="+mn-cs"/>
              </a:rPr>
              <a:t>の構築</a:t>
            </a:r>
            <a:r>
              <a:rPr kumimoji="1" lang="ja-JP" altLang="ja-JP" sz="1200" kern="1200">
                <a:solidFill>
                  <a:schemeClr val="tx1"/>
                </a:solidFill>
                <a:effectLst/>
                <a:latin typeface="+mn-lt"/>
                <a:ea typeface="+mn-ea"/>
                <a:cs typeface="+mn-cs"/>
              </a:rPr>
              <a:t>、</a:t>
            </a:r>
            <a:endParaRPr kumimoji="1" lang="en-US" altLang="ja-JP" sz="1200" kern="1200" dirty="0">
              <a:solidFill>
                <a:schemeClr val="tx1"/>
              </a:solidFill>
              <a:effectLst/>
              <a:latin typeface="+mn-lt"/>
              <a:ea typeface="+mn-ea"/>
              <a:cs typeface="+mn-cs"/>
            </a:endParaRPr>
          </a:p>
          <a:p>
            <a:r>
              <a:rPr kumimoji="1" lang="ja-JP" altLang="en-US" sz="1200" kern="1200">
                <a:solidFill>
                  <a:schemeClr val="tx1"/>
                </a:solidFill>
                <a:effectLst/>
                <a:latin typeface="+mn-lt"/>
                <a:ea typeface="+mn-ea"/>
                <a:cs typeface="+mn-cs"/>
              </a:rPr>
              <a:t>へ反映することができます</a:t>
            </a:r>
            <a:endParaRPr kumimoji="1" lang="en-US" altLang="ja-JP"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47E4DED9-BEB6-C750-AC86-A2C4C24C2AF8}"/>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31073444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ja-JP" altLang="en-US"/>
          </a:p>
        </p:txBody>
      </p:sp>
      <p:sp>
        <p:nvSpPr>
          <p:cNvPr id="3" name="Notes Placeholder 2"/>
          <p:cNvSpPr>
            <a:spLocks noGrp="1"/>
          </p:cNvSpPr>
          <p:nvPr>
            <p:ph type="body" idx="1"/>
          </p:nvPr>
        </p:nvSpPr>
        <p:spPr/>
        <p:txBody>
          <a:bodyPr/>
          <a:lstStyle/>
          <a:p>
            <a:r>
              <a:rPr kumimoji="1" lang="ja-JP" altLang="en-US" sz="1200" kern="1200">
                <a:solidFill>
                  <a:schemeClr val="tx1"/>
                </a:solidFill>
                <a:effectLst/>
                <a:latin typeface="+mn-lt"/>
                <a:ea typeface="+mn-ea"/>
                <a:cs typeface="+mn-cs"/>
              </a:rPr>
              <a:t>年次計画の妥当性について。</a:t>
            </a:r>
            <a:r>
              <a:rPr kumimoji="1" lang="ja-JP" altLang="ja-JP" sz="1200" kern="1200">
                <a:solidFill>
                  <a:schemeClr val="tx1"/>
                </a:solidFill>
                <a:effectLst/>
                <a:latin typeface="+mn-lt"/>
                <a:ea typeface="+mn-ea"/>
                <a:cs typeface="+mn-cs"/>
              </a:rPr>
              <a:t>研究の実施スケジュールです</a:t>
            </a:r>
            <a:endParaRPr kumimoji="1" lang="en-US" altLang="ja-JP" sz="1200" kern="1200" dirty="0">
              <a:solidFill>
                <a:schemeClr val="tx1"/>
              </a:solidFill>
              <a:effectLst/>
              <a:latin typeface="+mn-lt"/>
              <a:ea typeface="+mn-ea"/>
              <a:cs typeface="+mn-cs"/>
            </a:endParaRPr>
          </a:p>
          <a:p>
            <a:endParaRPr kumimoji="1" lang="ja-JP" altLang="ja-JP" sz="1200" kern="1200">
              <a:solidFill>
                <a:schemeClr val="tx1"/>
              </a:solidFill>
              <a:effectLst/>
              <a:latin typeface="+mn-lt"/>
              <a:ea typeface="+mn-ea"/>
              <a:cs typeface="+mn-cs"/>
            </a:endParaRPr>
          </a:p>
          <a:p>
            <a:r>
              <a:rPr kumimoji="1" lang="en-US" altLang="ja-JP" sz="1200" kern="1200" dirty="0">
                <a:solidFill>
                  <a:schemeClr val="tx1"/>
                </a:solidFill>
                <a:effectLst/>
                <a:latin typeface="+mn-lt"/>
                <a:ea typeface="+mn-ea"/>
                <a:cs typeface="+mn-cs"/>
              </a:rPr>
              <a:t>4〜8</a:t>
            </a:r>
            <a:r>
              <a:rPr kumimoji="1" lang="ja-JP" altLang="en-US" sz="1200" kern="1200">
                <a:solidFill>
                  <a:schemeClr val="tx1"/>
                </a:solidFill>
                <a:effectLst/>
                <a:latin typeface="+mn-lt"/>
                <a:ea typeface="+mn-ea"/>
                <a:cs typeface="+mn-cs"/>
              </a:rPr>
              <a:t>月を準備期として、システムの最終調整、</a:t>
            </a:r>
            <a:r>
              <a:rPr kumimoji="1" lang="ja-JP" altLang="ja-JP" sz="1200" kern="1200">
                <a:solidFill>
                  <a:schemeClr val="tx1"/>
                </a:solidFill>
                <a:effectLst/>
                <a:latin typeface="+mn-lt"/>
                <a:ea typeface="+mn-ea"/>
                <a:cs typeface="+mn-cs"/>
              </a:rPr>
              <a:t>倫理審査</a:t>
            </a:r>
            <a:r>
              <a:rPr kumimoji="1" lang="ja-JP" altLang="en-US" sz="1200" kern="1200">
                <a:solidFill>
                  <a:schemeClr val="tx1"/>
                </a:solidFill>
                <a:effectLst/>
                <a:latin typeface="+mn-lt"/>
                <a:ea typeface="+mn-ea"/>
                <a:cs typeface="+mn-cs"/>
              </a:rPr>
              <a:t>申請、履修済み学生での仮運用を実施ます</a:t>
            </a:r>
            <a:r>
              <a:rPr kumimoji="1" lang="ja-JP" altLang="ja-JP" sz="1200" kern="1200">
                <a:solidFill>
                  <a:schemeClr val="tx1"/>
                </a:solidFill>
                <a:effectLst/>
                <a:latin typeface="+mn-lt"/>
                <a:ea typeface="+mn-ea"/>
                <a:cs typeface="+mn-cs"/>
              </a:rPr>
              <a:t>。</a:t>
            </a:r>
            <a:endParaRPr kumimoji="1" lang="en-US" altLang="ja-JP" sz="1200" kern="1200" dirty="0">
              <a:solidFill>
                <a:schemeClr val="tx1"/>
              </a:solidFill>
              <a:effectLst/>
              <a:latin typeface="+mn-lt"/>
              <a:ea typeface="+mn-ea"/>
              <a:cs typeface="+mn-cs"/>
            </a:endParaRPr>
          </a:p>
          <a:p>
            <a:endParaRPr kumimoji="1" lang="en-US" altLang="ja-JP" sz="1200" kern="1200" dirty="0">
              <a:solidFill>
                <a:schemeClr val="tx1"/>
              </a:solidFill>
              <a:effectLst/>
              <a:latin typeface="+mn-lt"/>
              <a:ea typeface="+mn-ea"/>
              <a:cs typeface="+mn-cs"/>
            </a:endParaRPr>
          </a:p>
          <a:p>
            <a:r>
              <a:rPr kumimoji="1" lang="en-US" altLang="ja-JP" sz="1200" kern="1200" dirty="0">
                <a:solidFill>
                  <a:schemeClr val="tx1"/>
                </a:solidFill>
                <a:effectLst/>
                <a:latin typeface="+mn-lt"/>
                <a:ea typeface="+mn-ea"/>
                <a:cs typeface="+mn-cs"/>
              </a:rPr>
              <a:t>9〜12</a:t>
            </a:r>
            <a:r>
              <a:rPr kumimoji="1" lang="ja-JP" altLang="en-US" sz="1200" kern="1200">
                <a:solidFill>
                  <a:schemeClr val="tx1"/>
                </a:solidFill>
                <a:effectLst/>
                <a:latin typeface="+mn-lt"/>
                <a:ea typeface="+mn-ea"/>
                <a:cs typeface="+mn-cs"/>
              </a:rPr>
              <a:t>月を実証期として、小規模で</a:t>
            </a:r>
            <a:r>
              <a:rPr kumimoji="1" lang="en-US" altLang="ja-JP" sz="1200" kern="1200" dirty="0">
                <a:solidFill>
                  <a:schemeClr val="tx1"/>
                </a:solidFill>
                <a:effectLst/>
                <a:latin typeface="+mn-lt"/>
                <a:ea typeface="+mn-ea"/>
                <a:cs typeface="+mn-cs"/>
              </a:rPr>
              <a:t>pre</a:t>
            </a:r>
            <a:r>
              <a:rPr kumimoji="1" lang="ja-JP" altLang="en-US" sz="1200" kern="1200">
                <a:solidFill>
                  <a:schemeClr val="tx1"/>
                </a:solidFill>
                <a:effectLst/>
                <a:latin typeface="+mn-lt"/>
                <a:ea typeface="+mn-ea"/>
                <a:cs typeface="+mn-cs"/>
              </a:rPr>
              <a:t>実証を実施したのち、大規模で本格的導入を行い、データを収集します・</a:t>
            </a:r>
            <a:endParaRPr kumimoji="1" lang="en-US" altLang="ja-JP" sz="1200" kern="1200" dirty="0">
              <a:solidFill>
                <a:schemeClr val="tx1"/>
              </a:solidFill>
              <a:effectLst/>
              <a:latin typeface="+mn-lt"/>
              <a:ea typeface="+mn-ea"/>
              <a:cs typeface="+mn-cs"/>
            </a:endParaRPr>
          </a:p>
          <a:p>
            <a:endParaRPr kumimoji="1" lang="ja-JP" altLang="ja-JP" sz="1200" kern="1200">
              <a:solidFill>
                <a:schemeClr val="tx1"/>
              </a:solidFill>
              <a:effectLst/>
              <a:latin typeface="+mn-lt"/>
              <a:ea typeface="+mn-ea"/>
              <a:cs typeface="+mn-cs"/>
            </a:endParaRPr>
          </a:p>
          <a:p>
            <a:r>
              <a:rPr kumimoji="1" lang="en-US" altLang="ja-JP" sz="1200" kern="1200" dirty="0">
                <a:solidFill>
                  <a:schemeClr val="tx1"/>
                </a:solidFill>
                <a:effectLst/>
                <a:latin typeface="+mn-lt"/>
                <a:ea typeface="+mn-ea"/>
                <a:cs typeface="+mn-cs"/>
              </a:rPr>
              <a:t> 1〜3</a:t>
            </a:r>
            <a:r>
              <a:rPr kumimoji="1" lang="ja-JP" altLang="en-US" sz="1200" kern="1200">
                <a:solidFill>
                  <a:schemeClr val="tx1"/>
                </a:solidFill>
                <a:effectLst/>
                <a:latin typeface="+mn-lt"/>
                <a:ea typeface="+mn-ea"/>
                <a:cs typeface="+mn-cs"/>
              </a:rPr>
              <a:t>月を分析期として、</a:t>
            </a:r>
            <a:r>
              <a:rPr kumimoji="1" lang="en-US" altLang="ja-JP" sz="1200" kern="1200" dirty="0">
                <a:solidFill>
                  <a:schemeClr val="tx1"/>
                </a:solidFill>
                <a:effectLst/>
                <a:latin typeface="+mn-lt"/>
                <a:ea typeface="+mn-ea"/>
                <a:cs typeface="+mn-cs"/>
              </a:rPr>
              <a:t> </a:t>
            </a:r>
            <a:r>
              <a:rPr kumimoji="1" lang="ja-JP" altLang="ja-JP" sz="1200" kern="1200">
                <a:solidFill>
                  <a:schemeClr val="tx1"/>
                </a:solidFill>
                <a:effectLst/>
                <a:latin typeface="+mn-lt"/>
                <a:ea typeface="+mn-ea"/>
                <a:cs typeface="+mn-cs"/>
              </a:rPr>
              <a:t>これまで</a:t>
            </a:r>
            <a:r>
              <a:rPr kumimoji="1" lang="ja-JP" altLang="en-US" sz="1200" kern="1200">
                <a:solidFill>
                  <a:schemeClr val="tx1"/>
                </a:solidFill>
                <a:effectLst/>
                <a:latin typeface="+mn-lt"/>
                <a:ea typeface="+mn-ea"/>
                <a:cs typeface="+mn-cs"/>
              </a:rPr>
              <a:t>で得られた</a:t>
            </a:r>
            <a:r>
              <a:rPr kumimoji="1" lang="ja-JP" altLang="ja-JP" sz="1200" kern="1200">
                <a:solidFill>
                  <a:schemeClr val="tx1"/>
                </a:solidFill>
                <a:effectLst/>
                <a:latin typeface="+mn-lt"/>
                <a:ea typeface="+mn-ea"/>
                <a:cs typeface="+mn-cs"/>
              </a:rPr>
              <a:t>データ分析</a:t>
            </a:r>
            <a:r>
              <a:rPr kumimoji="1" lang="ja-JP" altLang="en-US" sz="1200" kern="1200">
                <a:solidFill>
                  <a:schemeClr val="tx1"/>
                </a:solidFill>
                <a:effectLst/>
                <a:latin typeface="+mn-lt"/>
                <a:ea typeface="+mn-ea"/>
                <a:cs typeface="+mn-cs"/>
              </a:rPr>
              <a:t>、解析を行い、</a:t>
            </a:r>
            <a:r>
              <a:rPr kumimoji="1" lang="ja-JP" altLang="ja-JP" sz="1200" kern="1200">
                <a:solidFill>
                  <a:schemeClr val="tx1"/>
                </a:solidFill>
                <a:effectLst/>
                <a:latin typeface="+mn-lt"/>
                <a:ea typeface="+mn-ea"/>
                <a:cs typeface="+mn-cs"/>
              </a:rPr>
              <a:t>成果</a:t>
            </a:r>
            <a:r>
              <a:rPr kumimoji="1" lang="ja-JP" altLang="en-US" sz="1200" kern="1200">
                <a:solidFill>
                  <a:schemeClr val="tx1"/>
                </a:solidFill>
                <a:effectLst/>
                <a:latin typeface="+mn-lt"/>
                <a:ea typeface="+mn-ea"/>
                <a:cs typeface="+mn-cs"/>
              </a:rPr>
              <a:t>の</a:t>
            </a:r>
            <a:r>
              <a:rPr kumimoji="1" lang="ja-JP" altLang="ja-JP" sz="1200" kern="1200">
                <a:solidFill>
                  <a:schemeClr val="tx1"/>
                </a:solidFill>
                <a:effectLst/>
                <a:latin typeface="+mn-lt"/>
                <a:ea typeface="+mn-ea"/>
                <a:cs typeface="+mn-cs"/>
              </a:rPr>
              <a:t>発表を行います。</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ja-JP" altLang="en-US"/>
          </a:p>
        </p:txBody>
      </p:sp>
      <p:sp>
        <p:nvSpPr>
          <p:cNvPr id="3" name="Notes Placeholder 2"/>
          <p:cNvSpPr>
            <a:spLocks noGrp="1"/>
          </p:cNvSpPr>
          <p:nvPr>
            <p:ph type="body" idx="1"/>
          </p:nvPr>
        </p:nvSpPr>
        <p:spPr/>
        <p:txBody>
          <a:bodyPr/>
          <a:lstStyle/>
          <a:p>
            <a:r>
              <a:rPr kumimoji="1" lang="ja-JP" altLang="ja-JP" sz="1200" kern="1200">
                <a:solidFill>
                  <a:schemeClr val="tx1"/>
                </a:solidFill>
                <a:effectLst/>
                <a:latin typeface="+mn-lt"/>
                <a:ea typeface="+mn-ea"/>
                <a:cs typeface="+mn-cs"/>
              </a:rPr>
              <a:t>経費</a:t>
            </a:r>
            <a:r>
              <a:rPr kumimoji="1" lang="ja-JP" altLang="en-US" sz="1200" kern="1200">
                <a:solidFill>
                  <a:schemeClr val="tx1"/>
                </a:solidFill>
                <a:effectLst/>
                <a:latin typeface="+mn-lt"/>
                <a:ea typeface="+mn-ea"/>
                <a:cs typeface="+mn-cs"/>
              </a:rPr>
              <a:t>の妥当性</a:t>
            </a:r>
            <a:r>
              <a:rPr kumimoji="1" lang="ja-JP" altLang="ja-JP" sz="1200" kern="1200">
                <a:solidFill>
                  <a:schemeClr val="tx1"/>
                </a:solidFill>
                <a:effectLst/>
                <a:latin typeface="+mn-lt"/>
                <a:ea typeface="+mn-ea"/>
                <a:cs typeface="+mn-cs"/>
              </a:rPr>
              <a:t>について、</a:t>
            </a:r>
            <a:endParaRPr kumimoji="1" lang="en-US" altLang="ja-JP" sz="1200" kern="1200" dirty="0">
              <a:solidFill>
                <a:schemeClr val="tx1"/>
              </a:solidFill>
              <a:effectLst/>
              <a:latin typeface="+mn-lt"/>
              <a:ea typeface="+mn-ea"/>
              <a:cs typeface="+mn-cs"/>
            </a:endParaRPr>
          </a:p>
          <a:p>
            <a:endParaRPr kumimoji="1" lang="en-US" altLang="ja-JP" sz="1200" kern="1200" dirty="0">
              <a:solidFill>
                <a:schemeClr val="tx1"/>
              </a:solidFill>
              <a:effectLst/>
              <a:latin typeface="+mn-lt"/>
              <a:ea typeface="+mn-ea"/>
              <a:cs typeface="+mn-cs"/>
            </a:endParaRPr>
          </a:p>
          <a:p>
            <a:r>
              <a:rPr kumimoji="1" lang="ja-JP" altLang="en-US" sz="1200" kern="1200">
                <a:solidFill>
                  <a:schemeClr val="tx1"/>
                </a:solidFill>
                <a:effectLst/>
                <a:latin typeface="+mn-lt"/>
                <a:ea typeface="+mn-ea"/>
                <a:cs typeface="+mn-cs"/>
              </a:rPr>
              <a:t>機器備品費として、</a:t>
            </a:r>
            <a:r>
              <a:rPr kumimoji="1" lang="ja-JP" altLang="ja-JP" sz="1200" kern="1200">
                <a:solidFill>
                  <a:schemeClr val="tx1"/>
                </a:solidFill>
                <a:effectLst/>
                <a:latin typeface="+mn-lt"/>
                <a:ea typeface="+mn-ea"/>
                <a:cs typeface="+mn-cs"/>
              </a:rPr>
              <a:t>パソコンを購入（機器備品費</a:t>
            </a:r>
            <a:r>
              <a:rPr kumimoji="1" lang="en-US" altLang="ja-JP" sz="1200" kern="1200" dirty="0">
                <a:solidFill>
                  <a:schemeClr val="tx1"/>
                </a:solidFill>
                <a:effectLst/>
                <a:latin typeface="+mn-lt"/>
                <a:ea typeface="+mn-ea"/>
                <a:cs typeface="+mn-cs"/>
              </a:rPr>
              <a:t>29</a:t>
            </a:r>
            <a:r>
              <a:rPr kumimoji="1" lang="ja-JP" altLang="ja-JP" sz="1200" kern="1200">
                <a:solidFill>
                  <a:schemeClr val="tx1"/>
                </a:solidFill>
                <a:effectLst/>
                <a:latin typeface="+mn-lt"/>
                <a:ea typeface="+mn-ea"/>
                <a:cs typeface="+mn-cs"/>
              </a:rPr>
              <a:t>万円）。</a:t>
            </a:r>
          </a:p>
          <a:p>
            <a:r>
              <a:rPr kumimoji="1" lang="ja-JP" altLang="ja-JP" sz="1200" kern="1200">
                <a:solidFill>
                  <a:schemeClr val="tx1"/>
                </a:solidFill>
                <a:effectLst/>
                <a:latin typeface="+mn-lt"/>
                <a:ea typeface="+mn-ea"/>
                <a:cs typeface="+mn-cs"/>
              </a:rPr>
              <a:t>消耗品</a:t>
            </a:r>
            <a:r>
              <a:rPr kumimoji="1" lang="ja-JP" altLang="en-US" sz="1200" kern="1200">
                <a:solidFill>
                  <a:schemeClr val="tx1"/>
                </a:solidFill>
                <a:effectLst/>
                <a:latin typeface="+mn-lt"/>
                <a:ea typeface="+mn-ea"/>
                <a:cs typeface="+mn-cs"/>
              </a:rPr>
              <a:t>費として</a:t>
            </a:r>
            <a:r>
              <a:rPr kumimoji="1" lang="ja-JP" altLang="ja-JP" sz="1200" kern="1200">
                <a:solidFill>
                  <a:schemeClr val="tx1"/>
                </a:solidFill>
                <a:effectLst/>
                <a:latin typeface="+mn-lt"/>
                <a:ea typeface="+mn-ea"/>
                <a:cs typeface="+mn-cs"/>
              </a:rPr>
              <a:t>、生成系</a:t>
            </a:r>
            <a:r>
              <a:rPr kumimoji="1" lang="en-US" altLang="ja-JP" sz="1200" kern="1200" dirty="0">
                <a:solidFill>
                  <a:schemeClr val="tx1"/>
                </a:solidFill>
                <a:effectLst/>
                <a:latin typeface="+mn-lt"/>
                <a:ea typeface="+mn-ea"/>
                <a:cs typeface="+mn-cs"/>
              </a:rPr>
              <a:t>AI</a:t>
            </a:r>
            <a:r>
              <a:rPr kumimoji="1" lang="ja-JP" altLang="ja-JP" sz="1200" kern="1200">
                <a:solidFill>
                  <a:schemeClr val="tx1"/>
                </a:solidFill>
                <a:effectLst/>
                <a:latin typeface="+mn-lt"/>
                <a:ea typeface="+mn-ea"/>
                <a:cs typeface="+mn-cs"/>
              </a:rPr>
              <a:t>、</a:t>
            </a:r>
            <a:r>
              <a:rPr kumimoji="1" lang="en-US" altLang="ja-JP" sz="1200" kern="1200" dirty="0">
                <a:solidFill>
                  <a:schemeClr val="tx1"/>
                </a:solidFill>
                <a:effectLst/>
                <a:latin typeface="+mn-lt"/>
                <a:ea typeface="+mn-ea"/>
                <a:cs typeface="+mn-cs"/>
              </a:rPr>
              <a:t>API</a:t>
            </a:r>
            <a:r>
              <a:rPr kumimoji="1" lang="ja-JP" altLang="en-US" sz="1200" kern="1200">
                <a:solidFill>
                  <a:schemeClr val="tx1"/>
                </a:solidFill>
                <a:effectLst/>
                <a:latin typeface="+mn-lt"/>
                <a:ea typeface="+mn-ea"/>
                <a:cs typeface="+mn-cs"/>
              </a:rPr>
              <a:t>使用料</a:t>
            </a:r>
            <a:r>
              <a:rPr kumimoji="1" lang="ja-JP" altLang="ja-JP" sz="1200" kern="1200">
                <a:solidFill>
                  <a:schemeClr val="tx1"/>
                </a:solidFill>
                <a:effectLst/>
                <a:latin typeface="+mn-lt"/>
                <a:ea typeface="+mn-ea"/>
                <a:cs typeface="+mn-cs"/>
              </a:rPr>
              <a:t>に充当します（</a:t>
            </a:r>
            <a:r>
              <a:rPr kumimoji="1" lang="en-US" altLang="ja-JP" sz="1200" kern="1200" dirty="0">
                <a:solidFill>
                  <a:schemeClr val="tx1"/>
                </a:solidFill>
                <a:effectLst/>
                <a:latin typeface="+mn-lt"/>
                <a:ea typeface="+mn-ea"/>
                <a:cs typeface="+mn-cs"/>
              </a:rPr>
              <a:t>11</a:t>
            </a:r>
            <a:r>
              <a:rPr kumimoji="1" lang="ja-JP" altLang="ja-JP" sz="1200" kern="1200">
                <a:solidFill>
                  <a:schemeClr val="tx1"/>
                </a:solidFill>
                <a:effectLst/>
                <a:latin typeface="+mn-lt"/>
                <a:ea typeface="+mn-ea"/>
                <a:cs typeface="+mn-cs"/>
              </a:rPr>
              <a:t>万円）</a:t>
            </a:r>
          </a:p>
          <a:p>
            <a:r>
              <a:rPr kumimoji="1" lang="ja-JP" altLang="ja-JP" sz="1200" kern="1200">
                <a:solidFill>
                  <a:schemeClr val="tx1"/>
                </a:solidFill>
                <a:effectLst/>
                <a:latin typeface="+mn-lt"/>
                <a:ea typeface="+mn-ea"/>
                <a:cs typeface="+mn-cs"/>
              </a:rPr>
              <a:t>情報収集としての図書の購入（</a:t>
            </a:r>
            <a:r>
              <a:rPr kumimoji="1" lang="en-US" altLang="ja-JP" sz="1200" kern="1200" dirty="0">
                <a:solidFill>
                  <a:schemeClr val="tx1"/>
                </a:solidFill>
                <a:effectLst/>
                <a:latin typeface="+mn-lt"/>
                <a:ea typeface="+mn-ea"/>
                <a:cs typeface="+mn-cs"/>
              </a:rPr>
              <a:t>2</a:t>
            </a:r>
            <a:r>
              <a:rPr kumimoji="1" lang="ja-JP" altLang="ja-JP" sz="1200" kern="1200">
                <a:solidFill>
                  <a:schemeClr val="tx1"/>
                </a:solidFill>
                <a:effectLst/>
                <a:latin typeface="+mn-lt"/>
                <a:ea typeface="+mn-ea"/>
                <a:cs typeface="+mn-cs"/>
              </a:rPr>
              <a:t>万円）、</a:t>
            </a:r>
          </a:p>
          <a:p>
            <a:r>
              <a:rPr kumimoji="1" lang="ja-JP" altLang="ja-JP" sz="1200" kern="1200">
                <a:solidFill>
                  <a:schemeClr val="tx1"/>
                </a:solidFill>
                <a:effectLst/>
                <a:latin typeface="+mn-lt"/>
                <a:ea typeface="+mn-ea"/>
                <a:cs typeface="+mn-cs"/>
              </a:rPr>
              <a:t>成果</a:t>
            </a:r>
            <a:r>
              <a:rPr kumimoji="1" lang="ja-JP" altLang="en-US" sz="1200" kern="1200">
                <a:solidFill>
                  <a:schemeClr val="tx1"/>
                </a:solidFill>
                <a:effectLst/>
                <a:latin typeface="+mn-lt"/>
                <a:ea typeface="+mn-ea"/>
                <a:cs typeface="+mn-cs"/>
              </a:rPr>
              <a:t>の</a:t>
            </a:r>
            <a:r>
              <a:rPr kumimoji="1" lang="ja-JP" altLang="ja-JP" sz="1200" kern="1200">
                <a:solidFill>
                  <a:schemeClr val="tx1"/>
                </a:solidFill>
                <a:effectLst/>
                <a:latin typeface="+mn-lt"/>
                <a:ea typeface="+mn-ea"/>
                <a:cs typeface="+mn-cs"/>
              </a:rPr>
              <a:t>発表</a:t>
            </a:r>
            <a:r>
              <a:rPr kumimoji="1" lang="ja-JP" altLang="en-US" sz="1200" kern="1200">
                <a:solidFill>
                  <a:schemeClr val="tx1"/>
                </a:solidFill>
                <a:effectLst/>
                <a:latin typeface="+mn-lt"/>
                <a:ea typeface="+mn-ea"/>
                <a:cs typeface="+mn-cs"/>
              </a:rPr>
              <a:t>として</a:t>
            </a:r>
            <a:r>
              <a:rPr kumimoji="1" lang="ja-JP" altLang="ja-JP" sz="1200" kern="1200">
                <a:solidFill>
                  <a:schemeClr val="tx1"/>
                </a:solidFill>
                <a:effectLst/>
                <a:latin typeface="+mn-lt"/>
                <a:ea typeface="+mn-ea"/>
                <a:cs typeface="+mn-cs"/>
              </a:rPr>
              <a:t>旅費</a:t>
            </a:r>
            <a:r>
              <a:rPr kumimoji="1" lang="ja-JP" altLang="en-US" sz="1200" kern="1200">
                <a:solidFill>
                  <a:schemeClr val="tx1"/>
                </a:solidFill>
                <a:effectLst/>
                <a:latin typeface="+mn-lt"/>
                <a:ea typeface="+mn-ea"/>
                <a:cs typeface="+mn-cs"/>
              </a:rPr>
              <a:t>（</a:t>
            </a:r>
            <a:r>
              <a:rPr kumimoji="1" lang="en-US" altLang="ja-JP" sz="1200" kern="1200" dirty="0">
                <a:solidFill>
                  <a:schemeClr val="tx1"/>
                </a:solidFill>
                <a:effectLst/>
                <a:latin typeface="+mn-lt"/>
                <a:ea typeface="+mn-ea"/>
                <a:cs typeface="+mn-cs"/>
              </a:rPr>
              <a:t>8</a:t>
            </a:r>
            <a:r>
              <a:rPr kumimoji="1" lang="ja-JP" altLang="ja-JP" sz="1200" kern="1200">
                <a:solidFill>
                  <a:schemeClr val="tx1"/>
                </a:solidFill>
                <a:effectLst/>
                <a:latin typeface="+mn-lt"/>
                <a:ea typeface="+mn-ea"/>
                <a:cs typeface="+mn-cs"/>
              </a:rPr>
              <a:t>万円</a:t>
            </a:r>
            <a:r>
              <a:rPr kumimoji="1" lang="ja-JP" altLang="en-US" sz="1200" kern="1200">
                <a:solidFill>
                  <a:schemeClr val="tx1"/>
                </a:solidFill>
                <a:effectLst/>
                <a:latin typeface="+mn-lt"/>
                <a:ea typeface="+mn-ea"/>
                <a:cs typeface="+mn-cs"/>
              </a:rPr>
              <a:t>）</a:t>
            </a:r>
            <a:r>
              <a:rPr kumimoji="1" lang="ja-JP" altLang="ja-JP" sz="1200" kern="1200">
                <a:solidFill>
                  <a:schemeClr val="tx1"/>
                </a:solidFill>
                <a:effectLst/>
                <a:latin typeface="+mn-lt"/>
                <a:ea typeface="+mn-ea"/>
                <a:cs typeface="+mn-cs"/>
              </a:rPr>
              <a:t>、</a:t>
            </a:r>
            <a:endParaRPr kumimoji="1" lang="en-US" altLang="ja-JP" sz="1200" kern="1200" dirty="0">
              <a:solidFill>
                <a:schemeClr val="tx1"/>
              </a:solidFill>
              <a:effectLst/>
              <a:latin typeface="+mn-lt"/>
              <a:ea typeface="+mn-ea"/>
              <a:cs typeface="+mn-cs"/>
            </a:endParaRPr>
          </a:p>
          <a:p>
            <a:endParaRPr kumimoji="1" lang="en-US" altLang="ja-JP" sz="1200" kern="1200" dirty="0">
              <a:solidFill>
                <a:schemeClr val="tx1"/>
              </a:solidFill>
              <a:effectLst/>
              <a:latin typeface="+mn-lt"/>
              <a:ea typeface="+mn-ea"/>
              <a:cs typeface="+mn-cs"/>
            </a:endParaRPr>
          </a:p>
          <a:p>
            <a:r>
              <a:rPr kumimoji="1" lang="ja-JP" altLang="en-US" sz="1200" kern="1200">
                <a:solidFill>
                  <a:schemeClr val="tx1"/>
                </a:solidFill>
                <a:effectLst/>
                <a:latin typeface="+mn-lt"/>
                <a:ea typeface="+mn-ea"/>
                <a:cs typeface="+mn-cs"/>
              </a:rPr>
              <a:t>その他、最終成果物として</a:t>
            </a:r>
            <a:r>
              <a:rPr kumimoji="1" lang="ja-JP" altLang="ja-JP" sz="1200" kern="1200">
                <a:solidFill>
                  <a:schemeClr val="tx1"/>
                </a:solidFill>
                <a:effectLst/>
                <a:latin typeface="+mn-lt"/>
                <a:ea typeface="+mn-ea"/>
                <a:cs typeface="+mn-cs"/>
              </a:rPr>
              <a:t>英語論文</a:t>
            </a:r>
            <a:r>
              <a:rPr kumimoji="1" lang="ja-JP" altLang="en-US" sz="1200" kern="1200">
                <a:solidFill>
                  <a:schemeClr val="tx1"/>
                </a:solidFill>
                <a:effectLst/>
                <a:latin typeface="+mn-lt"/>
                <a:ea typeface="+mn-ea"/>
                <a:cs typeface="+mn-cs"/>
              </a:rPr>
              <a:t>作成に充当する</a:t>
            </a:r>
            <a:r>
              <a:rPr kumimoji="1" lang="ja-JP" altLang="ja-JP" sz="1200" kern="1200">
                <a:solidFill>
                  <a:schemeClr val="tx1"/>
                </a:solidFill>
                <a:effectLst/>
                <a:latin typeface="+mn-lt"/>
                <a:ea typeface="+mn-ea"/>
                <a:cs typeface="+mn-cs"/>
              </a:rPr>
              <a:t>計画</a:t>
            </a:r>
            <a:r>
              <a:rPr kumimoji="1" lang="ja-JP" altLang="en-US" sz="1200" kern="1200">
                <a:solidFill>
                  <a:schemeClr val="tx1"/>
                </a:solidFill>
                <a:effectLst/>
                <a:latin typeface="+mn-lt"/>
                <a:ea typeface="+mn-ea"/>
                <a:cs typeface="+mn-cs"/>
              </a:rPr>
              <a:t>を</a:t>
            </a:r>
            <a:r>
              <a:rPr kumimoji="1" lang="ja-JP" altLang="ja-JP" sz="1200" kern="1200">
                <a:solidFill>
                  <a:schemeClr val="tx1"/>
                </a:solidFill>
                <a:effectLst/>
                <a:latin typeface="+mn-lt"/>
                <a:ea typeface="+mn-ea"/>
                <a:cs typeface="+mn-cs"/>
              </a:rPr>
              <a:t>しております。</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ja-JP" sz="1200" kern="1200">
                <a:solidFill>
                  <a:schemeClr val="tx1"/>
                </a:solidFill>
                <a:effectLst/>
                <a:latin typeface="+mn-lt"/>
                <a:ea typeface="+mn-ea"/>
                <a:cs typeface="+mn-cs"/>
              </a:rPr>
              <a:t>従来の研究成績です。</a:t>
            </a:r>
            <a:endParaRPr kumimoji="1" lang="en-US" altLang="ja-JP" sz="1200" kern="1200" dirty="0">
              <a:solidFill>
                <a:schemeClr val="tx1"/>
              </a:solidFill>
              <a:effectLst/>
              <a:latin typeface="+mn-lt"/>
              <a:ea typeface="+mn-ea"/>
              <a:cs typeface="+mn-cs"/>
            </a:endParaRPr>
          </a:p>
          <a:p>
            <a:endParaRPr kumimoji="1" lang="ja-JP" altLang="ja-JP" sz="1200" kern="1200">
              <a:solidFill>
                <a:schemeClr val="tx1"/>
              </a:solidFill>
              <a:effectLst/>
              <a:latin typeface="+mn-lt"/>
              <a:ea typeface="+mn-ea"/>
              <a:cs typeface="+mn-cs"/>
            </a:endParaRPr>
          </a:p>
          <a:p>
            <a:r>
              <a:rPr kumimoji="1" lang="ja-JP" altLang="en-US" sz="1200" kern="1200">
                <a:solidFill>
                  <a:schemeClr val="tx1"/>
                </a:solidFill>
                <a:effectLst/>
                <a:latin typeface="+mn-lt"/>
                <a:ea typeface="+mn-ea"/>
                <a:cs typeface="+mn-cs"/>
              </a:rPr>
              <a:t>過去</a:t>
            </a:r>
            <a:r>
              <a:rPr kumimoji="1" lang="en-US" altLang="ja-JP" sz="1200" kern="1200" dirty="0">
                <a:solidFill>
                  <a:schemeClr val="tx1"/>
                </a:solidFill>
                <a:effectLst/>
                <a:latin typeface="+mn-lt"/>
                <a:ea typeface="+mn-ea"/>
                <a:cs typeface="+mn-cs"/>
              </a:rPr>
              <a:t>3</a:t>
            </a:r>
            <a:r>
              <a:rPr kumimoji="1" lang="ja-JP" altLang="en-US" sz="1200" kern="1200">
                <a:solidFill>
                  <a:schemeClr val="tx1"/>
                </a:solidFill>
                <a:effectLst/>
                <a:latin typeface="+mn-lt"/>
                <a:ea typeface="+mn-ea"/>
                <a:cs typeface="+mn-cs"/>
              </a:rPr>
              <a:t>年で</a:t>
            </a:r>
            <a:r>
              <a:rPr kumimoji="1" lang="ja-JP" altLang="ja-JP" sz="1200" kern="1200">
                <a:solidFill>
                  <a:schemeClr val="tx1"/>
                </a:solidFill>
                <a:effectLst/>
                <a:latin typeface="+mn-lt"/>
                <a:ea typeface="+mn-ea"/>
                <a:cs typeface="+mn-cs"/>
              </a:rPr>
              <a:t>査読付き原著論文</a:t>
            </a:r>
            <a:r>
              <a:rPr kumimoji="1" lang="en-US" altLang="ja-JP" sz="1200" kern="1200" dirty="0">
                <a:solidFill>
                  <a:schemeClr val="tx1"/>
                </a:solidFill>
                <a:effectLst/>
                <a:latin typeface="+mn-lt"/>
                <a:ea typeface="+mn-ea"/>
                <a:cs typeface="+mn-cs"/>
              </a:rPr>
              <a:t>4</a:t>
            </a:r>
            <a:r>
              <a:rPr kumimoji="1" lang="ja-JP" altLang="en-US" sz="1200" kern="1200">
                <a:solidFill>
                  <a:schemeClr val="tx1"/>
                </a:solidFill>
                <a:effectLst/>
                <a:latin typeface="+mn-lt"/>
                <a:ea typeface="+mn-ea"/>
                <a:cs typeface="+mn-cs"/>
              </a:rPr>
              <a:t>報</a:t>
            </a:r>
            <a:r>
              <a:rPr kumimoji="1" lang="ja-JP" altLang="ja-JP" sz="1200" kern="1200">
                <a:solidFill>
                  <a:schemeClr val="tx1"/>
                </a:solidFill>
                <a:effectLst/>
                <a:latin typeface="+mn-lt"/>
                <a:ea typeface="+mn-ea"/>
                <a:cs typeface="+mn-cs"/>
              </a:rPr>
              <a:t>を発表しています。</a:t>
            </a:r>
          </a:p>
          <a:p>
            <a:endParaRPr kumimoji="1" lang="en-US" altLang="ja-JP" sz="1200" kern="1200" dirty="0">
              <a:solidFill>
                <a:schemeClr val="tx1"/>
              </a:solidFill>
              <a:effectLst/>
              <a:latin typeface="+mn-lt"/>
              <a:ea typeface="+mn-ea"/>
              <a:cs typeface="+mn-cs"/>
            </a:endParaRPr>
          </a:p>
          <a:p>
            <a:r>
              <a:rPr kumimoji="1" lang="ja-JP" altLang="ja-JP" sz="1200" kern="1200">
                <a:solidFill>
                  <a:schemeClr val="tx1"/>
                </a:solidFill>
                <a:effectLst/>
                <a:latin typeface="+mn-lt"/>
                <a:ea typeface="+mn-ea"/>
                <a:cs typeface="+mn-cs"/>
              </a:rPr>
              <a:t>ビッグデータ解析</a:t>
            </a:r>
            <a:r>
              <a:rPr kumimoji="1" lang="ja-JP" altLang="en-US" sz="1200" kern="1200">
                <a:solidFill>
                  <a:schemeClr val="tx1"/>
                </a:solidFill>
                <a:effectLst/>
                <a:latin typeface="+mn-lt"/>
                <a:ea typeface="+mn-ea"/>
                <a:cs typeface="+mn-cs"/>
              </a:rPr>
              <a:t>関する報告</a:t>
            </a:r>
            <a:r>
              <a:rPr kumimoji="1" lang="ja-JP" altLang="ja-JP" sz="1200" kern="1200">
                <a:solidFill>
                  <a:schemeClr val="tx1"/>
                </a:solidFill>
                <a:effectLst/>
                <a:latin typeface="+mn-lt"/>
                <a:ea typeface="+mn-ea"/>
                <a:cs typeface="+mn-cs"/>
              </a:rPr>
              <a:t>が１報、</a:t>
            </a:r>
          </a:p>
          <a:p>
            <a:endParaRPr kumimoji="1" lang="en-US" altLang="ja-JP" sz="1200" kern="1200" dirty="0">
              <a:solidFill>
                <a:schemeClr val="tx1"/>
              </a:solidFill>
              <a:effectLst/>
              <a:latin typeface="+mn-lt"/>
              <a:ea typeface="+mn-ea"/>
              <a:cs typeface="+mn-cs"/>
            </a:endParaRPr>
          </a:p>
          <a:p>
            <a:r>
              <a:rPr kumimoji="1" lang="ja-JP" altLang="ja-JP" sz="1200" kern="1200">
                <a:solidFill>
                  <a:schemeClr val="tx1"/>
                </a:solidFill>
                <a:effectLst/>
                <a:latin typeface="+mn-lt"/>
                <a:ea typeface="+mn-ea"/>
                <a:cs typeface="+mn-cs"/>
              </a:rPr>
              <a:t>残遺不眠症患</a:t>
            </a:r>
            <a:r>
              <a:rPr kumimoji="1" lang="ja-JP" altLang="en-US" sz="1200" kern="1200">
                <a:solidFill>
                  <a:schemeClr val="tx1"/>
                </a:solidFill>
                <a:effectLst/>
                <a:latin typeface="+mn-lt"/>
                <a:ea typeface="+mn-ea"/>
                <a:cs typeface="+mn-cs"/>
              </a:rPr>
              <a:t>への調査</a:t>
            </a:r>
            <a:r>
              <a:rPr kumimoji="1" lang="ja-JP" altLang="ja-JP" sz="1200" kern="1200">
                <a:solidFill>
                  <a:schemeClr val="tx1"/>
                </a:solidFill>
                <a:effectLst/>
                <a:latin typeface="+mn-lt"/>
                <a:ea typeface="+mn-ea"/>
                <a:cs typeface="+mn-cs"/>
              </a:rPr>
              <a:t>が１報、</a:t>
            </a:r>
          </a:p>
          <a:p>
            <a:endParaRPr kumimoji="1" lang="en-US" altLang="ja-JP" sz="1200" kern="1200" dirty="0">
              <a:solidFill>
                <a:schemeClr val="tx1"/>
              </a:solidFill>
              <a:effectLst/>
              <a:latin typeface="+mn-lt"/>
              <a:ea typeface="+mn-ea"/>
              <a:cs typeface="+mn-cs"/>
            </a:endParaRPr>
          </a:p>
          <a:p>
            <a:r>
              <a:rPr kumimoji="1" lang="ja-JP" altLang="ja-JP" sz="1200" kern="1200">
                <a:solidFill>
                  <a:schemeClr val="tx1"/>
                </a:solidFill>
                <a:effectLst/>
                <a:latin typeface="+mn-lt"/>
                <a:ea typeface="+mn-ea"/>
                <a:cs typeface="+mn-cs"/>
              </a:rPr>
              <a:t>教育ツール</a:t>
            </a:r>
            <a:r>
              <a:rPr kumimoji="1" lang="ja-JP" altLang="en-US" sz="1200" kern="1200">
                <a:solidFill>
                  <a:schemeClr val="tx1"/>
                </a:solidFill>
                <a:effectLst/>
                <a:latin typeface="+mn-lt"/>
                <a:ea typeface="+mn-ea"/>
                <a:cs typeface="+mn-cs"/>
              </a:rPr>
              <a:t>バーチャルリアリティーの</a:t>
            </a:r>
            <a:r>
              <a:rPr kumimoji="1" lang="ja-JP" altLang="ja-JP" sz="1200" kern="1200">
                <a:solidFill>
                  <a:schemeClr val="tx1"/>
                </a:solidFill>
                <a:effectLst/>
                <a:latin typeface="+mn-lt"/>
                <a:ea typeface="+mn-ea"/>
                <a:cs typeface="+mn-cs"/>
              </a:rPr>
              <a:t>開発</a:t>
            </a:r>
            <a:r>
              <a:rPr kumimoji="1" lang="ja-JP" altLang="en-US" sz="1200" kern="1200">
                <a:solidFill>
                  <a:schemeClr val="tx1"/>
                </a:solidFill>
                <a:effectLst/>
                <a:latin typeface="+mn-lt"/>
                <a:ea typeface="+mn-ea"/>
                <a:cs typeface="+mn-cs"/>
              </a:rPr>
              <a:t>と検証</a:t>
            </a:r>
            <a:r>
              <a:rPr kumimoji="1" lang="ja-JP" altLang="ja-JP" sz="1200" kern="1200">
                <a:solidFill>
                  <a:schemeClr val="tx1"/>
                </a:solidFill>
                <a:effectLst/>
                <a:latin typeface="+mn-lt"/>
                <a:ea typeface="+mn-ea"/>
                <a:cs typeface="+mn-cs"/>
              </a:rPr>
              <a:t>が１報、</a:t>
            </a:r>
          </a:p>
          <a:p>
            <a:endParaRPr kumimoji="1" lang="en-US" altLang="ja-JP" sz="1200" kern="1200" dirty="0">
              <a:solidFill>
                <a:schemeClr val="tx1"/>
              </a:solidFill>
              <a:effectLst/>
              <a:latin typeface="+mn-lt"/>
              <a:ea typeface="+mn-ea"/>
              <a:cs typeface="+mn-cs"/>
            </a:endParaRPr>
          </a:p>
          <a:p>
            <a:r>
              <a:rPr kumimoji="1" lang="ja-JP" altLang="ja-JP" sz="1200" kern="1200">
                <a:solidFill>
                  <a:schemeClr val="tx1"/>
                </a:solidFill>
                <a:effectLst/>
                <a:latin typeface="+mn-lt"/>
                <a:ea typeface="+mn-ea"/>
                <a:cs typeface="+mn-cs"/>
              </a:rPr>
              <a:t>システマティックレビュー</a:t>
            </a:r>
            <a:r>
              <a:rPr kumimoji="1" lang="ja-JP" altLang="en-US" sz="1200" kern="1200">
                <a:solidFill>
                  <a:schemeClr val="tx1"/>
                </a:solidFill>
                <a:effectLst/>
                <a:latin typeface="+mn-lt"/>
                <a:ea typeface="+mn-ea"/>
                <a:cs typeface="+mn-cs"/>
              </a:rPr>
              <a:t>が</a:t>
            </a:r>
            <a:r>
              <a:rPr kumimoji="1" lang="en-US" altLang="ja-JP" sz="1200" kern="1200" dirty="0">
                <a:solidFill>
                  <a:schemeClr val="tx1"/>
                </a:solidFill>
                <a:effectLst/>
                <a:latin typeface="+mn-lt"/>
                <a:ea typeface="+mn-ea"/>
                <a:cs typeface="+mn-cs"/>
              </a:rPr>
              <a:t>1</a:t>
            </a:r>
            <a:r>
              <a:rPr kumimoji="1" lang="ja-JP" altLang="en-US" sz="1200" kern="1200">
                <a:solidFill>
                  <a:schemeClr val="tx1"/>
                </a:solidFill>
                <a:effectLst/>
                <a:latin typeface="+mn-lt"/>
                <a:ea typeface="+mn-ea"/>
                <a:cs typeface="+mn-cs"/>
              </a:rPr>
              <a:t>件</a:t>
            </a:r>
            <a:r>
              <a:rPr kumimoji="1" lang="ja-JP" altLang="ja-JP" sz="1200" kern="1200">
                <a:solidFill>
                  <a:schemeClr val="tx1"/>
                </a:solidFill>
                <a:effectLst/>
                <a:latin typeface="+mn-lt"/>
                <a:ea typeface="+mn-ea"/>
                <a:cs typeface="+mn-cs"/>
              </a:rPr>
              <a:t>です。</a:t>
            </a:r>
            <a:endParaRPr kumimoji="1" lang="en-US" altLang="ja-JP" sz="1200" kern="1200" dirty="0">
              <a:solidFill>
                <a:schemeClr val="tx1"/>
              </a:solidFill>
              <a:effectLst/>
              <a:latin typeface="+mn-lt"/>
              <a:ea typeface="+mn-ea"/>
              <a:cs typeface="+mn-cs"/>
            </a:endParaRPr>
          </a:p>
          <a:p>
            <a:endParaRPr kumimoji="1" lang="en-US" altLang="ja-JP" sz="1200" kern="1200" dirty="0">
              <a:solidFill>
                <a:schemeClr val="tx1"/>
              </a:solidFill>
              <a:effectLst/>
              <a:latin typeface="+mn-lt"/>
              <a:ea typeface="+mn-ea"/>
              <a:cs typeface="+mn-cs"/>
            </a:endParaRPr>
          </a:p>
          <a:p>
            <a:r>
              <a:rPr kumimoji="1" lang="ja-JP" altLang="en-US" sz="1200" kern="1200">
                <a:solidFill>
                  <a:schemeClr val="tx1"/>
                </a:solidFill>
                <a:effectLst/>
                <a:latin typeface="+mn-lt"/>
                <a:ea typeface="+mn-ea"/>
                <a:cs typeface="+mn-cs"/>
              </a:rPr>
              <a:t>学会発表は、上記論文以外の</a:t>
            </a:r>
            <a:r>
              <a:rPr kumimoji="1" lang="ja-JP" altLang="ja-JP" sz="1200" kern="1200">
                <a:solidFill>
                  <a:schemeClr val="tx1"/>
                </a:solidFill>
                <a:effectLst/>
                <a:latin typeface="+mn-lt"/>
                <a:ea typeface="+mn-ea"/>
                <a:cs typeface="+mn-cs"/>
              </a:rPr>
              <a:t>システマティックレビュー</a:t>
            </a:r>
            <a:r>
              <a:rPr kumimoji="1" lang="ja-JP" altLang="en-US" sz="1200" kern="1200">
                <a:solidFill>
                  <a:schemeClr val="tx1"/>
                </a:solidFill>
                <a:effectLst/>
                <a:latin typeface="+mn-lt"/>
                <a:ea typeface="+mn-ea"/>
                <a:cs typeface="+mn-cs"/>
              </a:rPr>
              <a:t>が</a:t>
            </a:r>
            <a:r>
              <a:rPr kumimoji="1" lang="en-US" altLang="ja-JP" sz="1200" kern="1200" dirty="0">
                <a:solidFill>
                  <a:schemeClr val="tx1"/>
                </a:solidFill>
                <a:effectLst/>
                <a:latin typeface="+mn-lt"/>
                <a:ea typeface="+mn-ea"/>
                <a:cs typeface="+mn-cs"/>
              </a:rPr>
              <a:t>1</a:t>
            </a:r>
            <a:r>
              <a:rPr kumimoji="1" lang="ja-JP" altLang="en-US" sz="1200" kern="1200">
                <a:solidFill>
                  <a:schemeClr val="tx1"/>
                </a:solidFill>
                <a:effectLst/>
                <a:latin typeface="+mn-lt"/>
                <a:ea typeface="+mn-ea"/>
                <a:cs typeface="+mn-cs"/>
              </a:rPr>
              <a:t>件です</a:t>
            </a:r>
            <a:r>
              <a:rPr kumimoji="1" lang="ja-JP" altLang="ja-JP" sz="1200" kern="1200">
                <a:solidFill>
                  <a:schemeClr val="tx1"/>
                </a:solidFill>
                <a:effectLst/>
                <a:latin typeface="+mn-lt"/>
                <a:ea typeface="+mn-ea"/>
                <a:cs typeface="+mn-cs"/>
              </a:rPr>
              <a:t>。</a:t>
            </a:r>
          </a:p>
          <a:p>
            <a:endParaRPr kumimoji="1" lang="ja-JP" altLang="en-US"/>
          </a:p>
        </p:txBody>
      </p:sp>
      <p:sp>
        <p:nvSpPr>
          <p:cNvPr id="4" name="スライド番号プレースホルダー 3"/>
          <p:cNvSpPr>
            <a:spLocks noGrp="1"/>
          </p:cNvSpPr>
          <p:nvPr>
            <p:ph type="sldNum" sz="quarter" idx="5"/>
          </p:nvPr>
        </p:nvSpPr>
        <p:spPr/>
        <p:txBody>
          <a:bodyPr/>
          <a:lstStyle/>
          <a:p>
            <a:fld id="{A56CB60D-A68C-D74B-8949-411CD6AAB588}" type="slidenum">
              <a:rPr kumimoji="1" lang="ja-JP" altLang="en-US" smtClean="0"/>
              <a:t>11</a:t>
            </a:fld>
            <a:endParaRPr kumimoji="1" lang="ja-JP" altLang="en-US"/>
          </a:p>
        </p:txBody>
      </p:sp>
    </p:spTree>
    <p:extLst>
      <p:ext uri="{BB962C8B-B14F-4D97-AF65-F5344CB8AC3E}">
        <p14:creationId xmlns:p14="http://schemas.microsoft.com/office/powerpoint/2010/main" val="21821009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BAAD0B-7346-D2BB-FE96-29F66612A0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E7BE34-3125-992C-4A9D-56A4C2A52AE3}"/>
              </a:ext>
            </a:extLst>
          </p:cNvPr>
          <p:cNvSpPr>
            <a:spLocks noGrp="1" noRot="1" noChangeAspect="1"/>
          </p:cNvSpPr>
          <p:nvPr>
            <p:ph type="sldImg"/>
          </p:nvPr>
        </p:nvSpPr>
        <p:spPr/>
        <p:txBody>
          <a:bodyPr/>
          <a:lstStyle/>
          <a:p>
            <a:endParaRPr lang="ja-JP" altLang="en-US"/>
          </a:p>
        </p:txBody>
      </p:sp>
      <p:sp>
        <p:nvSpPr>
          <p:cNvPr id="3" name="Notes Placeholder 2">
            <a:extLst>
              <a:ext uri="{FF2B5EF4-FFF2-40B4-BE49-F238E27FC236}">
                <a16:creationId xmlns:a16="http://schemas.microsoft.com/office/drawing/2014/main" id="{04C00881-C4DA-B168-C540-AF1D5013EC26}"/>
              </a:ext>
            </a:extLst>
          </p:cNvPr>
          <p:cNvSpPr>
            <a:spLocks noGrp="1"/>
          </p:cNvSpPr>
          <p:nvPr>
            <p:ph type="body" idx="1"/>
          </p:nvPr>
        </p:nvSpPr>
        <p:spPr/>
        <p:txBody>
          <a:bodyPr/>
          <a:lstStyle/>
          <a:p>
            <a:r>
              <a:rPr kumimoji="1" lang="ja-JP" altLang="ja-JP" sz="1200" kern="1200">
                <a:solidFill>
                  <a:schemeClr val="tx1"/>
                </a:solidFill>
                <a:effectLst/>
                <a:latin typeface="+mn-lt"/>
                <a:ea typeface="+mn-ea"/>
                <a:cs typeface="+mn-cs"/>
              </a:rPr>
              <a:t>まとめです。</a:t>
            </a:r>
            <a:endParaRPr kumimoji="1" lang="en-US" altLang="ja-JP" sz="1200" kern="1200" dirty="0">
              <a:solidFill>
                <a:schemeClr val="tx1"/>
              </a:solidFill>
              <a:effectLst/>
              <a:latin typeface="+mn-lt"/>
              <a:ea typeface="+mn-ea"/>
              <a:cs typeface="+mn-cs"/>
            </a:endParaRPr>
          </a:p>
          <a:p>
            <a:endParaRPr kumimoji="1" lang="en-US" altLang="ja-JP" sz="1200" kern="1200" dirty="0">
              <a:solidFill>
                <a:schemeClr val="tx1"/>
              </a:solidFill>
              <a:effectLst/>
              <a:latin typeface="+mn-lt"/>
              <a:ea typeface="+mn-ea"/>
              <a:cs typeface="+mn-cs"/>
            </a:endParaRPr>
          </a:p>
          <a:p>
            <a:r>
              <a:rPr kumimoji="1" lang="ja-JP" altLang="en-US" sz="1200" kern="1200">
                <a:solidFill>
                  <a:schemeClr val="tx1"/>
                </a:solidFill>
                <a:effectLst/>
                <a:latin typeface="+mn-lt"/>
                <a:ea typeface="+mn-ea"/>
                <a:cs typeface="+mn-cs"/>
              </a:rPr>
              <a:t>本研究のポイントです。</a:t>
            </a:r>
            <a:r>
              <a:rPr kumimoji="1" lang="en-US" altLang="ja-JP" sz="1200" kern="1200" dirty="0">
                <a:solidFill>
                  <a:schemeClr val="tx1"/>
                </a:solidFill>
                <a:effectLst/>
                <a:latin typeface="+mn-lt"/>
                <a:ea typeface="+mn-ea"/>
                <a:cs typeface="+mn-cs"/>
              </a:rPr>
              <a:t>3</a:t>
            </a:r>
            <a:r>
              <a:rPr kumimoji="1" lang="ja-JP" altLang="en-US" sz="1200" kern="1200">
                <a:solidFill>
                  <a:schemeClr val="tx1"/>
                </a:solidFill>
                <a:effectLst/>
                <a:latin typeface="+mn-lt"/>
                <a:ea typeface="+mn-ea"/>
                <a:cs typeface="+mn-cs"/>
              </a:rPr>
              <a:t>つあります。</a:t>
            </a:r>
            <a:endParaRPr kumimoji="1" lang="en-US" altLang="ja-JP" sz="1200" kern="1200" dirty="0">
              <a:solidFill>
                <a:schemeClr val="tx1"/>
              </a:solidFill>
              <a:effectLst/>
              <a:latin typeface="+mn-lt"/>
              <a:ea typeface="+mn-ea"/>
              <a:cs typeface="+mn-cs"/>
            </a:endParaRPr>
          </a:p>
          <a:p>
            <a:r>
              <a:rPr kumimoji="1" lang="en-US" altLang="ja-JP" sz="1200" kern="1200" dirty="0">
                <a:solidFill>
                  <a:schemeClr val="tx1"/>
                </a:solidFill>
                <a:effectLst/>
                <a:latin typeface="+mn-lt"/>
                <a:ea typeface="+mn-ea"/>
                <a:cs typeface="+mn-cs"/>
              </a:rPr>
              <a:t>1</a:t>
            </a:r>
            <a:r>
              <a:rPr kumimoji="1" lang="ja-JP" altLang="en-US" sz="1200" kern="1200">
                <a:solidFill>
                  <a:schemeClr val="tx1"/>
                </a:solidFill>
                <a:effectLst/>
                <a:latin typeface="+mn-lt"/>
                <a:ea typeface="+mn-ea"/>
                <a:cs typeface="+mn-cs"/>
              </a:rPr>
              <a:t>つ目は、「魔法の黒板」導入することで学生の問題を解決でき、その結果、学生の学習成果向上を目指せます。</a:t>
            </a:r>
            <a:endParaRPr kumimoji="1" lang="en-US" altLang="ja-JP" sz="1200" kern="1200" dirty="0">
              <a:solidFill>
                <a:schemeClr val="tx1"/>
              </a:solidFill>
              <a:effectLst/>
              <a:latin typeface="+mn-lt"/>
              <a:ea typeface="+mn-ea"/>
              <a:cs typeface="+mn-cs"/>
            </a:endParaRPr>
          </a:p>
          <a:p>
            <a:r>
              <a:rPr kumimoji="1" lang="en-US" altLang="ja-JP" sz="1200" kern="1200" dirty="0">
                <a:solidFill>
                  <a:schemeClr val="tx1"/>
                </a:solidFill>
                <a:effectLst/>
                <a:latin typeface="+mn-lt"/>
                <a:ea typeface="+mn-ea"/>
                <a:cs typeface="+mn-cs"/>
              </a:rPr>
              <a:t>2</a:t>
            </a:r>
            <a:r>
              <a:rPr kumimoji="1" lang="ja-JP" altLang="en-US" sz="1200" kern="1200">
                <a:solidFill>
                  <a:schemeClr val="tx1"/>
                </a:solidFill>
                <a:effectLst/>
                <a:latin typeface="+mn-lt"/>
                <a:ea typeface="+mn-ea"/>
                <a:cs typeface="+mn-cs"/>
              </a:rPr>
              <a:t>つ目は、学生が魔法の黒板を使用することで、教育の質向上を目指すことができます。</a:t>
            </a:r>
            <a:endParaRPr kumimoji="1" lang="en-US" altLang="ja-JP" sz="1200" kern="1200" dirty="0">
              <a:solidFill>
                <a:schemeClr val="tx1"/>
              </a:solidFill>
              <a:effectLst/>
              <a:latin typeface="+mn-lt"/>
              <a:ea typeface="+mn-ea"/>
              <a:cs typeface="+mn-cs"/>
            </a:endParaRPr>
          </a:p>
          <a:p>
            <a:r>
              <a:rPr kumimoji="1" lang="en-US" altLang="ja-JP" sz="1200" kern="1200" dirty="0">
                <a:solidFill>
                  <a:schemeClr val="tx1"/>
                </a:solidFill>
                <a:effectLst/>
                <a:latin typeface="+mn-lt"/>
                <a:ea typeface="+mn-ea"/>
                <a:cs typeface="+mn-cs"/>
              </a:rPr>
              <a:t>3</a:t>
            </a:r>
            <a:r>
              <a:rPr kumimoji="1" lang="ja-JP" altLang="en-US" sz="1200" kern="1200">
                <a:solidFill>
                  <a:schemeClr val="tx1"/>
                </a:solidFill>
                <a:effectLst/>
                <a:latin typeface="+mn-lt"/>
                <a:ea typeface="+mn-ea"/>
                <a:cs typeface="+mn-cs"/>
              </a:rPr>
              <a:t>つ目は、本研究を実施することで、せん妄ん領域のける教育改革へ貢献できます。</a:t>
            </a:r>
            <a:endParaRPr kumimoji="1" lang="en-US" altLang="ja-JP" sz="1200" kern="1200" dirty="0">
              <a:solidFill>
                <a:schemeClr val="tx1"/>
              </a:solidFill>
              <a:effectLst/>
              <a:latin typeface="+mn-lt"/>
              <a:ea typeface="+mn-ea"/>
              <a:cs typeface="+mn-cs"/>
            </a:endParaRPr>
          </a:p>
          <a:p>
            <a:endParaRPr kumimoji="1" lang="ja-JP" altLang="ja-JP" sz="1200" kern="1200">
              <a:solidFill>
                <a:schemeClr val="tx1"/>
              </a:solidFill>
              <a:effectLst/>
              <a:latin typeface="+mn-lt"/>
              <a:ea typeface="+mn-ea"/>
              <a:cs typeface="+mn-cs"/>
            </a:endParaRPr>
          </a:p>
          <a:p>
            <a:endParaRPr kumimoji="1" lang="ja-JP" altLang="ja-JP" sz="1200" kern="1200">
              <a:solidFill>
                <a:schemeClr val="tx1"/>
              </a:solidFill>
              <a:effectLst/>
              <a:latin typeface="+mn-lt"/>
              <a:ea typeface="+mn-ea"/>
              <a:cs typeface="+mn-cs"/>
            </a:endParaRPr>
          </a:p>
          <a:p>
            <a:r>
              <a:rPr kumimoji="1" lang="ja-JP" altLang="ja-JP" sz="1200" kern="1200">
                <a:solidFill>
                  <a:schemeClr val="tx1"/>
                </a:solidFill>
                <a:effectLst/>
                <a:latin typeface="+mn-lt"/>
                <a:ea typeface="+mn-ea"/>
                <a:cs typeface="+mn-cs"/>
              </a:rPr>
              <a:t>１　</a:t>
            </a:r>
            <a:r>
              <a:rPr kumimoji="1" lang="ja-JP" altLang="en-US" sz="1200" kern="1200">
                <a:solidFill>
                  <a:schemeClr val="tx1"/>
                </a:solidFill>
                <a:effectLst/>
                <a:latin typeface="+mn-lt"/>
                <a:ea typeface="+mn-ea"/>
                <a:cs typeface="+mn-cs"/>
              </a:rPr>
              <a:t>非対面型・</a:t>
            </a:r>
            <a:r>
              <a:rPr kumimoji="1" lang="en-US" altLang="ja-JP" sz="1200" kern="1200" dirty="0">
                <a:solidFill>
                  <a:schemeClr val="tx1"/>
                </a:solidFill>
                <a:effectLst/>
                <a:latin typeface="+mn-lt"/>
                <a:ea typeface="+mn-ea"/>
                <a:cs typeface="+mn-cs"/>
              </a:rPr>
              <a:t>24</a:t>
            </a:r>
            <a:r>
              <a:rPr kumimoji="1" lang="ja-JP" altLang="ja-JP" sz="1200" kern="1200">
                <a:solidFill>
                  <a:schemeClr val="tx1"/>
                </a:solidFill>
                <a:effectLst/>
                <a:latin typeface="+mn-lt"/>
                <a:ea typeface="+mn-ea"/>
                <a:cs typeface="+mn-cs"/>
              </a:rPr>
              <a:t>時間質問</a:t>
            </a:r>
            <a:r>
              <a:rPr kumimoji="1" lang="ja-JP" altLang="en-US" sz="1200" kern="1200">
                <a:solidFill>
                  <a:schemeClr val="tx1"/>
                </a:solidFill>
                <a:effectLst/>
                <a:latin typeface="+mn-lt"/>
                <a:ea typeface="+mn-ea"/>
                <a:cs typeface="+mn-cs"/>
              </a:rPr>
              <a:t>　</a:t>
            </a:r>
            <a:r>
              <a:rPr kumimoji="1" lang="ja-JP" altLang="ja-JP" sz="1200" kern="1200">
                <a:solidFill>
                  <a:schemeClr val="tx1"/>
                </a:solidFill>
                <a:effectLst/>
                <a:latin typeface="+mn-lt"/>
                <a:ea typeface="+mn-ea"/>
                <a:cs typeface="+mn-cs"/>
              </a:rPr>
              <a:t>対応</a:t>
            </a:r>
            <a:r>
              <a:rPr kumimoji="1" lang="ja-JP" altLang="en-US" sz="1200" kern="1200">
                <a:solidFill>
                  <a:schemeClr val="tx1"/>
                </a:solidFill>
                <a:effectLst/>
                <a:latin typeface="+mn-lt"/>
                <a:ea typeface="+mn-ea"/>
                <a:cs typeface="+mn-cs"/>
              </a:rPr>
              <a:t>　可能な</a:t>
            </a:r>
            <a:r>
              <a:rPr kumimoji="1" lang="ja-JP" altLang="ja-JP" sz="1200" kern="1200">
                <a:solidFill>
                  <a:schemeClr val="tx1"/>
                </a:solidFill>
                <a:effectLst/>
                <a:latin typeface="+mn-lt"/>
                <a:ea typeface="+mn-ea"/>
                <a:cs typeface="+mn-cs"/>
              </a:rPr>
              <a:t>学習環境を提供します。</a:t>
            </a:r>
            <a:endParaRPr kumimoji="1" lang="en-US" altLang="ja-JP" sz="1200" kern="1200" dirty="0">
              <a:solidFill>
                <a:schemeClr val="tx1"/>
              </a:solidFill>
              <a:effectLst/>
              <a:latin typeface="+mn-lt"/>
              <a:ea typeface="+mn-ea"/>
              <a:cs typeface="+mn-cs"/>
            </a:endParaRPr>
          </a:p>
          <a:p>
            <a:r>
              <a:rPr kumimoji="1" lang="ja-JP" altLang="ja-JP" sz="1200" kern="1200">
                <a:solidFill>
                  <a:schemeClr val="tx1"/>
                </a:solidFill>
                <a:effectLst/>
                <a:latin typeface="+mn-lt"/>
                <a:ea typeface="+mn-ea"/>
                <a:cs typeface="+mn-cs"/>
              </a:rPr>
              <a:t>これにより、学生の学習成果向上を目指すことができます。</a:t>
            </a:r>
          </a:p>
          <a:p>
            <a:r>
              <a:rPr kumimoji="1" lang="ja-JP" altLang="ja-JP" sz="1200" kern="1200">
                <a:solidFill>
                  <a:schemeClr val="tx1"/>
                </a:solidFill>
                <a:effectLst/>
                <a:latin typeface="+mn-lt"/>
                <a:ea typeface="+mn-ea"/>
                <a:cs typeface="+mn-cs"/>
              </a:rPr>
              <a:t>２　「つまずきの地図」による講義改善とエビデンスに基づく教育を設計します。</a:t>
            </a:r>
            <a:endParaRPr kumimoji="1" lang="en-US" altLang="ja-JP" sz="1200" kern="1200" dirty="0">
              <a:solidFill>
                <a:schemeClr val="tx1"/>
              </a:solidFill>
              <a:effectLst/>
              <a:latin typeface="+mn-lt"/>
              <a:ea typeface="+mn-ea"/>
              <a:cs typeface="+mn-cs"/>
            </a:endParaRPr>
          </a:p>
          <a:p>
            <a:r>
              <a:rPr kumimoji="1" lang="ja-JP" altLang="ja-JP" sz="1200" kern="1200">
                <a:solidFill>
                  <a:schemeClr val="tx1"/>
                </a:solidFill>
                <a:effectLst/>
                <a:latin typeface="+mn-lt"/>
                <a:ea typeface="+mn-ea"/>
                <a:cs typeface="+mn-cs"/>
              </a:rPr>
              <a:t>これにより、教育の質向上を目指すことができます。</a:t>
            </a:r>
          </a:p>
          <a:p>
            <a:r>
              <a:rPr kumimoji="1" lang="ja-JP" altLang="ja-JP" sz="1200" kern="1200">
                <a:solidFill>
                  <a:schemeClr val="tx1"/>
                </a:solidFill>
                <a:effectLst/>
                <a:latin typeface="+mn-lt"/>
                <a:ea typeface="+mn-ea"/>
                <a:cs typeface="+mn-cs"/>
              </a:rPr>
              <a:t>３　</a:t>
            </a:r>
            <a:r>
              <a:rPr kumimoji="1" lang="en-US" altLang="ja-JP" sz="1200" kern="1200" dirty="0">
                <a:solidFill>
                  <a:schemeClr val="tx1"/>
                </a:solidFill>
                <a:effectLst/>
                <a:latin typeface="+mn-lt"/>
                <a:ea typeface="+mn-ea"/>
                <a:cs typeface="+mn-cs"/>
              </a:rPr>
              <a:t>AI</a:t>
            </a:r>
            <a:r>
              <a:rPr kumimoji="1" lang="ja-JP" altLang="ja-JP" sz="1200" kern="1200">
                <a:solidFill>
                  <a:schemeClr val="tx1"/>
                </a:solidFill>
                <a:effectLst/>
                <a:latin typeface="+mn-lt"/>
                <a:ea typeface="+mn-ea"/>
                <a:cs typeface="+mn-cs"/>
              </a:rPr>
              <a:t>を活用した実証実験</a:t>
            </a:r>
            <a:r>
              <a:rPr kumimoji="1" lang="ja-JP" altLang="en-US" sz="1200" kern="1200">
                <a:solidFill>
                  <a:schemeClr val="tx1"/>
                </a:solidFill>
                <a:effectLst/>
                <a:latin typeface="+mn-lt"/>
                <a:ea typeface="+mn-ea"/>
                <a:cs typeface="+mn-cs"/>
              </a:rPr>
              <a:t>は、</a:t>
            </a:r>
            <a:r>
              <a:rPr kumimoji="1" lang="ja-JP" altLang="ja-JP" sz="1200" kern="1200">
                <a:solidFill>
                  <a:schemeClr val="tx1"/>
                </a:solidFill>
                <a:effectLst/>
                <a:latin typeface="+mn-lt"/>
                <a:ea typeface="+mn-ea"/>
                <a:cs typeface="+mn-cs"/>
              </a:rPr>
              <a:t>他学部・他大学へ発展可能性を見出します。</a:t>
            </a:r>
            <a:endParaRPr kumimoji="1" lang="en-US" altLang="ja-JP" sz="1200" kern="1200" dirty="0">
              <a:solidFill>
                <a:schemeClr val="tx1"/>
              </a:solidFill>
              <a:effectLst/>
              <a:latin typeface="+mn-lt"/>
              <a:ea typeface="+mn-ea"/>
              <a:cs typeface="+mn-cs"/>
            </a:endParaRPr>
          </a:p>
          <a:p>
            <a:r>
              <a:rPr kumimoji="1" lang="ja-JP" altLang="ja-JP" sz="1200" kern="1200">
                <a:solidFill>
                  <a:schemeClr val="tx1"/>
                </a:solidFill>
                <a:effectLst/>
                <a:latin typeface="+mn-lt"/>
                <a:ea typeface="+mn-ea"/>
                <a:cs typeface="+mn-cs"/>
              </a:rPr>
              <a:t>これにより、専門領域における教育改革に貢献します。</a:t>
            </a:r>
          </a:p>
          <a:p>
            <a:endParaRPr lang="en-US" dirty="0"/>
          </a:p>
        </p:txBody>
      </p:sp>
      <p:sp>
        <p:nvSpPr>
          <p:cNvPr id="4" name="Slide Number Placeholder 3">
            <a:extLst>
              <a:ext uri="{FF2B5EF4-FFF2-40B4-BE49-F238E27FC236}">
                <a16:creationId xmlns:a16="http://schemas.microsoft.com/office/drawing/2014/main" id="{49EC242B-6563-31E0-E65E-85EBC220D5F2}"/>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31404903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4431C9-0BEA-C83F-55CB-2490721D34B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A7B3956-B98B-243D-1C59-8E49DB557EC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FEB31D1-3C38-6C54-AA1F-413AC524AAA9}"/>
              </a:ext>
            </a:extLst>
          </p:cNvPr>
          <p:cNvSpPr>
            <a:spLocks noGrp="1"/>
          </p:cNvSpPr>
          <p:nvPr>
            <p:ph type="body" idx="1"/>
          </p:nvPr>
        </p:nvSpPr>
        <p:spPr/>
        <p:txBody>
          <a:bodyPr/>
          <a:lstStyle/>
          <a:p>
            <a:r>
              <a:rPr kumimoji="1" lang="ja-JP" altLang="ja-JP" sz="1200" kern="1200">
                <a:solidFill>
                  <a:schemeClr val="tx1"/>
                </a:solidFill>
                <a:effectLst/>
                <a:latin typeface="+mn-lt"/>
                <a:ea typeface="+mn-ea"/>
                <a:cs typeface="+mn-cs"/>
              </a:rPr>
              <a:t>最後に、私のビジョン</a:t>
            </a:r>
            <a:r>
              <a:rPr kumimoji="1" lang="ja-JP" altLang="en-US" sz="1200" kern="1200">
                <a:solidFill>
                  <a:schemeClr val="tx1"/>
                </a:solidFill>
                <a:effectLst/>
                <a:latin typeface="+mn-lt"/>
                <a:ea typeface="+mn-ea"/>
                <a:cs typeface="+mn-cs"/>
              </a:rPr>
              <a:t>です</a:t>
            </a:r>
            <a:r>
              <a:rPr kumimoji="1" lang="ja-JP" altLang="ja-JP" sz="1200" kern="1200">
                <a:solidFill>
                  <a:schemeClr val="tx1"/>
                </a:solidFill>
                <a:effectLst/>
                <a:latin typeface="+mn-lt"/>
                <a:ea typeface="+mn-ea"/>
                <a:cs typeface="+mn-cs"/>
              </a:rPr>
              <a:t>。</a:t>
            </a:r>
            <a:endParaRPr kumimoji="1" lang="en-US" altLang="ja-JP" sz="1200" kern="1200" dirty="0">
              <a:solidFill>
                <a:schemeClr val="tx1"/>
              </a:solidFill>
              <a:effectLst/>
              <a:latin typeface="+mn-lt"/>
              <a:ea typeface="+mn-ea"/>
              <a:cs typeface="+mn-cs"/>
            </a:endParaRPr>
          </a:p>
          <a:p>
            <a:endParaRPr kumimoji="1" lang="ja-JP" altLang="ja-JP" sz="1200" kern="1200">
              <a:solidFill>
                <a:schemeClr val="tx1"/>
              </a:solidFill>
              <a:effectLst/>
              <a:latin typeface="+mn-lt"/>
              <a:ea typeface="+mn-ea"/>
              <a:cs typeface="+mn-cs"/>
            </a:endParaRPr>
          </a:p>
          <a:p>
            <a:r>
              <a:rPr kumimoji="1" lang="ja-JP" altLang="ja-JP" sz="1200" kern="1200">
                <a:solidFill>
                  <a:schemeClr val="tx1"/>
                </a:solidFill>
                <a:effectLst/>
                <a:latin typeface="+mn-lt"/>
                <a:ea typeface="+mn-ea"/>
                <a:cs typeface="+mn-cs"/>
              </a:rPr>
              <a:t>人間による「教える」と、</a:t>
            </a:r>
            <a:r>
              <a:rPr kumimoji="1" lang="en-US" altLang="ja-JP" sz="1200" kern="1200" dirty="0">
                <a:solidFill>
                  <a:schemeClr val="tx1"/>
                </a:solidFill>
                <a:effectLst/>
                <a:latin typeface="+mn-lt"/>
                <a:ea typeface="+mn-ea"/>
                <a:cs typeface="+mn-cs"/>
              </a:rPr>
              <a:t>AI</a:t>
            </a:r>
            <a:r>
              <a:rPr kumimoji="1" lang="ja-JP" altLang="ja-JP" sz="1200" kern="1200">
                <a:solidFill>
                  <a:schemeClr val="tx1"/>
                </a:solidFill>
                <a:effectLst/>
                <a:latin typeface="+mn-lt"/>
                <a:ea typeface="+mn-ea"/>
                <a:cs typeface="+mn-cs"/>
              </a:rPr>
              <a:t>による「支える」、</a:t>
            </a:r>
            <a:endParaRPr kumimoji="1" lang="en-US" altLang="ja-JP" sz="1200" kern="1200" dirty="0">
              <a:solidFill>
                <a:schemeClr val="tx1"/>
              </a:solidFill>
              <a:effectLst/>
              <a:latin typeface="+mn-lt"/>
              <a:ea typeface="+mn-ea"/>
              <a:cs typeface="+mn-cs"/>
            </a:endParaRPr>
          </a:p>
          <a:p>
            <a:endParaRPr kumimoji="1" lang="en-US" altLang="ja-JP" sz="1200" kern="1200" dirty="0">
              <a:solidFill>
                <a:schemeClr val="tx1"/>
              </a:solidFill>
              <a:effectLst/>
              <a:latin typeface="+mn-lt"/>
              <a:ea typeface="+mn-ea"/>
              <a:cs typeface="+mn-cs"/>
            </a:endParaRPr>
          </a:p>
          <a:p>
            <a:r>
              <a:rPr kumimoji="1" lang="ja-JP" altLang="ja-JP" sz="1200" kern="1200">
                <a:solidFill>
                  <a:schemeClr val="tx1"/>
                </a:solidFill>
                <a:effectLst/>
                <a:latin typeface="+mn-lt"/>
                <a:ea typeface="+mn-ea"/>
                <a:cs typeface="+mn-cs"/>
              </a:rPr>
              <a:t>融合が</a:t>
            </a:r>
            <a:r>
              <a:rPr kumimoji="1" lang="ja-JP" altLang="en-US" sz="1200" kern="1200">
                <a:solidFill>
                  <a:schemeClr val="tx1"/>
                </a:solidFill>
                <a:effectLst/>
                <a:latin typeface="+mn-lt"/>
                <a:ea typeface="+mn-ea"/>
                <a:cs typeface="+mn-cs"/>
              </a:rPr>
              <a:t>　　</a:t>
            </a:r>
            <a:endParaRPr kumimoji="1" lang="en-US" altLang="ja-JP" sz="1200" kern="1200" dirty="0">
              <a:solidFill>
                <a:schemeClr val="tx1"/>
              </a:solidFill>
              <a:effectLst/>
              <a:latin typeface="+mn-lt"/>
              <a:ea typeface="+mn-ea"/>
              <a:cs typeface="+mn-cs"/>
            </a:endParaRPr>
          </a:p>
          <a:p>
            <a:endParaRPr kumimoji="1" lang="en-US" altLang="ja-JP" sz="1200" kern="1200" dirty="0">
              <a:solidFill>
                <a:schemeClr val="tx1"/>
              </a:solidFill>
              <a:effectLst/>
              <a:latin typeface="+mn-lt"/>
              <a:ea typeface="+mn-ea"/>
              <a:cs typeface="+mn-cs"/>
            </a:endParaRPr>
          </a:p>
          <a:p>
            <a:r>
              <a:rPr kumimoji="1" lang="ja-JP" altLang="ja-JP" sz="1200" kern="1200">
                <a:solidFill>
                  <a:schemeClr val="tx1"/>
                </a:solidFill>
                <a:effectLst/>
                <a:latin typeface="+mn-lt"/>
                <a:ea typeface="+mn-ea"/>
                <a:cs typeface="+mn-cs"/>
              </a:rPr>
              <a:t>学びの未来を変え</a:t>
            </a:r>
            <a:r>
              <a:rPr kumimoji="1" lang="ja-JP" altLang="en-US" sz="1200" kern="1200">
                <a:solidFill>
                  <a:schemeClr val="tx1"/>
                </a:solidFill>
                <a:effectLst/>
                <a:latin typeface="+mn-lt"/>
                <a:ea typeface="+mn-ea"/>
                <a:cs typeface="+mn-cs"/>
              </a:rPr>
              <a:t>ることと確信しており</a:t>
            </a:r>
            <a:r>
              <a:rPr kumimoji="1" lang="ja-JP" altLang="ja-JP" sz="1200" kern="1200">
                <a:solidFill>
                  <a:schemeClr val="tx1"/>
                </a:solidFill>
                <a:effectLst/>
                <a:latin typeface="+mn-lt"/>
                <a:ea typeface="+mn-ea"/>
                <a:cs typeface="+mn-cs"/>
              </a:rPr>
              <a:t>ます。</a:t>
            </a:r>
          </a:p>
          <a:p>
            <a:endParaRPr kumimoji="1" lang="en-US" altLang="ja-JP" sz="1200" kern="1200" dirty="0">
              <a:solidFill>
                <a:schemeClr val="tx1"/>
              </a:solidFill>
              <a:effectLst/>
              <a:latin typeface="+mn-lt"/>
              <a:ea typeface="+mn-ea"/>
              <a:cs typeface="+mn-cs"/>
            </a:endParaRPr>
          </a:p>
          <a:p>
            <a:r>
              <a:rPr kumimoji="1" lang="ja-JP" altLang="ja-JP" sz="1200" kern="1200">
                <a:solidFill>
                  <a:schemeClr val="tx1"/>
                </a:solidFill>
                <a:effectLst/>
                <a:latin typeface="+mn-lt"/>
                <a:ea typeface="+mn-ea"/>
                <a:cs typeface="+mn-cs"/>
              </a:rPr>
              <a:t>ご清聴ありがとうございました。</a:t>
            </a:r>
            <a:r>
              <a:rPr lang="ja-JP" altLang="ja-JP">
                <a:effectLst/>
              </a:rPr>
              <a:t> </a:t>
            </a:r>
            <a:endParaRPr kumimoji="1" lang="ja-JP" altLang="en-US"/>
          </a:p>
        </p:txBody>
      </p:sp>
      <p:sp>
        <p:nvSpPr>
          <p:cNvPr id="4" name="スライド番号プレースホルダー 3">
            <a:extLst>
              <a:ext uri="{FF2B5EF4-FFF2-40B4-BE49-F238E27FC236}">
                <a16:creationId xmlns:a16="http://schemas.microsoft.com/office/drawing/2014/main" id="{4847D08C-360B-CFAF-3049-6F006D7A697A}"/>
              </a:ext>
            </a:extLst>
          </p:cNvPr>
          <p:cNvSpPr>
            <a:spLocks noGrp="1"/>
          </p:cNvSpPr>
          <p:nvPr>
            <p:ph type="sldNum" sz="quarter" idx="5"/>
          </p:nvPr>
        </p:nvSpPr>
        <p:spPr/>
        <p:txBody>
          <a:bodyPr/>
          <a:lstStyle/>
          <a:p>
            <a:fld id="{A56CB60D-A68C-D74B-8949-411CD6AAB588}" type="slidenum">
              <a:rPr kumimoji="1" lang="ja-JP" altLang="en-US" smtClean="0"/>
              <a:t>13</a:t>
            </a:fld>
            <a:endParaRPr kumimoji="1" lang="ja-JP" altLang="en-US"/>
          </a:p>
        </p:txBody>
      </p:sp>
    </p:spTree>
    <p:extLst>
      <p:ext uri="{BB962C8B-B14F-4D97-AF65-F5344CB8AC3E}">
        <p14:creationId xmlns:p14="http://schemas.microsoft.com/office/powerpoint/2010/main" val="15748691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9830339-46D6-4277-BA0B-2F9D53503A06}"/>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CFF29102-F716-180D-36D7-09199B26B38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B716B0DF-F498-93F2-0B5E-85AEB429C35F}"/>
              </a:ext>
            </a:extLst>
          </p:cNvPr>
          <p:cNvSpPr>
            <a:spLocks noGrp="1"/>
          </p:cNvSpPr>
          <p:nvPr>
            <p:ph type="dt" sz="half" idx="10"/>
          </p:nvPr>
        </p:nvSpPr>
        <p:spPr/>
        <p:txBody>
          <a:bodyPr/>
          <a:lstStyle/>
          <a:p>
            <a:fld id="{F0EDC2ED-78CE-704F-B9CF-B6C276EAC7B1}" type="datetimeFigureOut">
              <a:rPr kumimoji="1" lang="ja-JP" altLang="en-US" smtClean="0"/>
              <a:t>2026/2/20</a:t>
            </a:fld>
            <a:endParaRPr kumimoji="1" lang="ja-JP" altLang="en-US"/>
          </a:p>
        </p:txBody>
      </p:sp>
      <p:sp>
        <p:nvSpPr>
          <p:cNvPr id="5" name="フッター プレースホルダー 4">
            <a:extLst>
              <a:ext uri="{FF2B5EF4-FFF2-40B4-BE49-F238E27FC236}">
                <a16:creationId xmlns:a16="http://schemas.microsoft.com/office/drawing/2014/main" id="{3B1D021C-1B87-C694-3021-A027121414F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53025E9-DB71-2BBD-C017-0822301A7ED6}"/>
              </a:ext>
            </a:extLst>
          </p:cNvPr>
          <p:cNvSpPr>
            <a:spLocks noGrp="1"/>
          </p:cNvSpPr>
          <p:nvPr>
            <p:ph type="sldNum" sz="quarter" idx="12"/>
          </p:nvPr>
        </p:nvSpPr>
        <p:spPr/>
        <p:txBody>
          <a:bodyPr/>
          <a:lstStyle/>
          <a:p>
            <a:fld id="{74DB7571-EF24-6544-BC49-DE47E988B8DC}" type="slidenum">
              <a:rPr kumimoji="1" lang="ja-JP" altLang="en-US" smtClean="0"/>
              <a:t>‹#›</a:t>
            </a:fld>
            <a:endParaRPr kumimoji="1" lang="ja-JP" altLang="en-US"/>
          </a:p>
        </p:txBody>
      </p:sp>
    </p:spTree>
    <p:extLst>
      <p:ext uri="{BB962C8B-B14F-4D97-AF65-F5344CB8AC3E}">
        <p14:creationId xmlns:p14="http://schemas.microsoft.com/office/powerpoint/2010/main" val="12401943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119E432-9E8A-46F6-B02B-389F4A7A505C}"/>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70D282F3-CCC7-3B03-F0C3-0E4CDB93AB94}"/>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58361813-F3BE-89EE-E07A-ED12AFAF6035}"/>
              </a:ext>
            </a:extLst>
          </p:cNvPr>
          <p:cNvSpPr>
            <a:spLocks noGrp="1"/>
          </p:cNvSpPr>
          <p:nvPr>
            <p:ph type="dt" sz="half" idx="10"/>
          </p:nvPr>
        </p:nvSpPr>
        <p:spPr/>
        <p:txBody>
          <a:bodyPr/>
          <a:lstStyle/>
          <a:p>
            <a:fld id="{F0EDC2ED-78CE-704F-B9CF-B6C276EAC7B1}" type="datetimeFigureOut">
              <a:rPr kumimoji="1" lang="ja-JP" altLang="en-US" smtClean="0"/>
              <a:t>2026/2/20</a:t>
            </a:fld>
            <a:endParaRPr kumimoji="1" lang="ja-JP" altLang="en-US"/>
          </a:p>
        </p:txBody>
      </p:sp>
      <p:sp>
        <p:nvSpPr>
          <p:cNvPr id="5" name="フッター プレースホルダー 4">
            <a:extLst>
              <a:ext uri="{FF2B5EF4-FFF2-40B4-BE49-F238E27FC236}">
                <a16:creationId xmlns:a16="http://schemas.microsoft.com/office/drawing/2014/main" id="{CC89BE28-15CF-D1FB-FB88-A6BDEA7FF4A0}"/>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6779DDD-60F7-8236-29A8-FBBFCB3F1A33}"/>
              </a:ext>
            </a:extLst>
          </p:cNvPr>
          <p:cNvSpPr>
            <a:spLocks noGrp="1"/>
          </p:cNvSpPr>
          <p:nvPr>
            <p:ph type="sldNum" sz="quarter" idx="12"/>
          </p:nvPr>
        </p:nvSpPr>
        <p:spPr/>
        <p:txBody>
          <a:bodyPr/>
          <a:lstStyle/>
          <a:p>
            <a:fld id="{74DB7571-EF24-6544-BC49-DE47E988B8DC}" type="slidenum">
              <a:rPr kumimoji="1" lang="ja-JP" altLang="en-US" smtClean="0"/>
              <a:t>‹#›</a:t>
            </a:fld>
            <a:endParaRPr kumimoji="1" lang="ja-JP" altLang="en-US"/>
          </a:p>
        </p:txBody>
      </p:sp>
    </p:spTree>
    <p:extLst>
      <p:ext uri="{BB962C8B-B14F-4D97-AF65-F5344CB8AC3E}">
        <p14:creationId xmlns:p14="http://schemas.microsoft.com/office/powerpoint/2010/main" val="30859714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C9C0E51-FC30-49C8-1575-1776521A86E1}"/>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5593340D-A5A3-F1A9-9044-DC874E809BF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192F5A62-24C7-5913-B010-EFCE0E4C89A9}"/>
              </a:ext>
            </a:extLst>
          </p:cNvPr>
          <p:cNvSpPr>
            <a:spLocks noGrp="1"/>
          </p:cNvSpPr>
          <p:nvPr>
            <p:ph type="dt" sz="half" idx="10"/>
          </p:nvPr>
        </p:nvSpPr>
        <p:spPr/>
        <p:txBody>
          <a:bodyPr/>
          <a:lstStyle/>
          <a:p>
            <a:fld id="{F0EDC2ED-78CE-704F-B9CF-B6C276EAC7B1}" type="datetimeFigureOut">
              <a:rPr kumimoji="1" lang="ja-JP" altLang="en-US" smtClean="0"/>
              <a:t>2026/2/20</a:t>
            </a:fld>
            <a:endParaRPr kumimoji="1" lang="ja-JP" altLang="en-US"/>
          </a:p>
        </p:txBody>
      </p:sp>
      <p:sp>
        <p:nvSpPr>
          <p:cNvPr id="5" name="フッター プレースホルダー 4">
            <a:extLst>
              <a:ext uri="{FF2B5EF4-FFF2-40B4-BE49-F238E27FC236}">
                <a16:creationId xmlns:a16="http://schemas.microsoft.com/office/drawing/2014/main" id="{502EB73D-179B-B70E-F4DC-3AFEF3A50BA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7E456E9-E15E-87FE-0A83-9400214E5146}"/>
              </a:ext>
            </a:extLst>
          </p:cNvPr>
          <p:cNvSpPr>
            <a:spLocks noGrp="1"/>
          </p:cNvSpPr>
          <p:nvPr>
            <p:ph type="sldNum" sz="quarter" idx="12"/>
          </p:nvPr>
        </p:nvSpPr>
        <p:spPr/>
        <p:txBody>
          <a:bodyPr/>
          <a:lstStyle/>
          <a:p>
            <a:fld id="{74DB7571-EF24-6544-BC49-DE47E988B8DC}" type="slidenum">
              <a:rPr kumimoji="1" lang="ja-JP" altLang="en-US" smtClean="0"/>
              <a:t>‹#›</a:t>
            </a:fld>
            <a:endParaRPr kumimoji="1" lang="ja-JP" altLang="en-US"/>
          </a:p>
        </p:txBody>
      </p:sp>
    </p:spTree>
    <p:extLst>
      <p:ext uri="{BB962C8B-B14F-4D97-AF65-F5344CB8AC3E}">
        <p14:creationId xmlns:p14="http://schemas.microsoft.com/office/powerpoint/2010/main" val="16366495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1D5DC18-777E-849C-7405-7C8995D9417A}"/>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4D4C793-F70D-7615-2398-FB07390B669A}"/>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D4DB491E-34EF-8608-1968-551CC31F2A62}"/>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BD2FCE4D-6FAE-92E2-0D26-EF49B653540A}"/>
              </a:ext>
            </a:extLst>
          </p:cNvPr>
          <p:cNvSpPr>
            <a:spLocks noGrp="1"/>
          </p:cNvSpPr>
          <p:nvPr>
            <p:ph type="dt" sz="half" idx="10"/>
          </p:nvPr>
        </p:nvSpPr>
        <p:spPr/>
        <p:txBody>
          <a:bodyPr/>
          <a:lstStyle/>
          <a:p>
            <a:fld id="{F0EDC2ED-78CE-704F-B9CF-B6C276EAC7B1}" type="datetimeFigureOut">
              <a:rPr kumimoji="1" lang="ja-JP" altLang="en-US" smtClean="0"/>
              <a:t>2026/2/20</a:t>
            </a:fld>
            <a:endParaRPr kumimoji="1" lang="ja-JP" altLang="en-US"/>
          </a:p>
        </p:txBody>
      </p:sp>
      <p:sp>
        <p:nvSpPr>
          <p:cNvPr id="6" name="フッター プレースホルダー 5">
            <a:extLst>
              <a:ext uri="{FF2B5EF4-FFF2-40B4-BE49-F238E27FC236}">
                <a16:creationId xmlns:a16="http://schemas.microsoft.com/office/drawing/2014/main" id="{EEF069CA-1609-02C4-FDFC-15945E950EE7}"/>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79B46B30-FB5F-88EC-BE3B-E283210D8414}"/>
              </a:ext>
            </a:extLst>
          </p:cNvPr>
          <p:cNvSpPr>
            <a:spLocks noGrp="1"/>
          </p:cNvSpPr>
          <p:nvPr>
            <p:ph type="sldNum" sz="quarter" idx="12"/>
          </p:nvPr>
        </p:nvSpPr>
        <p:spPr/>
        <p:txBody>
          <a:bodyPr/>
          <a:lstStyle/>
          <a:p>
            <a:fld id="{74DB7571-EF24-6544-BC49-DE47E988B8DC}" type="slidenum">
              <a:rPr kumimoji="1" lang="ja-JP" altLang="en-US" smtClean="0"/>
              <a:t>‹#›</a:t>
            </a:fld>
            <a:endParaRPr kumimoji="1" lang="ja-JP" altLang="en-US"/>
          </a:p>
        </p:txBody>
      </p:sp>
    </p:spTree>
    <p:extLst>
      <p:ext uri="{BB962C8B-B14F-4D97-AF65-F5344CB8AC3E}">
        <p14:creationId xmlns:p14="http://schemas.microsoft.com/office/powerpoint/2010/main" val="19518307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3E65559-50CD-89E1-7705-968B78749970}"/>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811471B9-E600-D256-3AEB-2291FD40FB5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496F8F25-B6C1-B010-2109-09EB0312EFDD}"/>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F464AA5B-1DD0-A887-F588-A0D9418FA14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E5ECE7D2-0275-BC69-12EB-A16217DF91FD}"/>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F3795171-119A-FA6C-3F41-BD7FFB34918F}"/>
              </a:ext>
            </a:extLst>
          </p:cNvPr>
          <p:cNvSpPr>
            <a:spLocks noGrp="1"/>
          </p:cNvSpPr>
          <p:nvPr>
            <p:ph type="dt" sz="half" idx="10"/>
          </p:nvPr>
        </p:nvSpPr>
        <p:spPr/>
        <p:txBody>
          <a:bodyPr/>
          <a:lstStyle/>
          <a:p>
            <a:fld id="{F0EDC2ED-78CE-704F-B9CF-B6C276EAC7B1}" type="datetimeFigureOut">
              <a:rPr kumimoji="1" lang="ja-JP" altLang="en-US" smtClean="0"/>
              <a:t>2026/2/20</a:t>
            </a:fld>
            <a:endParaRPr kumimoji="1" lang="ja-JP" altLang="en-US"/>
          </a:p>
        </p:txBody>
      </p:sp>
      <p:sp>
        <p:nvSpPr>
          <p:cNvPr id="8" name="フッター プレースホルダー 7">
            <a:extLst>
              <a:ext uri="{FF2B5EF4-FFF2-40B4-BE49-F238E27FC236}">
                <a16:creationId xmlns:a16="http://schemas.microsoft.com/office/drawing/2014/main" id="{B790B717-67BF-ADA2-10AF-640A2A692E50}"/>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CF532569-976A-E88A-024F-D63300FB724F}"/>
              </a:ext>
            </a:extLst>
          </p:cNvPr>
          <p:cNvSpPr>
            <a:spLocks noGrp="1"/>
          </p:cNvSpPr>
          <p:nvPr>
            <p:ph type="sldNum" sz="quarter" idx="12"/>
          </p:nvPr>
        </p:nvSpPr>
        <p:spPr/>
        <p:txBody>
          <a:bodyPr/>
          <a:lstStyle/>
          <a:p>
            <a:fld id="{74DB7571-EF24-6544-BC49-DE47E988B8DC}" type="slidenum">
              <a:rPr kumimoji="1" lang="ja-JP" altLang="en-US" smtClean="0"/>
              <a:t>‹#›</a:t>
            </a:fld>
            <a:endParaRPr kumimoji="1" lang="ja-JP" altLang="en-US"/>
          </a:p>
        </p:txBody>
      </p:sp>
    </p:spTree>
    <p:extLst>
      <p:ext uri="{BB962C8B-B14F-4D97-AF65-F5344CB8AC3E}">
        <p14:creationId xmlns:p14="http://schemas.microsoft.com/office/powerpoint/2010/main" val="25593725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54B603E-179A-0B78-6D94-18FAC7FDF9FE}"/>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42B70F68-8898-CF19-C0A5-B838B3CFBDD4}"/>
              </a:ext>
            </a:extLst>
          </p:cNvPr>
          <p:cNvSpPr>
            <a:spLocks noGrp="1"/>
          </p:cNvSpPr>
          <p:nvPr>
            <p:ph type="dt" sz="half" idx="10"/>
          </p:nvPr>
        </p:nvSpPr>
        <p:spPr/>
        <p:txBody>
          <a:bodyPr/>
          <a:lstStyle/>
          <a:p>
            <a:fld id="{F0EDC2ED-78CE-704F-B9CF-B6C276EAC7B1}" type="datetimeFigureOut">
              <a:rPr kumimoji="1" lang="ja-JP" altLang="en-US" smtClean="0"/>
              <a:t>2026/2/20</a:t>
            </a:fld>
            <a:endParaRPr kumimoji="1" lang="ja-JP" altLang="en-US"/>
          </a:p>
        </p:txBody>
      </p:sp>
      <p:sp>
        <p:nvSpPr>
          <p:cNvPr id="4" name="フッター プレースホルダー 3">
            <a:extLst>
              <a:ext uri="{FF2B5EF4-FFF2-40B4-BE49-F238E27FC236}">
                <a16:creationId xmlns:a16="http://schemas.microsoft.com/office/drawing/2014/main" id="{8E2D8B50-2C42-7C2B-E01F-58941E77F6B6}"/>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9569F158-0F79-EE96-52CB-A2856E3E11D1}"/>
              </a:ext>
            </a:extLst>
          </p:cNvPr>
          <p:cNvSpPr>
            <a:spLocks noGrp="1"/>
          </p:cNvSpPr>
          <p:nvPr>
            <p:ph type="sldNum" sz="quarter" idx="12"/>
          </p:nvPr>
        </p:nvSpPr>
        <p:spPr/>
        <p:txBody>
          <a:bodyPr/>
          <a:lstStyle/>
          <a:p>
            <a:fld id="{74DB7571-EF24-6544-BC49-DE47E988B8DC}" type="slidenum">
              <a:rPr kumimoji="1" lang="ja-JP" altLang="en-US" smtClean="0"/>
              <a:t>‹#›</a:t>
            </a:fld>
            <a:endParaRPr kumimoji="1" lang="ja-JP" altLang="en-US"/>
          </a:p>
        </p:txBody>
      </p:sp>
    </p:spTree>
    <p:extLst>
      <p:ext uri="{BB962C8B-B14F-4D97-AF65-F5344CB8AC3E}">
        <p14:creationId xmlns:p14="http://schemas.microsoft.com/office/powerpoint/2010/main" val="8273152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90B61648-1385-E05D-ADB1-E518E7BD5616}"/>
              </a:ext>
            </a:extLst>
          </p:cNvPr>
          <p:cNvSpPr>
            <a:spLocks noGrp="1"/>
          </p:cNvSpPr>
          <p:nvPr>
            <p:ph type="dt" sz="half" idx="10"/>
          </p:nvPr>
        </p:nvSpPr>
        <p:spPr/>
        <p:txBody>
          <a:bodyPr/>
          <a:lstStyle/>
          <a:p>
            <a:fld id="{F0EDC2ED-78CE-704F-B9CF-B6C276EAC7B1}" type="datetimeFigureOut">
              <a:rPr kumimoji="1" lang="ja-JP" altLang="en-US" smtClean="0"/>
              <a:t>2026/2/20</a:t>
            </a:fld>
            <a:endParaRPr kumimoji="1" lang="ja-JP" altLang="en-US"/>
          </a:p>
        </p:txBody>
      </p:sp>
      <p:sp>
        <p:nvSpPr>
          <p:cNvPr id="3" name="フッター プレースホルダー 2">
            <a:extLst>
              <a:ext uri="{FF2B5EF4-FFF2-40B4-BE49-F238E27FC236}">
                <a16:creationId xmlns:a16="http://schemas.microsoft.com/office/drawing/2014/main" id="{1DEDBB0B-C937-EAAE-7268-8A157FEA3343}"/>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BBB7BF27-3AEB-4A74-5109-DB1FF3E92BE7}"/>
              </a:ext>
            </a:extLst>
          </p:cNvPr>
          <p:cNvSpPr>
            <a:spLocks noGrp="1"/>
          </p:cNvSpPr>
          <p:nvPr>
            <p:ph type="sldNum" sz="quarter" idx="12"/>
          </p:nvPr>
        </p:nvSpPr>
        <p:spPr/>
        <p:txBody>
          <a:bodyPr/>
          <a:lstStyle/>
          <a:p>
            <a:fld id="{74DB7571-EF24-6544-BC49-DE47E988B8DC}" type="slidenum">
              <a:rPr kumimoji="1" lang="ja-JP" altLang="en-US" smtClean="0"/>
              <a:t>‹#›</a:t>
            </a:fld>
            <a:endParaRPr kumimoji="1" lang="ja-JP" altLang="en-US"/>
          </a:p>
        </p:txBody>
      </p:sp>
    </p:spTree>
    <p:extLst>
      <p:ext uri="{BB962C8B-B14F-4D97-AF65-F5344CB8AC3E}">
        <p14:creationId xmlns:p14="http://schemas.microsoft.com/office/powerpoint/2010/main" val="13064421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8CE4F8D-1A1C-21CC-E6A3-972898E3390F}"/>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0A2AD3C0-BEBF-33FB-E262-94424E3920D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46EA911E-BA29-295E-72C3-3A1002C28D6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5C9509C9-9715-1A84-88D8-738AB63BBA3F}"/>
              </a:ext>
            </a:extLst>
          </p:cNvPr>
          <p:cNvSpPr>
            <a:spLocks noGrp="1"/>
          </p:cNvSpPr>
          <p:nvPr>
            <p:ph type="dt" sz="half" idx="10"/>
          </p:nvPr>
        </p:nvSpPr>
        <p:spPr/>
        <p:txBody>
          <a:bodyPr/>
          <a:lstStyle/>
          <a:p>
            <a:fld id="{F0EDC2ED-78CE-704F-B9CF-B6C276EAC7B1}" type="datetimeFigureOut">
              <a:rPr kumimoji="1" lang="ja-JP" altLang="en-US" smtClean="0"/>
              <a:t>2026/2/20</a:t>
            </a:fld>
            <a:endParaRPr kumimoji="1" lang="ja-JP" altLang="en-US"/>
          </a:p>
        </p:txBody>
      </p:sp>
      <p:sp>
        <p:nvSpPr>
          <p:cNvPr id="6" name="フッター プレースホルダー 5">
            <a:extLst>
              <a:ext uri="{FF2B5EF4-FFF2-40B4-BE49-F238E27FC236}">
                <a16:creationId xmlns:a16="http://schemas.microsoft.com/office/drawing/2014/main" id="{40672CC2-CE30-5A5E-1019-59B9032E7C27}"/>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C034605E-FC5D-D795-85A7-FA40CB47EEC8}"/>
              </a:ext>
            </a:extLst>
          </p:cNvPr>
          <p:cNvSpPr>
            <a:spLocks noGrp="1"/>
          </p:cNvSpPr>
          <p:nvPr>
            <p:ph type="sldNum" sz="quarter" idx="12"/>
          </p:nvPr>
        </p:nvSpPr>
        <p:spPr/>
        <p:txBody>
          <a:bodyPr/>
          <a:lstStyle/>
          <a:p>
            <a:fld id="{74DB7571-EF24-6544-BC49-DE47E988B8DC}" type="slidenum">
              <a:rPr kumimoji="1" lang="ja-JP" altLang="en-US" smtClean="0"/>
              <a:t>‹#›</a:t>
            </a:fld>
            <a:endParaRPr kumimoji="1" lang="ja-JP" altLang="en-US"/>
          </a:p>
        </p:txBody>
      </p:sp>
    </p:spTree>
    <p:extLst>
      <p:ext uri="{BB962C8B-B14F-4D97-AF65-F5344CB8AC3E}">
        <p14:creationId xmlns:p14="http://schemas.microsoft.com/office/powerpoint/2010/main" val="1593481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CF1B432-6391-49C8-94DB-68688FD242FA}"/>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DE381A48-8DF2-4C01-15EA-86C377305B0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E19E80A8-7F3C-1B16-F301-304B34333C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E4567EEB-3E2F-BA71-738D-1CAA5BBDBE29}"/>
              </a:ext>
            </a:extLst>
          </p:cNvPr>
          <p:cNvSpPr>
            <a:spLocks noGrp="1"/>
          </p:cNvSpPr>
          <p:nvPr>
            <p:ph type="dt" sz="half" idx="10"/>
          </p:nvPr>
        </p:nvSpPr>
        <p:spPr/>
        <p:txBody>
          <a:bodyPr/>
          <a:lstStyle/>
          <a:p>
            <a:fld id="{F0EDC2ED-78CE-704F-B9CF-B6C276EAC7B1}" type="datetimeFigureOut">
              <a:rPr kumimoji="1" lang="ja-JP" altLang="en-US" smtClean="0"/>
              <a:t>2026/2/20</a:t>
            </a:fld>
            <a:endParaRPr kumimoji="1" lang="ja-JP" altLang="en-US"/>
          </a:p>
        </p:txBody>
      </p:sp>
      <p:sp>
        <p:nvSpPr>
          <p:cNvPr id="6" name="フッター プレースホルダー 5">
            <a:extLst>
              <a:ext uri="{FF2B5EF4-FFF2-40B4-BE49-F238E27FC236}">
                <a16:creationId xmlns:a16="http://schemas.microsoft.com/office/drawing/2014/main" id="{1B979F1E-27A6-11BE-9A74-23DCFBED065B}"/>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E5C99564-6796-72AE-6C76-AA48A68B255C}"/>
              </a:ext>
            </a:extLst>
          </p:cNvPr>
          <p:cNvSpPr>
            <a:spLocks noGrp="1"/>
          </p:cNvSpPr>
          <p:nvPr>
            <p:ph type="sldNum" sz="quarter" idx="12"/>
          </p:nvPr>
        </p:nvSpPr>
        <p:spPr/>
        <p:txBody>
          <a:bodyPr/>
          <a:lstStyle/>
          <a:p>
            <a:fld id="{74DB7571-EF24-6544-BC49-DE47E988B8DC}" type="slidenum">
              <a:rPr kumimoji="1" lang="ja-JP" altLang="en-US" smtClean="0"/>
              <a:t>‹#›</a:t>
            </a:fld>
            <a:endParaRPr kumimoji="1" lang="ja-JP" altLang="en-US"/>
          </a:p>
        </p:txBody>
      </p:sp>
    </p:spTree>
    <p:extLst>
      <p:ext uri="{BB962C8B-B14F-4D97-AF65-F5344CB8AC3E}">
        <p14:creationId xmlns:p14="http://schemas.microsoft.com/office/powerpoint/2010/main" val="13007613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0110623-3828-40C1-79F1-3FFF14981C55}"/>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876800EF-8DE9-11A0-CA7D-4045A4F278BA}"/>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59418228-000C-75AD-3AAC-4FA190EB4829}"/>
              </a:ext>
            </a:extLst>
          </p:cNvPr>
          <p:cNvSpPr>
            <a:spLocks noGrp="1"/>
          </p:cNvSpPr>
          <p:nvPr>
            <p:ph type="dt" sz="half" idx="10"/>
          </p:nvPr>
        </p:nvSpPr>
        <p:spPr/>
        <p:txBody>
          <a:bodyPr/>
          <a:lstStyle/>
          <a:p>
            <a:fld id="{F0EDC2ED-78CE-704F-B9CF-B6C276EAC7B1}" type="datetimeFigureOut">
              <a:rPr kumimoji="1" lang="ja-JP" altLang="en-US" smtClean="0"/>
              <a:t>2026/2/20</a:t>
            </a:fld>
            <a:endParaRPr kumimoji="1" lang="ja-JP" altLang="en-US"/>
          </a:p>
        </p:txBody>
      </p:sp>
      <p:sp>
        <p:nvSpPr>
          <p:cNvPr id="5" name="フッター プレースホルダー 4">
            <a:extLst>
              <a:ext uri="{FF2B5EF4-FFF2-40B4-BE49-F238E27FC236}">
                <a16:creationId xmlns:a16="http://schemas.microsoft.com/office/drawing/2014/main" id="{811BDB23-AC6B-F9F9-B15A-54FF9D03808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3BA07DA-2CCD-789E-C887-81921E2CA205}"/>
              </a:ext>
            </a:extLst>
          </p:cNvPr>
          <p:cNvSpPr>
            <a:spLocks noGrp="1"/>
          </p:cNvSpPr>
          <p:nvPr>
            <p:ph type="sldNum" sz="quarter" idx="12"/>
          </p:nvPr>
        </p:nvSpPr>
        <p:spPr/>
        <p:txBody>
          <a:bodyPr/>
          <a:lstStyle/>
          <a:p>
            <a:fld id="{74DB7571-EF24-6544-BC49-DE47E988B8DC}" type="slidenum">
              <a:rPr kumimoji="1" lang="ja-JP" altLang="en-US" smtClean="0"/>
              <a:t>‹#›</a:t>
            </a:fld>
            <a:endParaRPr kumimoji="1" lang="ja-JP" altLang="en-US"/>
          </a:p>
        </p:txBody>
      </p:sp>
    </p:spTree>
    <p:extLst>
      <p:ext uri="{BB962C8B-B14F-4D97-AF65-F5344CB8AC3E}">
        <p14:creationId xmlns:p14="http://schemas.microsoft.com/office/powerpoint/2010/main" val="11164373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84C6E1B8-D660-8BA9-EC66-1401AF215ACD}"/>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905849D8-B9D7-4F5E-58AE-8F4F06B88B9D}"/>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BF379AAF-838F-6370-817E-15C07AA98556}"/>
              </a:ext>
            </a:extLst>
          </p:cNvPr>
          <p:cNvSpPr>
            <a:spLocks noGrp="1"/>
          </p:cNvSpPr>
          <p:nvPr>
            <p:ph type="dt" sz="half" idx="10"/>
          </p:nvPr>
        </p:nvSpPr>
        <p:spPr/>
        <p:txBody>
          <a:bodyPr/>
          <a:lstStyle/>
          <a:p>
            <a:fld id="{F0EDC2ED-78CE-704F-B9CF-B6C276EAC7B1}" type="datetimeFigureOut">
              <a:rPr kumimoji="1" lang="ja-JP" altLang="en-US" smtClean="0"/>
              <a:t>2026/2/20</a:t>
            </a:fld>
            <a:endParaRPr kumimoji="1" lang="ja-JP" altLang="en-US"/>
          </a:p>
        </p:txBody>
      </p:sp>
      <p:sp>
        <p:nvSpPr>
          <p:cNvPr id="5" name="フッター プレースホルダー 4">
            <a:extLst>
              <a:ext uri="{FF2B5EF4-FFF2-40B4-BE49-F238E27FC236}">
                <a16:creationId xmlns:a16="http://schemas.microsoft.com/office/drawing/2014/main" id="{B822060D-B74C-959B-B9C0-AC92470A2DE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B0AC1F19-6EA8-E796-88E8-74C5F7B17C11}"/>
              </a:ext>
            </a:extLst>
          </p:cNvPr>
          <p:cNvSpPr>
            <a:spLocks noGrp="1"/>
          </p:cNvSpPr>
          <p:nvPr>
            <p:ph type="sldNum" sz="quarter" idx="12"/>
          </p:nvPr>
        </p:nvSpPr>
        <p:spPr/>
        <p:txBody>
          <a:bodyPr/>
          <a:lstStyle/>
          <a:p>
            <a:fld id="{74DB7571-EF24-6544-BC49-DE47E988B8DC}" type="slidenum">
              <a:rPr kumimoji="1" lang="ja-JP" altLang="en-US" smtClean="0"/>
              <a:t>‹#›</a:t>
            </a:fld>
            <a:endParaRPr kumimoji="1" lang="ja-JP" altLang="en-US"/>
          </a:p>
        </p:txBody>
      </p:sp>
    </p:spTree>
    <p:extLst>
      <p:ext uri="{BB962C8B-B14F-4D97-AF65-F5344CB8AC3E}">
        <p14:creationId xmlns:p14="http://schemas.microsoft.com/office/powerpoint/2010/main" val="25978011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spTree>
      <p:nvGrpSpPr>
        <p:cNvPr id="1" name=""/>
        <p:cNvGrpSpPr/>
        <p:nvPr/>
      </p:nvGrpSpPr>
      <p:grpSpPr>
        <a:xfrm>
          <a:off x="0" y="0"/>
          <a:ext cx="0" cy="0"/>
          <a:chOff x="0" y="0"/>
          <a:chExt cx="0" cy="0"/>
        </a:xfrm>
      </p:grpSpPr>
    </p:spTree>
    <p:extLst>
      <p:ext uri="{BB962C8B-B14F-4D97-AF65-F5344CB8AC3E}">
        <p14:creationId xmlns:p14="http://schemas.microsoft.com/office/powerpoint/2010/main" val="7687549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5">
            <a:lumMod val="60000"/>
            <a:lumOff val="40000"/>
          </a:schemeClr>
        </a:solidFill>
        <a:effectLst/>
      </p:bgPr>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160331C9-DB52-AE3F-EABF-AF1CA41C04F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D0CC16E7-8849-16BD-23EA-F4AA71AE7BA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5B1C562B-07E2-7792-EFD4-B36B79E6525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0EDC2ED-78CE-704F-B9CF-B6C276EAC7B1}" type="datetimeFigureOut">
              <a:rPr kumimoji="1" lang="ja-JP" altLang="en-US" smtClean="0"/>
              <a:t>2026/2/20</a:t>
            </a:fld>
            <a:endParaRPr kumimoji="1" lang="ja-JP" altLang="en-US"/>
          </a:p>
        </p:txBody>
      </p:sp>
      <p:sp>
        <p:nvSpPr>
          <p:cNvPr id="5" name="フッター プレースホルダー 4">
            <a:extLst>
              <a:ext uri="{FF2B5EF4-FFF2-40B4-BE49-F238E27FC236}">
                <a16:creationId xmlns:a16="http://schemas.microsoft.com/office/drawing/2014/main" id="{FB40BC85-BB42-2C36-1212-5923C14C685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D9CFF141-E2C1-8C9D-722C-07B588FAECC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4DB7571-EF24-6544-BC49-DE47E988B8DC}" type="slidenum">
              <a:rPr kumimoji="1" lang="ja-JP" altLang="en-US" smtClean="0"/>
              <a:t>‹#›</a:t>
            </a:fld>
            <a:endParaRPr kumimoji="1" lang="ja-JP" altLang="en-US"/>
          </a:p>
        </p:txBody>
      </p:sp>
    </p:spTree>
    <p:extLst>
      <p:ext uri="{BB962C8B-B14F-4D97-AF65-F5344CB8AC3E}">
        <p14:creationId xmlns:p14="http://schemas.microsoft.com/office/powerpoint/2010/main" val="11290369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C4249646-67A8-E2A9-9884-1164DE52AF02}"/>
              </a:ext>
            </a:extLst>
          </p:cNvPr>
          <p:cNvSpPr txBox="1"/>
          <p:nvPr/>
        </p:nvSpPr>
        <p:spPr>
          <a:xfrm>
            <a:off x="855624" y="1248316"/>
            <a:ext cx="10480753" cy="2400657"/>
          </a:xfrm>
          <a:prstGeom prst="rect">
            <a:avLst/>
          </a:prstGeom>
          <a:noFill/>
        </p:spPr>
        <p:txBody>
          <a:bodyPr wrap="none" rtlCol="0">
            <a:spAutoFit/>
          </a:bodyPr>
          <a:lstStyle/>
          <a:p>
            <a:pPr algn="ctr"/>
            <a:r>
              <a:rPr kumimoji="1" lang="ja-JP" altLang="en-US" sz="3600">
                <a:latin typeface="MS UI Gothic" panose="020B0600070205080204" pitchFamily="34" charset="-128"/>
                <a:ea typeface="MS UI Gothic" panose="020B0600070205080204" pitchFamily="34" charset="-128"/>
              </a:rPr>
              <a:t>生成系</a:t>
            </a:r>
            <a:r>
              <a:rPr kumimoji="1" lang="en-US" altLang="ja-JP" sz="3600" dirty="0">
                <a:latin typeface="MS UI Gothic" panose="020B0600070205080204" pitchFamily="34" charset="-128"/>
                <a:ea typeface="MS UI Gothic" panose="020B0600070205080204" pitchFamily="34" charset="-128"/>
              </a:rPr>
              <a:t>AI</a:t>
            </a:r>
            <a:r>
              <a:rPr kumimoji="1" lang="ja-JP" altLang="en-US" sz="3600">
                <a:latin typeface="MS UI Gothic" panose="020B0600070205080204" pitchFamily="34" charset="-128"/>
                <a:ea typeface="MS UI Gothic" panose="020B0600070205080204" pitchFamily="34" charset="-128"/>
              </a:rPr>
              <a:t>を活用した即時質問応答型学習支援システム</a:t>
            </a:r>
            <a:endParaRPr kumimoji="1" lang="en-US" altLang="ja-JP" sz="3600" dirty="0">
              <a:latin typeface="MS UI Gothic" panose="020B0600070205080204" pitchFamily="34" charset="-128"/>
              <a:ea typeface="MS UI Gothic" panose="020B0600070205080204" pitchFamily="34" charset="-128"/>
            </a:endParaRPr>
          </a:p>
          <a:p>
            <a:pPr algn="ctr"/>
            <a:endParaRPr kumimoji="1" lang="en-US" altLang="ja-JP" sz="900" dirty="0">
              <a:latin typeface="MS UI Gothic" panose="020B0600070205080204" pitchFamily="34" charset="-128"/>
              <a:ea typeface="MS UI Gothic" panose="020B0600070205080204" pitchFamily="34" charset="-128"/>
            </a:endParaRPr>
          </a:p>
          <a:p>
            <a:pPr algn="ctr"/>
            <a:r>
              <a:rPr lang="ja-JP" altLang="en-US" sz="6000">
                <a:latin typeface="MS UI Gothic" panose="020B0600070205080204" pitchFamily="34" charset="-128"/>
                <a:ea typeface="MS UI Gothic" panose="020B0600070205080204" pitchFamily="34" charset="-128"/>
              </a:rPr>
              <a:t>🪄「魔法の黒板」🪄</a:t>
            </a:r>
            <a:endParaRPr lang="en-US" altLang="ja-JP" sz="6000" dirty="0">
              <a:latin typeface="MS UI Gothic" panose="020B0600070205080204" pitchFamily="34" charset="-128"/>
              <a:ea typeface="MS UI Gothic" panose="020B0600070205080204" pitchFamily="34" charset="-128"/>
            </a:endParaRPr>
          </a:p>
          <a:p>
            <a:pPr algn="ctr"/>
            <a:endParaRPr lang="en-US" altLang="ja-JP" sz="900" dirty="0">
              <a:latin typeface="MS UI Gothic" panose="020B0600070205080204" pitchFamily="34" charset="-128"/>
              <a:ea typeface="MS UI Gothic" panose="020B0600070205080204" pitchFamily="34" charset="-128"/>
            </a:endParaRPr>
          </a:p>
          <a:p>
            <a:pPr algn="ctr"/>
            <a:r>
              <a:rPr kumimoji="1" lang="ja-JP" altLang="en-US" sz="3600">
                <a:latin typeface="MS UI Gothic" panose="020B0600070205080204" pitchFamily="34" charset="-128"/>
                <a:ea typeface="MS UI Gothic" panose="020B0600070205080204" pitchFamily="34" charset="-128"/>
              </a:rPr>
              <a:t>の開発と薬学教育における教育効果の検証</a:t>
            </a:r>
          </a:p>
        </p:txBody>
      </p:sp>
      <p:sp>
        <p:nvSpPr>
          <p:cNvPr id="5" name="テキスト ボックス 4">
            <a:extLst>
              <a:ext uri="{FF2B5EF4-FFF2-40B4-BE49-F238E27FC236}">
                <a16:creationId xmlns:a16="http://schemas.microsoft.com/office/drawing/2014/main" id="{5EB372F0-7B2A-A458-C6A8-E29774EF3EC0}"/>
              </a:ext>
            </a:extLst>
          </p:cNvPr>
          <p:cNvSpPr txBox="1"/>
          <p:nvPr/>
        </p:nvSpPr>
        <p:spPr>
          <a:xfrm>
            <a:off x="3855642" y="4441538"/>
            <a:ext cx="4480714" cy="1338828"/>
          </a:xfrm>
          <a:prstGeom prst="rect">
            <a:avLst/>
          </a:prstGeom>
          <a:noFill/>
        </p:spPr>
        <p:txBody>
          <a:bodyPr wrap="none" rtlCol="0">
            <a:spAutoFit/>
          </a:bodyPr>
          <a:lstStyle/>
          <a:p>
            <a:pPr algn="ctr"/>
            <a:r>
              <a:rPr lang="en-US" altLang="ja-JP" sz="3600" dirty="0" err="1">
                <a:latin typeface="MS UI Gothic" panose="020B0600070205080204" pitchFamily="34" charset="-128"/>
                <a:ea typeface="MS UI Gothic" panose="020B0600070205080204" pitchFamily="34" charset="-128"/>
                <a:cs typeface="Yu Gothic" pitchFamily="34" charset="-120"/>
              </a:rPr>
              <a:t>神戸学院大学</a:t>
            </a:r>
            <a:r>
              <a:rPr lang="en-US" altLang="ja-JP" sz="3600" dirty="0">
                <a:latin typeface="MS UI Gothic" panose="020B0600070205080204" pitchFamily="34" charset="-128"/>
                <a:ea typeface="MS UI Gothic" panose="020B0600070205080204" pitchFamily="34" charset="-128"/>
                <a:cs typeface="Yu Gothic" pitchFamily="34" charset="-120"/>
              </a:rPr>
              <a:t> </a:t>
            </a:r>
            <a:r>
              <a:rPr lang="en-US" altLang="ja-JP" sz="3600" dirty="0" err="1">
                <a:latin typeface="MS UI Gothic" panose="020B0600070205080204" pitchFamily="34" charset="-128"/>
                <a:ea typeface="MS UI Gothic" panose="020B0600070205080204" pitchFamily="34" charset="-128"/>
                <a:cs typeface="Yu Gothic" pitchFamily="34" charset="-120"/>
              </a:rPr>
              <a:t>薬学部</a:t>
            </a:r>
            <a:endParaRPr lang="en-US" altLang="ja-JP" sz="3600" dirty="0">
              <a:latin typeface="MS UI Gothic" panose="020B0600070205080204" pitchFamily="34" charset="-128"/>
              <a:ea typeface="MS UI Gothic" panose="020B0600070205080204" pitchFamily="34" charset="-128"/>
              <a:cs typeface="Yu Gothic" pitchFamily="34" charset="-120"/>
            </a:endParaRPr>
          </a:p>
          <a:p>
            <a:pPr algn="ctr"/>
            <a:endParaRPr lang="en-US" altLang="ja-JP" sz="900" dirty="0">
              <a:latin typeface="MS UI Gothic" panose="020B0600070205080204" pitchFamily="34" charset="-128"/>
              <a:ea typeface="MS UI Gothic" panose="020B0600070205080204" pitchFamily="34" charset="-128"/>
            </a:endParaRPr>
          </a:p>
          <a:p>
            <a:pPr algn="ctr"/>
            <a:r>
              <a:rPr lang="en-US" altLang="ja-JP" sz="3600" dirty="0" err="1">
                <a:latin typeface="MS UI Gothic" panose="020B0600070205080204" pitchFamily="34" charset="-128"/>
                <a:ea typeface="MS UI Gothic" panose="020B0600070205080204" pitchFamily="34" charset="-128"/>
                <a:cs typeface="Yu Gothic" pitchFamily="34" charset="-120"/>
              </a:rPr>
              <a:t>橋本</a:t>
            </a:r>
            <a:r>
              <a:rPr lang="en-US" altLang="ja-JP" sz="3600" dirty="0">
                <a:latin typeface="MS UI Gothic" panose="020B0600070205080204" pitchFamily="34" charset="-128"/>
                <a:ea typeface="MS UI Gothic" panose="020B0600070205080204" pitchFamily="34" charset="-128"/>
                <a:cs typeface="Yu Gothic" pitchFamily="34" charset="-120"/>
              </a:rPr>
              <a:t> </a:t>
            </a:r>
            <a:r>
              <a:rPr lang="en-US" altLang="ja-JP" sz="3600" dirty="0" err="1">
                <a:latin typeface="MS UI Gothic" panose="020B0600070205080204" pitchFamily="34" charset="-128"/>
                <a:ea typeface="MS UI Gothic" panose="020B0600070205080204" pitchFamily="34" charset="-128"/>
                <a:cs typeface="Yu Gothic" pitchFamily="34" charset="-120"/>
              </a:rPr>
              <a:t>保彦</a:t>
            </a:r>
            <a:r>
              <a:rPr lang="ja-JP" altLang="en-US" sz="3600">
                <a:latin typeface="MS UI Gothic" panose="020B0600070205080204" pitchFamily="34" charset="-128"/>
                <a:ea typeface="MS UI Gothic" panose="020B0600070205080204" pitchFamily="34" charset="-128"/>
                <a:cs typeface="Yu Gothic" pitchFamily="34" charset="-120"/>
              </a:rPr>
              <a:t>、</a:t>
            </a:r>
            <a:r>
              <a:rPr lang="en-US" altLang="ja-JP" sz="3600" dirty="0" err="1">
                <a:latin typeface="MS UI Gothic" panose="020B0600070205080204" pitchFamily="34" charset="-128"/>
                <a:ea typeface="MS UI Gothic" panose="020B0600070205080204" pitchFamily="34" charset="-128"/>
                <a:cs typeface="Yu Gothic" pitchFamily="34" charset="-120"/>
              </a:rPr>
              <a:t>辰見</a:t>
            </a:r>
            <a:r>
              <a:rPr lang="en-US" altLang="ja-JP" sz="3600" dirty="0">
                <a:latin typeface="MS UI Gothic" panose="020B0600070205080204" pitchFamily="34" charset="-128"/>
                <a:ea typeface="MS UI Gothic" panose="020B0600070205080204" pitchFamily="34" charset="-128"/>
                <a:cs typeface="Yu Gothic" pitchFamily="34" charset="-120"/>
              </a:rPr>
              <a:t> </a:t>
            </a:r>
            <a:r>
              <a:rPr lang="en-US" altLang="ja-JP" sz="3600" dirty="0" err="1">
                <a:latin typeface="MS UI Gothic" panose="020B0600070205080204" pitchFamily="34" charset="-128"/>
                <a:ea typeface="MS UI Gothic" panose="020B0600070205080204" pitchFamily="34" charset="-128"/>
                <a:cs typeface="Yu Gothic" pitchFamily="34" charset="-120"/>
              </a:rPr>
              <a:t>明俊</a:t>
            </a:r>
            <a:endParaRPr kumimoji="1" lang="ja-JP" altLang="en-US" sz="3600"/>
          </a:p>
        </p:txBody>
      </p:sp>
    </p:spTree>
    <p:extLst>
      <p:ext uri="{BB962C8B-B14F-4D97-AF65-F5344CB8AC3E}">
        <p14:creationId xmlns:p14="http://schemas.microsoft.com/office/powerpoint/2010/main" val="3505997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E51AF9-ACF0-9703-4D6E-716728EB23D7}"/>
            </a:ext>
          </a:extLst>
        </p:cNvPr>
        <p:cNvGrpSpPr/>
        <p:nvPr/>
      </p:nvGrpSpPr>
      <p:grpSpPr>
        <a:xfrm>
          <a:off x="0" y="0"/>
          <a:ext cx="0" cy="0"/>
          <a:chOff x="0" y="0"/>
          <a:chExt cx="0" cy="0"/>
        </a:xfrm>
      </p:grpSpPr>
      <p:sp>
        <p:nvSpPr>
          <p:cNvPr id="22" name="テキスト ボックス 21">
            <a:extLst>
              <a:ext uri="{FF2B5EF4-FFF2-40B4-BE49-F238E27FC236}">
                <a16:creationId xmlns:a16="http://schemas.microsoft.com/office/drawing/2014/main" id="{E2FB68D8-41D3-C61C-FC78-D8B7137813BB}"/>
              </a:ext>
            </a:extLst>
          </p:cNvPr>
          <p:cNvSpPr txBox="1"/>
          <p:nvPr/>
        </p:nvSpPr>
        <p:spPr>
          <a:xfrm>
            <a:off x="540659" y="251650"/>
            <a:ext cx="4270721" cy="523220"/>
          </a:xfrm>
          <a:prstGeom prst="rect">
            <a:avLst/>
          </a:prstGeom>
          <a:noFill/>
        </p:spPr>
        <p:txBody>
          <a:bodyPr wrap="none" rtlCol="0">
            <a:spAutoFit/>
          </a:bodyPr>
          <a:lstStyle/>
          <a:p>
            <a:r>
              <a:rPr kumimoji="1" lang="ja-JP" altLang="en-US" sz="2800">
                <a:latin typeface="MS UI Gothic" panose="020B0600070205080204" pitchFamily="34" charset="-128"/>
                <a:ea typeface="MS UI Gothic" panose="020B0600070205080204" pitchFamily="34" charset="-128"/>
              </a:rPr>
              <a:t>研究の意義・発展性（その</a:t>
            </a:r>
            <a:r>
              <a:rPr kumimoji="1" lang="en-US" altLang="ja-JP" sz="2800" dirty="0">
                <a:latin typeface="MS UI Gothic" panose="020B0600070205080204" pitchFamily="34" charset="-128"/>
                <a:ea typeface="MS UI Gothic" panose="020B0600070205080204" pitchFamily="34" charset="-128"/>
              </a:rPr>
              <a:t>1</a:t>
            </a:r>
            <a:r>
              <a:rPr kumimoji="1" lang="ja-JP" altLang="en-US" sz="2800">
                <a:latin typeface="MS UI Gothic" panose="020B0600070205080204" pitchFamily="34" charset="-128"/>
                <a:ea typeface="MS UI Gothic" panose="020B0600070205080204" pitchFamily="34" charset="-128"/>
              </a:rPr>
              <a:t>）</a:t>
            </a:r>
          </a:p>
        </p:txBody>
      </p:sp>
      <p:sp>
        <p:nvSpPr>
          <p:cNvPr id="23" name="テキスト ボックス 22">
            <a:extLst>
              <a:ext uri="{FF2B5EF4-FFF2-40B4-BE49-F238E27FC236}">
                <a16:creationId xmlns:a16="http://schemas.microsoft.com/office/drawing/2014/main" id="{697DBCD3-D954-BEC3-A4DD-AAD538BDC0D2}"/>
              </a:ext>
            </a:extLst>
          </p:cNvPr>
          <p:cNvSpPr txBox="1"/>
          <p:nvPr/>
        </p:nvSpPr>
        <p:spPr>
          <a:xfrm>
            <a:off x="540659" y="861247"/>
            <a:ext cx="7346883" cy="584775"/>
          </a:xfrm>
          <a:prstGeom prst="rect">
            <a:avLst/>
          </a:prstGeom>
          <a:noFill/>
        </p:spPr>
        <p:txBody>
          <a:bodyPr wrap="none" rtlCol="0">
            <a:spAutoFit/>
          </a:bodyPr>
          <a:lstStyle/>
          <a:p>
            <a:r>
              <a:rPr kumimoji="1" lang="ja-JP" altLang="en-US" sz="3200">
                <a:latin typeface="MS UI Gothic" panose="020B0600070205080204" pitchFamily="34" charset="-128"/>
                <a:ea typeface="MS UI Gothic" panose="020B0600070205080204" pitchFamily="34" charset="-128"/>
              </a:rPr>
              <a:t>背景：学生の学習における「つまずき」の問題</a:t>
            </a:r>
          </a:p>
        </p:txBody>
      </p:sp>
      <p:sp>
        <p:nvSpPr>
          <p:cNvPr id="26" name="角丸四角形 25">
            <a:extLst>
              <a:ext uri="{FF2B5EF4-FFF2-40B4-BE49-F238E27FC236}">
                <a16:creationId xmlns:a16="http://schemas.microsoft.com/office/drawing/2014/main" id="{DB615E22-E006-2871-5977-E0430D85E85A}"/>
              </a:ext>
            </a:extLst>
          </p:cNvPr>
          <p:cNvSpPr/>
          <p:nvPr/>
        </p:nvSpPr>
        <p:spPr>
          <a:xfrm>
            <a:off x="2802261" y="1643394"/>
            <a:ext cx="6591195" cy="584776"/>
          </a:xfrm>
          <a:prstGeom prst="round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400">
                <a:solidFill>
                  <a:schemeClr val="tx1"/>
                </a:solidFill>
                <a:latin typeface="MS UI Gothic" panose="020B0600070205080204" pitchFamily="34" charset="-128"/>
                <a:ea typeface="MS UI Gothic" panose="020B0600070205080204" pitchFamily="34" charset="-128"/>
              </a:rPr>
              <a:t>成績不振　→　反転講義・演習問題の導入</a:t>
            </a:r>
          </a:p>
        </p:txBody>
      </p:sp>
      <p:sp>
        <p:nvSpPr>
          <p:cNvPr id="30" name="角丸四角形 29">
            <a:extLst>
              <a:ext uri="{FF2B5EF4-FFF2-40B4-BE49-F238E27FC236}">
                <a16:creationId xmlns:a16="http://schemas.microsoft.com/office/drawing/2014/main" id="{109CE662-381F-FFDD-6F81-5D7AEE1C477E}"/>
              </a:ext>
            </a:extLst>
          </p:cNvPr>
          <p:cNvSpPr/>
          <p:nvPr/>
        </p:nvSpPr>
        <p:spPr>
          <a:xfrm>
            <a:off x="1264901" y="3346543"/>
            <a:ext cx="4015172" cy="1231110"/>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2400">
                <a:solidFill>
                  <a:schemeClr val="tx1"/>
                </a:solidFill>
                <a:latin typeface="MS UI Gothic" panose="020B0600070205080204" pitchFamily="34" charset="-128"/>
                <a:ea typeface="MS UI Gothic" panose="020B0600070205080204" pitchFamily="34" charset="-128"/>
              </a:rPr>
              <a:t>教員</a:t>
            </a:r>
            <a:endParaRPr lang="en-US" altLang="ja-JP" sz="2400" dirty="0">
              <a:solidFill>
                <a:schemeClr val="tx1"/>
              </a:solidFill>
              <a:latin typeface="MS UI Gothic" panose="020B0600070205080204" pitchFamily="34" charset="-128"/>
              <a:ea typeface="MS UI Gothic" panose="020B0600070205080204" pitchFamily="34" charset="-128"/>
            </a:endParaRPr>
          </a:p>
          <a:p>
            <a:r>
              <a:rPr lang="ja-JP" altLang="en-US" sz="2400">
                <a:solidFill>
                  <a:schemeClr val="tx1"/>
                </a:solidFill>
                <a:latin typeface="MS UI Gothic" panose="020B0600070205080204" pitchFamily="34" charset="-128"/>
                <a:ea typeface="MS UI Gothic" panose="020B0600070205080204" pitchFamily="34" charset="-128"/>
              </a:rPr>
              <a:t>「学生の困り事がわからない」</a:t>
            </a:r>
            <a:endParaRPr kumimoji="1" lang="ja-JP" altLang="en-US" sz="2400">
              <a:solidFill>
                <a:schemeClr val="tx1"/>
              </a:solidFill>
              <a:latin typeface="MS UI Gothic" panose="020B0600070205080204" pitchFamily="34" charset="-128"/>
              <a:ea typeface="MS UI Gothic" panose="020B0600070205080204" pitchFamily="34" charset="-128"/>
            </a:endParaRPr>
          </a:p>
        </p:txBody>
      </p:sp>
      <p:sp>
        <p:nvSpPr>
          <p:cNvPr id="32" name="角丸四角形 31">
            <a:extLst>
              <a:ext uri="{FF2B5EF4-FFF2-40B4-BE49-F238E27FC236}">
                <a16:creationId xmlns:a16="http://schemas.microsoft.com/office/drawing/2014/main" id="{3ED1C61B-F96E-5551-54AA-65990F0AA841}"/>
              </a:ext>
            </a:extLst>
          </p:cNvPr>
          <p:cNvSpPr/>
          <p:nvPr/>
        </p:nvSpPr>
        <p:spPr>
          <a:xfrm>
            <a:off x="6911928" y="3429671"/>
            <a:ext cx="5280072" cy="2388269"/>
          </a:xfrm>
          <a:prstGeom prst="round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2400">
                <a:solidFill>
                  <a:schemeClr val="tx1"/>
                </a:solidFill>
                <a:latin typeface="MS UI Gothic" panose="020B0600070205080204" pitchFamily="34" charset="-128"/>
                <a:ea typeface="MS UI Gothic" panose="020B0600070205080204" pitchFamily="34" charset="-128"/>
              </a:rPr>
              <a:t>学生の声</a:t>
            </a:r>
            <a:endParaRPr lang="en-US" altLang="ja-JP" sz="2400" dirty="0">
              <a:solidFill>
                <a:schemeClr val="tx1"/>
              </a:solidFill>
              <a:latin typeface="MS UI Gothic" panose="020B0600070205080204" pitchFamily="34" charset="-128"/>
              <a:ea typeface="MS UI Gothic" panose="020B0600070205080204" pitchFamily="34" charset="-128"/>
            </a:endParaRPr>
          </a:p>
          <a:p>
            <a:r>
              <a:rPr lang="ja-JP" altLang="en-US" sz="2400">
                <a:solidFill>
                  <a:schemeClr val="tx1"/>
                </a:solidFill>
                <a:latin typeface="MS UI Gothic" panose="020B0600070205080204" pitchFamily="34" charset="-128"/>
                <a:ea typeface="MS UI Gothic" panose="020B0600070205080204" pitchFamily="34" charset="-128"/>
              </a:rPr>
              <a:t>「先生には聞きにくい」</a:t>
            </a:r>
            <a:endParaRPr lang="en-US" altLang="ja-JP" sz="2400" dirty="0">
              <a:solidFill>
                <a:schemeClr val="tx1"/>
              </a:solidFill>
              <a:latin typeface="MS UI Gothic" panose="020B0600070205080204" pitchFamily="34" charset="-128"/>
              <a:ea typeface="MS UI Gothic" panose="020B0600070205080204" pitchFamily="34" charset="-128"/>
            </a:endParaRPr>
          </a:p>
          <a:p>
            <a:r>
              <a:rPr lang="ja-JP" altLang="en-US" sz="2400">
                <a:solidFill>
                  <a:schemeClr val="tx1"/>
                </a:solidFill>
                <a:latin typeface="MS UI Gothic" panose="020B0600070205080204" pitchFamily="34" charset="-128"/>
                <a:ea typeface="MS UI Gothic" panose="020B0600070205080204" pitchFamily="34" charset="-128"/>
              </a:rPr>
              <a:t>「</a:t>
            </a:r>
            <a:r>
              <a:rPr kumimoji="1" lang="ja-JP" altLang="en-US" sz="2400">
                <a:solidFill>
                  <a:schemeClr val="tx1"/>
                </a:solidFill>
                <a:latin typeface="MS UI Gothic" panose="020B0600070205080204" pitchFamily="34" charset="-128"/>
                <a:ea typeface="MS UI Gothic" panose="020B0600070205080204" pitchFamily="34" charset="-128"/>
              </a:rPr>
              <a:t>何度も質問して怒られないか不安」</a:t>
            </a:r>
            <a:endParaRPr kumimoji="1" lang="en-US" altLang="ja-JP" sz="2400" dirty="0">
              <a:solidFill>
                <a:schemeClr val="tx1"/>
              </a:solidFill>
              <a:latin typeface="MS UI Gothic" panose="020B0600070205080204" pitchFamily="34" charset="-128"/>
              <a:ea typeface="MS UI Gothic" panose="020B0600070205080204" pitchFamily="34" charset="-128"/>
            </a:endParaRPr>
          </a:p>
          <a:p>
            <a:r>
              <a:rPr lang="ja-JP" altLang="en-US" sz="2400">
                <a:solidFill>
                  <a:schemeClr val="tx1"/>
                </a:solidFill>
                <a:latin typeface="MS UI Gothic" panose="020B0600070205080204" pitchFamily="34" charset="-128"/>
                <a:ea typeface="MS UI Gothic" panose="020B0600070205080204" pitchFamily="34" charset="-128"/>
              </a:rPr>
              <a:t>「疑問が未解決のまま試験日を迎えた」</a:t>
            </a:r>
            <a:endParaRPr kumimoji="1" lang="en-US" altLang="ja-JP" sz="2400" dirty="0">
              <a:solidFill>
                <a:schemeClr val="tx1"/>
              </a:solidFill>
              <a:latin typeface="MS UI Gothic" panose="020B0600070205080204" pitchFamily="34" charset="-128"/>
              <a:ea typeface="MS UI Gothic" panose="020B0600070205080204" pitchFamily="34" charset="-128"/>
            </a:endParaRPr>
          </a:p>
          <a:p>
            <a:r>
              <a:rPr kumimoji="1" lang="ja-JP" altLang="en-US" sz="2400">
                <a:solidFill>
                  <a:schemeClr val="tx1"/>
                </a:solidFill>
                <a:latin typeface="MS UI Gothic" panose="020B0600070205080204" pitchFamily="34" charset="-128"/>
                <a:ea typeface="MS UI Gothic" panose="020B0600070205080204" pitchFamily="34" charset="-128"/>
              </a:rPr>
              <a:t>「夜中に疑問が生じても解決しない」</a:t>
            </a:r>
          </a:p>
        </p:txBody>
      </p:sp>
      <p:cxnSp>
        <p:nvCxnSpPr>
          <p:cNvPr id="34" name="直線矢印コネクタ 33">
            <a:extLst>
              <a:ext uri="{FF2B5EF4-FFF2-40B4-BE49-F238E27FC236}">
                <a16:creationId xmlns:a16="http://schemas.microsoft.com/office/drawing/2014/main" id="{71F50EE4-F16C-A115-D939-B95DAB05E98F}"/>
              </a:ext>
            </a:extLst>
          </p:cNvPr>
          <p:cNvCxnSpPr>
            <a:cxnSpLocks/>
          </p:cNvCxnSpPr>
          <p:nvPr/>
        </p:nvCxnSpPr>
        <p:spPr>
          <a:xfrm flipH="1">
            <a:off x="3121945" y="2228170"/>
            <a:ext cx="2975914" cy="1118373"/>
          </a:xfrm>
          <a:prstGeom prst="straightConnector1">
            <a:avLst/>
          </a:prstGeom>
          <a:ln w="38100">
            <a:solidFill>
              <a:schemeClr val="bg1"/>
            </a:solidFill>
            <a:tailEnd type="triangle"/>
          </a:ln>
        </p:spPr>
        <p:style>
          <a:lnRef idx="2">
            <a:schemeClr val="accent1"/>
          </a:lnRef>
          <a:fillRef idx="0">
            <a:schemeClr val="accent1"/>
          </a:fillRef>
          <a:effectRef idx="1">
            <a:schemeClr val="accent1"/>
          </a:effectRef>
          <a:fontRef idx="minor">
            <a:schemeClr val="tx1"/>
          </a:fontRef>
        </p:style>
      </p:cxnSp>
      <p:cxnSp>
        <p:nvCxnSpPr>
          <p:cNvPr id="36" name="直線矢印コネクタ 35">
            <a:extLst>
              <a:ext uri="{FF2B5EF4-FFF2-40B4-BE49-F238E27FC236}">
                <a16:creationId xmlns:a16="http://schemas.microsoft.com/office/drawing/2014/main" id="{FC0E5D4E-DDFC-CEEF-A0B7-9262F98CB906}"/>
              </a:ext>
            </a:extLst>
          </p:cNvPr>
          <p:cNvCxnSpPr>
            <a:cxnSpLocks/>
          </p:cNvCxnSpPr>
          <p:nvPr/>
        </p:nvCxnSpPr>
        <p:spPr>
          <a:xfrm>
            <a:off x="6205077" y="2228170"/>
            <a:ext cx="3272988" cy="1118373"/>
          </a:xfrm>
          <a:prstGeom prst="straightConnector1">
            <a:avLst/>
          </a:prstGeom>
          <a:ln w="38100">
            <a:solidFill>
              <a:schemeClr val="bg1"/>
            </a:solidFill>
            <a:tailEnd type="triangle"/>
          </a:ln>
        </p:spPr>
        <p:style>
          <a:lnRef idx="2">
            <a:schemeClr val="accent1"/>
          </a:lnRef>
          <a:fillRef idx="0">
            <a:schemeClr val="accent1"/>
          </a:fillRef>
          <a:effectRef idx="1">
            <a:schemeClr val="accent1"/>
          </a:effectRef>
          <a:fontRef idx="minor">
            <a:schemeClr val="tx1"/>
          </a:fontRef>
        </p:style>
      </p:cxnSp>
      <p:sp>
        <p:nvSpPr>
          <p:cNvPr id="37" name="テキスト ボックス 36">
            <a:extLst>
              <a:ext uri="{FF2B5EF4-FFF2-40B4-BE49-F238E27FC236}">
                <a16:creationId xmlns:a16="http://schemas.microsoft.com/office/drawing/2014/main" id="{8649F324-7D8E-E236-C44C-0EE6EBEE691B}"/>
              </a:ext>
            </a:extLst>
          </p:cNvPr>
          <p:cNvSpPr txBox="1"/>
          <p:nvPr/>
        </p:nvSpPr>
        <p:spPr>
          <a:xfrm>
            <a:off x="3462793" y="2556524"/>
            <a:ext cx="2294218" cy="461665"/>
          </a:xfrm>
          <a:prstGeom prst="rect">
            <a:avLst/>
          </a:prstGeom>
          <a:solidFill>
            <a:schemeClr val="tx1"/>
          </a:solidFill>
          <a:ln>
            <a:solidFill>
              <a:schemeClr val="bg1"/>
            </a:solidFill>
          </a:ln>
        </p:spPr>
        <p:txBody>
          <a:bodyPr wrap="none" rtlCol="0">
            <a:spAutoFit/>
          </a:bodyPr>
          <a:lstStyle/>
          <a:p>
            <a:r>
              <a:rPr lang="ja-JP" altLang="en-US" sz="2400">
                <a:solidFill>
                  <a:schemeClr val="bg1"/>
                </a:solidFill>
                <a:latin typeface="MS UI Gothic" panose="020B0600070205080204" pitchFamily="34" charset="-128"/>
                <a:ea typeface="MS UI Gothic" panose="020B0600070205080204" pitchFamily="34" charset="-128"/>
              </a:rPr>
              <a:t>教員「</a:t>
            </a:r>
            <a:r>
              <a:rPr kumimoji="1" lang="ja-JP" altLang="en-US" sz="2400">
                <a:solidFill>
                  <a:schemeClr val="bg1"/>
                </a:solidFill>
                <a:latin typeface="MS UI Gothic" panose="020B0600070205080204" pitchFamily="34" charset="-128"/>
                <a:ea typeface="MS UI Gothic" panose="020B0600070205080204" pitchFamily="34" charset="-128"/>
              </a:rPr>
              <a:t>対策は？」</a:t>
            </a:r>
          </a:p>
        </p:txBody>
      </p:sp>
      <p:sp>
        <p:nvSpPr>
          <p:cNvPr id="38" name="テキスト ボックス 37">
            <a:extLst>
              <a:ext uri="{FF2B5EF4-FFF2-40B4-BE49-F238E27FC236}">
                <a16:creationId xmlns:a16="http://schemas.microsoft.com/office/drawing/2014/main" id="{2F78E984-1D29-0E30-15F2-6E34056D47C1}"/>
              </a:ext>
            </a:extLst>
          </p:cNvPr>
          <p:cNvSpPr txBox="1"/>
          <p:nvPr/>
        </p:nvSpPr>
        <p:spPr>
          <a:xfrm>
            <a:off x="6550993" y="2556524"/>
            <a:ext cx="2581156" cy="461665"/>
          </a:xfrm>
          <a:prstGeom prst="rect">
            <a:avLst/>
          </a:prstGeom>
          <a:solidFill>
            <a:schemeClr val="tx1"/>
          </a:solidFill>
          <a:ln>
            <a:solidFill>
              <a:schemeClr val="bg1"/>
            </a:solidFill>
          </a:ln>
        </p:spPr>
        <p:txBody>
          <a:bodyPr wrap="none" rtlCol="0">
            <a:spAutoFit/>
          </a:bodyPr>
          <a:lstStyle/>
          <a:p>
            <a:r>
              <a:rPr kumimoji="1" lang="ja-JP" altLang="en-US" sz="2400">
                <a:solidFill>
                  <a:schemeClr val="bg1"/>
                </a:solidFill>
                <a:latin typeface="MS UI Gothic" panose="020B0600070205080204" pitchFamily="34" charset="-128"/>
                <a:ea typeface="MS UI Gothic" panose="020B0600070205080204" pitchFamily="34" charset="-128"/>
              </a:rPr>
              <a:t>成績不振者に面談</a:t>
            </a:r>
          </a:p>
        </p:txBody>
      </p:sp>
      <p:sp>
        <p:nvSpPr>
          <p:cNvPr id="43" name="角丸四角形 42">
            <a:extLst>
              <a:ext uri="{FF2B5EF4-FFF2-40B4-BE49-F238E27FC236}">
                <a16:creationId xmlns:a16="http://schemas.microsoft.com/office/drawing/2014/main" id="{8501840F-0C6F-D429-FF2E-B6F657C2EA78}"/>
              </a:ext>
            </a:extLst>
          </p:cNvPr>
          <p:cNvSpPr/>
          <p:nvPr/>
        </p:nvSpPr>
        <p:spPr>
          <a:xfrm>
            <a:off x="1421812" y="4718928"/>
            <a:ext cx="4674188" cy="2031767"/>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2800">
                <a:solidFill>
                  <a:srgbClr val="FFFF00"/>
                </a:solidFill>
                <a:latin typeface="MS UI Gothic" panose="020B0600070205080204" pitchFamily="34" charset="-128"/>
                <a:ea typeface="MS UI Gothic" panose="020B0600070205080204" pitchFamily="34" charset="-128"/>
              </a:rPr>
              <a:t>解決策</a:t>
            </a:r>
            <a:endParaRPr kumimoji="1" lang="en-US" altLang="ja-JP" sz="2800" dirty="0">
              <a:solidFill>
                <a:srgbClr val="FFFF00"/>
              </a:solidFill>
              <a:latin typeface="MS UI Gothic" panose="020B0600070205080204" pitchFamily="34" charset="-128"/>
              <a:ea typeface="MS UI Gothic" panose="020B0600070205080204" pitchFamily="34" charset="-128"/>
            </a:endParaRPr>
          </a:p>
          <a:p>
            <a:r>
              <a:rPr lang="ja-JP" altLang="en-US" sz="2800">
                <a:solidFill>
                  <a:srgbClr val="FFFF00"/>
                </a:solidFill>
                <a:latin typeface="MS UI Gothic" panose="020B0600070205080204" pitchFamily="34" charset="-128"/>
                <a:ea typeface="MS UI Gothic" panose="020B0600070205080204" pitchFamily="34" charset="-128"/>
              </a:rPr>
              <a:t>・</a:t>
            </a:r>
            <a:r>
              <a:rPr lang="en-US" altLang="ja-JP" sz="2800" dirty="0">
                <a:solidFill>
                  <a:srgbClr val="FFFF00"/>
                </a:solidFill>
                <a:latin typeface="MS UI Gothic" panose="020B0600070205080204" pitchFamily="34" charset="-128"/>
                <a:ea typeface="MS UI Gothic" panose="020B0600070205080204" pitchFamily="34" charset="-128"/>
              </a:rPr>
              <a:t>24</a:t>
            </a:r>
            <a:r>
              <a:rPr lang="ja-JP" altLang="en-US" sz="2800">
                <a:solidFill>
                  <a:srgbClr val="FFFF00"/>
                </a:solidFill>
                <a:latin typeface="MS UI Gothic" panose="020B0600070205080204" pitchFamily="34" charset="-128"/>
                <a:ea typeface="MS UI Gothic" panose="020B0600070205080204" pitchFamily="34" charset="-128"/>
              </a:rPr>
              <a:t>時間いつでも</a:t>
            </a:r>
            <a:endParaRPr lang="en-US" altLang="ja-JP" sz="2800" dirty="0">
              <a:solidFill>
                <a:srgbClr val="FFFF00"/>
              </a:solidFill>
              <a:latin typeface="MS UI Gothic" panose="020B0600070205080204" pitchFamily="34" charset="-128"/>
              <a:ea typeface="MS UI Gothic" panose="020B0600070205080204" pitchFamily="34" charset="-128"/>
            </a:endParaRPr>
          </a:p>
          <a:p>
            <a:r>
              <a:rPr kumimoji="1" lang="ja-JP" altLang="en-US" sz="2800">
                <a:solidFill>
                  <a:srgbClr val="FFFF00"/>
                </a:solidFill>
                <a:latin typeface="MS UI Gothic" panose="020B0600070205080204" pitchFamily="34" charset="-128"/>
                <a:ea typeface="MS UI Gothic" panose="020B0600070205080204" pitchFamily="34" charset="-128"/>
              </a:rPr>
              <a:t>・</a:t>
            </a:r>
            <a:r>
              <a:rPr lang="ja-JP" altLang="en-US" sz="2800">
                <a:solidFill>
                  <a:srgbClr val="FFFF00"/>
                </a:solidFill>
                <a:latin typeface="MS UI Gothic" panose="020B0600070205080204" pitchFamily="34" charset="-128"/>
                <a:ea typeface="MS UI Gothic" panose="020B0600070205080204" pitchFamily="34" charset="-128"/>
              </a:rPr>
              <a:t>学生のモバイルで質問できる</a:t>
            </a:r>
            <a:endParaRPr kumimoji="1" lang="en-US" altLang="ja-JP" sz="2800" dirty="0">
              <a:solidFill>
                <a:srgbClr val="FFFF00"/>
              </a:solidFill>
              <a:latin typeface="MS UI Gothic" panose="020B0600070205080204" pitchFamily="34" charset="-128"/>
              <a:ea typeface="MS UI Gothic" panose="020B0600070205080204" pitchFamily="34" charset="-128"/>
            </a:endParaRPr>
          </a:p>
          <a:p>
            <a:r>
              <a:rPr lang="ja-JP" altLang="en-US" sz="2800">
                <a:solidFill>
                  <a:srgbClr val="FFFF00"/>
                </a:solidFill>
                <a:latin typeface="MS UI Gothic" panose="020B0600070205080204" pitchFamily="34" charset="-128"/>
                <a:ea typeface="MS UI Gothic" panose="020B0600070205080204" pitchFamily="34" charset="-128"/>
              </a:rPr>
              <a:t>・教員が学生の困りごとを把握</a:t>
            </a:r>
            <a:endParaRPr kumimoji="1" lang="ja-JP" altLang="en-US" sz="2800">
              <a:solidFill>
                <a:srgbClr val="FFFF00"/>
              </a:solidFill>
              <a:latin typeface="MS UI Gothic" panose="020B0600070205080204" pitchFamily="34" charset="-128"/>
              <a:ea typeface="MS UI Gothic" panose="020B0600070205080204" pitchFamily="34" charset="-128"/>
            </a:endParaRPr>
          </a:p>
        </p:txBody>
      </p:sp>
      <p:sp>
        <p:nvSpPr>
          <p:cNvPr id="2" name="円形吹き出し 1">
            <a:extLst>
              <a:ext uri="{FF2B5EF4-FFF2-40B4-BE49-F238E27FC236}">
                <a16:creationId xmlns:a16="http://schemas.microsoft.com/office/drawing/2014/main" id="{BE93C616-EDBA-FBFE-3D46-647425035CD7}"/>
              </a:ext>
            </a:extLst>
          </p:cNvPr>
          <p:cNvSpPr/>
          <p:nvPr/>
        </p:nvSpPr>
        <p:spPr>
          <a:xfrm>
            <a:off x="8070327" y="207385"/>
            <a:ext cx="1650732" cy="1250714"/>
          </a:xfrm>
          <a:prstGeom prst="wedgeEllipseCallout">
            <a:avLst>
              <a:gd name="adj1" fmla="val -67723"/>
              <a:gd name="adj2" fmla="val 66269"/>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400">
                <a:solidFill>
                  <a:schemeClr val="tx1"/>
                </a:solidFill>
                <a:latin typeface="MS UI Gothic" panose="020B0600070205080204" pitchFamily="34" charset="-128"/>
                <a:ea typeface="MS UI Gothic" panose="020B0600070205080204" pitchFamily="34" charset="-128"/>
              </a:rPr>
              <a:t>成績の</a:t>
            </a:r>
            <a:endParaRPr lang="en-US" altLang="ja-JP" sz="2400" dirty="0">
              <a:solidFill>
                <a:schemeClr val="tx1"/>
              </a:solidFill>
              <a:latin typeface="MS UI Gothic" panose="020B0600070205080204" pitchFamily="34" charset="-128"/>
              <a:ea typeface="MS UI Gothic" panose="020B0600070205080204" pitchFamily="34" charset="-128"/>
            </a:endParaRPr>
          </a:p>
          <a:p>
            <a:pPr algn="ctr"/>
            <a:r>
              <a:rPr lang="ja-JP" altLang="en-US" sz="2400">
                <a:solidFill>
                  <a:schemeClr val="tx1"/>
                </a:solidFill>
                <a:latin typeface="MS UI Gothic" panose="020B0600070205080204" pitchFamily="34" charset="-128"/>
                <a:ea typeface="MS UI Gothic" panose="020B0600070205080204" pitchFamily="34" charset="-128"/>
              </a:rPr>
              <a:t>二極化</a:t>
            </a:r>
            <a:endParaRPr kumimoji="1" lang="ja-JP" altLang="en-US" sz="2400">
              <a:solidFill>
                <a:schemeClr val="tx1"/>
              </a:solidFill>
              <a:latin typeface="MS UI Gothic" panose="020B0600070205080204" pitchFamily="34" charset="-128"/>
              <a:ea typeface="MS UI Gothic" panose="020B0600070205080204" pitchFamily="34" charset="-128"/>
            </a:endParaRPr>
          </a:p>
        </p:txBody>
      </p:sp>
      <p:sp>
        <p:nvSpPr>
          <p:cNvPr id="3" name="円形吹き出し 2">
            <a:extLst>
              <a:ext uri="{FF2B5EF4-FFF2-40B4-BE49-F238E27FC236}">
                <a16:creationId xmlns:a16="http://schemas.microsoft.com/office/drawing/2014/main" id="{F5CF84AE-C231-B283-4370-9AE1FECB4A2B}"/>
              </a:ext>
            </a:extLst>
          </p:cNvPr>
          <p:cNvSpPr/>
          <p:nvPr/>
        </p:nvSpPr>
        <p:spPr>
          <a:xfrm>
            <a:off x="9478986" y="2013365"/>
            <a:ext cx="1650732" cy="1250714"/>
          </a:xfrm>
          <a:prstGeom prst="wedgeEllipseCallout">
            <a:avLst>
              <a:gd name="adj1" fmla="val -63650"/>
              <a:gd name="adj2" fmla="val 118951"/>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400">
                <a:solidFill>
                  <a:srgbClr val="FF0000"/>
                </a:solidFill>
                <a:latin typeface="MS UI Gothic" panose="020B0600070205080204" pitchFamily="34" charset="-128"/>
                <a:ea typeface="MS UI Gothic" panose="020B0600070205080204" pitchFamily="34" charset="-128"/>
              </a:rPr>
              <a:t>心理的抵抗</a:t>
            </a:r>
            <a:endParaRPr lang="en-US" altLang="ja-JP" sz="2400" dirty="0">
              <a:solidFill>
                <a:srgbClr val="FF0000"/>
              </a:solidFill>
              <a:latin typeface="MS UI Gothic" panose="020B0600070205080204" pitchFamily="34" charset="-128"/>
              <a:ea typeface="MS UI Gothic" panose="020B0600070205080204" pitchFamily="34" charset="-128"/>
            </a:endParaRPr>
          </a:p>
        </p:txBody>
      </p:sp>
      <p:sp>
        <p:nvSpPr>
          <p:cNvPr id="4" name="円形吹き出し 3">
            <a:extLst>
              <a:ext uri="{FF2B5EF4-FFF2-40B4-BE49-F238E27FC236}">
                <a16:creationId xmlns:a16="http://schemas.microsoft.com/office/drawing/2014/main" id="{729086C1-C938-3528-7F00-E42ECDC454DB}"/>
              </a:ext>
            </a:extLst>
          </p:cNvPr>
          <p:cNvSpPr/>
          <p:nvPr/>
        </p:nvSpPr>
        <p:spPr>
          <a:xfrm>
            <a:off x="7661822" y="5583109"/>
            <a:ext cx="1650732" cy="1250714"/>
          </a:xfrm>
          <a:prstGeom prst="wedgeEllipseCallout">
            <a:avLst>
              <a:gd name="adj1" fmla="val 66653"/>
              <a:gd name="adj2" fmla="val -78679"/>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400">
                <a:solidFill>
                  <a:srgbClr val="FF0000"/>
                </a:solidFill>
                <a:latin typeface="MS UI Gothic" panose="020B0600070205080204" pitchFamily="34" charset="-128"/>
                <a:ea typeface="MS UI Gothic" panose="020B0600070205080204" pitchFamily="34" charset="-128"/>
              </a:rPr>
              <a:t>時間的制約</a:t>
            </a:r>
            <a:endParaRPr lang="en-US" altLang="ja-JP" sz="2400" dirty="0">
              <a:solidFill>
                <a:srgbClr val="FF0000"/>
              </a:solidFill>
              <a:latin typeface="MS UI Gothic" panose="020B0600070205080204" pitchFamily="34" charset="-128"/>
              <a:ea typeface="MS UI Gothic" panose="020B0600070205080204" pitchFamily="34" charset="-128"/>
            </a:endParaRPr>
          </a:p>
        </p:txBody>
      </p:sp>
    </p:spTree>
    <p:extLst>
      <p:ext uri="{BB962C8B-B14F-4D97-AF65-F5344CB8AC3E}">
        <p14:creationId xmlns:p14="http://schemas.microsoft.com/office/powerpoint/2010/main" val="21057260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1" descr="A_digital_illustration_showcases_a_magical_setting.png">
            <a:extLst>
              <a:ext uri="{FF2B5EF4-FFF2-40B4-BE49-F238E27FC236}">
                <a16:creationId xmlns:a16="http://schemas.microsoft.com/office/drawing/2014/main" id="{7EC360DB-2BB5-CF69-D886-7B2C7BAF2341}"/>
              </a:ext>
            </a:extLst>
          </p:cNvPr>
          <p:cNvPicPr>
            <a:picLocks noChangeAspect="1"/>
          </p:cNvPicPr>
          <p:nvPr/>
        </p:nvPicPr>
        <p:blipFill>
          <a:blip r:embed="rId3"/>
          <a:stretch>
            <a:fillRect/>
          </a:stretch>
        </p:blipFill>
        <p:spPr>
          <a:xfrm>
            <a:off x="0" y="0"/>
            <a:ext cx="12188952" cy="6858000"/>
          </a:xfrm>
          <a:prstGeom prst="rect">
            <a:avLst/>
          </a:prstGeom>
        </p:spPr>
      </p:pic>
      <p:sp>
        <p:nvSpPr>
          <p:cNvPr id="6" name="TextBox 2">
            <a:extLst>
              <a:ext uri="{FF2B5EF4-FFF2-40B4-BE49-F238E27FC236}">
                <a16:creationId xmlns:a16="http://schemas.microsoft.com/office/drawing/2014/main" id="{1ECC22E1-9A57-0ADD-CA77-CA17CA0E5601}"/>
              </a:ext>
            </a:extLst>
          </p:cNvPr>
          <p:cNvSpPr txBox="1"/>
          <p:nvPr/>
        </p:nvSpPr>
        <p:spPr>
          <a:xfrm>
            <a:off x="1828800" y="3840480"/>
            <a:ext cx="8503920" cy="914400"/>
          </a:xfrm>
          <a:prstGeom prst="rect">
            <a:avLst/>
          </a:prstGeom>
          <a:noFill/>
        </p:spPr>
        <p:txBody>
          <a:bodyPr wrap="none">
            <a:spAutoFit/>
          </a:bodyPr>
          <a:lstStyle/>
          <a:p>
            <a:pPr algn="ctr"/>
            <a:r>
              <a:rPr sz="2800" dirty="0" err="1">
                <a:solidFill>
                  <a:srgbClr val="FFFFFF"/>
                </a:solidFill>
                <a:latin typeface="MS Mincho"/>
              </a:rPr>
              <a:t>AIを活用した学習支援システム</a:t>
            </a:r>
            <a:endParaRPr sz="2800" dirty="0">
              <a:solidFill>
                <a:srgbClr val="FFFFFF"/>
              </a:solidFill>
              <a:latin typeface="MS Mincho"/>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E474D6-D0DE-B8D2-CEA5-2D230A5625FD}"/>
            </a:ext>
          </a:extLst>
        </p:cNvPr>
        <p:cNvGrpSpPr/>
        <p:nvPr/>
      </p:nvGrpSpPr>
      <p:grpSpPr>
        <a:xfrm>
          <a:off x="0" y="0"/>
          <a:ext cx="0" cy="0"/>
          <a:chOff x="0" y="0"/>
          <a:chExt cx="0" cy="0"/>
        </a:xfrm>
      </p:grpSpPr>
      <p:sp>
        <p:nvSpPr>
          <p:cNvPr id="6" name="角丸四角形 5">
            <a:extLst>
              <a:ext uri="{FF2B5EF4-FFF2-40B4-BE49-F238E27FC236}">
                <a16:creationId xmlns:a16="http://schemas.microsoft.com/office/drawing/2014/main" id="{52E20E74-A02D-468C-3D6E-B00A23238465}"/>
              </a:ext>
            </a:extLst>
          </p:cNvPr>
          <p:cNvSpPr/>
          <p:nvPr/>
        </p:nvSpPr>
        <p:spPr>
          <a:xfrm>
            <a:off x="130633" y="1714497"/>
            <a:ext cx="6974188" cy="4767943"/>
          </a:xfrm>
          <a:prstGeom prst="roundRect">
            <a:avLst>
              <a:gd name="adj" fmla="val 6393"/>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テキスト ボックス 1">
            <a:extLst>
              <a:ext uri="{FF2B5EF4-FFF2-40B4-BE49-F238E27FC236}">
                <a16:creationId xmlns:a16="http://schemas.microsoft.com/office/drawing/2014/main" id="{D76767C8-F5DD-1E7E-7496-29775DF10787}"/>
              </a:ext>
            </a:extLst>
          </p:cNvPr>
          <p:cNvSpPr txBox="1"/>
          <p:nvPr/>
        </p:nvSpPr>
        <p:spPr>
          <a:xfrm>
            <a:off x="540659" y="251650"/>
            <a:ext cx="4270721" cy="523220"/>
          </a:xfrm>
          <a:prstGeom prst="rect">
            <a:avLst/>
          </a:prstGeom>
          <a:noFill/>
        </p:spPr>
        <p:txBody>
          <a:bodyPr wrap="none" rtlCol="0">
            <a:spAutoFit/>
          </a:bodyPr>
          <a:lstStyle/>
          <a:p>
            <a:r>
              <a:rPr kumimoji="1" lang="ja-JP" altLang="en-US" sz="2800">
                <a:latin typeface="MS UI Gothic" panose="020B0600070205080204" pitchFamily="34" charset="-128"/>
                <a:ea typeface="MS UI Gothic" panose="020B0600070205080204" pitchFamily="34" charset="-128"/>
              </a:rPr>
              <a:t>研究の意義・発展性（その</a:t>
            </a:r>
            <a:r>
              <a:rPr kumimoji="1" lang="en-US" altLang="ja-JP" sz="2800" dirty="0">
                <a:latin typeface="MS UI Gothic" panose="020B0600070205080204" pitchFamily="34" charset="-128"/>
                <a:ea typeface="MS UI Gothic" panose="020B0600070205080204" pitchFamily="34" charset="-128"/>
              </a:rPr>
              <a:t>2</a:t>
            </a:r>
            <a:r>
              <a:rPr kumimoji="1" lang="ja-JP" altLang="en-US" sz="2800">
                <a:latin typeface="MS UI Gothic" panose="020B0600070205080204" pitchFamily="34" charset="-128"/>
                <a:ea typeface="MS UI Gothic" panose="020B0600070205080204" pitchFamily="34" charset="-128"/>
              </a:rPr>
              <a:t>）</a:t>
            </a:r>
          </a:p>
        </p:txBody>
      </p:sp>
      <p:sp>
        <p:nvSpPr>
          <p:cNvPr id="3" name="テキスト ボックス 2">
            <a:extLst>
              <a:ext uri="{FF2B5EF4-FFF2-40B4-BE49-F238E27FC236}">
                <a16:creationId xmlns:a16="http://schemas.microsoft.com/office/drawing/2014/main" id="{936ACB89-CE4A-1406-49BD-39857F8A2135}"/>
              </a:ext>
            </a:extLst>
          </p:cNvPr>
          <p:cNvSpPr txBox="1"/>
          <p:nvPr/>
        </p:nvSpPr>
        <p:spPr>
          <a:xfrm>
            <a:off x="540659" y="861247"/>
            <a:ext cx="5551520" cy="584775"/>
          </a:xfrm>
          <a:prstGeom prst="rect">
            <a:avLst/>
          </a:prstGeom>
          <a:noFill/>
        </p:spPr>
        <p:txBody>
          <a:bodyPr wrap="none" rtlCol="0">
            <a:spAutoFit/>
          </a:bodyPr>
          <a:lstStyle/>
          <a:p>
            <a:r>
              <a:rPr kumimoji="1" lang="ja-JP" altLang="en-US" sz="3200">
                <a:latin typeface="MS UI Gothic" panose="020B0600070205080204" pitchFamily="34" charset="-128"/>
                <a:ea typeface="MS UI Gothic" panose="020B0600070205080204" pitchFamily="34" charset="-128"/>
              </a:rPr>
              <a:t>本研究の意義と将来への発展性</a:t>
            </a:r>
          </a:p>
        </p:txBody>
      </p:sp>
      <p:sp>
        <p:nvSpPr>
          <p:cNvPr id="4" name="テキスト ボックス 3">
            <a:extLst>
              <a:ext uri="{FF2B5EF4-FFF2-40B4-BE49-F238E27FC236}">
                <a16:creationId xmlns:a16="http://schemas.microsoft.com/office/drawing/2014/main" id="{231D068D-078B-E3A9-25D1-7F2FA5DF7D04}"/>
              </a:ext>
            </a:extLst>
          </p:cNvPr>
          <p:cNvSpPr txBox="1"/>
          <p:nvPr/>
        </p:nvSpPr>
        <p:spPr>
          <a:xfrm>
            <a:off x="165100" y="1943902"/>
            <a:ext cx="6058069" cy="1708160"/>
          </a:xfrm>
          <a:prstGeom prst="rect">
            <a:avLst/>
          </a:prstGeom>
          <a:noFill/>
        </p:spPr>
        <p:txBody>
          <a:bodyPr wrap="none" rtlCol="0">
            <a:spAutoFit/>
          </a:bodyPr>
          <a:lstStyle/>
          <a:p>
            <a:r>
              <a:rPr lang="en-US" altLang="ja-JP" sz="3200" dirty="0">
                <a:latin typeface="MS UI Gothic" panose="020B0600070205080204" pitchFamily="34" charset="-128"/>
                <a:ea typeface="MS UI Gothic" panose="020B0600070205080204" pitchFamily="34" charset="-128"/>
                <a:cs typeface="Yu Gothic" pitchFamily="34" charset="-120"/>
              </a:rPr>
              <a:t>🎯 </a:t>
            </a:r>
            <a:r>
              <a:rPr lang="en-US" altLang="ja-JP" sz="3200" dirty="0" err="1">
                <a:latin typeface="MS UI Gothic" panose="020B0600070205080204" pitchFamily="34" charset="-128"/>
                <a:ea typeface="MS UI Gothic" panose="020B0600070205080204" pitchFamily="34" charset="-128"/>
                <a:cs typeface="Yu Gothic" pitchFamily="34" charset="-120"/>
              </a:rPr>
              <a:t>主目的</a:t>
            </a:r>
            <a:r>
              <a:rPr lang="ja-JP" altLang="en-US" sz="3200">
                <a:latin typeface="MS UI Gothic" panose="020B0600070205080204" pitchFamily="34" charset="-128"/>
                <a:ea typeface="MS UI Gothic" panose="020B0600070205080204" pitchFamily="34" charset="-128"/>
                <a:cs typeface="Yu Gothic" pitchFamily="34" charset="-120"/>
              </a:rPr>
              <a:t>：</a:t>
            </a:r>
            <a:endParaRPr lang="en-US" altLang="ja-JP" sz="3200" dirty="0">
              <a:latin typeface="MS UI Gothic" panose="020B0600070205080204" pitchFamily="34" charset="-128"/>
              <a:ea typeface="MS UI Gothic" panose="020B0600070205080204" pitchFamily="34" charset="-128"/>
              <a:cs typeface="Yu Gothic" pitchFamily="34" charset="-120"/>
            </a:endParaRPr>
          </a:p>
          <a:p>
            <a:endParaRPr lang="en-US" altLang="ja-JP" sz="900" dirty="0">
              <a:latin typeface="MS UI Gothic" panose="020B0600070205080204" pitchFamily="34" charset="-128"/>
              <a:ea typeface="MS UI Gothic" panose="020B0600070205080204" pitchFamily="34" charset="-128"/>
              <a:cs typeface="Yu Gothic" pitchFamily="34" charset="-120"/>
            </a:endParaRPr>
          </a:p>
          <a:p>
            <a:r>
              <a:rPr lang="ja-JP" altLang="en-US" sz="3200">
                <a:latin typeface="MS UI Gothic" panose="020B0600070205080204" pitchFamily="34" charset="-128"/>
                <a:ea typeface="MS UI Gothic" panose="020B0600070205080204" pitchFamily="34" charset="-128"/>
                <a:cs typeface="Yu Gothic" pitchFamily="34" charset="-120"/>
              </a:rPr>
              <a:t>「魔法の黒板」が</a:t>
            </a:r>
            <a:r>
              <a:rPr lang="en-US" altLang="ja-JP" sz="3200" dirty="0" err="1">
                <a:latin typeface="MS UI Gothic" panose="020B0600070205080204" pitchFamily="34" charset="-128"/>
                <a:ea typeface="MS UI Gothic" panose="020B0600070205080204" pitchFamily="34" charset="-128"/>
                <a:cs typeface="Yu Gothic" pitchFamily="34" charset="-120"/>
              </a:rPr>
              <a:t>学生の学習成果に</a:t>
            </a:r>
            <a:endParaRPr lang="en-US" altLang="ja-JP" sz="3200" dirty="0">
              <a:latin typeface="MS UI Gothic" panose="020B0600070205080204" pitchFamily="34" charset="-128"/>
              <a:ea typeface="MS UI Gothic" panose="020B0600070205080204" pitchFamily="34" charset="-128"/>
              <a:cs typeface="Yu Gothic" pitchFamily="34" charset="-120"/>
            </a:endParaRPr>
          </a:p>
          <a:p>
            <a:r>
              <a:rPr lang="en-US" altLang="ja-JP" sz="3200" dirty="0" err="1">
                <a:latin typeface="MS UI Gothic" panose="020B0600070205080204" pitchFamily="34" charset="-128"/>
                <a:ea typeface="MS UI Gothic" panose="020B0600070205080204" pitchFamily="34" charset="-128"/>
                <a:cs typeface="Yu Gothic" pitchFamily="34" charset="-120"/>
              </a:rPr>
              <a:t>与える影響を明らかにする</a:t>
            </a:r>
            <a:endParaRPr lang="en-US" altLang="ja-JP" sz="3200" dirty="0">
              <a:latin typeface="MS UI Gothic" panose="020B0600070205080204" pitchFamily="34" charset="-128"/>
              <a:ea typeface="MS UI Gothic" panose="020B0600070205080204" pitchFamily="34" charset="-128"/>
            </a:endParaRPr>
          </a:p>
        </p:txBody>
      </p:sp>
      <p:sp>
        <p:nvSpPr>
          <p:cNvPr id="5" name="テキスト ボックス 4">
            <a:extLst>
              <a:ext uri="{FF2B5EF4-FFF2-40B4-BE49-F238E27FC236}">
                <a16:creationId xmlns:a16="http://schemas.microsoft.com/office/drawing/2014/main" id="{3469C74D-0316-1474-B611-3322C311D593}"/>
              </a:ext>
            </a:extLst>
          </p:cNvPr>
          <p:cNvSpPr txBox="1"/>
          <p:nvPr/>
        </p:nvSpPr>
        <p:spPr>
          <a:xfrm>
            <a:off x="165100" y="3927210"/>
            <a:ext cx="6154249" cy="2200602"/>
          </a:xfrm>
          <a:prstGeom prst="rect">
            <a:avLst/>
          </a:prstGeom>
          <a:noFill/>
        </p:spPr>
        <p:txBody>
          <a:bodyPr wrap="none" rtlCol="0">
            <a:spAutoFit/>
          </a:bodyPr>
          <a:lstStyle/>
          <a:p>
            <a:r>
              <a:rPr lang="ja-JP" altLang="en-US" sz="3200">
                <a:latin typeface="MS UI Gothic" panose="020B0600070205080204" pitchFamily="34" charset="-128"/>
                <a:ea typeface="MS UI Gothic" panose="020B0600070205080204" pitchFamily="34" charset="-128"/>
                <a:cs typeface="Yu Gothic" pitchFamily="34" charset="-120"/>
              </a:rPr>
              <a:t>📈</a:t>
            </a:r>
            <a:r>
              <a:rPr lang="en-US" altLang="ja-JP" sz="3200" dirty="0">
                <a:latin typeface="MS UI Gothic" panose="020B0600070205080204" pitchFamily="34" charset="-128"/>
                <a:ea typeface="MS UI Gothic" panose="020B0600070205080204" pitchFamily="34" charset="-128"/>
                <a:cs typeface="Yu Gothic" pitchFamily="34" charset="-120"/>
              </a:rPr>
              <a:t> </a:t>
            </a:r>
            <a:r>
              <a:rPr lang="ja-JP" altLang="en-US" sz="3200">
                <a:latin typeface="MS UI Gothic" panose="020B0600070205080204" pitchFamily="34" charset="-128"/>
                <a:ea typeface="MS UI Gothic" panose="020B0600070205080204" pitchFamily="34" charset="-128"/>
                <a:cs typeface="Yu Gothic" pitchFamily="34" charset="-120"/>
              </a:rPr>
              <a:t>副次的</a:t>
            </a:r>
            <a:r>
              <a:rPr lang="en-US" altLang="ja-JP" sz="3200" dirty="0" err="1">
                <a:latin typeface="MS UI Gothic" panose="020B0600070205080204" pitchFamily="34" charset="-128"/>
                <a:ea typeface="MS UI Gothic" panose="020B0600070205080204" pitchFamily="34" charset="-128"/>
                <a:cs typeface="Yu Gothic" pitchFamily="34" charset="-120"/>
              </a:rPr>
              <a:t>目的</a:t>
            </a:r>
            <a:r>
              <a:rPr lang="ja-JP" altLang="en-US" sz="3200">
                <a:latin typeface="MS UI Gothic" panose="020B0600070205080204" pitchFamily="34" charset="-128"/>
                <a:ea typeface="MS UI Gothic" panose="020B0600070205080204" pitchFamily="34" charset="-128"/>
                <a:cs typeface="Yu Gothic" pitchFamily="34" charset="-120"/>
              </a:rPr>
              <a:t>：</a:t>
            </a:r>
            <a:endParaRPr lang="en-US" altLang="ja-JP" sz="3200" dirty="0">
              <a:latin typeface="MS UI Gothic" panose="020B0600070205080204" pitchFamily="34" charset="-128"/>
              <a:ea typeface="MS UI Gothic" panose="020B0600070205080204" pitchFamily="34" charset="-128"/>
              <a:cs typeface="Yu Gothic" pitchFamily="34" charset="-120"/>
            </a:endParaRPr>
          </a:p>
          <a:p>
            <a:r>
              <a:rPr lang="ja-JP" altLang="en-US" sz="3200">
                <a:latin typeface="MS UI Gothic" panose="020B0600070205080204" pitchFamily="34" charset="-128"/>
                <a:ea typeface="MS UI Gothic" panose="020B0600070205080204" pitchFamily="34" charset="-128"/>
                <a:cs typeface="Yu Gothic" pitchFamily="34" charset="-120"/>
              </a:rPr>
              <a:t>　</a:t>
            </a:r>
            <a:r>
              <a:rPr lang="en-US" altLang="ja-JP" sz="3200" dirty="0">
                <a:latin typeface="MS UI Gothic" panose="020B0600070205080204" pitchFamily="34" charset="-128"/>
                <a:ea typeface="MS UI Gothic" panose="020B0600070205080204" pitchFamily="34" charset="-128"/>
                <a:cs typeface="Yu Gothic" pitchFamily="34" charset="-120"/>
              </a:rPr>
              <a:t>①</a:t>
            </a:r>
            <a:r>
              <a:rPr lang="en-US" altLang="ja-JP" sz="3200" dirty="0" err="1">
                <a:latin typeface="MS UI Gothic" panose="020B0600070205080204" pitchFamily="34" charset="-128"/>
                <a:ea typeface="MS UI Gothic" panose="020B0600070205080204" pitchFamily="34" charset="-128"/>
                <a:cs typeface="Yu Gothic" pitchFamily="34" charset="-120"/>
              </a:rPr>
              <a:t>学習行動・意欲の変化</a:t>
            </a:r>
            <a:r>
              <a:rPr lang="ja-JP" altLang="en-US" sz="3200">
                <a:latin typeface="MS UI Gothic" panose="020B0600070205080204" pitchFamily="34" charset="-128"/>
                <a:ea typeface="MS UI Gothic" panose="020B0600070205080204" pitchFamily="34" charset="-128"/>
                <a:cs typeface="Yu Gothic" pitchFamily="34" charset="-120"/>
              </a:rPr>
              <a:t>の確認</a:t>
            </a:r>
            <a:endParaRPr lang="en-US" altLang="ja-JP" sz="3200" dirty="0">
              <a:latin typeface="MS UI Gothic" panose="020B0600070205080204" pitchFamily="34" charset="-128"/>
              <a:ea typeface="MS UI Gothic" panose="020B0600070205080204" pitchFamily="34" charset="-128"/>
              <a:cs typeface="Yu Gothic" pitchFamily="34" charset="-120"/>
            </a:endParaRPr>
          </a:p>
          <a:p>
            <a:endParaRPr lang="en-US" altLang="ja-JP" sz="900" dirty="0">
              <a:latin typeface="MS UI Gothic" panose="020B0600070205080204" pitchFamily="34" charset="-128"/>
              <a:ea typeface="MS UI Gothic" panose="020B0600070205080204" pitchFamily="34" charset="-128"/>
              <a:cs typeface="Yu Gothic" pitchFamily="34" charset="-120"/>
            </a:endParaRPr>
          </a:p>
          <a:p>
            <a:r>
              <a:rPr lang="ja-JP" altLang="en-US" sz="3200">
                <a:latin typeface="MS UI Gothic" panose="020B0600070205080204" pitchFamily="34" charset="-128"/>
                <a:ea typeface="MS UI Gothic" panose="020B0600070205080204" pitchFamily="34" charset="-128"/>
              </a:rPr>
              <a:t>　</a:t>
            </a:r>
            <a:r>
              <a:rPr lang="en-US" altLang="ja-JP" sz="3200" dirty="0">
                <a:latin typeface="MS UI Gothic" panose="020B0600070205080204" pitchFamily="34" charset="-128"/>
                <a:ea typeface="MS UI Gothic" panose="020B0600070205080204" pitchFamily="34" charset="-128"/>
              </a:rPr>
              <a:t>②</a:t>
            </a:r>
            <a:r>
              <a:rPr lang="en-US" altLang="ja-JP" sz="3200" dirty="0">
                <a:latin typeface="MS UI Gothic" panose="020B0600070205080204" pitchFamily="34" charset="-128"/>
                <a:ea typeface="MS UI Gothic" panose="020B0600070205080204" pitchFamily="34" charset="-128"/>
                <a:cs typeface="Yu Gothic" pitchFamily="34" charset="-120"/>
              </a:rPr>
              <a:t> </a:t>
            </a:r>
            <a:r>
              <a:rPr lang="en-US" altLang="ja-JP" sz="3200" dirty="0" err="1">
                <a:latin typeface="MS UI Gothic" panose="020B0600070205080204" pitchFamily="34" charset="-128"/>
                <a:ea typeface="MS UI Gothic" panose="020B0600070205080204" pitchFamily="34" charset="-128"/>
                <a:cs typeface="Yu Gothic" pitchFamily="34" charset="-120"/>
              </a:rPr>
              <a:t>つまずきの</a:t>
            </a:r>
            <a:r>
              <a:rPr lang="ja-JP" altLang="en-US" sz="3200">
                <a:latin typeface="MS UI Gothic" panose="020B0600070205080204" pitchFamily="34" charset="-128"/>
                <a:ea typeface="MS UI Gothic" panose="020B0600070205080204" pitchFamily="34" charset="-128"/>
                <a:cs typeface="Yu Gothic" pitchFamily="34" charset="-120"/>
              </a:rPr>
              <a:t>ポイントの可視化</a:t>
            </a:r>
            <a:endParaRPr lang="en-US" altLang="ja-JP" sz="3200" dirty="0">
              <a:latin typeface="MS UI Gothic" panose="020B0600070205080204" pitchFamily="34" charset="-128"/>
              <a:ea typeface="MS UI Gothic" panose="020B0600070205080204" pitchFamily="34" charset="-128"/>
              <a:cs typeface="Yu Gothic" pitchFamily="34" charset="-120"/>
            </a:endParaRPr>
          </a:p>
          <a:p>
            <a:r>
              <a:rPr lang="ja-JP" altLang="en-US" sz="3200">
                <a:latin typeface="MS UI Gothic" panose="020B0600070205080204" pitchFamily="34" charset="-128"/>
                <a:ea typeface="MS UI Gothic" panose="020B0600070205080204" pitchFamily="34" charset="-128"/>
                <a:cs typeface="Yu Gothic" pitchFamily="34" charset="-120"/>
              </a:rPr>
              <a:t>　→  「つまずきの</a:t>
            </a:r>
            <a:r>
              <a:rPr lang="en-US" altLang="ja-JP" sz="3200" dirty="0" err="1">
                <a:latin typeface="MS UI Gothic" panose="020B0600070205080204" pitchFamily="34" charset="-128"/>
                <a:ea typeface="MS UI Gothic" panose="020B0600070205080204" pitchFamily="34" charset="-128"/>
                <a:cs typeface="Yu Gothic" pitchFamily="34" charset="-120"/>
              </a:rPr>
              <a:t>地図</a:t>
            </a:r>
            <a:r>
              <a:rPr lang="en-US" altLang="ja-JP" sz="3200" dirty="0">
                <a:latin typeface="MS UI Gothic" panose="020B0600070205080204" pitchFamily="34" charset="-128"/>
                <a:ea typeface="MS UI Gothic" panose="020B0600070205080204" pitchFamily="34" charset="-128"/>
                <a:cs typeface="Yu Gothic" pitchFamily="34" charset="-120"/>
              </a:rPr>
              <a:t>」</a:t>
            </a:r>
            <a:r>
              <a:rPr lang="ja-JP" altLang="en-US" sz="3200">
                <a:latin typeface="MS UI Gothic" panose="020B0600070205080204" pitchFamily="34" charset="-128"/>
                <a:ea typeface="MS UI Gothic" panose="020B0600070205080204" pitchFamily="34" charset="-128"/>
                <a:cs typeface="Yu Gothic" pitchFamily="34" charset="-120"/>
              </a:rPr>
              <a:t>の作成・応用</a:t>
            </a:r>
            <a:endParaRPr lang="en-US" altLang="ja-JP" sz="3200" dirty="0">
              <a:latin typeface="MS UI Gothic" panose="020B0600070205080204" pitchFamily="34" charset="-128"/>
              <a:ea typeface="MS UI Gothic" panose="020B0600070205080204" pitchFamily="34" charset="-128"/>
              <a:cs typeface="Yu Gothic" pitchFamily="34" charset="-120"/>
            </a:endParaRPr>
          </a:p>
        </p:txBody>
      </p:sp>
      <p:sp>
        <p:nvSpPr>
          <p:cNvPr id="8" name="角丸四角形 7">
            <a:extLst>
              <a:ext uri="{FF2B5EF4-FFF2-40B4-BE49-F238E27FC236}">
                <a16:creationId xmlns:a16="http://schemas.microsoft.com/office/drawing/2014/main" id="{124925CF-C033-6D08-9539-B4297AE1C79B}"/>
              </a:ext>
            </a:extLst>
          </p:cNvPr>
          <p:cNvSpPr/>
          <p:nvPr/>
        </p:nvSpPr>
        <p:spPr>
          <a:xfrm>
            <a:off x="7298881" y="1714496"/>
            <a:ext cx="4758949" cy="4767943"/>
          </a:xfrm>
          <a:prstGeom prst="roundRect">
            <a:avLst>
              <a:gd name="adj" fmla="val 6393"/>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テキスト ボックス 8">
            <a:extLst>
              <a:ext uri="{FF2B5EF4-FFF2-40B4-BE49-F238E27FC236}">
                <a16:creationId xmlns:a16="http://schemas.microsoft.com/office/drawing/2014/main" id="{1D1A5FD9-52B6-B2DD-2168-B0FF8ACE76C3}"/>
              </a:ext>
            </a:extLst>
          </p:cNvPr>
          <p:cNvSpPr txBox="1"/>
          <p:nvPr/>
        </p:nvSpPr>
        <p:spPr>
          <a:xfrm>
            <a:off x="7805067" y="1943902"/>
            <a:ext cx="3316934" cy="584775"/>
          </a:xfrm>
          <a:prstGeom prst="rect">
            <a:avLst/>
          </a:prstGeom>
          <a:noFill/>
        </p:spPr>
        <p:txBody>
          <a:bodyPr wrap="none" rtlCol="0">
            <a:spAutoFit/>
          </a:bodyPr>
          <a:lstStyle/>
          <a:p>
            <a:r>
              <a:rPr kumimoji="1" lang="ja-JP" altLang="en-US" sz="3200">
                <a:latin typeface="MS UI Gothic" panose="020B0600070205080204" pitchFamily="34" charset="-128"/>
                <a:ea typeface="MS UI Gothic" panose="020B0600070205080204" pitchFamily="34" charset="-128"/>
              </a:rPr>
              <a:t>🚀将来への発展性</a:t>
            </a:r>
          </a:p>
        </p:txBody>
      </p:sp>
      <p:sp>
        <p:nvSpPr>
          <p:cNvPr id="10" name="テキスト ボックス 9">
            <a:extLst>
              <a:ext uri="{FF2B5EF4-FFF2-40B4-BE49-F238E27FC236}">
                <a16:creationId xmlns:a16="http://schemas.microsoft.com/office/drawing/2014/main" id="{6A180D3E-D928-7F8F-163D-4A53F7ADE001}"/>
              </a:ext>
            </a:extLst>
          </p:cNvPr>
          <p:cNvSpPr txBox="1"/>
          <p:nvPr/>
        </p:nvSpPr>
        <p:spPr>
          <a:xfrm>
            <a:off x="7560609" y="2669923"/>
            <a:ext cx="4253087" cy="2246769"/>
          </a:xfrm>
          <a:prstGeom prst="rect">
            <a:avLst/>
          </a:prstGeom>
          <a:noFill/>
        </p:spPr>
        <p:txBody>
          <a:bodyPr wrap="none" rtlCol="0">
            <a:spAutoFit/>
          </a:bodyPr>
          <a:lstStyle/>
          <a:p>
            <a:r>
              <a:rPr kumimoji="1" lang="ja-JP" altLang="en-US" sz="2800">
                <a:latin typeface="MS UI Gothic" panose="020B0600070205080204" pitchFamily="34" charset="-128"/>
                <a:ea typeface="MS UI Gothic" panose="020B0600070205080204" pitchFamily="34" charset="-128"/>
              </a:rPr>
              <a:t>★他の専門科目への発展</a:t>
            </a:r>
            <a:endParaRPr lang="en-US" altLang="ja-JP" sz="2800" dirty="0">
              <a:latin typeface="MS UI Gothic" panose="020B0600070205080204" pitchFamily="34" charset="-128"/>
              <a:ea typeface="MS UI Gothic" panose="020B0600070205080204" pitchFamily="34" charset="-128"/>
            </a:endParaRPr>
          </a:p>
          <a:p>
            <a:endParaRPr lang="en-US" altLang="ja-JP" sz="2800" dirty="0">
              <a:latin typeface="MS UI Gothic" panose="020B0600070205080204" pitchFamily="34" charset="-128"/>
              <a:ea typeface="MS UI Gothic" panose="020B0600070205080204" pitchFamily="34" charset="-128"/>
            </a:endParaRPr>
          </a:p>
          <a:p>
            <a:r>
              <a:rPr lang="ja-JP" altLang="en-US" sz="2800">
                <a:latin typeface="MS UI Gothic" panose="020B0600070205080204" pitchFamily="34" charset="-128"/>
                <a:ea typeface="MS UI Gothic" panose="020B0600070205080204" pitchFamily="34" charset="-128"/>
              </a:rPr>
              <a:t>★他大学への導入支援</a:t>
            </a:r>
            <a:endParaRPr lang="en-US" altLang="ja-JP" sz="2800" dirty="0">
              <a:latin typeface="MS UI Gothic" panose="020B0600070205080204" pitchFamily="34" charset="-128"/>
              <a:ea typeface="MS UI Gothic" panose="020B0600070205080204" pitchFamily="34" charset="-128"/>
            </a:endParaRPr>
          </a:p>
          <a:p>
            <a:endParaRPr lang="en-US" altLang="ja-JP" sz="2800" dirty="0">
              <a:latin typeface="MS UI Gothic" panose="020B0600070205080204" pitchFamily="34" charset="-128"/>
              <a:ea typeface="MS UI Gothic" panose="020B0600070205080204" pitchFamily="34" charset="-128"/>
            </a:endParaRPr>
          </a:p>
          <a:p>
            <a:r>
              <a:rPr lang="ja-JP" altLang="en-US" sz="2800">
                <a:latin typeface="MS UI Gothic" panose="020B0600070205080204" pitchFamily="34" charset="-128"/>
                <a:ea typeface="MS UI Gothic" panose="020B0600070205080204" pitchFamily="34" charset="-128"/>
              </a:rPr>
              <a:t>★教育への</a:t>
            </a:r>
            <a:r>
              <a:rPr lang="en-US" altLang="ja-JP" sz="2800" dirty="0">
                <a:latin typeface="MS UI Gothic" panose="020B0600070205080204" pitchFamily="34" charset="-128"/>
                <a:ea typeface="MS UI Gothic" panose="020B0600070205080204" pitchFamily="34" charset="-128"/>
              </a:rPr>
              <a:t>AI</a:t>
            </a:r>
            <a:r>
              <a:rPr lang="ja-JP" altLang="en-US" sz="2800">
                <a:latin typeface="MS UI Gothic" panose="020B0600070205080204" pitchFamily="34" charset="-128"/>
                <a:ea typeface="MS UI Gothic" panose="020B0600070205080204" pitchFamily="34" charset="-128"/>
              </a:rPr>
              <a:t>導入の可能性</a:t>
            </a:r>
            <a:endParaRPr lang="en-US" altLang="ja-JP" sz="2800" dirty="0">
              <a:latin typeface="MS UI Gothic" panose="020B0600070205080204" pitchFamily="34" charset="-128"/>
              <a:ea typeface="MS UI Gothic" panose="020B0600070205080204" pitchFamily="34" charset="-128"/>
            </a:endParaRPr>
          </a:p>
        </p:txBody>
      </p:sp>
    </p:spTree>
    <p:extLst>
      <p:ext uri="{BB962C8B-B14F-4D97-AF65-F5344CB8AC3E}">
        <p14:creationId xmlns:p14="http://schemas.microsoft.com/office/powerpoint/2010/main" val="25663853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hape 14">
            <a:extLst>
              <a:ext uri="{FF2B5EF4-FFF2-40B4-BE49-F238E27FC236}">
                <a16:creationId xmlns:a16="http://schemas.microsoft.com/office/drawing/2014/main" id="{F59DFCDB-92FE-B3B3-3984-870ED357B1CC}"/>
              </a:ext>
            </a:extLst>
          </p:cNvPr>
          <p:cNvSpPr/>
          <p:nvPr/>
        </p:nvSpPr>
        <p:spPr>
          <a:xfrm>
            <a:off x="609600" y="5837692"/>
            <a:ext cx="10972800" cy="1000923"/>
          </a:xfrm>
          <a:prstGeom prst="rect">
            <a:avLst/>
          </a:prstGeom>
          <a:solidFill>
            <a:schemeClr val="accent3">
              <a:lumMod val="20000"/>
              <a:lumOff val="80000"/>
            </a:schemeClr>
          </a:solidFill>
          <a:ln/>
        </p:spPr>
        <p:txBody>
          <a:bodyPr/>
          <a:lstStyle/>
          <a:p>
            <a:endParaRPr lang="ja-JP" altLang="en-US" sz="2400"/>
          </a:p>
        </p:txBody>
      </p:sp>
      <p:sp>
        <p:nvSpPr>
          <p:cNvPr id="4" name="Shape 2"/>
          <p:cNvSpPr/>
          <p:nvPr/>
        </p:nvSpPr>
        <p:spPr>
          <a:xfrm>
            <a:off x="340778" y="1544904"/>
            <a:ext cx="4402667" cy="4216998"/>
          </a:xfrm>
          <a:prstGeom prst="rect">
            <a:avLst/>
          </a:prstGeom>
          <a:solidFill>
            <a:schemeClr val="accent4">
              <a:lumMod val="20000"/>
              <a:lumOff val="80000"/>
            </a:schemeClr>
          </a:solidFill>
          <a:ln w="25400">
            <a:solidFill>
              <a:srgbClr val="27AE60"/>
            </a:solidFill>
            <a:prstDash val="solid"/>
          </a:ln>
        </p:spPr>
        <p:txBody>
          <a:bodyPr/>
          <a:lstStyle/>
          <a:p>
            <a:pPr algn="ctr"/>
            <a:endParaRPr lang="en-US" altLang="ja-JP" sz="900" dirty="0">
              <a:latin typeface="MS UI Gothic" panose="020B0600070205080204" pitchFamily="34" charset="-128"/>
              <a:ea typeface="MS UI Gothic" panose="020B0600070205080204" pitchFamily="34" charset="-128"/>
            </a:endParaRPr>
          </a:p>
          <a:p>
            <a:pPr algn="ctr"/>
            <a:r>
              <a:rPr lang="ja-JP" altLang="en-US" sz="2800">
                <a:latin typeface="MS UI Gothic" panose="020B0600070205080204" pitchFamily="34" charset="-128"/>
                <a:ea typeface="MS UI Gothic" panose="020B0600070205080204" pitchFamily="34" charset="-128"/>
              </a:rPr>
              <a:t>学生入力画面</a:t>
            </a:r>
            <a:endParaRPr lang="en-US" altLang="ja-JP" sz="2800" dirty="0">
              <a:latin typeface="MS UI Gothic" panose="020B0600070205080204" pitchFamily="34" charset="-128"/>
              <a:ea typeface="MS UI Gothic" panose="020B0600070205080204" pitchFamily="34" charset="-128"/>
            </a:endParaRPr>
          </a:p>
        </p:txBody>
      </p:sp>
      <p:grpSp>
        <p:nvGrpSpPr>
          <p:cNvPr id="18" name="グループ化 17">
            <a:extLst>
              <a:ext uri="{FF2B5EF4-FFF2-40B4-BE49-F238E27FC236}">
                <a16:creationId xmlns:a16="http://schemas.microsoft.com/office/drawing/2014/main" id="{64AE10B2-167D-21C0-331A-4DAD20625D41}"/>
              </a:ext>
            </a:extLst>
          </p:cNvPr>
          <p:cNvGrpSpPr/>
          <p:nvPr/>
        </p:nvGrpSpPr>
        <p:grpSpPr>
          <a:xfrm>
            <a:off x="4808685" y="2172449"/>
            <a:ext cx="2293114" cy="2926080"/>
            <a:chOff x="4808685" y="1906675"/>
            <a:chExt cx="2293114" cy="2926080"/>
          </a:xfrm>
        </p:grpSpPr>
        <p:sp>
          <p:nvSpPr>
            <p:cNvPr id="12" name="右矢印 11">
              <a:extLst>
                <a:ext uri="{FF2B5EF4-FFF2-40B4-BE49-F238E27FC236}">
                  <a16:creationId xmlns:a16="http://schemas.microsoft.com/office/drawing/2014/main" id="{D8BE4019-F31F-0748-6936-B534D6BF21C3}"/>
                </a:ext>
              </a:extLst>
            </p:cNvPr>
            <p:cNvSpPr/>
            <p:nvPr/>
          </p:nvSpPr>
          <p:spPr>
            <a:xfrm>
              <a:off x="4808685" y="3145313"/>
              <a:ext cx="2293114" cy="484632"/>
            </a:xfrm>
            <a:prstGeom prst="rightArrow">
              <a:avLst/>
            </a:prstGeom>
            <a:solidFill>
              <a:schemeClr val="bg1"/>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7" name="グループ化 16">
              <a:extLst>
                <a:ext uri="{FF2B5EF4-FFF2-40B4-BE49-F238E27FC236}">
                  <a16:creationId xmlns:a16="http://schemas.microsoft.com/office/drawing/2014/main" id="{BACAF911-815B-9E02-1541-05660B305C06}"/>
                </a:ext>
              </a:extLst>
            </p:cNvPr>
            <p:cNvGrpSpPr/>
            <p:nvPr/>
          </p:nvGrpSpPr>
          <p:grpSpPr>
            <a:xfrm>
              <a:off x="5216132" y="1906675"/>
              <a:ext cx="1463040" cy="2926080"/>
              <a:chOff x="5216132" y="1906675"/>
              <a:chExt cx="1463040" cy="2926080"/>
            </a:xfrm>
          </p:grpSpPr>
          <p:sp>
            <p:nvSpPr>
              <p:cNvPr id="6" name="Shape 4"/>
              <p:cNvSpPr/>
              <p:nvPr/>
            </p:nvSpPr>
            <p:spPr>
              <a:xfrm>
                <a:off x="5216132" y="1906675"/>
                <a:ext cx="1463040" cy="2926080"/>
              </a:xfrm>
              <a:prstGeom prst="rect">
                <a:avLst/>
              </a:prstGeom>
              <a:solidFill>
                <a:schemeClr val="accent6">
                  <a:lumMod val="40000"/>
                  <a:lumOff val="60000"/>
                </a:schemeClr>
              </a:solidFill>
              <a:ln>
                <a:solidFill>
                  <a:schemeClr val="accent6"/>
                </a:solidFill>
              </a:ln>
            </p:spPr>
            <p:txBody>
              <a:bodyPr/>
              <a:lstStyle/>
              <a:p>
                <a:endParaRPr lang="ja-JP" altLang="en-US" sz="2400"/>
              </a:p>
            </p:txBody>
          </p:sp>
          <p:sp>
            <p:nvSpPr>
              <p:cNvPr id="7" name="Text 5"/>
              <p:cNvSpPr/>
              <p:nvPr/>
            </p:nvSpPr>
            <p:spPr>
              <a:xfrm>
                <a:off x="5216132" y="3010050"/>
                <a:ext cx="1463040" cy="731520"/>
              </a:xfrm>
              <a:prstGeom prst="rect">
                <a:avLst/>
              </a:prstGeom>
              <a:noFill/>
              <a:ln/>
            </p:spPr>
            <p:txBody>
              <a:bodyPr wrap="square" rtlCol="0" anchor="ctr"/>
              <a:lstStyle/>
              <a:p>
                <a:pPr algn="ctr"/>
                <a:r>
                  <a:rPr lang="en-US" dirty="0" err="1">
                    <a:latin typeface="MS UI Gothic" panose="020B0600070205080204" pitchFamily="34" charset="-128"/>
                    <a:ea typeface="MS UI Gothic" panose="020B0600070205080204" pitchFamily="34" charset="-128"/>
                  </a:rPr>
                  <a:t>技術基盤</a:t>
                </a:r>
                <a:r>
                  <a:rPr lang="en-US" dirty="0">
                    <a:latin typeface="MS UI Gothic" panose="020B0600070205080204" pitchFamily="34" charset="-128"/>
                    <a:ea typeface="MS UI Gothic" panose="020B0600070205080204" pitchFamily="34" charset="-128"/>
                  </a:rPr>
                  <a:t>：</a:t>
                </a:r>
              </a:p>
              <a:p>
                <a:pPr algn="ctr"/>
                <a:r>
                  <a:rPr lang="en-US" dirty="0" err="1">
                    <a:latin typeface="MS UI Gothic" panose="020B0600070205080204" pitchFamily="34" charset="-128"/>
                    <a:ea typeface="MS UI Gothic" panose="020B0600070205080204" pitchFamily="34" charset="-128"/>
                  </a:rPr>
                  <a:t>AIエンジン</a:t>
                </a:r>
                <a:endParaRPr lang="en-US" dirty="0">
                  <a:latin typeface="MS UI Gothic" panose="020B0600070205080204" pitchFamily="34" charset="-128"/>
                  <a:ea typeface="MS UI Gothic" panose="020B0600070205080204" pitchFamily="34" charset="-128"/>
                </a:endParaRPr>
              </a:p>
              <a:p>
                <a:pPr algn="ctr"/>
                <a:r>
                  <a:rPr lang="en-US" dirty="0">
                    <a:latin typeface="MS UI Gothic" panose="020B0600070205080204" pitchFamily="34" charset="-128"/>
                    <a:ea typeface="MS UI Gothic" panose="020B0600070205080204" pitchFamily="34" charset="-128"/>
                  </a:rPr>
                  <a:t>RAG</a:t>
                </a:r>
              </a:p>
              <a:p>
                <a:pPr algn="ctr"/>
                <a:r>
                  <a:rPr lang="en-US" dirty="0">
                    <a:latin typeface="MS UI Gothic" panose="020B0600070205080204" pitchFamily="34" charset="-128"/>
                    <a:ea typeface="MS UI Gothic" panose="020B0600070205080204" pitchFamily="34" charset="-128"/>
                  </a:rPr>
                  <a:t>+</a:t>
                </a:r>
              </a:p>
              <a:p>
                <a:pPr algn="ctr"/>
                <a:r>
                  <a:rPr lang="en-US" dirty="0" err="1">
                    <a:latin typeface="MS UI Gothic" panose="020B0600070205080204" pitchFamily="34" charset="-128"/>
                    <a:ea typeface="MS UI Gothic" panose="020B0600070205080204" pitchFamily="34" charset="-128"/>
                  </a:rPr>
                  <a:t>知識ベース</a:t>
                </a:r>
                <a:endParaRPr lang="en-US" dirty="0">
                  <a:latin typeface="MS UI Gothic" panose="020B0600070205080204" pitchFamily="34" charset="-128"/>
                  <a:ea typeface="MS UI Gothic" panose="020B0600070205080204" pitchFamily="34" charset="-128"/>
                </a:endParaRPr>
              </a:p>
              <a:p>
                <a:pPr algn="ctr"/>
                <a:r>
                  <a:rPr lang="en-US" dirty="0">
                    <a:latin typeface="MS UI Gothic" panose="020B0600070205080204" pitchFamily="34" charset="-128"/>
                    <a:ea typeface="MS UI Gothic" panose="020B0600070205080204" pitchFamily="34" charset="-128"/>
                  </a:rPr>
                  <a:t>（</a:t>
                </a:r>
                <a:r>
                  <a:rPr lang="en-US" altLang="ja-JP" dirty="0">
                    <a:latin typeface="MS UI Gothic" panose="020B0600070205080204" pitchFamily="34" charset="-128"/>
                    <a:ea typeface="MS UI Gothic" panose="020B0600070205080204" pitchFamily="34" charset="-128"/>
                  </a:rPr>
                  <a:t>137</a:t>
                </a:r>
                <a:r>
                  <a:rPr lang="ja-JP" altLang="en-US">
                    <a:latin typeface="MS UI Gothic" panose="020B0600070205080204" pitchFamily="34" charset="-128"/>
                    <a:ea typeface="MS UI Gothic" panose="020B0600070205080204" pitchFamily="34" charset="-128"/>
                  </a:rPr>
                  <a:t>項目）</a:t>
                </a:r>
                <a:endParaRPr lang="en-US" altLang="ja-JP" dirty="0">
                  <a:latin typeface="MS UI Gothic" panose="020B0600070205080204" pitchFamily="34" charset="-128"/>
                  <a:ea typeface="MS UI Gothic" panose="020B0600070205080204" pitchFamily="34" charset="-128"/>
                </a:endParaRPr>
              </a:p>
              <a:p>
                <a:pPr algn="ctr"/>
                <a:r>
                  <a:rPr lang="ja-JP" altLang="en-US">
                    <a:latin typeface="MS UI Gothic" panose="020B0600070205080204" pitchFamily="34" charset="-128"/>
                    <a:ea typeface="MS UI Gothic" panose="020B0600070205080204" pitchFamily="34" charset="-128"/>
                  </a:rPr>
                  <a:t>著作権クリア教材</a:t>
                </a:r>
                <a:endParaRPr lang="en-US" dirty="0">
                  <a:latin typeface="MS UI Gothic" panose="020B0600070205080204" pitchFamily="34" charset="-128"/>
                  <a:ea typeface="MS UI Gothic" panose="020B0600070205080204" pitchFamily="34" charset="-128"/>
                </a:endParaRPr>
              </a:p>
            </p:txBody>
          </p:sp>
        </p:grpSp>
      </p:grpSp>
      <p:sp>
        <p:nvSpPr>
          <p:cNvPr id="8" name="Shape 6"/>
          <p:cNvSpPr/>
          <p:nvPr/>
        </p:nvSpPr>
        <p:spPr>
          <a:xfrm>
            <a:off x="7139899" y="1544904"/>
            <a:ext cx="4677834" cy="4216998"/>
          </a:xfrm>
          <a:prstGeom prst="rect">
            <a:avLst/>
          </a:prstGeom>
          <a:solidFill>
            <a:srgbClr val="FEF5E7"/>
          </a:solidFill>
          <a:ln w="25400">
            <a:solidFill>
              <a:srgbClr val="F39C12"/>
            </a:solidFill>
            <a:prstDash val="solid"/>
          </a:ln>
        </p:spPr>
        <p:txBody>
          <a:bodyPr/>
          <a:lstStyle/>
          <a:p>
            <a:pPr algn="ctr"/>
            <a:endParaRPr lang="en-US" altLang="ja-JP" sz="900" dirty="0">
              <a:latin typeface="MS UI Gothic" panose="020B0600070205080204" pitchFamily="34" charset="-128"/>
              <a:ea typeface="MS UI Gothic" panose="020B0600070205080204" pitchFamily="34" charset="-128"/>
            </a:endParaRPr>
          </a:p>
          <a:p>
            <a:pPr algn="ctr"/>
            <a:r>
              <a:rPr lang="ja-JP" altLang="en-US" sz="2800">
                <a:latin typeface="MS UI Gothic" panose="020B0600070205080204" pitchFamily="34" charset="-128"/>
                <a:ea typeface="MS UI Gothic" panose="020B0600070205080204" pitchFamily="34" charset="-128"/>
              </a:rPr>
              <a:t>教員確認画面</a:t>
            </a:r>
          </a:p>
        </p:txBody>
      </p:sp>
      <p:sp>
        <p:nvSpPr>
          <p:cNvPr id="2" name="テキスト ボックス 1">
            <a:extLst>
              <a:ext uri="{FF2B5EF4-FFF2-40B4-BE49-F238E27FC236}">
                <a16:creationId xmlns:a16="http://schemas.microsoft.com/office/drawing/2014/main" id="{3CDE7700-AFE1-DABF-3A17-3B4E06567639}"/>
              </a:ext>
            </a:extLst>
          </p:cNvPr>
          <p:cNvSpPr txBox="1"/>
          <p:nvPr/>
        </p:nvSpPr>
        <p:spPr>
          <a:xfrm>
            <a:off x="540659" y="251650"/>
            <a:ext cx="3530134" cy="523220"/>
          </a:xfrm>
          <a:prstGeom prst="rect">
            <a:avLst/>
          </a:prstGeom>
          <a:noFill/>
        </p:spPr>
        <p:txBody>
          <a:bodyPr wrap="none" rtlCol="0">
            <a:spAutoFit/>
          </a:bodyPr>
          <a:lstStyle/>
          <a:p>
            <a:r>
              <a:rPr lang="ja-JP" altLang="en-US" sz="2800">
                <a:latin typeface="MS UI Gothic" panose="020B0600070205080204" pitchFamily="34" charset="-128"/>
                <a:ea typeface="MS UI Gothic" panose="020B0600070205080204" pitchFamily="34" charset="-128"/>
              </a:rPr>
              <a:t>教育・</a:t>
            </a:r>
            <a:r>
              <a:rPr kumimoji="1" lang="ja-JP" altLang="en-US" sz="2800">
                <a:latin typeface="MS UI Gothic" panose="020B0600070205080204" pitchFamily="34" charset="-128"/>
                <a:ea typeface="MS UI Gothic" panose="020B0600070205080204" pitchFamily="34" charset="-128"/>
              </a:rPr>
              <a:t>研究上の新規性</a:t>
            </a:r>
          </a:p>
        </p:txBody>
      </p:sp>
      <p:sp>
        <p:nvSpPr>
          <p:cNvPr id="3" name="テキスト ボックス 2">
            <a:extLst>
              <a:ext uri="{FF2B5EF4-FFF2-40B4-BE49-F238E27FC236}">
                <a16:creationId xmlns:a16="http://schemas.microsoft.com/office/drawing/2014/main" id="{7F0AC8C3-2F0E-4D53-83C1-319982FA814B}"/>
              </a:ext>
            </a:extLst>
          </p:cNvPr>
          <p:cNvSpPr txBox="1"/>
          <p:nvPr/>
        </p:nvSpPr>
        <p:spPr>
          <a:xfrm>
            <a:off x="540659" y="861247"/>
            <a:ext cx="5190845" cy="584775"/>
          </a:xfrm>
          <a:prstGeom prst="rect">
            <a:avLst/>
          </a:prstGeom>
          <a:noFill/>
        </p:spPr>
        <p:txBody>
          <a:bodyPr wrap="none" rtlCol="0">
            <a:spAutoFit/>
          </a:bodyPr>
          <a:lstStyle/>
          <a:p>
            <a:r>
              <a:rPr lang="ja-JP" altLang="en-US" sz="3200">
                <a:latin typeface="MS UI Gothic" panose="020B0600070205080204" pitchFamily="34" charset="-128"/>
                <a:ea typeface="MS UI Gothic" panose="020B0600070205080204" pitchFamily="34" charset="-128"/>
              </a:rPr>
              <a:t>「魔法の黒板」のシステム概要</a:t>
            </a:r>
            <a:endParaRPr kumimoji="1" lang="ja-JP" altLang="en-US" sz="3200">
              <a:latin typeface="MS UI Gothic" panose="020B0600070205080204" pitchFamily="34" charset="-128"/>
              <a:ea typeface="MS UI Gothic" panose="020B0600070205080204" pitchFamily="34" charset="-128"/>
            </a:endParaRPr>
          </a:p>
        </p:txBody>
      </p:sp>
      <p:sp>
        <p:nvSpPr>
          <p:cNvPr id="10" name="テキスト ボックス 9">
            <a:extLst>
              <a:ext uri="{FF2B5EF4-FFF2-40B4-BE49-F238E27FC236}">
                <a16:creationId xmlns:a16="http://schemas.microsoft.com/office/drawing/2014/main" id="{1EF88AE0-AE90-453F-E611-010939A2819F}"/>
              </a:ext>
            </a:extLst>
          </p:cNvPr>
          <p:cNvSpPr txBox="1"/>
          <p:nvPr/>
        </p:nvSpPr>
        <p:spPr>
          <a:xfrm>
            <a:off x="1472782" y="5861100"/>
            <a:ext cx="9246441" cy="954107"/>
          </a:xfrm>
          <a:prstGeom prst="rect">
            <a:avLst/>
          </a:prstGeom>
          <a:noFill/>
        </p:spPr>
        <p:txBody>
          <a:bodyPr wrap="none" rtlCol="0">
            <a:spAutoFit/>
          </a:bodyPr>
          <a:lstStyle/>
          <a:p>
            <a:pPr algn="ctr"/>
            <a:r>
              <a:rPr lang="en-US" altLang="ja-JP" sz="2800" dirty="0" err="1">
                <a:latin typeface="MS UI Gothic" panose="020B0600070205080204" pitchFamily="34" charset="-128"/>
                <a:ea typeface="MS UI Gothic" panose="020B0600070205080204" pitchFamily="34" charset="-128"/>
              </a:rPr>
              <a:t>国内外での位置づけ</a:t>
            </a:r>
            <a:r>
              <a:rPr lang="en-US" altLang="ja-JP" sz="2800" dirty="0">
                <a:latin typeface="MS UI Gothic" panose="020B0600070205080204" pitchFamily="34" charset="-128"/>
                <a:ea typeface="MS UI Gothic" panose="020B0600070205080204" pitchFamily="34" charset="-128"/>
              </a:rPr>
              <a:t>:</a:t>
            </a:r>
          </a:p>
          <a:p>
            <a:pPr algn="ctr"/>
            <a:r>
              <a:rPr lang="ja-JP" altLang="en-US" sz="2800">
                <a:latin typeface="MS UI Gothic" panose="020B0600070205080204" pitchFamily="34" charset="-128"/>
                <a:ea typeface="MS UI Gothic" panose="020B0600070205080204" pitchFamily="34" charset="-128"/>
              </a:rPr>
              <a:t>専門領域</a:t>
            </a:r>
            <a:r>
              <a:rPr lang="en-US" altLang="ja-JP" sz="2800" dirty="0" err="1">
                <a:latin typeface="MS UI Gothic" panose="020B0600070205080204" pitchFamily="34" charset="-128"/>
                <a:ea typeface="MS UI Gothic" panose="020B0600070205080204" pitchFamily="34" charset="-128"/>
              </a:rPr>
              <a:t>における生成系AIの体系的導入・実証</a:t>
            </a:r>
            <a:r>
              <a:rPr lang="ja-JP" altLang="en-US" sz="2800">
                <a:latin typeface="MS UI Gothic" panose="020B0600070205080204" pitchFamily="34" charset="-128"/>
                <a:ea typeface="MS UI Gothic" panose="020B0600070205080204" pitchFamily="34" charset="-128"/>
              </a:rPr>
              <a:t>実験</a:t>
            </a:r>
            <a:r>
              <a:rPr lang="en-US" altLang="ja-JP" sz="2800" dirty="0" err="1">
                <a:latin typeface="MS UI Gothic" panose="020B0600070205080204" pitchFamily="34" charset="-128"/>
                <a:ea typeface="MS UI Gothic" panose="020B0600070205080204" pitchFamily="34" charset="-128"/>
              </a:rPr>
              <a:t>は先駆的</a:t>
            </a:r>
            <a:endParaRPr kumimoji="1" lang="ja-JP" altLang="en-US" sz="2800">
              <a:latin typeface="MS UI Gothic" panose="020B0600070205080204" pitchFamily="34" charset="-128"/>
              <a:ea typeface="MS UI Gothic" panose="020B0600070205080204" pitchFamily="34" charset="-128"/>
            </a:endParaRPr>
          </a:p>
        </p:txBody>
      </p:sp>
      <p:sp>
        <p:nvSpPr>
          <p:cNvPr id="13" name="テキスト ボックス 12">
            <a:extLst>
              <a:ext uri="{FF2B5EF4-FFF2-40B4-BE49-F238E27FC236}">
                <a16:creationId xmlns:a16="http://schemas.microsoft.com/office/drawing/2014/main" id="{A3E98F05-2721-3BDC-6A72-65B443CB3806}"/>
              </a:ext>
            </a:extLst>
          </p:cNvPr>
          <p:cNvSpPr txBox="1"/>
          <p:nvPr/>
        </p:nvSpPr>
        <p:spPr>
          <a:xfrm>
            <a:off x="708975" y="2540409"/>
            <a:ext cx="3889206" cy="954107"/>
          </a:xfrm>
          <a:prstGeom prst="rect">
            <a:avLst/>
          </a:prstGeom>
          <a:noFill/>
        </p:spPr>
        <p:txBody>
          <a:bodyPr wrap="none" rtlCol="0">
            <a:spAutoFit/>
          </a:bodyPr>
          <a:lstStyle/>
          <a:p>
            <a:r>
              <a:rPr kumimoji="1" lang="ja-JP" altLang="en-US" sz="2800">
                <a:latin typeface="MS UI Gothic" panose="020B0600070205080204" pitchFamily="34" charset="-128"/>
                <a:ea typeface="MS UI Gothic" panose="020B0600070205080204" pitchFamily="34" charset="-128"/>
              </a:rPr>
              <a:t>・</a:t>
            </a:r>
            <a:r>
              <a:rPr kumimoji="1" lang="en-US" altLang="ja-JP" sz="2800" dirty="0">
                <a:solidFill>
                  <a:srgbClr val="FF0000"/>
                </a:solidFill>
                <a:latin typeface="MS UI Gothic" panose="020B0600070205080204" pitchFamily="34" charset="-128"/>
                <a:ea typeface="MS UI Gothic" panose="020B0600070205080204" pitchFamily="34" charset="-128"/>
              </a:rPr>
              <a:t>24</a:t>
            </a:r>
            <a:r>
              <a:rPr kumimoji="1" lang="ja-JP" altLang="en-US" sz="2800">
                <a:solidFill>
                  <a:srgbClr val="FF0000"/>
                </a:solidFill>
                <a:latin typeface="MS UI Gothic" panose="020B0600070205080204" pitchFamily="34" charset="-128"/>
                <a:ea typeface="MS UI Gothic" panose="020B0600070205080204" pitchFamily="34" charset="-128"/>
              </a:rPr>
              <a:t>時間質問対応</a:t>
            </a:r>
            <a:endParaRPr kumimoji="1" lang="en-US" altLang="ja-JP" sz="2800" dirty="0">
              <a:solidFill>
                <a:srgbClr val="FF0000"/>
              </a:solidFill>
              <a:latin typeface="MS UI Gothic" panose="020B0600070205080204" pitchFamily="34" charset="-128"/>
              <a:ea typeface="MS UI Gothic" panose="020B0600070205080204" pitchFamily="34" charset="-128"/>
            </a:endParaRPr>
          </a:p>
          <a:p>
            <a:r>
              <a:rPr lang="ja-JP" altLang="en-US" sz="2800">
                <a:latin typeface="MS UI Gothic" panose="020B0600070205080204" pitchFamily="34" charset="-128"/>
                <a:ea typeface="MS UI Gothic" panose="020B0600070205080204" pitchFamily="34" charset="-128"/>
              </a:rPr>
              <a:t>　（カテゴリー別質問可能）</a:t>
            </a:r>
            <a:endParaRPr kumimoji="1" lang="ja-JP" altLang="en-US" sz="2800">
              <a:latin typeface="MS UI Gothic" panose="020B0600070205080204" pitchFamily="34" charset="-128"/>
              <a:ea typeface="MS UI Gothic" panose="020B0600070205080204" pitchFamily="34" charset="-128"/>
            </a:endParaRPr>
          </a:p>
        </p:txBody>
      </p:sp>
      <p:sp>
        <p:nvSpPr>
          <p:cNvPr id="16" name="テキスト ボックス 15">
            <a:extLst>
              <a:ext uri="{FF2B5EF4-FFF2-40B4-BE49-F238E27FC236}">
                <a16:creationId xmlns:a16="http://schemas.microsoft.com/office/drawing/2014/main" id="{2C963F47-FA76-2F47-B5EF-CFAFD5A539A6}"/>
              </a:ext>
            </a:extLst>
          </p:cNvPr>
          <p:cNvSpPr txBox="1"/>
          <p:nvPr/>
        </p:nvSpPr>
        <p:spPr>
          <a:xfrm>
            <a:off x="708975" y="3550055"/>
            <a:ext cx="3296095" cy="1384995"/>
          </a:xfrm>
          <a:prstGeom prst="rect">
            <a:avLst/>
          </a:prstGeom>
          <a:noFill/>
        </p:spPr>
        <p:txBody>
          <a:bodyPr wrap="none" rtlCol="0">
            <a:spAutoFit/>
          </a:bodyPr>
          <a:lstStyle/>
          <a:p>
            <a:r>
              <a:rPr kumimoji="1" lang="ja-JP" altLang="en-US" sz="2800">
                <a:latin typeface="MS UI Gothic" panose="020B0600070205080204" pitchFamily="34" charset="-128"/>
                <a:ea typeface="MS UI Gothic" panose="020B0600070205080204" pitchFamily="34" charset="-128"/>
              </a:rPr>
              <a:t>・</a:t>
            </a:r>
            <a:r>
              <a:rPr kumimoji="1" lang="ja-JP" altLang="en-US" sz="2800">
                <a:solidFill>
                  <a:srgbClr val="FF0000"/>
                </a:solidFill>
                <a:latin typeface="MS UI Gothic" panose="020B0600070205080204" pitchFamily="34" charset="-128"/>
                <a:ea typeface="MS UI Gothic" panose="020B0600070205080204" pitchFamily="34" charset="-128"/>
              </a:rPr>
              <a:t>練習問題生成機能</a:t>
            </a:r>
            <a:endParaRPr kumimoji="1" lang="en-US" altLang="ja-JP" sz="2800" dirty="0">
              <a:solidFill>
                <a:srgbClr val="FF0000"/>
              </a:solidFill>
              <a:latin typeface="MS UI Gothic" panose="020B0600070205080204" pitchFamily="34" charset="-128"/>
              <a:ea typeface="MS UI Gothic" panose="020B0600070205080204" pitchFamily="34" charset="-128"/>
            </a:endParaRPr>
          </a:p>
          <a:p>
            <a:r>
              <a:rPr lang="ja-JP" altLang="en-US" sz="2800">
                <a:latin typeface="MS UI Gothic" panose="020B0600070205080204" pitchFamily="34" charset="-128"/>
                <a:ea typeface="MS UI Gothic" panose="020B0600070205080204" pitchFamily="34" charset="-128"/>
              </a:rPr>
              <a:t>　（</a:t>
            </a:r>
            <a:r>
              <a:rPr lang="en-US" altLang="ja-JP" sz="2800" dirty="0">
                <a:latin typeface="MS UI Gothic" panose="020B0600070205080204" pitchFamily="34" charset="-128"/>
                <a:ea typeface="MS UI Gothic" panose="020B0600070205080204" pitchFamily="34" charset="-128"/>
              </a:rPr>
              <a:t>5</a:t>
            </a:r>
            <a:r>
              <a:rPr lang="ja-JP" altLang="en-US" sz="2800">
                <a:latin typeface="MS UI Gothic" panose="020B0600070205080204" pitchFamily="34" charset="-128"/>
                <a:ea typeface="MS UI Gothic" panose="020B0600070205080204" pitchFamily="34" charset="-128"/>
              </a:rPr>
              <a:t>択</a:t>
            </a:r>
            <a:r>
              <a:rPr lang="en-US" altLang="ja-JP" sz="2800" dirty="0">
                <a:latin typeface="MS UI Gothic" panose="020B0600070205080204" pitchFamily="34" charset="-128"/>
                <a:ea typeface="MS UI Gothic" panose="020B0600070205080204" pitchFamily="34" charset="-128"/>
              </a:rPr>
              <a:t>2</a:t>
            </a:r>
            <a:r>
              <a:rPr lang="ja-JP" altLang="en-US" sz="2800">
                <a:latin typeface="MS UI Gothic" panose="020B0600070205080204" pitchFamily="34" charset="-128"/>
                <a:ea typeface="MS UI Gothic" panose="020B0600070205080204" pitchFamily="34" charset="-128"/>
              </a:rPr>
              <a:t>正解形式）</a:t>
            </a:r>
            <a:endParaRPr lang="en-US" altLang="ja-JP" sz="2800" dirty="0">
              <a:latin typeface="MS UI Gothic" panose="020B0600070205080204" pitchFamily="34" charset="-128"/>
              <a:ea typeface="MS UI Gothic" panose="020B0600070205080204" pitchFamily="34" charset="-128"/>
            </a:endParaRPr>
          </a:p>
          <a:p>
            <a:r>
              <a:rPr kumimoji="1" lang="ja-JP" altLang="en-US" sz="2800">
                <a:latin typeface="MS UI Gothic" panose="020B0600070205080204" pitchFamily="34" charset="-128"/>
                <a:ea typeface="MS UI Gothic" panose="020B0600070205080204" pitchFamily="34" charset="-128"/>
              </a:rPr>
              <a:t>　（難易度選択機能）</a:t>
            </a:r>
          </a:p>
        </p:txBody>
      </p:sp>
      <p:sp>
        <p:nvSpPr>
          <p:cNvPr id="20" name="テキスト ボックス 19">
            <a:extLst>
              <a:ext uri="{FF2B5EF4-FFF2-40B4-BE49-F238E27FC236}">
                <a16:creationId xmlns:a16="http://schemas.microsoft.com/office/drawing/2014/main" id="{171C5F5F-51A0-7AF0-812A-D08B1D944B4D}"/>
              </a:ext>
            </a:extLst>
          </p:cNvPr>
          <p:cNvSpPr txBox="1"/>
          <p:nvPr/>
        </p:nvSpPr>
        <p:spPr>
          <a:xfrm>
            <a:off x="7529513" y="2172449"/>
            <a:ext cx="2811988" cy="523220"/>
          </a:xfrm>
          <a:prstGeom prst="rect">
            <a:avLst/>
          </a:prstGeom>
          <a:noFill/>
        </p:spPr>
        <p:txBody>
          <a:bodyPr wrap="none" rtlCol="0">
            <a:spAutoFit/>
          </a:bodyPr>
          <a:lstStyle/>
          <a:p>
            <a:r>
              <a:rPr kumimoji="1" lang="ja-JP" altLang="en-US" sz="2800">
                <a:latin typeface="MS UI Gothic" panose="020B0600070205080204" pitchFamily="34" charset="-128"/>
                <a:ea typeface="MS UI Gothic" panose="020B0600070205080204" pitchFamily="34" charset="-128"/>
              </a:rPr>
              <a:t>・学習履歴の確認</a:t>
            </a:r>
          </a:p>
        </p:txBody>
      </p:sp>
      <p:sp>
        <p:nvSpPr>
          <p:cNvPr id="21" name="テキスト ボックス 20">
            <a:extLst>
              <a:ext uri="{FF2B5EF4-FFF2-40B4-BE49-F238E27FC236}">
                <a16:creationId xmlns:a16="http://schemas.microsoft.com/office/drawing/2014/main" id="{9021E7D5-543D-9ADC-5461-BA29E87D3BAE}"/>
              </a:ext>
            </a:extLst>
          </p:cNvPr>
          <p:cNvSpPr txBox="1"/>
          <p:nvPr/>
        </p:nvSpPr>
        <p:spPr>
          <a:xfrm>
            <a:off x="7529513" y="2863099"/>
            <a:ext cx="3515706" cy="523220"/>
          </a:xfrm>
          <a:prstGeom prst="rect">
            <a:avLst/>
          </a:prstGeom>
          <a:noFill/>
        </p:spPr>
        <p:txBody>
          <a:bodyPr wrap="none" rtlCol="0">
            <a:spAutoFit/>
          </a:bodyPr>
          <a:lstStyle/>
          <a:p>
            <a:r>
              <a:rPr kumimoji="1" lang="ja-JP" altLang="en-US" sz="2800">
                <a:latin typeface="MS UI Gothic" panose="020B0600070205080204" pitchFamily="34" charset="-128"/>
                <a:ea typeface="MS UI Gothic" panose="020B0600070205080204" pitchFamily="34" charset="-128"/>
              </a:rPr>
              <a:t>・</a:t>
            </a:r>
            <a:r>
              <a:rPr kumimoji="1" lang="ja-JP" altLang="en-US" sz="2800">
                <a:solidFill>
                  <a:srgbClr val="FF0000"/>
                </a:solidFill>
                <a:latin typeface="MS UI Gothic" panose="020B0600070205080204" pitchFamily="34" charset="-128"/>
                <a:ea typeface="MS UI Gothic" panose="020B0600070205080204" pitchFamily="34" charset="-128"/>
              </a:rPr>
              <a:t>つまずきの地図の確認</a:t>
            </a:r>
          </a:p>
        </p:txBody>
      </p:sp>
      <p:sp>
        <p:nvSpPr>
          <p:cNvPr id="22" name="テキスト ボックス 21">
            <a:extLst>
              <a:ext uri="{FF2B5EF4-FFF2-40B4-BE49-F238E27FC236}">
                <a16:creationId xmlns:a16="http://schemas.microsoft.com/office/drawing/2014/main" id="{24F40306-1828-9E85-1B82-15C97A00C3CA}"/>
              </a:ext>
            </a:extLst>
          </p:cNvPr>
          <p:cNvSpPr txBox="1"/>
          <p:nvPr/>
        </p:nvSpPr>
        <p:spPr>
          <a:xfrm>
            <a:off x="7529513" y="3553749"/>
            <a:ext cx="3889206" cy="523220"/>
          </a:xfrm>
          <a:prstGeom prst="rect">
            <a:avLst/>
          </a:prstGeom>
          <a:noFill/>
        </p:spPr>
        <p:txBody>
          <a:bodyPr wrap="none" rtlCol="0">
            <a:spAutoFit/>
          </a:bodyPr>
          <a:lstStyle/>
          <a:p>
            <a:r>
              <a:rPr kumimoji="1" lang="ja-JP" altLang="en-US" sz="2800">
                <a:latin typeface="MS UI Gothic" panose="020B0600070205080204" pitchFamily="34" charset="-128"/>
                <a:ea typeface="MS UI Gothic" panose="020B0600070205080204" pitchFamily="34" charset="-128"/>
              </a:rPr>
              <a:t>・</a:t>
            </a:r>
            <a:r>
              <a:rPr kumimoji="1" lang="ja-JP" altLang="en-US" sz="2800">
                <a:solidFill>
                  <a:srgbClr val="FF0000"/>
                </a:solidFill>
                <a:latin typeface="MS UI Gothic" panose="020B0600070205080204" pitchFamily="34" charset="-128"/>
                <a:ea typeface="MS UI Gothic" panose="020B0600070205080204" pitchFamily="34" charset="-128"/>
              </a:rPr>
              <a:t>学習行動の時系列分析</a:t>
            </a:r>
            <a:endParaRPr kumimoji="1" lang="en-US" altLang="ja-JP" sz="2800" dirty="0">
              <a:solidFill>
                <a:srgbClr val="FF0000"/>
              </a:solidFill>
              <a:latin typeface="MS UI Gothic" panose="020B0600070205080204" pitchFamily="34" charset="-128"/>
              <a:ea typeface="MS UI Gothic" panose="020B0600070205080204" pitchFamily="34" charset="-128"/>
            </a:endParaRPr>
          </a:p>
        </p:txBody>
      </p:sp>
      <p:sp>
        <p:nvSpPr>
          <p:cNvPr id="23" name="テキスト ボックス 22">
            <a:extLst>
              <a:ext uri="{FF2B5EF4-FFF2-40B4-BE49-F238E27FC236}">
                <a16:creationId xmlns:a16="http://schemas.microsoft.com/office/drawing/2014/main" id="{DAFF16BA-2CBE-1E00-E0F9-1D786C900737}"/>
              </a:ext>
            </a:extLst>
          </p:cNvPr>
          <p:cNvSpPr txBox="1"/>
          <p:nvPr/>
        </p:nvSpPr>
        <p:spPr>
          <a:xfrm>
            <a:off x="7529513" y="4244399"/>
            <a:ext cx="3825086" cy="523220"/>
          </a:xfrm>
          <a:prstGeom prst="rect">
            <a:avLst/>
          </a:prstGeom>
          <a:noFill/>
        </p:spPr>
        <p:txBody>
          <a:bodyPr wrap="none" rtlCol="0">
            <a:spAutoFit/>
          </a:bodyPr>
          <a:lstStyle/>
          <a:p>
            <a:r>
              <a:rPr kumimoji="1" lang="ja-JP" altLang="en-US" sz="2800">
                <a:latin typeface="MS UI Gothic" panose="020B0600070205080204" pitchFamily="34" charset="-128"/>
                <a:ea typeface="MS UI Gothic" panose="020B0600070205080204" pitchFamily="34" charset="-128"/>
              </a:rPr>
              <a:t>・出力機能（</a:t>
            </a:r>
            <a:r>
              <a:rPr kumimoji="1" lang="en-US" altLang="ja-JP" sz="2800" dirty="0">
                <a:latin typeface="MS UI Gothic" panose="020B0600070205080204" pitchFamily="34" charset="-128"/>
                <a:ea typeface="MS UI Gothic" panose="020B0600070205080204" pitchFamily="34" charset="-128"/>
              </a:rPr>
              <a:t>CSV/Excel</a:t>
            </a:r>
            <a:r>
              <a:rPr kumimoji="1" lang="ja-JP" altLang="en-US" sz="2800">
                <a:latin typeface="MS UI Gothic" panose="020B0600070205080204" pitchFamily="34" charset="-128"/>
                <a:ea typeface="MS UI Gothic" panose="020B0600070205080204" pitchFamily="34" charset="-128"/>
              </a:rPr>
              <a:t>）</a:t>
            </a:r>
          </a:p>
        </p:txBody>
      </p:sp>
      <p:sp>
        <p:nvSpPr>
          <p:cNvPr id="24" name="テキスト ボックス 23">
            <a:extLst>
              <a:ext uri="{FF2B5EF4-FFF2-40B4-BE49-F238E27FC236}">
                <a16:creationId xmlns:a16="http://schemas.microsoft.com/office/drawing/2014/main" id="{FECBBF34-0B9C-FB2D-BFA8-0896BC968EF7}"/>
              </a:ext>
            </a:extLst>
          </p:cNvPr>
          <p:cNvSpPr txBox="1"/>
          <p:nvPr/>
        </p:nvSpPr>
        <p:spPr>
          <a:xfrm>
            <a:off x="7529513" y="4935050"/>
            <a:ext cx="3257623" cy="523220"/>
          </a:xfrm>
          <a:prstGeom prst="rect">
            <a:avLst/>
          </a:prstGeom>
          <a:noFill/>
        </p:spPr>
        <p:txBody>
          <a:bodyPr wrap="none" rtlCol="0">
            <a:spAutoFit/>
          </a:bodyPr>
          <a:lstStyle/>
          <a:p>
            <a:r>
              <a:rPr kumimoji="1" lang="ja-JP" altLang="en-US" sz="2800">
                <a:latin typeface="MS UI Gothic" panose="020B0600070205080204" pitchFamily="34" charset="-128"/>
                <a:ea typeface="MS UI Gothic" panose="020B0600070205080204" pitchFamily="34" charset="-128"/>
              </a:rPr>
              <a:t>・</a:t>
            </a:r>
            <a:r>
              <a:rPr kumimoji="1" lang="en-US" altLang="ja-JP" sz="2800" dirty="0">
                <a:latin typeface="MS UI Gothic" panose="020B0600070205080204" pitchFamily="34" charset="-128"/>
                <a:ea typeface="MS UI Gothic" panose="020B0600070205080204" pitchFamily="34" charset="-128"/>
              </a:rPr>
              <a:t>FAQ</a:t>
            </a:r>
            <a:r>
              <a:rPr kumimoji="1" lang="ja-JP" altLang="en-US" sz="2800">
                <a:latin typeface="MS UI Gothic" panose="020B0600070205080204" pitchFamily="34" charset="-128"/>
                <a:ea typeface="MS UI Gothic" panose="020B0600070205080204" pitchFamily="34" charset="-128"/>
              </a:rPr>
              <a:t>自動抽出機能</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B676E8-D610-D8C9-D4F8-1E20C3CDC204}"/>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A7AB3B6A-D388-F398-017F-2EF57823C2E7}"/>
              </a:ext>
            </a:extLst>
          </p:cNvPr>
          <p:cNvSpPr txBox="1"/>
          <p:nvPr/>
        </p:nvSpPr>
        <p:spPr>
          <a:xfrm>
            <a:off x="540659" y="251650"/>
            <a:ext cx="3530134" cy="523220"/>
          </a:xfrm>
          <a:prstGeom prst="rect">
            <a:avLst/>
          </a:prstGeom>
          <a:noFill/>
        </p:spPr>
        <p:txBody>
          <a:bodyPr wrap="none" rtlCol="0">
            <a:spAutoFit/>
          </a:bodyPr>
          <a:lstStyle/>
          <a:p>
            <a:r>
              <a:rPr lang="ja-JP" altLang="en-US" sz="2800">
                <a:latin typeface="MS UI Gothic" panose="020B0600070205080204" pitchFamily="34" charset="-128"/>
                <a:ea typeface="MS UI Gothic" panose="020B0600070205080204" pitchFamily="34" charset="-128"/>
              </a:rPr>
              <a:t>教育・</a:t>
            </a:r>
            <a:r>
              <a:rPr kumimoji="1" lang="ja-JP" altLang="en-US" sz="2800">
                <a:latin typeface="MS UI Gothic" panose="020B0600070205080204" pitchFamily="34" charset="-128"/>
                <a:ea typeface="MS UI Gothic" panose="020B0600070205080204" pitchFamily="34" charset="-128"/>
              </a:rPr>
              <a:t>研究上の新規性</a:t>
            </a:r>
          </a:p>
        </p:txBody>
      </p:sp>
      <p:sp>
        <p:nvSpPr>
          <p:cNvPr id="3" name="テキスト ボックス 2">
            <a:extLst>
              <a:ext uri="{FF2B5EF4-FFF2-40B4-BE49-F238E27FC236}">
                <a16:creationId xmlns:a16="http://schemas.microsoft.com/office/drawing/2014/main" id="{037633DD-2DD5-9E7B-F8EA-9E1902F160AC}"/>
              </a:ext>
            </a:extLst>
          </p:cNvPr>
          <p:cNvSpPr txBox="1"/>
          <p:nvPr/>
        </p:nvSpPr>
        <p:spPr>
          <a:xfrm>
            <a:off x="540659" y="861247"/>
            <a:ext cx="5190845" cy="584775"/>
          </a:xfrm>
          <a:prstGeom prst="rect">
            <a:avLst/>
          </a:prstGeom>
          <a:noFill/>
        </p:spPr>
        <p:txBody>
          <a:bodyPr wrap="none" rtlCol="0">
            <a:spAutoFit/>
          </a:bodyPr>
          <a:lstStyle/>
          <a:p>
            <a:r>
              <a:rPr lang="ja-JP" altLang="en-US" sz="3200">
                <a:latin typeface="MS UI Gothic" panose="020B0600070205080204" pitchFamily="34" charset="-128"/>
                <a:ea typeface="MS UI Gothic" panose="020B0600070205080204" pitchFamily="34" charset="-128"/>
              </a:rPr>
              <a:t>「魔法の黒板」のシステム概要</a:t>
            </a:r>
            <a:endParaRPr kumimoji="1" lang="ja-JP" altLang="en-US" sz="3200">
              <a:latin typeface="MS UI Gothic" panose="020B0600070205080204" pitchFamily="34" charset="-128"/>
              <a:ea typeface="MS UI Gothic" panose="020B0600070205080204" pitchFamily="34" charset="-128"/>
            </a:endParaRPr>
          </a:p>
        </p:txBody>
      </p:sp>
      <p:pic>
        <p:nvPicPr>
          <p:cNvPr id="9" name="図 8">
            <a:extLst>
              <a:ext uri="{FF2B5EF4-FFF2-40B4-BE49-F238E27FC236}">
                <a16:creationId xmlns:a16="http://schemas.microsoft.com/office/drawing/2014/main" id="{8828448C-CAE1-E05D-7B98-4B728296887F}"/>
              </a:ext>
            </a:extLst>
          </p:cNvPr>
          <p:cNvPicPr>
            <a:picLocks noChangeAspect="1"/>
          </p:cNvPicPr>
          <p:nvPr/>
        </p:nvPicPr>
        <p:blipFill>
          <a:blip r:embed="rId3"/>
          <a:stretch>
            <a:fillRect/>
          </a:stretch>
        </p:blipFill>
        <p:spPr>
          <a:xfrm>
            <a:off x="477582" y="1472993"/>
            <a:ext cx="4641675" cy="5363219"/>
          </a:xfrm>
          <a:prstGeom prst="rect">
            <a:avLst/>
          </a:prstGeom>
        </p:spPr>
      </p:pic>
      <p:pic>
        <p:nvPicPr>
          <p:cNvPr id="14" name="図 13">
            <a:extLst>
              <a:ext uri="{FF2B5EF4-FFF2-40B4-BE49-F238E27FC236}">
                <a16:creationId xmlns:a16="http://schemas.microsoft.com/office/drawing/2014/main" id="{FA498A5C-BD74-DB32-E243-C8E96973CCBB}"/>
              </a:ext>
            </a:extLst>
          </p:cNvPr>
          <p:cNvPicPr>
            <a:picLocks noChangeAspect="1"/>
          </p:cNvPicPr>
          <p:nvPr/>
        </p:nvPicPr>
        <p:blipFill>
          <a:blip r:embed="rId4"/>
          <a:stretch>
            <a:fillRect/>
          </a:stretch>
        </p:blipFill>
        <p:spPr>
          <a:xfrm>
            <a:off x="5426706" y="1532398"/>
            <a:ext cx="6297755" cy="5303813"/>
          </a:xfrm>
          <a:prstGeom prst="rect">
            <a:avLst/>
          </a:prstGeom>
        </p:spPr>
      </p:pic>
    </p:spTree>
    <p:extLst>
      <p:ext uri="{BB962C8B-B14F-4D97-AF65-F5344CB8AC3E}">
        <p14:creationId xmlns:p14="http://schemas.microsoft.com/office/powerpoint/2010/main" val="23456083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EE8C5B-C68E-D68E-E173-E5EA4BFF8A6F}"/>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E7F225CC-AA6D-B64A-9F7C-9F3316C7D58D}"/>
              </a:ext>
            </a:extLst>
          </p:cNvPr>
          <p:cNvSpPr txBox="1"/>
          <p:nvPr/>
        </p:nvSpPr>
        <p:spPr>
          <a:xfrm>
            <a:off x="540659" y="251650"/>
            <a:ext cx="3530134" cy="523220"/>
          </a:xfrm>
          <a:prstGeom prst="rect">
            <a:avLst/>
          </a:prstGeom>
          <a:noFill/>
        </p:spPr>
        <p:txBody>
          <a:bodyPr wrap="none" rtlCol="0">
            <a:spAutoFit/>
          </a:bodyPr>
          <a:lstStyle/>
          <a:p>
            <a:r>
              <a:rPr lang="ja-JP" altLang="en-US" sz="2800">
                <a:latin typeface="MS UI Gothic" panose="020B0600070205080204" pitchFamily="34" charset="-128"/>
                <a:ea typeface="MS UI Gothic" panose="020B0600070205080204" pitchFamily="34" charset="-128"/>
              </a:rPr>
              <a:t>教育・</a:t>
            </a:r>
            <a:r>
              <a:rPr kumimoji="1" lang="ja-JP" altLang="en-US" sz="2800">
                <a:latin typeface="MS UI Gothic" panose="020B0600070205080204" pitchFamily="34" charset="-128"/>
                <a:ea typeface="MS UI Gothic" panose="020B0600070205080204" pitchFamily="34" charset="-128"/>
              </a:rPr>
              <a:t>研究上の新規性</a:t>
            </a:r>
          </a:p>
        </p:txBody>
      </p:sp>
      <p:sp>
        <p:nvSpPr>
          <p:cNvPr id="3" name="テキスト ボックス 2">
            <a:extLst>
              <a:ext uri="{FF2B5EF4-FFF2-40B4-BE49-F238E27FC236}">
                <a16:creationId xmlns:a16="http://schemas.microsoft.com/office/drawing/2014/main" id="{285449D9-12E5-47FC-BC36-C65B3CFF631A}"/>
              </a:ext>
            </a:extLst>
          </p:cNvPr>
          <p:cNvSpPr txBox="1"/>
          <p:nvPr/>
        </p:nvSpPr>
        <p:spPr>
          <a:xfrm>
            <a:off x="540659" y="861247"/>
            <a:ext cx="3039615" cy="584775"/>
          </a:xfrm>
          <a:prstGeom prst="rect">
            <a:avLst/>
          </a:prstGeom>
          <a:noFill/>
        </p:spPr>
        <p:txBody>
          <a:bodyPr wrap="none" rtlCol="0">
            <a:spAutoFit/>
          </a:bodyPr>
          <a:lstStyle/>
          <a:p>
            <a:r>
              <a:rPr lang="ja-JP" altLang="en-US" sz="3200">
                <a:latin typeface="MS UI Gothic" panose="020B0600070205080204" pitchFamily="34" charset="-128"/>
                <a:ea typeface="MS UI Gothic" panose="020B0600070205080204" pitchFamily="34" charset="-128"/>
              </a:rPr>
              <a:t>「つまずきの地図」</a:t>
            </a:r>
            <a:endParaRPr kumimoji="1" lang="ja-JP" altLang="en-US" sz="3200">
              <a:latin typeface="MS UI Gothic" panose="020B0600070205080204" pitchFamily="34" charset="-128"/>
              <a:ea typeface="MS UI Gothic" panose="020B0600070205080204" pitchFamily="34" charset="-128"/>
            </a:endParaRPr>
          </a:p>
        </p:txBody>
      </p:sp>
      <p:pic>
        <p:nvPicPr>
          <p:cNvPr id="4" name="図 3">
            <a:extLst>
              <a:ext uri="{FF2B5EF4-FFF2-40B4-BE49-F238E27FC236}">
                <a16:creationId xmlns:a16="http://schemas.microsoft.com/office/drawing/2014/main" id="{91F9AFB4-C8AF-DD1B-E93B-4EE3670056EF}"/>
              </a:ext>
            </a:extLst>
          </p:cNvPr>
          <p:cNvPicPr>
            <a:picLocks noChangeAspect="1"/>
          </p:cNvPicPr>
          <p:nvPr/>
        </p:nvPicPr>
        <p:blipFill>
          <a:blip r:embed="rId3"/>
          <a:stretch>
            <a:fillRect/>
          </a:stretch>
        </p:blipFill>
        <p:spPr>
          <a:xfrm>
            <a:off x="2284216" y="1446022"/>
            <a:ext cx="7772400" cy="5246885"/>
          </a:xfrm>
          <a:prstGeom prst="rect">
            <a:avLst/>
          </a:prstGeom>
        </p:spPr>
      </p:pic>
    </p:spTree>
    <p:extLst>
      <p:ext uri="{BB962C8B-B14F-4D97-AF65-F5344CB8AC3E}">
        <p14:creationId xmlns:p14="http://schemas.microsoft.com/office/powerpoint/2010/main" val="12191134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5">
            <a:lumMod val="40000"/>
            <a:lumOff val="60000"/>
          </a:schemeClr>
        </a:solidFill>
        <a:effectLst/>
      </p:bgPr>
    </p:bg>
    <p:spTree>
      <p:nvGrpSpPr>
        <p:cNvPr id="1" name="">
          <a:extLst>
            <a:ext uri="{FF2B5EF4-FFF2-40B4-BE49-F238E27FC236}">
              <a16:creationId xmlns:a16="http://schemas.microsoft.com/office/drawing/2014/main" id="{1C16E9CC-E525-C14B-7764-13FB8197C13A}"/>
            </a:ext>
          </a:extLst>
        </p:cNvPr>
        <p:cNvGrpSpPr/>
        <p:nvPr/>
      </p:nvGrpSpPr>
      <p:grpSpPr>
        <a:xfrm>
          <a:off x="0" y="0"/>
          <a:ext cx="0" cy="0"/>
          <a:chOff x="0" y="0"/>
          <a:chExt cx="0" cy="0"/>
        </a:xfrm>
      </p:grpSpPr>
      <p:sp>
        <p:nvSpPr>
          <p:cNvPr id="36" name="角丸四角形 35">
            <a:extLst>
              <a:ext uri="{FF2B5EF4-FFF2-40B4-BE49-F238E27FC236}">
                <a16:creationId xmlns:a16="http://schemas.microsoft.com/office/drawing/2014/main" id="{8747EE8D-1002-DCB6-5421-605B9B5A309F}"/>
              </a:ext>
            </a:extLst>
          </p:cNvPr>
          <p:cNvSpPr/>
          <p:nvPr/>
        </p:nvSpPr>
        <p:spPr>
          <a:xfrm>
            <a:off x="660400" y="1549400"/>
            <a:ext cx="5067300" cy="5232400"/>
          </a:xfrm>
          <a:prstGeom prst="roundRect">
            <a:avLst>
              <a:gd name="adj" fmla="val 11153"/>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角丸四角形 28">
            <a:extLst>
              <a:ext uri="{FF2B5EF4-FFF2-40B4-BE49-F238E27FC236}">
                <a16:creationId xmlns:a16="http://schemas.microsoft.com/office/drawing/2014/main" id="{9AD5133F-4E50-5C18-C201-D167172380E6}"/>
              </a:ext>
            </a:extLst>
          </p:cNvPr>
          <p:cNvSpPr/>
          <p:nvPr/>
        </p:nvSpPr>
        <p:spPr>
          <a:xfrm>
            <a:off x="6477000" y="1562100"/>
            <a:ext cx="5067300" cy="5232400"/>
          </a:xfrm>
          <a:prstGeom prst="roundRect">
            <a:avLst>
              <a:gd name="adj" fmla="val 11153"/>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8D292AB5-636D-7BA4-4A06-7AE3DE59960D}"/>
              </a:ext>
            </a:extLst>
          </p:cNvPr>
          <p:cNvSpPr txBox="1"/>
          <p:nvPr/>
        </p:nvSpPr>
        <p:spPr>
          <a:xfrm>
            <a:off x="540659" y="251650"/>
            <a:ext cx="5000087" cy="523220"/>
          </a:xfrm>
          <a:prstGeom prst="rect">
            <a:avLst/>
          </a:prstGeom>
          <a:noFill/>
        </p:spPr>
        <p:txBody>
          <a:bodyPr wrap="none" rtlCol="0">
            <a:spAutoFit/>
          </a:bodyPr>
          <a:lstStyle/>
          <a:p>
            <a:r>
              <a:rPr kumimoji="1" lang="ja-JP" altLang="en-US" sz="2800">
                <a:latin typeface="MS UI Gothic" panose="020B0600070205080204" pitchFamily="34" charset="-128"/>
                <a:ea typeface="MS UI Gothic" panose="020B0600070205080204" pitchFamily="34" charset="-128"/>
              </a:rPr>
              <a:t>研究成果の教育・研究への反映</a:t>
            </a:r>
          </a:p>
        </p:txBody>
      </p:sp>
      <p:sp>
        <p:nvSpPr>
          <p:cNvPr id="14" name="テキスト ボックス 13">
            <a:extLst>
              <a:ext uri="{FF2B5EF4-FFF2-40B4-BE49-F238E27FC236}">
                <a16:creationId xmlns:a16="http://schemas.microsoft.com/office/drawing/2014/main" id="{8CBD38AD-DD20-7E84-71DA-24DEDD5F9353}"/>
              </a:ext>
            </a:extLst>
          </p:cNvPr>
          <p:cNvSpPr txBox="1"/>
          <p:nvPr/>
        </p:nvSpPr>
        <p:spPr>
          <a:xfrm>
            <a:off x="540659" y="861247"/>
            <a:ext cx="2837636" cy="584775"/>
          </a:xfrm>
          <a:prstGeom prst="rect">
            <a:avLst/>
          </a:prstGeom>
          <a:noFill/>
        </p:spPr>
        <p:txBody>
          <a:bodyPr wrap="none" rtlCol="0">
            <a:spAutoFit/>
          </a:bodyPr>
          <a:lstStyle/>
          <a:p>
            <a:r>
              <a:rPr lang="ja-JP" altLang="en-US" sz="3200">
                <a:latin typeface="MS UI Gothic" panose="020B0600070205080204" pitchFamily="34" charset="-128"/>
                <a:ea typeface="MS UI Gothic" panose="020B0600070205080204" pitchFamily="34" charset="-128"/>
              </a:rPr>
              <a:t>期待される成果</a:t>
            </a:r>
            <a:endParaRPr kumimoji="1" lang="ja-JP" altLang="en-US" sz="3200">
              <a:latin typeface="MS UI Gothic" panose="020B0600070205080204" pitchFamily="34" charset="-128"/>
              <a:ea typeface="MS UI Gothic" panose="020B0600070205080204" pitchFamily="34" charset="-128"/>
            </a:endParaRPr>
          </a:p>
        </p:txBody>
      </p:sp>
      <p:sp>
        <p:nvSpPr>
          <p:cNvPr id="23" name="テキスト ボックス 22">
            <a:extLst>
              <a:ext uri="{FF2B5EF4-FFF2-40B4-BE49-F238E27FC236}">
                <a16:creationId xmlns:a16="http://schemas.microsoft.com/office/drawing/2014/main" id="{8B5EB7C2-D0BF-0349-2F94-E0812B1A4D21}"/>
              </a:ext>
            </a:extLst>
          </p:cNvPr>
          <p:cNvSpPr txBox="1"/>
          <p:nvPr/>
        </p:nvSpPr>
        <p:spPr>
          <a:xfrm>
            <a:off x="2090222" y="1754538"/>
            <a:ext cx="2207656" cy="523220"/>
          </a:xfrm>
          <a:prstGeom prst="rect">
            <a:avLst/>
          </a:prstGeom>
          <a:noFill/>
          <a:ln w="19050">
            <a:solidFill>
              <a:schemeClr val="tx1"/>
            </a:solidFill>
          </a:ln>
        </p:spPr>
        <p:txBody>
          <a:bodyPr wrap="none" rtlCol="0">
            <a:spAutoFit/>
          </a:bodyPr>
          <a:lstStyle/>
          <a:p>
            <a:pPr algn="ctr"/>
            <a:r>
              <a:rPr kumimoji="1" lang="ja-JP" altLang="en-US" sz="2800">
                <a:latin typeface="MS UI Gothic" panose="020B0600070205080204" pitchFamily="34" charset="-128"/>
                <a:ea typeface="MS UI Gothic" panose="020B0600070205080204" pitchFamily="34" charset="-128"/>
              </a:rPr>
              <a:t>教育への反映</a:t>
            </a:r>
          </a:p>
        </p:txBody>
      </p:sp>
      <p:sp>
        <p:nvSpPr>
          <p:cNvPr id="27" name="テキスト ボックス 26">
            <a:extLst>
              <a:ext uri="{FF2B5EF4-FFF2-40B4-BE49-F238E27FC236}">
                <a16:creationId xmlns:a16="http://schemas.microsoft.com/office/drawing/2014/main" id="{CAAC4309-67BC-ED6D-3525-B08BB57515B1}"/>
              </a:ext>
            </a:extLst>
          </p:cNvPr>
          <p:cNvSpPr txBox="1"/>
          <p:nvPr/>
        </p:nvSpPr>
        <p:spPr>
          <a:xfrm>
            <a:off x="7906822" y="1754538"/>
            <a:ext cx="2207656" cy="523220"/>
          </a:xfrm>
          <a:prstGeom prst="rect">
            <a:avLst/>
          </a:prstGeom>
          <a:noFill/>
          <a:ln w="19050">
            <a:solidFill>
              <a:schemeClr val="tx1"/>
            </a:solidFill>
          </a:ln>
        </p:spPr>
        <p:txBody>
          <a:bodyPr wrap="none" rtlCol="0">
            <a:spAutoFit/>
          </a:bodyPr>
          <a:lstStyle/>
          <a:p>
            <a:pPr algn="ctr"/>
            <a:r>
              <a:rPr lang="ja-JP" altLang="en-US" sz="2800">
                <a:latin typeface="MS UI Gothic" panose="020B0600070205080204" pitchFamily="34" charset="-128"/>
                <a:ea typeface="MS UI Gothic" panose="020B0600070205080204" pitchFamily="34" charset="-128"/>
              </a:rPr>
              <a:t>研究</a:t>
            </a:r>
            <a:r>
              <a:rPr kumimoji="1" lang="ja-JP" altLang="en-US" sz="2800">
                <a:latin typeface="MS UI Gothic" panose="020B0600070205080204" pitchFamily="34" charset="-128"/>
                <a:ea typeface="MS UI Gothic" panose="020B0600070205080204" pitchFamily="34" charset="-128"/>
              </a:rPr>
              <a:t>への反映</a:t>
            </a:r>
          </a:p>
        </p:txBody>
      </p:sp>
      <p:grpSp>
        <p:nvGrpSpPr>
          <p:cNvPr id="33" name="グループ化 32">
            <a:extLst>
              <a:ext uri="{FF2B5EF4-FFF2-40B4-BE49-F238E27FC236}">
                <a16:creationId xmlns:a16="http://schemas.microsoft.com/office/drawing/2014/main" id="{BF8B3170-BDF3-A102-49A2-F5356E5EC893}"/>
              </a:ext>
            </a:extLst>
          </p:cNvPr>
          <p:cNvGrpSpPr/>
          <p:nvPr/>
        </p:nvGrpSpPr>
        <p:grpSpPr>
          <a:xfrm>
            <a:off x="7594600" y="2454143"/>
            <a:ext cx="2870200" cy="673100"/>
            <a:chOff x="7594600" y="2451100"/>
            <a:chExt cx="2870200" cy="673100"/>
          </a:xfrm>
        </p:grpSpPr>
        <p:sp>
          <p:nvSpPr>
            <p:cNvPr id="32" name="角丸四角形 31">
              <a:extLst>
                <a:ext uri="{FF2B5EF4-FFF2-40B4-BE49-F238E27FC236}">
                  <a16:creationId xmlns:a16="http://schemas.microsoft.com/office/drawing/2014/main" id="{437D713E-306D-84F0-00FB-A282DD7E04B4}"/>
                </a:ext>
              </a:extLst>
            </p:cNvPr>
            <p:cNvSpPr/>
            <p:nvPr/>
          </p:nvSpPr>
          <p:spPr>
            <a:xfrm>
              <a:off x="7594600" y="2451100"/>
              <a:ext cx="2870200" cy="673100"/>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テキスト ボックス 23">
              <a:extLst>
                <a:ext uri="{FF2B5EF4-FFF2-40B4-BE49-F238E27FC236}">
                  <a16:creationId xmlns:a16="http://schemas.microsoft.com/office/drawing/2014/main" id="{4A6717EE-3FC7-9CD4-D992-1AD1C3839B1F}"/>
                </a:ext>
              </a:extLst>
            </p:cNvPr>
            <p:cNvSpPr txBox="1"/>
            <p:nvPr/>
          </p:nvSpPr>
          <p:spPr>
            <a:xfrm>
              <a:off x="7680613" y="2526040"/>
              <a:ext cx="2698175" cy="523220"/>
            </a:xfrm>
            <a:prstGeom prst="rect">
              <a:avLst/>
            </a:prstGeom>
            <a:noFill/>
          </p:spPr>
          <p:txBody>
            <a:bodyPr wrap="none" rtlCol="0">
              <a:spAutoFit/>
            </a:bodyPr>
            <a:lstStyle/>
            <a:p>
              <a:pPr algn="ctr"/>
              <a:r>
                <a:rPr kumimoji="1" lang="ja-JP" altLang="en-US" sz="2800">
                  <a:solidFill>
                    <a:schemeClr val="bg1"/>
                  </a:solidFill>
                  <a:latin typeface="MS UI Gothic" panose="020B0600070205080204" pitchFamily="34" charset="-128"/>
                  <a:ea typeface="MS UI Gothic" panose="020B0600070205080204" pitchFamily="34" charset="-128"/>
                </a:rPr>
                <a:t>体系的実証実験</a:t>
              </a:r>
            </a:p>
          </p:txBody>
        </p:sp>
      </p:grpSp>
      <p:sp>
        <p:nvSpPr>
          <p:cNvPr id="34" name="角丸四角形 33">
            <a:extLst>
              <a:ext uri="{FF2B5EF4-FFF2-40B4-BE49-F238E27FC236}">
                <a16:creationId xmlns:a16="http://schemas.microsoft.com/office/drawing/2014/main" id="{B7E04509-DEC2-ADDA-D97C-B6073356F7BB}"/>
              </a:ext>
            </a:extLst>
          </p:cNvPr>
          <p:cNvSpPr/>
          <p:nvPr/>
        </p:nvSpPr>
        <p:spPr>
          <a:xfrm>
            <a:off x="7048500" y="3897841"/>
            <a:ext cx="3924300" cy="2488609"/>
          </a:xfrm>
          <a:prstGeom prst="round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31" name="グループ化 30">
            <a:extLst>
              <a:ext uri="{FF2B5EF4-FFF2-40B4-BE49-F238E27FC236}">
                <a16:creationId xmlns:a16="http://schemas.microsoft.com/office/drawing/2014/main" id="{6E9C1486-04A3-256B-B87B-CC8CDC170AFE}"/>
              </a:ext>
            </a:extLst>
          </p:cNvPr>
          <p:cNvGrpSpPr/>
          <p:nvPr/>
        </p:nvGrpSpPr>
        <p:grpSpPr>
          <a:xfrm>
            <a:off x="7278445" y="4054949"/>
            <a:ext cx="3409908" cy="1981333"/>
            <a:chOff x="7278445" y="3926403"/>
            <a:chExt cx="3409908" cy="1888556"/>
          </a:xfrm>
        </p:grpSpPr>
        <p:sp>
          <p:nvSpPr>
            <p:cNvPr id="25" name="テキスト ボックス 24">
              <a:extLst>
                <a:ext uri="{FF2B5EF4-FFF2-40B4-BE49-F238E27FC236}">
                  <a16:creationId xmlns:a16="http://schemas.microsoft.com/office/drawing/2014/main" id="{BC22CB9D-B3E5-202A-7EB8-3000C6D009AC}"/>
                </a:ext>
              </a:extLst>
            </p:cNvPr>
            <p:cNvSpPr txBox="1"/>
            <p:nvPr/>
          </p:nvSpPr>
          <p:spPr>
            <a:xfrm>
              <a:off x="7278445" y="3926403"/>
              <a:ext cx="2795958" cy="909430"/>
            </a:xfrm>
            <a:prstGeom prst="rect">
              <a:avLst/>
            </a:prstGeom>
            <a:noFill/>
          </p:spPr>
          <p:txBody>
            <a:bodyPr wrap="none" rtlCol="0">
              <a:spAutoFit/>
            </a:bodyPr>
            <a:lstStyle/>
            <a:p>
              <a:r>
                <a:rPr kumimoji="1" lang="en-US" altLang="ja-JP" sz="2800" dirty="0">
                  <a:solidFill>
                    <a:schemeClr val="bg1"/>
                  </a:solidFill>
                  <a:latin typeface="MS UI Gothic" panose="020B0600070205080204" pitchFamily="34" charset="-128"/>
                  <a:ea typeface="MS UI Gothic" panose="020B0600070205080204" pitchFamily="34" charset="-128"/>
                </a:rPr>
                <a:t>①AI</a:t>
              </a:r>
              <a:r>
                <a:rPr kumimoji="1" lang="ja-JP" altLang="en-US" sz="2800">
                  <a:solidFill>
                    <a:schemeClr val="bg1"/>
                  </a:solidFill>
                  <a:latin typeface="MS UI Gothic" panose="020B0600070205080204" pitchFamily="34" charset="-128"/>
                  <a:ea typeface="MS UI Gothic" panose="020B0600070205080204" pitchFamily="34" charset="-128"/>
                </a:rPr>
                <a:t>活用の</a:t>
              </a:r>
              <a:endParaRPr kumimoji="1" lang="en-US" altLang="ja-JP" sz="2800" dirty="0">
                <a:solidFill>
                  <a:schemeClr val="bg1"/>
                </a:solidFill>
                <a:latin typeface="MS UI Gothic" panose="020B0600070205080204" pitchFamily="34" charset="-128"/>
                <a:ea typeface="MS UI Gothic" panose="020B0600070205080204" pitchFamily="34" charset="-128"/>
              </a:endParaRPr>
            </a:p>
            <a:p>
              <a:r>
                <a:rPr lang="ja-JP" altLang="en-US" sz="2800">
                  <a:solidFill>
                    <a:schemeClr val="bg1"/>
                  </a:solidFill>
                  <a:latin typeface="MS UI Gothic" panose="020B0600070205080204" pitchFamily="34" charset="-128"/>
                  <a:ea typeface="MS UI Gothic" panose="020B0600070205080204" pitchFamily="34" charset="-128"/>
                </a:rPr>
                <a:t>　</a:t>
              </a:r>
              <a:r>
                <a:rPr kumimoji="1" lang="ja-JP" altLang="en-US" sz="2800">
                  <a:solidFill>
                    <a:schemeClr val="bg1"/>
                  </a:solidFill>
                  <a:latin typeface="MS UI Gothic" panose="020B0600070205080204" pitchFamily="34" charset="-128"/>
                  <a:ea typeface="MS UI Gothic" panose="020B0600070205080204" pitchFamily="34" charset="-128"/>
                </a:rPr>
                <a:t>エビデンスの構築</a:t>
              </a:r>
            </a:p>
          </p:txBody>
        </p:sp>
        <p:sp>
          <p:nvSpPr>
            <p:cNvPr id="28" name="テキスト ボックス 27">
              <a:extLst>
                <a:ext uri="{FF2B5EF4-FFF2-40B4-BE49-F238E27FC236}">
                  <a16:creationId xmlns:a16="http://schemas.microsoft.com/office/drawing/2014/main" id="{07DC149F-D67E-D80C-1317-9E3ACB684130}"/>
                </a:ext>
              </a:extLst>
            </p:cNvPr>
            <p:cNvSpPr txBox="1"/>
            <p:nvPr/>
          </p:nvSpPr>
          <p:spPr>
            <a:xfrm>
              <a:off x="7278445" y="4905529"/>
              <a:ext cx="3409908" cy="909430"/>
            </a:xfrm>
            <a:prstGeom prst="rect">
              <a:avLst/>
            </a:prstGeom>
            <a:noFill/>
          </p:spPr>
          <p:txBody>
            <a:bodyPr wrap="none" rtlCol="0">
              <a:spAutoFit/>
            </a:bodyPr>
            <a:lstStyle/>
            <a:p>
              <a:r>
                <a:rPr lang="en-US" altLang="ja-JP" sz="2800" dirty="0">
                  <a:solidFill>
                    <a:schemeClr val="bg1"/>
                  </a:solidFill>
                  <a:latin typeface="MS UI Gothic" panose="020B0600070205080204" pitchFamily="34" charset="-128"/>
                  <a:ea typeface="MS UI Gothic" panose="020B0600070205080204" pitchFamily="34" charset="-128"/>
                </a:rPr>
                <a:t>②</a:t>
              </a:r>
              <a:r>
                <a:rPr lang="ja-JP" altLang="en-US" sz="2800">
                  <a:solidFill>
                    <a:schemeClr val="bg1"/>
                  </a:solidFill>
                  <a:latin typeface="MS UI Gothic" panose="020B0600070205080204" pitchFamily="34" charset="-128"/>
                  <a:ea typeface="MS UI Gothic" panose="020B0600070205080204" pitchFamily="34" charset="-128"/>
                </a:rPr>
                <a:t>学習支援システムの</a:t>
              </a:r>
              <a:endParaRPr lang="en-US" altLang="ja-JP" sz="2800" dirty="0">
                <a:solidFill>
                  <a:schemeClr val="bg1"/>
                </a:solidFill>
                <a:latin typeface="MS UI Gothic" panose="020B0600070205080204" pitchFamily="34" charset="-128"/>
                <a:ea typeface="MS UI Gothic" panose="020B0600070205080204" pitchFamily="34" charset="-128"/>
              </a:endParaRPr>
            </a:p>
            <a:p>
              <a:r>
                <a:rPr lang="ja-JP" altLang="en-US" sz="2800">
                  <a:solidFill>
                    <a:schemeClr val="bg1"/>
                  </a:solidFill>
                  <a:latin typeface="MS UI Gothic" panose="020B0600070205080204" pitchFamily="34" charset="-128"/>
                  <a:ea typeface="MS UI Gothic" panose="020B0600070205080204" pitchFamily="34" charset="-128"/>
                </a:rPr>
                <a:t>　設計指針の構築</a:t>
              </a:r>
              <a:endParaRPr kumimoji="1" lang="ja-JP" altLang="en-US" sz="2800">
                <a:solidFill>
                  <a:schemeClr val="bg1"/>
                </a:solidFill>
                <a:latin typeface="MS UI Gothic" panose="020B0600070205080204" pitchFamily="34" charset="-128"/>
                <a:ea typeface="MS UI Gothic" panose="020B0600070205080204" pitchFamily="34" charset="-128"/>
              </a:endParaRPr>
            </a:p>
          </p:txBody>
        </p:sp>
      </p:grpSp>
      <p:sp>
        <p:nvSpPr>
          <p:cNvPr id="35" name="下矢印 34">
            <a:extLst>
              <a:ext uri="{FF2B5EF4-FFF2-40B4-BE49-F238E27FC236}">
                <a16:creationId xmlns:a16="http://schemas.microsoft.com/office/drawing/2014/main" id="{FF03DBE3-2B9F-E26D-B9FD-09F24BA63722}"/>
              </a:ext>
            </a:extLst>
          </p:cNvPr>
          <p:cNvSpPr/>
          <p:nvPr/>
        </p:nvSpPr>
        <p:spPr>
          <a:xfrm>
            <a:off x="8750300" y="3347442"/>
            <a:ext cx="484632" cy="33020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42" name="グループ化 41">
            <a:extLst>
              <a:ext uri="{FF2B5EF4-FFF2-40B4-BE49-F238E27FC236}">
                <a16:creationId xmlns:a16="http://schemas.microsoft.com/office/drawing/2014/main" id="{365D4FD5-42A9-B251-8307-6AF876191B92}"/>
              </a:ext>
            </a:extLst>
          </p:cNvPr>
          <p:cNvGrpSpPr/>
          <p:nvPr/>
        </p:nvGrpSpPr>
        <p:grpSpPr>
          <a:xfrm>
            <a:off x="1104900" y="2454143"/>
            <a:ext cx="4178300" cy="673100"/>
            <a:chOff x="1130300" y="3303260"/>
            <a:chExt cx="4178300" cy="673100"/>
          </a:xfrm>
        </p:grpSpPr>
        <p:sp>
          <p:nvSpPr>
            <p:cNvPr id="41" name="角丸四角形 40">
              <a:extLst>
                <a:ext uri="{FF2B5EF4-FFF2-40B4-BE49-F238E27FC236}">
                  <a16:creationId xmlns:a16="http://schemas.microsoft.com/office/drawing/2014/main" id="{03107A64-A7AE-AAB0-2640-ACD065DDC40A}"/>
                </a:ext>
              </a:extLst>
            </p:cNvPr>
            <p:cNvSpPr/>
            <p:nvPr/>
          </p:nvSpPr>
          <p:spPr>
            <a:xfrm>
              <a:off x="1130300" y="3303260"/>
              <a:ext cx="4178300" cy="673100"/>
            </a:xfrm>
            <a:prstGeom prst="round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テキスト ボックス 20">
              <a:extLst>
                <a:ext uri="{FF2B5EF4-FFF2-40B4-BE49-F238E27FC236}">
                  <a16:creationId xmlns:a16="http://schemas.microsoft.com/office/drawing/2014/main" id="{3949946E-B207-89E2-DF1F-F173165C67A2}"/>
                </a:ext>
              </a:extLst>
            </p:cNvPr>
            <p:cNvSpPr txBox="1"/>
            <p:nvPr/>
          </p:nvSpPr>
          <p:spPr>
            <a:xfrm>
              <a:off x="1371831" y="3378200"/>
              <a:ext cx="3695242" cy="523220"/>
            </a:xfrm>
            <a:prstGeom prst="rect">
              <a:avLst/>
            </a:prstGeom>
            <a:noFill/>
          </p:spPr>
          <p:txBody>
            <a:bodyPr wrap="none" rtlCol="0">
              <a:spAutoFit/>
            </a:bodyPr>
            <a:lstStyle/>
            <a:p>
              <a:pPr algn="ctr"/>
              <a:r>
                <a:rPr kumimoji="1" lang="ja-JP" altLang="en-US" sz="2800">
                  <a:solidFill>
                    <a:schemeClr val="bg1"/>
                  </a:solidFill>
                  <a:latin typeface="MS UI Gothic" panose="020B0600070205080204" pitchFamily="34" charset="-128"/>
                  <a:ea typeface="MS UI Gothic" panose="020B0600070205080204" pitchFamily="34" charset="-128"/>
                </a:rPr>
                <a:t>「つまずきの地図」</a:t>
              </a:r>
              <a:r>
                <a:rPr lang="ja-JP" altLang="en-US" sz="2800">
                  <a:solidFill>
                    <a:schemeClr val="bg1"/>
                  </a:solidFill>
                  <a:latin typeface="MS UI Gothic" panose="020B0600070205080204" pitchFamily="34" charset="-128"/>
                  <a:ea typeface="MS UI Gothic" panose="020B0600070205080204" pitchFamily="34" charset="-128"/>
                </a:rPr>
                <a:t>の確認</a:t>
              </a:r>
              <a:endParaRPr kumimoji="1" lang="ja-JP" altLang="en-US" sz="2800">
                <a:solidFill>
                  <a:schemeClr val="bg1"/>
                </a:solidFill>
                <a:latin typeface="MS UI Gothic" panose="020B0600070205080204" pitchFamily="34" charset="-128"/>
                <a:ea typeface="MS UI Gothic" panose="020B0600070205080204" pitchFamily="34" charset="-128"/>
              </a:endParaRPr>
            </a:p>
          </p:txBody>
        </p:sp>
      </p:grpSp>
      <p:sp>
        <p:nvSpPr>
          <p:cNvPr id="43" name="角丸四角形 42">
            <a:extLst>
              <a:ext uri="{FF2B5EF4-FFF2-40B4-BE49-F238E27FC236}">
                <a16:creationId xmlns:a16="http://schemas.microsoft.com/office/drawing/2014/main" id="{F05B82C0-526F-1315-39DD-171DC3E485B4}"/>
              </a:ext>
            </a:extLst>
          </p:cNvPr>
          <p:cNvSpPr/>
          <p:nvPr/>
        </p:nvSpPr>
        <p:spPr>
          <a:xfrm>
            <a:off x="1478975" y="3897840"/>
            <a:ext cx="3404756" cy="2488609"/>
          </a:xfrm>
          <a:prstGeom prst="round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テキスト ボックス 21">
            <a:extLst>
              <a:ext uri="{FF2B5EF4-FFF2-40B4-BE49-F238E27FC236}">
                <a16:creationId xmlns:a16="http://schemas.microsoft.com/office/drawing/2014/main" id="{F8BE42F1-FE60-32A0-E716-5D8B6E7BAAB4}"/>
              </a:ext>
            </a:extLst>
          </p:cNvPr>
          <p:cNvSpPr txBox="1"/>
          <p:nvPr/>
        </p:nvSpPr>
        <p:spPr>
          <a:xfrm>
            <a:off x="1622794" y="4854446"/>
            <a:ext cx="2698175" cy="523220"/>
          </a:xfrm>
          <a:prstGeom prst="rect">
            <a:avLst/>
          </a:prstGeom>
          <a:noFill/>
        </p:spPr>
        <p:txBody>
          <a:bodyPr wrap="none" rtlCol="0">
            <a:spAutoFit/>
          </a:bodyPr>
          <a:lstStyle/>
          <a:p>
            <a:r>
              <a:rPr lang="en-US" altLang="ja-JP" sz="2800" dirty="0">
                <a:solidFill>
                  <a:schemeClr val="bg1"/>
                </a:solidFill>
                <a:latin typeface="MS UI Gothic" panose="020B0600070205080204" pitchFamily="34" charset="-128"/>
                <a:ea typeface="MS UI Gothic" panose="020B0600070205080204" pitchFamily="34" charset="-128"/>
              </a:rPr>
              <a:t>②</a:t>
            </a:r>
            <a:r>
              <a:rPr lang="ja-JP" altLang="en-US" sz="2800">
                <a:solidFill>
                  <a:schemeClr val="bg1"/>
                </a:solidFill>
                <a:latin typeface="MS UI Gothic" panose="020B0600070205080204" pitchFamily="34" charset="-128"/>
                <a:ea typeface="MS UI Gothic" panose="020B0600070205080204" pitchFamily="34" charset="-128"/>
              </a:rPr>
              <a:t>学生個別指導</a:t>
            </a:r>
            <a:endParaRPr kumimoji="1" lang="ja-JP" altLang="en-US" sz="2800">
              <a:solidFill>
                <a:schemeClr val="bg1"/>
              </a:solidFill>
              <a:latin typeface="MS UI Gothic" panose="020B0600070205080204" pitchFamily="34" charset="-128"/>
              <a:ea typeface="MS UI Gothic" panose="020B0600070205080204" pitchFamily="34" charset="-128"/>
            </a:endParaRPr>
          </a:p>
        </p:txBody>
      </p:sp>
      <p:sp>
        <p:nvSpPr>
          <p:cNvPr id="37" name="テキスト ボックス 36">
            <a:extLst>
              <a:ext uri="{FF2B5EF4-FFF2-40B4-BE49-F238E27FC236}">
                <a16:creationId xmlns:a16="http://schemas.microsoft.com/office/drawing/2014/main" id="{E35AFE8A-CF6C-7E5E-6056-D6E7ECFBE498}"/>
              </a:ext>
            </a:extLst>
          </p:cNvPr>
          <p:cNvSpPr txBox="1"/>
          <p:nvPr/>
        </p:nvSpPr>
        <p:spPr>
          <a:xfrm>
            <a:off x="1622794" y="4070518"/>
            <a:ext cx="1980029" cy="523220"/>
          </a:xfrm>
          <a:prstGeom prst="rect">
            <a:avLst/>
          </a:prstGeom>
          <a:noFill/>
        </p:spPr>
        <p:txBody>
          <a:bodyPr wrap="none" rtlCol="0">
            <a:spAutoFit/>
          </a:bodyPr>
          <a:lstStyle/>
          <a:p>
            <a:r>
              <a:rPr lang="en-US" altLang="ja-JP" sz="2800" dirty="0">
                <a:solidFill>
                  <a:schemeClr val="bg1"/>
                </a:solidFill>
                <a:latin typeface="MS UI Gothic" panose="020B0600070205080204" pitchFamily="34" charset="-128"/>
                <a:ea typeface="MS UI Gothic" panose="020B0600070205080204" pitchFamily="34" charset="-128"/>
              </a:rPr>
              <a:t>①</a:t>
            </a:r>
            <a:r>
              <a:rPr lang="ja-JP" altLang="en-US" sz="2800">
                <a:solidFill>
                  <a:schemeClr val="bg1"/>
                </a:solidFill>
                <a:latin typeface="MS UI Gothic" panose="020B0600070205080204" pitchFamily="34" charset="-128"/>
                <a:ea typeface="MS UI Gothic" panose="020B0600070205080204" pitchFamily="34" charset="-128"/>
              </a:rPr>
              <a:t>講義改善</a:t>
            </a:r>
            <a:endParaRPr lang="en-US" altLang="ja-JP" sz="2800" dirty="0">
              <a:solidFill>
                <a:schemeClr val="bg1"/>
              </a:solidFill>
              <a:latin typeface="MS UI Gothic" panose="020B0600070205080204" pitchFamily="34" charset="-128"/>
              <a:ea typeface="MS UI Gothic" panose="020B0600070205080204" pitchFamily="34" charset="-128"/>
            </a:endParaRPr>
          </a:p>
        </p:txBody>
      </p:sp>
      <p:sp>
        <p:nvSpPr>
          <p:cNvPr id="45" name="下矢印 44">
            <a:extLst>
              <a:ext uri="{FF2B5EF4-FFF2-40B4-BE49-F238E27FC236}">
                <a16:creationId xmlns:a16="http://schemas.microsoft.com/office/drawing/2014/main" id="{5AEC3477-A3C1-2E47-1380-E66CBEE43E78}"/>
              </a:ext>
            </a:extLst>
          </p:cNvPr>
          <p:cNvSpPr/>
          <p:nvPr/>
        </p:nvSpPr>
        <p:spPr>
          <a:xfrm>
            <a:off x="2951734" y="3347442"/>
            <a:ext cx="484632" cy="33020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テキスト ボックス 1">
            <a:extLst>
              <a:ext uri="{FF2B5EF4-FFF2-40B4-BE49-F238E27FC236}">
                <a16:creationId xmlns:a16="http://schemas.microsoft.com/office/drawing/2014/main" id="{1463329B-B3F9-0F38-E9D7-A5FB44D2B8F2}"/>
              </a:ext>
            </a:extLst>
          </p:cNvPr>
          <p:cNvSpPr txBox="1"/>
          <p:nvPr/>
        </p:nvSpPr>
        <p:spPr>
          <a:xfrm>
            <a:off x="1622796" y="5638373"/>
            <a:ext cx="2698175" cy="523220"/>
          </a:xfrm>
          <a:prstGeom prst="rect">
            <a:avLst/>
          </a:prstGeom>
          <a:noFill/>
        </p:spPr>
        <p:txBody>
          <a:bodyPr wrap="none" rtlCol="0">
            <a:spAutoFit/>
          </a:bodyPr>
          <a:lstStyle/>
          <a:p>
            <a:r>
              <a:rPr lang="en-US" altLang="ja-JP" sz="2800" dirty="0">
                <a:solidFill>
                  <a:schemeClr val="bg1"/>
                </a:solidFill>
                <a:latin typeface="MS UI Gothic" panose="020B0600070205080204" pitchFamily="34" charset="-128"/>
                <a:ea typeface="MS UI Gothic" panose="020B0600070205080204" pitchFamily="34" charset="-128"/>
              </a:rPr>
              <a:t>③</a:t>
            </a:r>
            <a:r>
              <a:rPr lang="ja-JP" altLang="en-US" sz="2800">
                <a:solidFill>
                  <a:schemeClr val="bg1"/>
                </a:solidFill>
                <a:latin typeface="MS UI Gothic" panose="020B0600070205080204" pitchFamily="34" charset="-128"/>
                <a:ea typeface="MS UI Gothic" panose="020B0600070205080204" pitchFamily="34" charset="-128"/>
              </a:rPr>
              <a:t>演習問題作成</a:t>
            </a:r>
            <a:endParaRPr kumimoji="1" lang="ja-JP" altLang="en-US" sz="2800">
              <a:solidFill>
                <a:schemeClr val="bg1"/>
              </a:solidFill>
              <a:latin typeface="MS UI Gothic" panose="020B0600070205080204" pitchFamily="34" charset="-128"/>
              <a:ea typeface="MS UI Gothic" panose="020B0600070205080204" pitchFamily="34" charset="-128"/>
            </a:endParaRPr>
          </a:p>
        </p:txBody>
      </p:sp>
    </p:spTree>
    <p:extLst>
      <p:ext uri="{BB962C8B-B14F-4D97-AF65-F5344CB8AC3E}">
        <p14:creationId xmlns:p14="http://schemas.microsoft.com/office/powerpoint/2010/main" val="4145451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グループ化 18">
            <a:extLst>
              <a:ext uri="{FF2B5EF4-FFF2-40B4-BE49-F238E27FC236}">
                <a16:creationId xmlns:a16="http://schemas.microsoft.com/office/drawing/2014/main" id="{829F9B0C-EEA8-2B54-7B13-BBDAB6DF6757}"/>
              </a:ext>
            </a:extLst>
          </p:cNvPr>
          <p:cNvGrpSpPr/>
          <p:nvPr/>
        </p:nvGrpSpPr>
        <p:grpSpPr>
          <a:xfrm>
            <a:off x="975360" y="1519174"/>
            <a:ext cx="10241280" cy="1521932"/>
            <a:chOff x="975360" y="1162342"/>
            <a:chExt cx="10241280" cy="1521932"/>
          </a:xfrm>
        </p:grpSpPr>
        <p:sp>
          <p:nvSpPr>
            <p:cNvPr id="4" name="Shape 2"/>
            <p:cNvSpPr/>
            <p:nvPr/>
          </p:nvSpPr>
          <p:spPr>
            <a:xfrm>
              <a:off x="975360" y="1162342"/>
              <a:ext cx="10241280" cy="1521932"/>
            </a:xfrm>
            <a:prstGeom prst="rect">
              <a:avLst/>
            </a:prstGeom>
            <a:solidFill>
              <a:srgbClr val="E8F8F5"/>
            </a:solidFill>
            <a:ln/>
          </p:spPr>
          <p:txBody>
            <a:bodyPr/>
            <a:lstStyle/>
            <a:p>
              <a:endParaRPr lang="ja-JP" altLang="en-US" sz="2800">
                <a:latin typeface="MS UI Gothic" panose="020B0600070205080204" pitchFamily="34" charset="-128"/>
                <a:ea typeface="MS UI Gothic" panose="020B0600070205080204" pitchFamily="34" charset="-128"/>
              </a:endParaRPr>
            </a:p>
          </p:txBody>
        </p:sp>
        <p:sp>
          <p:nvSpPr>
            <p:cNvPr id="5" name="Text 3"/>
            <p:cNvSpPr/>
            <p:nvPr/>
          </p:nvSpPr>
          <p:spPr>
            <a:xfrm>
              <a:off x="1219200" y="1666242"/>
              <a:ext cx="1828800" cy="487680"/>
            </a:xfrm>
            <a:prstGeom prst="rect">
              <a:avLst/>
            </a:prstGeom>
            <a:noFill/>
            <a:ln/>
          </p:spPr>
          <p:txBody>
            <a:bodyPr wrap="square" rtlCol="0" anchor="ctr"/>
            <a:lstStyle/>
            <a:p>
              <a:r>
                <a:rPr lang="en-US" sz="2800" b="1" dirty="0">
                  <a:latin typeface="MS UI Gothic" panose="020B0600070205080204" pitchFamily="34" charset="-128"/>
                  <a:ea typeface="MS UI Gothic" panose="020B0600070205080204" pitchFamily="34" charset="-128"/>
                </a:rPr>
                <a:t>準備期</a:t>
              </a:r>
              <a:endParaRPr lang="en-US" sz="2800" dirty="0">
                <a:latin typeface="MS UI Gothic" panose="020B0600070205080204" pitchFamily="34" charset="-128"/>
                <a:ea typeface="MS UI Gothic" panose="020B0600070205080204" pitchFamily="34" charset="-128"/>
              </a:endParaRPr>
            </a:p>
          </p:txBody>
        </p:sp>
        <p:sp>
          <p:nvSpPr>
            <p:cNvPr id="6" name="Text 4"/>
            <p:cNvSpPr/>
            <p:nvPr/>
          </p:nvSpPr>
          <p:spPr>
            <a:xfrm>
              <a:off x="3291840" y="1666242"/>
              <a:ext cx="2438400" cy="487680"/>
            </a:xfrm>
            <a:prstGeom prst="rect">
              <a:avLst/>
            </a:prstGeom>
            <a:noFill/>
            <a:ln/>
          </p:spPr>
          <p:txBody>
            <a:bodyPr wrap="square" rtlCol="0" anchor="ctr"/>
            <a:lstStyle/>
            <a:p>
              <a:r>
                <a:rPr lang="en-US" sz="2800" dirty="0">
                  <a:latin typeface="MS UI Gothic" panose="020B0600070205080204" pitchFamily="34" charset="-128"/>
                  <a:ea typeface="MS UI Gothic" panose="020B0600070205080204" pitchFamily="34" charset="-128"/>
                </a:rPr>
                <a:t>2026年</a:t>
              </a:r>
            </a:p>
            <a:p>
              <a:r>
                <a:rPr lang="en-US" sz="2800" dirty="0">
                  <a:latin typeface="MS UI Gothic" panose="020B0600070205080204" pitchFamily="34" charset="-128"/>
                  <a:ea typeface="MS UI Gothic" panose="020B0600070205080204" pitchFamily="34" charset="-128"/>
                </a:rPr>
                <a:t>4月～8月</a:t>
              </a:r>
            </a:p>
          </p:txBody>
        </p:sp>
        <p:sp>
          <p:nvSpPr>
            <p:cNvPr id="7" name="Text 5"/>
            <p:cNvSpPr/>
            <p:nvPr/>
          </p:nvSpPr>
          <p:spPr>
            <a:xfrm>
              <a:off x="6096000" y="1422402"/>
              <a:ext cx="4876800" cy="975360"/>
            </a:xfrm>
            <a:prstGeom prst="rect">
              <a:avLst/>
            </a:prstGeom>
            <a:noFill/>
            <a:ln/>
          </p:spPr>
          <p:txBody>
            <a:bodyPr wrap="square" rtlCol="0" anchor="ctr"/>
            <a:lstStyle/>
            <a:p>
              <a:pPr>
                <a:buSzPct val="100000"/>
              </a:pPr>
              <a:r>
                <a:rPr lang="en-US" sz="2800" dirty="0">
                  <a:latin typeface="MS UI Gothic" panose="020B0600070205080204" pitchFamily="34" charset="-128"/>
                  <a:ea typeface="MS UI Gothic" panose="020B0600070205080204" pitchFamily="34" charset="-128"/>
                </a:rPr>
                <a:t>・</a:t>
              </a:r>
              <a:r>
                <a:rPr lang="en-US" sz="2800" dirty="0" err="1">
                  <a:latin typeface="MS UI Gothic" panose="020B0600070205080204" pitchFamily="34" charset="-128"/>
                  <a:ea typeface="MS UI Gothic" panose="020B0600070205080204" pitchFamily="34" charset="-128"/>
                </a:rPr>
                <a:t>システム最終調整</a:t>
              </a:r>
              <a:endParaRPr lang="en-US" sz="2800" dirty="0">
                <a:latin typeface="MS UI Gothic" panose="020B0600070205080204" pitchFamily="34" charset="-128"/>
                <a:ea typeface="MS UI Gothic" panose="020B0600070205080204" pitchFamily="34" charset="-128"/>
              </a:endParaRPr>
            </a:p>
            <a:p>
              <a:pPr>
                <a:buSzPct val="100000"/>
              </a:pPr>
              <a:r>
                <a:rPr lang="en-US" sz="2800" dirty="0">
                  <a:latin typeface="MS UI Gothic" panose="020B0600070205080204" pitchFamily="34" charset="-128"/>
                  <a:ea typeface="MS UI Gothic" panose="020B0600070205080204" pitchFamily="34" charset="-128"/>
                </a:rPr>
                <a:t>・</a:t>
              </a:r>
              <a:r>
                <a:rPr lang="en-US" sz="2800" dirty="0" err="1">
                  <a:latin typeface="MS UI Gothic" panose="020B0600070205080204" pitchFamily="34" charset="-128"/>
                  <a:ea typeface="MS UI Gothic" panose="020B0600070205080204" pitchFamily="34" charset="-128"/>
                </a:rPr>
                <a:t>倫理審査申請</a:t>
              </a:r>
              <a:endParaRPr lang="en-US" sz="2800" dirty="0">
                <a:latin typeface="MS UI Gothic" panose="020B0600070205080204" pitchFamily="34" charset="-128"/>
                <a:ea typeface="MS UI Gothic" panose="020B0600070205080204" pitchFamily="34" charset="-128"/>
              </a:endParaRPr>
            </a:p>
            <a:p>
              <a:pPr>
                <a:buSzPct val="100000"/>
              </a:pPr>
              <a:r>
                <a:rPr lang="en-US" sz="2800" dirty="0">
                  <a:latin typeface="MS UI Gothic" panose="020B0600070205080204" pitchFamily="34" charset="-128"/>
                  <a:ea typeface="MS UI Gothic" panose="020B0600070205080204" pitchFamily="34" charset="-128"/>
                </a:rPr>
                <a:t>・</a:t>
              </a:r>
              <a:r>
                <a:rPr lang="en-US" sz="2800" dirty="0" err="1">
                  <a:latin typeface="MS UI Gothic" panose="020B0600070205080204" pitchFamily="34" charset="-128"/>
                  <a:ea typeface="MS UI Gothic" panose="020B0600070205080204" pitchFamily="34" charset="-128"/>
                </a:rPr>
                <a:t>履修済み学生を対象に仮運用</a:t>
              </a:r>
              <a:endParaRPr lang="en-US" sz="2800" dirty="0">
                <a:latin typeface="MS UI Gothic" panose="020B0600070205080204" pitchFamily="34" charset="-128"/>
                <a:ea typeface="MS UI Gothic" panose="020B0600070205080204" pitchFamily="34" charset="-128"/>
              </a:endParaRPr>
            </a:p>
          </p:txBody>
        </p:sp>
      </p:grpSp>
      <p:grpSp>
        <p:nvGrpSpPr>
          <p:cNvPr id="20" name="グループ化 19">
            <a:extLst>
              <a:ext uri="{FF2B5EF4-FFF2-40B4-BE49-F238E27FC236}">
                <a16:creationId xmlns:a16="http://schemas.microsoft.com/office/drawing/2014/main" id="{245E54A5-797A-A84D-60D2-87C1BD2BF30B}"/>
              </a:ext>
            </a:extLst>
          </p:cNvPr>
          <p:cNvGrpSpPr/>
          <p:nvPr/>
        </p:nvGrpSpPr>
        <p:grpSpPr>
          <a:xfrm>
            <a:off x="975360" y="3296040"/>
            <a:ext cx="10358048" cy="1657014"/>
            <a:chOff x="975360" y="2762169"/>
            <a:chExt cx="10358048" cy="1657014"/>
          </a:xfrm>
        </p:grpSpPr>
        <p:sp>
          <p:nvSpPr>
            <p:cNvPr id="8" name="Shape 6"/>
            <p:cNvSpPr/>
            <p:nvPr/>
          </p:nvSpPr>
          <p:spPr>
            <a:xfrm>
              <a:off x="975360" y="2762169"/>
              <a:ext cx="10241280" cy="1657014"/>
            </a:xfrm>
            <a:prstGeom prst="rect">
              <a:avLst/>
            </a:prstGeom>
            <a:solidFill>
              <a:srgbClr val="FEF5E7"/>
            </a:solidFill>
            <a:ln/>
          </p:spPr>
          <p:txBody>
            <a:bodyPr/>
            <a:lstStyle/>
            <a:p>
              <a:endParaRPr lang="ja-JP" altLang="en-US" sz="2800">
                <a:latin typeface="MS UI Gothic" panose="020B0600070205080204" pitchFamily="34" charset="-128"/>
                <a:ea typeface="MS UI Gothic" panose="020B0600070205080204" pitchFamily="34" charset="-128"/>
              </a:endParaRPr>
            </a:p>
          </p:txBody>
        </p:sp>
        <p:sp>
          <p:nvSpPr>
            <p:cNvPr id="9" name="Text 7"/>
            <p:cNvSpPr/>
            <p:nvPr/>
          </p:nvSpPr>
          <p:spPr>
            <a:xfrm>
              <a:off x="1219200" y="3268137"/>
              <a:ext cx="1828800" cy="487680"/>
            </a:xfrm>
            <a:prstGeom prst="rect">
              <a:avLst/>
            </a:prstGeom>
            <a:noFill/>
            <a:ln/>
          </p:spPr>
          <p:txBody>
            <a:bodyPr wrap="square" rtlCol="0" anchor="ctr"/>
            <a:lstStyle/>
            <a:p>
              <a:r>
                <a:rPr lang="en-US" sz="2800" b="1" dirty="0">
                  <a:latin typeface="MS UI Gothic" panose="020B0600070205080204" pitchFamily="34" charset="-128"/>
                  <a:ea typeface="MS UI Gothic" panose="020B0600070205080204" pitchFamily="34" charset="-128"/>
                </a:rPr>
                <a:t>実証期</a:t>
              </a:r>
              <a:endParaRPr lang="en-US" sz="2800" dirty="0">
                <a:latin typeface="MS UI Gothic" panose="020B0600070205080204" pitchFamily="34" charset="-128"/>
                <a:ea typeface="MS UI Gothic" panose="020B0600070205080204" pitchFamily="34" charset="-128"/>
              </a:endParaRPr>
            </a:p>
          </p:txBody>
        </p:sp>
        <p:sp>
          <p:nvSpPr>
            <p:cNvPr id="10" name="Text 8"/>
            <p:cNvSpPr/>
            <p:nvPr/>
          </p:nvSpPr>
          <p:spPr>
            <a:xfrm>
              <a:off x="3291840" y="3268137"/>
              <a:ext cx="2438400" cy="487680"/>
            </a:xfrm>
            <a:prstGeom prst="rect">
              <a:avLst/>
            </a:prstGeom>
            <a:noFill/>
            <a:ln/>
          </p:spPr>
          <p:txBody>
            <a:bodyPr wrap="square" rtlCol="0" anchor="ctr"/>
            <a:lstStyle/>
            <a:p>
              <a:r>
                <a:rPr lang="en-US" sz="2800" dirty="0">
                  <a:latin typeface="MS UI Gothic" panose="020B0600070205080204" pitchFamily="34" charset="-128"/>
                  <a:ea typeface="MS UI Gothic" panose="020B0600070205080204" pitchFamily="34" charset="-128"/>
                </a:rPr>
                <a:t>2026年</a:t>
              </a:r>
            </a:p>
            <a:p>
              <a:r>
                <a:rPr lang="en-US" sz="2800" dirty="0">
                  <a:latin typeface="MS UI Gothic" panose="020B0600070205080204" pitchFamily="34" charset="-128"/>
                  <a:ea typeface="MS UI Gothic" panose="020B0600070205080204" pitchFamily="34" charset="-128"/>
                </a:rPr>
                <a:t>9月～12月</a:t>
              </a:r>
            </a:p>
          </p:txBody>
        </p:sp>
        <p:sp>
          <p:nvSpPr>
            <p:cNvPr id="11" name="Text 9"/>
            <p:cNvSpPr/>
            <p:nvPr/>
          </p:nvSpPr>
          <p:spPr>
            <a:xfrm>
              <a:off x="6096000" y="3024297"/>
              <a:ext cx="5237408" cy="975360"/>
            </a:xfrm>
            <a:prstGeom prst="rect">
              <a:avLst/>
            </a:prstGeom>
            <a:noFill/>
            <a:ln/>
          </p:spPr>
          <p:txBody>
            <a:bodyPr wrap="square" rtlCol="0" anchor="ctr"/>
            <a:lstStyle/>
            <a:p>
              <a:pPr>
                <a:buSzPct val="100000"/>
              </a:pPr>
              <a:r>
                <a:rPr lang="en-US" sz="2800" dirty="0">
                  <a:latin typeface="MS UI Gothic" panose="020B0600070205080204" pitchFamily="34" charset="-128"/>
                  <a:ea typeface="MS UI Gothic" panose="020B0600070205080204" pitchFamily="34" charset="-128"/>
                </a:rPr>
                <a:t>・</a:t>
              </a:r>
              <a:r>
                <a:rPr lang="en-US" sz="2800" dirty="0" err="1">
                  <a:latin typeface="MS UI Gothic" panose="020B0600070205080204" pitchFamily="34" charset="-128"/>
                  <a:ea typeface="MS UI Gothic" panose="020B0600070205080204" pitchFamily="34" charset="-128"/>
                </a:rPr>
                <a:t>小規模実証実験（課題改善</a:t>
              </a:r>
              <a:r>
                <a:rPr lang="en-US" sz="2800" dirty="0">
                  <a:latin typeface="MS UI Gothic" panose="020B0600070205080204" pitchFamily="34" charset="-128"/>
                  <a:ea typeface="MS UI Gothic" panose="020B0600070205080204" pitchFamily="34" charset="-128"/>
                </a:rPr>
                <a:t>）</a:t>
              </a:r>
            </a:p>
            <a:p>
              <a:pPr>
                <a:buSzPct val="100000"/>
              </a:pPr>
              <a:r>
                <a:rPr lang="en-US" sz="2800" dirty="0">
                  <a:latin typeface="MS UI Gothic" panose="020B0600070205080204" pitchFamily="34" charset="-128"/>
                  <a:ea typeface="MS UI Gothic" panose="020B0600070205080204" pitchFamily="34" charset="-128"/>
                </a:rPr>
                <a:t>・</a:t>
              </a:r>
              <a:r>
                <a:rPr lang="en-US" sz="2800" dirty="0" err="1">
                  <a:latin typeface="MS UI Gothic" panose="020B0600070205080204" pitchFamily="34" charset="-128"/>
                  <a:ea typeface="MS UI Gothic" panose="020B0600070205080204" pitchFamily="34" charset="-128"/>
                </a:rPr>
                <a:t>本格的導入・大規模実証実験</a:t>
              </a:r>
              <a:endParaRPr lang="en-US" sz="2800" dirty="0">
                <a:latin typeface="MS UI Gothic" panose="020B0600070205080204" pitchFamily="34" charset="-128"/>
                <a:ea typeface="MS UI Gothic" panose="020B0600070205080204" pitchFamily="34" charset="-128"/>
              </a:endParaRPr>
            </a:p>
            <a:p>
              <a:pPr>
                <a:buSzPct val="100000"/>
              </a:pPr>
              <a:r>
                <a:rPr lang="en-US" sz="2800" dirty="0">
                  <a:latin typeface="MS UI Gothic" panose="020B0600070205080204" pitchFamily="34" charset="-128"/>
                  <a:ea typeface="MS UI Gothic" panose="020B0600070205080204" pitchFamily="34" charset="-128"/>
                </a:rPr>
                <a:t>（</a:t>
              </a:r>
              <a:r>
                <a:rPr lang="en-US" sz="2800" dirty="0" err="1">
                  <a:latin typeface="MS UI Gothic" panose="020B0600070205080204" pitchFamily="34" charset="-128"/>
                  <a:ea typeface="MS UI Gothic" panose="020B0600070205080204" pitchFamily="34" charset="-128"/>
                </a:rPr>
                <a:t>データ収集</a:t>
              </a:r>
              <a:r>
                <a:rPr lang="en-US" sz="2800" dirty="0">
                  <a:latin typeface="MS UI Gothic" panose="020B0600070205080204" pitchFamily="34" charset="-128"/>
                  <a:ea typeface="MS UI Gothic" panose="020B0600070205080204" pitchFamily="34" charset="-128"/>
                </a:rPr>
                <a:t>）</a:t>
              </a:r>
            </a:p>
          </p:txBody>
        </p:sp>
      </p:grpSp>
      <p:grpSp>
        <p:nvGrpSpPr>
          <p:cNvPr id="21" name="グループ化 20">
            <a:extLst>
              <a:ext uri="{FF2B5EF4-FFF2-40B4-BE49-F238E27FC236}">
                <a16:creationId xmlns:a16="http://schemas.microsoft.com/office/drawing/2014/main" id="{45C6C304-5D78-745F-2900-08CB10961639}"/>
              </a:ext>
            </a:extLst>
          </p:cNvPr>
          <p:cNvGrpSpPr/>
          <p:nvPr/>
        </p:nvGrpSpPr>
        <p:grpSpPr>
          <a:xfrm>
            <a:off x="975360" y="5184702"/>
            <a:ext cx="10241280" cy="1341120"/>
            <a:chOff x="975360" y="4490722"/>
            <a:chExt cx="10241280" cy="1341120"/>
          </a:xfrm>
        </p:grpSpPr>
        <p:sp>
          <p:nvSpPr>
            <p:cNvPr id="12" name="Shape 10"/>
            <p:cNvSpPr/>
            <p:nvPr/>
          </p:nvSpPr>
          <p:spPr>
            <a:xfrm>
              <a:off x="975360" y="4490722"/>
              <a:ext cx="10241280" cy="1341120"/>
            </a:xfrm>
            <a:prstGeom prst="rect">
              <a:avLst/>
            </a:prstGeom>
            <a:solidFill>
              <a:srgbClr val="E8F8F5"/>
            </a:solidFill>
            <a:ln/>
          </p:spPr>
          <p:txBody>
            <a:bodyPr/>
            <a:lstStyle/>
            <a:p>
              <a:endParaRPr lang="ja-JP" altLang="en-US" sz="2800">
                <a:latin typeface="MS UI Gothic" panose="020B0600070205080204" pitchFamily="34" charset="-128"/>
                <a:ea typeface="MS UI Gothic" panose="020B0600070205080204" pitchFamily="34" charset="-128"/>
              </a:endParaRPr>
            </a:p>
          </p:txBody>
        </p:sp>
        <p:sp>
          <p:nvSpPr>
            <p:cNvPr id="13" name="Text 11"/>
            <p:cNvSpPr/>
            <p:nvPr/>
          </p:nvSpPr>
          <p:spPr>
            <a:xfrm>
              <a:off x="1219200" y="4886962"/>
              <a:ext cx="1828800" cy="487680"/>
            </a:xfrm>
            <a:prstGeom prst="rect">
              <a:avLst/>
            </a:prstGeom>
            <a:noFill/>
            <a:ln/>
          </p:spPr>
          <p:txBody>
            <a:bodyPr wrap="square" rtlCol="0" anchor="ctr"/>
            <a:lstStyle/>
            <a:p>
              <a:r>
                <a:rPr lang="en-US" sz="2800" b="1" dirty="0">
                  <a:latin typeface="MS UI Gothic" panose="020B0600070205080204" pitchFamily="34" charset="-128"/>
                  <a:ea typeface="MS UI Gothic" panose="020B0600070205080204" pitchFamily="34" charset="-128"/>
                </a:rPr>
                <a:t>分析期</a:t>
              </a:r>
              <a:endParaRPr lang="en-US" sz="2800" dirty="0">
                <a:latin typeface="MS UI Gothic" panose="020B0600070205080204" pitchFamily="34" charset="-128"/>
                <a:ea typeface="MS UI Gothic" panose="020B0600070205080204" pitchFamily="34" charset="-128"/>
              </a:endParaRPr>
            </a:p>
          </p:txBody>
        </p:sp>
        <p:sp>
          <p:nvSpPr>
            <p:cNvPr id="14" name="Text 12"/>
            <p:cNvSpPr/>
            <p:nvPr/>
          </p:nvSpPr>
          <p:spPr>
            <a:xfrm>
              <a:off x="3291840" y="4886962"/>
              <a:ext cx="2438400" cy="487680"/>
            </a:xfrm>
            <a:prstGeom prst="rect">
              <a:avLst/>
            </a:prstGeom>
            <a:noFill/>
            <a:ln/>
          </p:spPr>
          <p:txBody>
            <a:bodyPr wrap="square" rtlCol="0" anchor="ctr"/>
            <a:lstStyle/>
            <a:p>
              <a:r>
                <a:rPr lang="en-US" sz="2800" dirty="0">
                  <a:latin typeface="MS UI Gothic" panose="020B0600070205080204" pitchFamily="34" charset="-128"/>
                  <a:ea typeface="MS UI Gothic" panose="020B0600070205080204" pitchFamily="34" charset="-128"/>
                </a:rPr>
                <a:t>2027年</a:t>
              </a:r>
            </a:p>
            <a:p>
              <a:r>
                <a:rPr lang="en-US" sz="2800" dirty="0">
                  <a:latin typeface="MS UI Gothic" panose="020B0600070205080204" pitchFamily="34" charset="-128"/>
                  <a:ea typeface="MS UI Gothic" panose="020B0600070205080204" pitchFamily="34" charset="-128"/>
                </a:rPr>
                <a:t>1月～3月</a:t>
              </a:r>
            </a:p>
          </p:txBody>
        </p:sp>
        <p:sp>
          <p:nvSpPr>
            <p:cNvPr id="15" name="Text 13"/>
            <p:cNvSpPr/>
            <p:nvPr/>
          </p:nvSpPr>
          <p:spPr>
            <a:xfrm>
              <a:off x="6096000" y="4643122"/>
              <a:ext cx="4876800" cy="975360"/>
            </a:xfrm>
            <a:prstGeom prst="rect">
              <a:avLst/>
            </a:prstGeom>
            <a:noFill/>
            <a:ln/>
          </p:spPr>
          <p:txBody>
            <a:bodyPr wrap="square" rtlCol="0" anchor="ctr"/>
            <a:lstStyle/>
            <a:p>
              <a:pPr>
                <a:buSzPct val="100000"/>
              </a:pPr>
              <a:r>
                <a:rPr lang="en-US" sz="2800" dirty="0">
                  <a:latin typeface="MS UI Gothic" panose="020B0600070205080204" pitchFamily="34" charset="-128"/>
                  <a:ea typeface="MS UI Gothic" panose="020B0600070205080204" pitchFamily="34" charset="-128"/>
                </a:rPr>
                <a:t>・</a:t>
              </a:r>
              <a:r>
                <a:rPr lang="en-US" sz="2800" dirty="0" err="1">
                  <a:latin typeface="MS UI Gothic" panose="020B0600070205080204" pitchFamily="34" charset="-128"/>
                  <a:ea typeface="MS UI Gothic" panose="020B0600070205080204" pitchFamily="34" charset="-128"/>
                </a:rPr>
                <a:t>データ分析・解析</a:t>
              </a:r>
              <a:endParaRPr lang="en-US" sz="2800" dirty="0">
                <a:latin typeface="MS UI Gothic" panose="020B0600070205080204" pitchFamily="34" charset="-128"/>
                <a:ea typeface="MS UI Gothic" panose="020B0600070205080204" pitchFamily="34" charset="-128"/>
              </a:endParaRPr>
            </a:p>
            <a:p>
              <a:pPr>
                <a:buSzPct val="100000"/>
              </a:pPr>
              <a:r>
                <a:rPr lang="en-US" sz="2800" dirty="0">
                  <a:latin typeface="MS UI Gothic" panose="020B0600070205080204" pitchFamily="34" charset="-128"/>
                  <a:ea typeface="MS UI Gothic" panose="020B0600070205080204" pitchFamily="34" charset="-128"/>
                </a:rPr>
                <a:t>・</a:t>
              </a:r>
              <a:r>
                <a:rPr lang="en-US" sz="2800" dirty="0" err="1">
                  <a:latin typeface="MS UI Gothic" panose="020B0600070205080204" pitchFamily="34" charset="-128"/>
                  <a:ea typeface="MS UI Gothic" panose="020B0600070205080204" pitchFamily="34" charset="-128"/>
                </a:rPr>
                <a:t>成果の公表</a:t>
              </a:r>
              <a:endParaRPr lang="en-US" sz="2800" dirty="0">
                <a:latin typeface="MS UI Gothic" panose="020B0600070205080204" pitchFamily="34" charset="-128"/>
                <a:ea typeface="MS UI Gothic" panose="020B0600070205080204" pitchFamily="34" charset="-128"/>
              </a:endParaRPr>
            </a:p>
          </p:txBody>
        </p:sp>
      </p:grpSp>
      <p:sp>
        <p:nvSpPr>
          <p:cNvPr id="2" name="テキスト ボックス 1">
            <a:extLst>
              <a:ext uri="{FF2B5EF4-FFF2-40B4-BE49-F238E27FC236}">
                <a16:creationId xmlns:a16="http://schemas.microsoft.com/office/drawing/2014/main" id="{69C6B34B-7D4E-0368-B7B4-FAAEDFABD113}"/>
              </a:ext>
            </a:extLst>
          </p:cNvPr>
          <p:cNvSpPr txBox="1"/>
          <p:nvPr/>
        </p:nvSpPr>
        <p:spPr>
          <a:xfrm>
            <a:off x="540659" y="251650"/>
            <a:ext cx="2991525" cy="523220"/>
          </a:xfrm>
          <a:prstGeom prst="rect">
            <a:avLst/>
          </a:prstGeom>
          <a:noFill/>
        </p:spPr>
        <p:txBody>
          <a:bodyPr wrap="none" rtlCol="0">
            <a:spAutoFit/>
          </a:bodyPr>
          <a:lstStyle/>
          <a:p>
            <a:r>
              <a:rPr kumimoji="1" lang="ja-JP" altLang="en-US" sz="2800">
                <a:latin typeface="MS UI Gothic" panose="020B0600070205080204" pitchFamily="34" charset="-128"/>
                <a:ea typeface="MS UI Gothic" panose="020B0600070205080204" pitchFamily="34" charset="-128"/>
              </a:rPr>
              <a:t>年次計画の妥当性</a:t>
            </a:r>
          </a:p>
        </p:txBody>
      </p:sp>
      <p:sp>
        <p:nvSpPr>
          <p:cNvPr id="3" name="テキスト ボックス 2">
            <a:extLst>
              <a:ext uri="{FF2B5EF4-FFF2-40B4-BE49-F238E27FC236}">
                <a16:creationId xmlns:a16="http://schemas.microsoft.com/office/drawing/2014/main" id="{2914C3BE-0457-8CB7-3FEC-10533F61BD9A}"/>
              </a:ext>
            </a:extLst>
          </p:cNvPr>
          <p:cNvSpPr txBox="1"/>
          <p:nvPr/>
        </p:nvSpPr>
        <p:spPr>
          <a:xfrm>
            <a:off x="540659" y="861247"/>
            <a:ext cx="4823756" cy="584775"/>
          </a:xfrm>
          <a:prstGeom prst="rect">
            <a:avLst/>
          </a:prstGeom>
          <a:noFill/>
        </p:spPr>
        <p:txBody>
          <a:bodyPr wrap="none" rtlCol="0">
            <a:spAutoFit/>
          </a:bodyPr>
          <a:lstStyle/>
          <a:p>
            <a:r>
              <a:rPr lang="ja-JP" altLang="en-US" sz="3200">
                <a:latin typeface="MS UI Gothic" panose="020B0600070205080204" pitchFamily="34" charset="-128"/>
                <a:ea typeface="MS UI Gothic" panose="020B0600070205080204" pitchFamily="34" charset="-128"/>
              </a:rPr>
              <a:t>実施スケジュールと到達目標</a:t>
            </a:r>
            <a:endParaRPr kumimoji="1" lang="ja-JP" altLang="en-US" sz="3200">
              <a:latin typeface="MS UI Gothic" panose="020B0600070205080204" pitchFamily="34" charset="-128"/>
              <a:ea typeface="MS UI Gothic" panose="020B0600070205080204" pitchFamily="34" charset="-128"/>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正方形/長方形 45">
            <a:extLst>
              <a:ext uri="{FF2B5EF4-FFF2-40B4-BE49-F238E27FC236}">
                <a16:creationId xmlns:a16="http://schemas.microsoft.com/office/drawing/2014/main" id="{CDADE6BF-4B55-03AD-28BD-9033DA49ED4D}"/>
              </a:ext>
            </a:extLst>
          </p:cNvPr>
          <p:cNvSpPr/>
          <p:nvPr/>
        </p:nvSpPr>
        <p:spPr>
          <a:xfrm>
            <a:off x="726140" y="1546412"/>
            <a:ext cx="10757647" cy="50292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テキスト ボックス 28">
            <a:extLst>
              <a:ext uri="{FF2B5EF4-FFF2-40B4-BE49-F238E27FC236}">
                <a16:creationId xmlns:a16="http://schemas.microsoft.com/office/drawing/2014/main" id="{ED1E4376-6FFE-C6EC-AFCD-C40A530DC95B}"/>
              </a:ext>
            </a:extLst>
          </p:cNvPr>
          <p:cNvSpPr txBox="1"/>
          <p:nvPr/>
        </p:nvSpPr>
        <p:spPr>
          <a:xfrm>
            <a:off x="540659" y="251650"/>
            <a:ext cx="2273379" cy="523220"/>
          </a:xfrm>
          <a:prstGeom prst="rect">
            <a:avLst/>
          </a:prstGeom>
          <a:noFill/>
        </p:spPr>
        <p:txBody>
          <a:bodyPr wrap="none" rtlCol="0">
            <a:spAutoFit/>
          </a:bodyPr>
          <a:lstStyle/>
          <a:p>
            <a:r>
              <a:rPr lang="ja-JP" altLang="en-US" sz="2800">
                <a:latin typeface="MS UI Gothic" panose="020B0600070205080204" pitchFamily="34" charset="-128"/>
                <a:ea typeface="MS UI Gothic" panose="020B0600070205080204" pitchFamily="34" charset="-128"/>
              </a:rPr>
              <a:t>経費</a:t>
            </a:r>
            <a:r>
              <a:rPr kumimoji="1" lang="ja-JP" altLang="en-US" sz="2800">
                <a:latin typeface="MS UI Gothic" panose="020B0600070205080204" pitchFamily="34" charset="-128"/>
                <a:ea typeface="MS UI Gothic" panose="020B0600070205080204" pitchFamily="34" charset="-128"/>
              </a:rPr>
              <a:t>の妥当性</a:t>
            </a:r>
          </a:p>
        </p:txBody>
      </p:sp>
      <p:sp>
        <p:nvSpPr>
          <p:cNvPr id="30" name="テキスト ボックス 29">
            <a:extLst>
              <a:ext uri="{FF2B5EF4-FFF2-40B4-BE49-F238E27FC236}">
                <a16:creationId xmlns:a16="http://schemas.microsoft.com/office/drawing/2014/main" id="{4E5990EA-2688-197E-0A82-0D26271A291B}"/>
              </a:ext>
            </a:extLst>
          </p:cNvPr>
          <p:cNvSpPr txBox="1"/>
          <p:nvPr/>
        </p:nvSpPr>
        <p:spPr>
          <a:xfrm>
            <a:off x="540659" y="861247"/>
            <a:ext cx="4471096" cy="584775"/>
          </a:xfrm>
          <a:prstGeom prst="rect">
            <a:avLst/>
          </a:prstGeom>
          <a:noFill/>
        </p:spPr>
        <p:txBody>
          <a:bodyPr wrap="none" rtlCol="0">
            <a:spAutoFit/>
          </a:bodyPr>
          <a:lstStyle/>
          <a:p>
            <a:r>
              <a:rPr kumimoji="1" lang="ja-JP" altLang="en-US" sz="3200">
                <a:latin typeface="MS UI Gothic" panose="020B0600070205080204" pitchFamily="34" charset="-128"/>
                <a:ea typeface="MS UI Gothic" panose="020B0600070205080204" pitchFamily="34" charset="-128"/>
              </a:rPr>
              <a:t>研究経費の内訳と合理性</a:t>
            </a:r>
          </a:p>
        </p:txBody>
      </p:sp>
      <p:grpSp>
        <p:nvGrpSpPr>
          <p:cNvPr id="45" name="グループ化 44">
            <a:extLst>
              <a:ext uri="{FF2B5EF4-FFF2-40B4-BE49-F238E27FC236}">
                <a16:creationId xmlns:a16="http://schemas.microsoft.com/office/drawing/2014/main" id="{2CF2C2D9-8CD3-DD34-A5E2-27A712627A1D}"/>
              </a:ext>
            </a:extLst>
          </p:cNvPr>
          <p:cNvGrpSpPr/>
          <p:nvPr/>
        </p:nvGrpSpPr>
        <p:grpSpPr>
          <a:xfrm>
            <a:off x="910816" y="6110290"/>
            <a:ext cx="4039498" cy="365760"/>
            <a:chOff x="1341120" y="6151664"/>
            <a:chExt cx="4039498" cy="365760"/>
          </a:xfrm>
        </p:grpSpPr>
        <p:sp>
          <p:nvSpPr>
            <p:cNvPr id="27" name="Text 25"/>
            <p:cNvSpPr/>
            <p:nvPr/>
          </p:nvSpPr>
          <p:spPr>
            <a:xfrm>
              <a:off x="1341120" y="6151664"/>
              <a:ext cx="2101327" cy="365760"/>
            </a:xfrm>
            <a:prstGeom prst="rect">
              <a:avLst/>
            </a:prstGeom>
            <a:noFill/>
            <a:ln/>
          </p:spPr>
          <p:txBody>
            <a:bodyPr wrap="square" rtlCol="0" anchor="ctr"/>
            <a:lstStyle/>
            <a:p>
              <a:r>
                <a:rPr lang="en-US" sz="2800" b="1" dirty="0"/>
                <a:t>合計</a:t>
              </a:r>
              <a:endParaRPr lang="en-US" sz="2800" dirty="0"/>
            </a:p>
          </p:txBody>
        </p:sp>
        <p:sp>
          <p:nvSpPr>
            <p:cNvPr id="28" name="Text 26"/>
            <p:cNvSpPr/>
            <p:nvPr/>
          </p:nvSpPr>
          <p:spPr>
            <a:xfrm>
              <a:off x="3551818" y="6151664"/>
              <a:ext cx="1828800" cy="365760"/>
            </a:xfrm>
            <a:prstGeom prst="rect">
              <a:avLst/>
            </a:prstGeom>
            <a:noFill/>
            <a:ln/>
          </p:spPr>
          <p:txBody>
            <a:bodyPr wrap="square" rtlCol="0" anchor="ctr"/>
            <a:lstStyle/>
            <a:p>
              <a:pPr algn="r"/>
              <a:r>
                <a:rPr lang="en-US" sz="2800" b="1" dirty="0">
                  <a:latin typeface="MS UI Gothic" panose="020B0600070205080204" pitchFamily="34" charset="-128"/>
                  <a:ea typeface="MS UI Gothic" panose="020B0600070205080204" pitchFamily="34" charset="-128"/>
                </a:rPr>
                <a:t>1,000千円</a:t>
              </a:r>
              <a:endParaRPr lang="en-US" sz="2800" dirty="0">
                <a:latin typeface="MS UI Gothic" panose="020B0600070205080204" pitchFamily="34" charset="-128"/>
                <a:ea typeface="MS UI Gothic" panose="020B0600070205080204" pitchFamily="34" charset="-128"/>
              </a:endParaRPr>
            </a:p>
          </p:txBody>
        </p:sp>
      </p:grpSp>
      <p:sp>
        <p:nvSpPr>
          <p:cNvPr id="7" name="Text 5"/>
          <p:cNvSpPr/>
          <p:nvPr/>
        </p:nvSpPr>
        <p:spPr>
          <a:xfrm>
            <a:off x="910816" y="2368082"/>
            <a:ext cx="2101327" cy="365760"/>
          </a:xfrm>
          <a:prstGeom prst="rect">
            <a:avLst/>
          </a:prstGeom>
          <a:noFill/>
          <a:ln/>
        </p:spPr>
        <p:txBody>
          <a:bodyPr wrap="square" rtlCol="0" anchor="ctr"/>
          <a:lstStyle/>
          <a:p>
            <a:r>
              <a:rPr lang="en-US" sz="2800" dirty="0">
                <a:latin typeface="MS UI Gothic" panose="020B0600070205080204" pitchFamily="34" charset="-128"/>
                <a:ea typeface="MS UI Gothic" panose="020B0600070205080204" pitchFamily="34" charset="-128"/>
              </a:rPr>
              <a:t>機器備品費</a:t>
            </a:r>
          </a:p>
        </p:txBody>
      </p:sp>
      <p:sp>
        <p:nvSpPr>
          <p:cNvPr id="8" name="Text 6"/>
          <p:cNvSpPr/>
          <p:nvPr/>
        </p:nvSpPr>
        <p:spPr>
          <a:xfrm>
            <a:off x="3121514" y="2368082"/>
            <a:ext cx="1828800" cy="365760"/>
          </a:xfrm>
          <a:prstGeom prst="rect">
            <a:avLst/>
          </a:prstGeom>
          <a:noFill/>
          <a:ln/>
        </p:spPr>
        <p:txBody>
          <a:bodyPr wrap="square" rtlCol="0" anchor="ctr"/>
          <a:lstStyle/>
          <a:p>
            <a:pPr algn="r"/>
            <a:r>
              <a:rPr lang="en-US" sz="2800" dirty="0">
                <a:latin typeface="MS UI Gothic" panose="020B0600070205080204" pitchFamily="34" charset="-128"/>
                <a:ea typeface="MS UI Gothic" panose="020B0600070205080204" pitchFamily="34" charset="-128"/>
              </a:rPr>
              <a:t>290千円</a:t>
            </a:r>
          </a:p>
        </p:txBody>
      </p:sp>
      <p:sp>
        <p:nvSpPr>
          <p:cNvPr id="9" name="Text 7"/>
          <p:cNvSpPr/>
          <p:nvPr/>
        </p:nvSpPr>
        <p:spPr>
          <a:xfrm>
            <a:off x="5059684" y="2264050"/>
            <a:ext cx="6017025" cy="573824"/>
          </a:xfrm>
          <a:prstGeom prst="rect">
            <a:avLst/>
          </a:prstGeom>
          <a:noFill/>
          <a:ln/>
        </p:spPr>
        <p:txBody>
          <a:bodyPr wrap="square" rtlCol="0" anchor="ctr"/>
          <a:lstStyle/>
          <a:p>
            <a:r>
              <a:rPr lang="en-US" sz="2800" dirty="0">
                <a:latin typeface="MS UI Gothic" panose="020B0600070205080204" pitchFamily="34" charset="-128"/>
                <a:ea typeface="MS UI Gothic" panose="020B0600070205080204" pitchFamily="34" charset="-128"/>
              </a:rPr>
              <a:t>MacBook Pro(</a:t>
            </a:r>
            <a:r>
              <a:rPr lang="en-US" sz="2800" dirty="0" err="1">
                <a:latin typeface="MS UI Gothic" panose="020B0600070205080204" pitchFamily="34" charset="-128"/>
                <a:ea typeface="MS UI Gothic" panose="020B0600070205080204" pitchFamily="34" charset="-128"/>
              </a:rPr>
              <a:t>開発・動作確認用・運用</a:t>
            </a:r>
            <a:r>
              <a:rPr lang="en-US" sz="2800" dirty="0">
                <a:latin typeface="MS UI Gothic" panose="020B0600070205080204" pitchFamily="34" charset="-128"/>
                <a:ea typeface="MS UI Gothic" panose="020B0600070205080204" pitchFamily="34" charset="-128"/>
              </a:rPr>
              <a:t>)</a:t>
            </a:r>
          </a:p>
        </p:txBody>
      </p:sp>
      <p:grpSp>
        <p:nvGrpSpPr>
          <p:cNvPr id="42" name="グループ化 41">
            <a:extLst>
              <a:ext uri="{FF2B5EF4-FFF2-40B4-BE49-F238E27FC236}">
                <a16:creationId xmlns:a16="http://schemas.microsoft.com/office/drawing/2014/main" id="{B3D35C81-94A4-DCED-C7E5-04CA5C5D7429}"/>
              </a:ext>
            </a:extLst>
          </p:cNvPr>
          <p:cNvGrpSpPr/>
          <p:nvPr/>
        </p:nvGrpSpPr>
        <p:grpSpPr>
          <a:xfrm>
            <a:off x="910816" y="4208543"/>
            <a:ext cx="10366788" cy="365760"/>
            <a:chOff x="1341120" y="4105021"/>
            <a:chExt cx="10366788" cy="365760"/>
          </a:xfrm>
        </p:grpSpPr>
        <p:sp>
          <p:nvSpPr>
            <p:cNvPr id="15" name="Text 13"/>
            <p:cNvSpPr/>
            <p:nvPr/>
          </p:nvSpPr>
          <p:spPr>
            <a:xfrm>
              <a:off x="1341120" y="4105021"/>
              <a:ext cx="2101327" cy="365760"/>
            </a:xfrm>
            <a:prstGeom prst="rect">
              <a:avLst/>
            </a:prstGeom>
            <a:noFill/>
            <a:ln/>
          </p:spPr>
          <p:txBody>
            <a:bodyPr wrap="square" rtlCol="0" anchor="ctr"/>
            <a:lstStyle/>
            <a:p>
              <a:r>
                <a:rPr lang="en-US" sz="2800" dirty="0">
                  <a:latin typeface="MS UI Gothic" panose="020B0600070205080204" pitchFamily="34" charset="-128"/>
                  <a:ea typeface="MS UI Gothic" panose="020B0600070205080204" pitchFamily="34" charset="-128"/>
                </a:rPr>
                <a:t>図書費</a:t>
              </a:r>
            </a:p>
          </p:txBody>
        </p:sp>
        <p:sp>
          <p:nvSpPr>
            <p:cNvPr id="16" name="Text 14"/>
            <p:cNvSpPr/>
            <p:nvPr/>
          </p:nvSpPr>
          <p:spPr>
            <a:xfrm>
              <a:off x="3551818" y="4105021"/>
              <a:ext cx="1828800" cy="365760"/>
            </a:xfrm>
            <a:prstGeom prst="rect">
              <a:avLst/>
            </a:prstGeom>
            <a:noFill/>
            <a:ln/>
          </p:spPr>
          <p:txBody>
            <a:bodyPr wrap="square" rtlCol="0" anchor="ctr"/>
            <a:lstStyle/>
            <a:p>
              <a:pPr algn="r"/>
              <a:r>
                <a:rPr lang="en-US" sz="2800" dirty="0">
                  <a:latin typeface="MS UI Gothic" panose="020B0600070205080204" pitchFamily="34" charset="-128"/>
                  <a:ea typeface="MS UI Gothic" panose="020B0600070205080204" pitchFamily="34" charset="-128"/>
                </a:rPr>
                <a:t>20千円</a:t>
              </a:r>
            </a:p>
          </p:txBody>
        </p:sp>
        <p:sp>
          <p:nvSpPr>
            <p:cNvPr id="17" name="Text 15"/>
            <p:cNvSpPr/>
            <p:nvPr/>
          </p:nvSpPr>
          <p:spPr>
            <a:xfrm>
              <a:off x="5489988" y="4105021"/>
              <a:ext cx="6217920" cy="365760"/>
            </a:xfrm>
            <a:prstGeom prst="rect">
              <a:avLst/>
            </a:prstGeom>
            <a:noFill/>
            <a:ln/>
          </p:spPr>
          <p:txBody>
            <a:bodyPr wrap="square" rtlCol="0" anchor="ctr"/>
            <a:lstStyle/>
            <a:p>
              <a:r>
                <a:rPr lang="en-US" sz="2800" dirty="0">
                  <a:latin typeface="MS UI Gothic" panose="020B0600070205080204" pitchFamily="34" charset="-128"/>
                  <a:ea typeface="MS UI Gothic" panose="020B0600070205080204" pitchFamily="34" charset="-128"/>
                </a:rPr>
                <a:t>教育工学・生成系AI関連書籍・学術雑誌</a:t>
              </a:r>
            </a:p>
          </p:txBody>
        </p:sp>
      </p:grpSp>
      <p:grpSp>
        <p:nvGrpSpPr>
          <p:cNvPr id="41" name="グループ化 40">
            <a:extLst>
              <a:ext uri="{FF2B5EF4-FFF2-40B4-BE49-F238E27FC236}">
                <a16:creationId xmlns:a16="http://schemas.microsoft.com/office/drawing/2014/main" id="{9C1B0E93-D961-8753-532C-D407C2FEB172}"/>
              </a:ext>
            </a:extLst>
          </p:cNvPr>
          <p:cNvGrpSpPr/>
          <p:nvPr/>
        </p:nvGrpSpPr>
        <p:grpSpPr>
          <a:xfrm>
            <a:off x="910816" y="3001056"/>
            <a:ext cx="8332336" cy="1044305"/>
            <a:chOff x="1341120" y="2769321"/>
            <a:chExt cx="8332336" cy="1044305"/>
          </a:xfrm>
        </p:grpSpPr>
        <p:sp>
          <p:nvSpPr>
            <p:cNvPr id="11" name="Text 9"/>
            <p:cNvSpPr/>
            <p:nvPr/>
          </p:nvSpPr>
          <p:spPr>
            <a:xfrm>
              <a:off x="1341120" y="3108593"/>
              <a:ext cx="2101327" cy="365760"/>
            </a:xfrm>
            <a:prstGeom prst="rect">
              <a:avLst/>
            </a:prstGeom>
            <a:noFill/>
            <a:ln/>
          </p:spPr>
          <p:txBody>
            <a:bodyPr wrap="square" rtlCol="0" anchor="ctr"/>
            <a:lstStyle/>
            <a:p>
              <a:r>
                <a:rPr lang="en-US" sz="2800" dirty="0" err="1">
                  <a:latin typeface="MS UI Gothic" panose="020B0600070205080204" pitchFamily="34" charset="-128"/>
                  <a:ea typeface="MS UI Gothic" panose="020B0600070205080204" pitchFamily="34" charset="-128"/>
                </a:rPr>
                <a:t>消耗品費</a:t>
              </a:r>
              <a:endParaRPr lang="en-US" sz="2800" dirty="0">
                <a:latin typeface="MS UI Gothic" panose="020B0600070205080204" pitchFamily="34" charset="-128"/>
                <a:ea typeface="MS UI Gothic" panose="020B0600070205080204" pitchFamily="34" charset="-128"/>
              </a:endParaRPr>
            </a:p>
            <a:p>
              <a:r>
                <a:rPr lang="en-US" sz="2800" dirty="0">
                  <a:latin typeface="MS UI Gothic" panose="020B0600070205080204" pitchFamily="34" charset="-128"/>
                  <a:ea typeface="MS UI Gothic" panose="020B0600070205080204" pitchFamily="34" charset="-128"/>
                </a:rPr>
                <a:t>（</a:t>
              </a:r>
              <a:r>
                <a:rPr lang="en-US" sz="2800" dirty="0" err="1">
                  <a:latin typeface="MS UI Gothic" panose="020B0600070205080204" pitchFamily="34" charset="-128"/>
                  <a:ea typeface="MS UI Gothic" panose="020B0600070205080204" pitchFamily="34" charset="-128"/>
                </a:rPr>
                <a:t>運用費</a:t>
              </a:r>
              <a:r>
                <a:rPr lang="en-US" sz="2800" dirty="0">
                  <a:latin typeface="MS UI Gothic" panose="020B0600070205080204" pitchFamily="34" charset="-128"/>
                  <a:ea typeface="MS UI Gothic" panose="020B0600070205080204" pitchFamily="34" charset="-128"/>
                </a:rPr>
                <a:t>）</a:t>
              </a:r>
            </a:p>
          </p:txBody>
        </p:sp>
        <p:sp>
          <p:nvSpPr>
            <p:cNvPr id="12" name="Text 10"/>
            <p:cNvSpPr/>
            <p:nvPr/>
          </p:nvSpPr>
          <p:spPr>
            <a:xfrm>
              <a:off x="3551818" y="3108593"/>
              <a:ext cx="1828800" cy="365760"/>
            </a:xfrm>
            <a:prstGeom prst="rect">
              <a:avLst/>
            </a:prstGeom>
            <a:noFill/>
            <a:ln/>
          </p:spPr>
          <p:txBody>
            <a:bodyPr wrap="square" rtlCol="0" anchor="ctr"/>
            <a:lstStyle/>
            <a:p>
              <a:pPr algn="r"/>
              <a:r>
                <a:rPr lang="en-US" sz="2800" dirty="0">
                  <a:latin typeface="MS UI Gothic" panose="020B0600070205080204" pitchFamily="34" charset="-128"/>
                  <a:ea typeface="MS UI Gothic" panose="020B0600070205080204" pitchFamily="34" charset="-128"/>
                </a:rPr>
                <a:t>110千円</a:t>
              </a:r>
            </a:p>
          </p:txBody>
        </p:sp>
        <p:sp>
          <p:nvSpPr>
            <p:cNvPr id="2" name="Text 7">
              <a:extLst>
                <a:ext uri="{FF2B5EF4-FFF2-40B4-BE49-F238E27FC236}">
                  <a16:creationId xmlns:a16="http://schemas.microsoft.com/office/drawing/2014/main" id="{253528E9-163D-DEA5-0317-9C7FA4B4E44C}"/>
                </a:ext>
              </a:extLst>
            </p:cNvPr>
            <p:cNvSpPr/>
            <p:nvPr/>
          </p:nvSpPr>
          <p:spPr>
            <a:xfrm>
              <a:off x="5489988" y="2769321"/>
              <a:ext cx="4183468" cy="1044305"/>
            </a:xfrm>
            <a:prstGeom prst="rect">
              <a:avLst/>
            </a:prstGeom>
            <a:noFill/>
            <a:ln/>
          </p:spPr>
          <p:txBody>
            <a:bodyPr wrap="square" rtlCol="0" anchor="ctr"/>
            <a:lstStyle/>
            <a:p>
              <a:r>
                <a:rPr lang="en-US" sz="2800" dirty="0" err="1">
                  <a:latin typeface="MS UI Gothic" panose="020B0600070205080204" pitchFamily="34" charset="-128"/>
                  <a:ea typeface="MS UI Gothic" panose="020B0600070205080204" pitchFamily="34" charset="-128"/>
                </a:rPr>
                <a:t>生成系AI・API使用料</a:t>
              </a:r>
              <a:r>
                <a:rPr lang="en-US" sz="2800" dirty="0">
                  <a:latin typeface="MS UI Gothic" panose="020B0600070205080204" pitchFamily="34" charset="-128"/>
                  <a:ea typeface="MS UI Gothic" panose="020B0600070205080204" pitchFamily="34" charset="-128"/>
                </a:rPr>
                <a:t>(ChatGPT/Claude/Gemini)</a:t>
              </a:r>
            </a:p>
          </p:txBody>
        </p:sp>
      </p:grpSp>
      <p:grpSp>
        <p:nvGrpSpPr>
          <p:cNvPr id="39" name="グループ化 38">
            <a:extLst>
              <a:ext uri="{FF2B5EF4-FFF2-40B4-BE49-F238E27FC236}">
                <a16:creationId xmlns:a16="http://schemas.microsoft.com/office/drawing/2014/main" id="{C5FD4EC1-89CE-EBA4-D97B-13F25F557F8B}"/>
              </a:ext>
            </a:extLst>
          </p:cNvPr>
          <p:cNvGrpSpPr/>
          <p:nvPr/>
        </p:nvGrpSpPr>
        <p:grpSpPr>
          <a:xfrm>
            <a:off x="910816" y="1577648"/>
            <a:ext cx="5763413" cy="523220"/>
            <a:chOff x="1341120" y="1968644"/>
            <a:chExt cx="5763413" cy="523220"/>
          </a:xfrm>
        </p:grpSpPr>
        <p:sp>
          <p:nvSpPr>
            <p:cNvPr id="3" name="テキスト ボックス 2">
              <a:extLst>
                <a:ext uri="{FF2B5EF4-FFF2-40B4-BE49-F238E27FC236}">
                  <a16:creationId xmlns:a16="http://schemas.microsoft.com/office/drawing/2014/main" id="{177412D6-E5CD-ED44-305F-7AEACF88FC35}"/>
                </a:ext>
              </a:extLst>
            </p:cNvPr>
            <p:cNvSpPr txBox="1"/>
            <p:nvPr/>
          </p:nvSpPr>
          <p:spPr>
            <a:xfrm>
              <a:off x="1341120" y="1968644"/>
              <a:ext cx="902811" cy="523220"/>
            </a:xfrm>
            <a:prstGeom prst="rect">
              <a:avLst/>
            </a:prstGeom>
            <a:noFill/>
          </p:spPr>
          <p:txBody>
            <a:bodyPr wrap="none" rtlCol="0">
              <a:spAutoFit/>
            </a:bodyPr>
            <a:lstStyle/>
            <a:p>
              <a:r>
                <a:rPr kumimoji="1" lang="ja-JP" altLang="en-US" sz="2800">
                  <a:latin typeface="MS UI Gothic" panose="020B0600070205080204" pitchFamily="34" charset="-128"/>
                  <a:ea typeface="MS UI Gothic" panose="020B0600070205080204" pitchFamily="34" charset="-128"/>
                </a:rPr>
                <a:t>費目</a:t>
              </a:r>
            </a:p>
          </p:txBody>
        </p:sp>
        <p:sp>
          <p:nvSpPr>
            <p:cNvPr id="31" name="テキスト ボックス 30">
              <a:extLst>
                <a:ext uri="{FF2B5EF4-FFF2-40B4-BE49-F238E27FC236}">
                  <a16:creationId xmlns:a16="http://schemas.microsoft.com/office/drawing/2014/main" id="{1DB2FE4F-0312-DE81-6E7E-80DD03FC33DC}"/>
                </a:ext>
              </a:extLst>
            </p:cNvPr>
            <p:cNvSpPr txBox="1"/>
            <p:nvPr/>
          </p:nvSpPr>
          <p:spPr>
            <a:xfrm>
              <a:off x="3551818" y="1968644"/>
              <a:ext cx="902811" cy="523220"/>
            </a:xfrm>
            <a:prstGeom prst="rect">
              <a:avLst/>
            </a:prstGeom>
            <a:noFill/>
          </p:spPr>
          <p:txBody>
            <a:bodyPr wrap="none" rtlCol="0">
              <a:spAutoFit/>
            </a:bodyPr>
            <a:lstStyle/>
            <a:p>
              <a:r>
                <a:rPr lang="ja-JP" altLang="en-US" sz="2800">
                  <a:latin typeface="MS UI Gothic" panose="020B0600070205080204" pitchFamily="34" charset="-128"/>
                  <a:ea typeface="MS UI Gothic" panose="020B0600070205080204" pitchFamily="34" charset="-128"/>
                </a:rPr>
                <a:t>金額</a:t>
              </a:r>
              <a:endParaRPr kumimoji="1" lang="ja-JP" altLang="en-US" sz="2800">
                <a:latin typeface="MS UI Gothic" panose="020B0600070205080204" pitchFamily="34" charset="-128"/>
                <a:ea typeface="MS UI Gothic" panose="020B0600070205080204" pitchFamily="34" charset="-128"/>
              </a:endParaRPr>
            </a:p>
          </p:txBody>
        </p:sp>
        <p:sp>
          <p:nvSpPr>
            <p:cNvPr id="32" name="テキスト ボックス 31">
              <a:extLst>
                <a:ext uri="{FF2B5EF4-FFF2-40B4-BE49-F238E27FC236}">
                  <a16:creationId xmlns:a16="http://schemas.microsoft.com/office/drawing/2014/main" id="{FEC47360-AEE7-9EC7-748C-B1F6C087C9FC}"/>
                </a:ext>
              </a:extLst>
            </p:cNvPr>
            <p:cNvSpPr txBox="1"/>
            <p:nvPr/>
          </p:nvSpPr>
          <p:spPr>
            <a:xfrm>
              <a:off x="5489988" y="1968644"/>
              <a:ext cx="1614545" cy="523220"/>
            </a:xfrm>
            <a:prstGeom prst="rect">
              <a:avLst/>
            </a:prstGeom>
            <a:noFill/>
          </p:spPr>
          <p:txBody>
            <a:bodyPr wrap="none" rtlCol="0">
              <a:spAutoFit/>
            </a:bodyPr>
            <a:lstStyle/>
            <a:p>
              <a:r>
                <a:rPr kumimoji="1" lang="ja-JP" altLang="en-US" sz="2800">
                  <a:latin typeface="MS UI Gothic" panose="020B0600070205080204" pitchFamily="34" charset="-128"/>
                  <a:ea typeface="MS UI Gothic" panose="020B0600070205080204" pitchFamily="34" charset="-128"/>
                </a:rPr>
                <a:t>使用用途</a:t>
              </a:r>
            </a:p>
          </p:txBody>
        </p:sp>
      </p:grpSp>
      <p:grpSp>
        <p:nvGrpSpPr>
          <p:cNvPr id="43" name="グループ化 42">
            <a:extLst>
              <a:ext uri="{FF2B5EF4-FFF2-40B4-BE49-F238E27FC236}">
                <a16:creationId xmlns:a16="http://schemas.microsoft.com/office/drawing/2014/main" id="{71AA0307-2488-ECC2-6889-FF0223BFA5E6}"/>
              </a:ext>
            </a:extLst>
          </p:cNvPr>
          <p:cNvGrpSpPr/>
          <p:nvPr/>
        </p:nvGrpSpPr>
        <p:grpSpPr>
          <a:xfrm>
            <a:off x="910816" y="4737485"/>
            <a:ext cx="5769825" cy="523220"/>
            <a:chOff x="1341120" y="4836541"/>
            <a:chExt cx="5769825" cy="523220"/>
          </a:xfrm>
        </p:grpSpPr>
        <p:sp>
          <p:nvSpPr>
            <p:cNvPr id="19" name="Text 17"/>
            <p:cNvSpPr/>
            <p:nvPr/>
          </p:nvSpPr>
          <p:spPr>
            <a:xfrm>
              <a:off x="1341120" y="4915271"/>
              <a:ext cx="2101327" cy="365760"/>
            </a:xfrm>
            <a:prstGeom prst="rect">
              <a:avLst/>
            </a:prstGeom>
            <a:noFill/>
            <a:ln/>
          </p:spPr>
          <p:txBody>
            <a:bodyPr wrap="square" rtlCol="0" anchor="ctr"/>
            <a:lstStyle/>
            <a:p>
              <a:r>
                <a:rPr lang="en-US" sz="2800" dirty="0">
                  <a:latin typeface="MS UI Gothic" panose="020B0600070205080204" pitchFamily="34" charset="-128"/>
                  <a:ea typeface="MS UI Gothic" panose="020B0600070205080204" pitchFamily="34" charset="-128"/>
                </a:rPr>
                <a:t>旅費交通費</a:t>
              </a:r>
            </a:p>
          </p:txBody>
        </p:sp>
        <p:sp>
          <p:nvSpPr>
            <p:cNvPr id="20" name="Text 18"/>
            <p:cNvSpPr/>
            <p:nvPr/>
          </p:nvSpPr>
          <p:spPr>
            <a:xfrm>
              <a:off x="3551818" y="4915271"/>
              <a:ext cx="1828800" cy="365760"/>
            </a:xfrm>
            <a:prstGeom prst="rect">
              <a:avLst/>
            </a:prstGeom>
            <a:noFill/>
            <a:ln/>
          </p:spPr>
          <p:txBody>
            <a:bodyPr wrap="square" rtlCol="0" anchor="ctr"/>
            <a:lstStyle/>
            <a:p>
              <a:pPr algn="r"/>
              <a:r>
                <a:rPr lang="en-US" sz="2800" dirty="0">
                  <a:latin typeface="MS UI Gothic" panose="020B0600070205080204" pitchFamily="34" charset="-128"/>
                  <a:ea typeface="MS UI Gothic" panose="020B0600070205080204" pitchFamily="34" charset="-128"/>
                </a:rPr>
                <a:t>80千円</a:t>
              </a:r>
            </a:p>
          </p:txBody>
        </p:sp>
        <p:sp>
          <p:nvSpPr>
            <p:cNvPr id="36" name="テキスト ボックス 35">
              <a:extLst>
                <a:ext uri="{FF2B5EF4-FFF2-40B4-BE49-F238E27FC236}">
                  <a16:creationId xmlns:a16="http://schemas.microsoft.com/office/drawing/2014/main" id="{AC326A88-5BA5-8E2B-600C-0213E8FD2C80}"/>
                </a:ext>
              </a:extLst>
            </p:cNvPr>
            <p:cNvSpPr txBox="1"/>
            <p:nvPr/>
          </p:nvSpPr>
          <p:spPr>
            <a:xfrm>
              <a:off x="5489988" y="4836541"/>
              <a:ext cx="1620957" cy="523220"/>
            </a:xfrm>
            <a:prstGeom prst="rect">
              <a:avLst/>
            </a:prstGeom>
            <a:noFill/>
          </p:spPr>
          <p:txBody>
            <a:bodyPr wrap="none" rtlCol="0">
              <a:spAutoFit/>
            </a:bodyPr>
            <a:lstStyle/>
            <a:p>
              <a:r>
                <a:rPr kumimoji="1" lang="ja-JP" altLang="en-US" sz="2800">
                  <a:latin typeface="MS UI Gothic" panose="020B0600070205080204" pitchFamily="34" charset="-128"/>
                  <a:ea typeface="MS UI Gothic" panose="020B0600070205080204" pitchFamily="34" charset="-128"/>
                </a:rPr>
                <a:t>学会発表</a:t>
              </a:r>
            </a:p>
          </p:txBody>
        </p:sp>
      </p:grpSp>
      <p:grpSp>
        <p:nvGrpSpPr>
          <p:cNvPr id="44" name="グループ化 43">
            <a:extLst>
              <a:ext uri="{FF2B5EF4-FFF2-40B4-BE49-F238E27FC236}">
                <a16:creationId xmlns:a16="http://schemas.microsoft.com/office/drawing/2014/main" id="{D6388A2A-2A67-7D2E-9DC4-4B8C6FFD62D0}"/>
              </a:ext>
            </a:extLst>
          </p:cNvPr>
          <p:cNvGrpSpPr/>
          <p:nvPr/>
        </p:nvGrpSpPr>
        <p:grpSpPr>
          <a:xfrm>
            <a:off x="910816" y="5423887"/>
            <a:ext cx="9899160" cy="523220"/>
            <a:chOff x="1341120" y="5989804"/>
            <a:chExt cx="9899160" cy="523220"/>
          </a:xfrm>
        </p:grpSpPr>
        <p:sp>
          <p:nvSpPr>
            <p:cNvPr id="23" name="Text 21"/>
            <p:cNvSpPr/>
            <p:nvPr/>
          </p:nvSpPr>
          <p:spPr>
            <a:xfrm>
              <a:off x="1341120" y="6068534"/>
              <a:ext cx="2101327" cy="365760"/>
            </a:xfrm>
            <a:prstGeom prst="rect">
              <a:avLst/>
            </a:prstGeom>
            <a:noFill/>
            <a:ln/>
          </p:spPr>
          <p:txBody>
            <a:bodyPr wrap="square" rtlCol="0" anchor="ctr"/>
            <a:lstStyle/>
            <a:p>
              <a:r>
                <a:rPr lang="en-US" sz="2800" dirty="0">
                  <a:latin typeface="MS UI Gothic" panose="020B0600070205080204" pitchFamily="34" charset="-128"/>
                  <a:ea typeface="MS UI Gothic" panose="020B0600070205080204" pitchFamily="34" charset="-128"/>
                </a:rPr>
                <a:t>その他</a:t>
              </a:r>
            </a:p>
          </p:txBody>
        </p:sp>
        <p:sp>
          <p:nvSpPr>
            <p:cNvPr id="24" name="Text 22"/>
            <p:cNvSpPr/>
            <p:nvPr/>
          </p:nvSpPr>
          <p:spPr>
            <a:xfrm>
              <a:off x="3551818" y="6068534"/>
              <a:ext cx="1828800" cy="365760"/>
            </a:xfrm>
            <a:prstGeom prst="rect">
              <a:avLst/>
            </a:prstGeom>
            <a:noFill/>
            <a:ln/>
          </p:spPr>
          <p:txBody>
            <a:bodyPr wrap="square" rtlCol="0" anchor="ctr"/>
            <a:lstStyle/>
            <a:p>
              <a:pPr algn="r"/>
              <a:r>
                <a:rPr lang="en-US" sz="2800" dirty="0">
                  <a:latin typeface="MS UI Gothic" panose="020B0600070205080204" pitchFamily="34" charset="-128"/>
                  <a:ea typeface="MS UI Gothic" panose="020B0600070205080204" pitchFamily="34" charset="-128"/>
                </a:rPr>
                <a:t>500千円</a:t>
              </a:r>
            </a:p>
          </p:txBody>
        </p:sp>
        <p:sp>
          <p:nvSpPr>
            <p:cNvPr id="37" name="テキスト ボックス 36">
              <a:extLst>
                <a:ext uri="{FF2B5EF4-FFF2-40B4-BE49-F238E27FC236}">
                  <a16:creationId xmlns:a16="http://schemas.microsoft.com/office/drawing/2014/main" id="{6FC946C2-3774-A813-3ACC-D7301E6C0749}"/>
                </a:ext>
              </a:extLst>
            </p:cNvPr>
            <p:cNvSpPr txBox="1"/>
            <p:nvPr/>
          </p:nvSpPr>
          <p:spPr>
            <a:xfrm>
              <a:off x="5489988" y="5989804"/>
              <a:ext cx="5750292" cy="523220"/>
            </a:xfrm>
            <a:prstGeom prst="rect">
              <a:avLst/>
            </a:prstGeom>
            <a:noFill/>
          </p:spPr>
          <p:txBody>
            <a:bodyPr wrap="none" rtlCol="0">
              <a:spAutoFit/>
            </a:bodyPr>
            <a:lstStyle/>
            <a:p>
              <a:r>
                <a:rPr lang="ja-JP" altLang="en-US" sz="2800">
                  <a:latin typeface="MS UI Gothic" panose="020B0600070205080204" pitchFamily="34" charset="-128"/>
                  <a:ea typeface="MS UI Gothic" panose="020B0600070205080204" pitchFamily="34" charset="-128"/>
                </a:rPr>
                <a:t>最終</a:t>
              </a:r>
              <a:r>
                <a:rPr kumimoji="1" lang="ja-JP" altLang="en-US" sz="2800">
                  <a:latin typeface="MS UI Gothic" panose="020B0600070205080204" pitchFamily="34" charset="-128"/>
                  <a:ea typeface="MS UI Gothic" panose="020B0600070205080204" pitchFamily="34" charset="-128"/>
                </a:rPr>
                <a:t>成果物（英語論文作成・投稿料）</a:t>
              </a:r>
              <a:endParaRPr kumimoji="1" lang="en-US" altLang="ja-JP" sz="2800" dirty="0">
                <a:latin typeface="MS UI Gothic" panose="020B0600070205080204" pitchFamily="34" charset="-128"/>
                <a:ea typeface="MS UI Gothic" panose="020B0600070205080204" pitchFamily="34" charset="-128"/>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a:extLst>
              <a:ext uri="{FF2B5EF4-FFF2-40B4-BE49-F238E27FC236}">
                <a16:creationId xmlns:a16="http://schemas.microsoft.com/office/drawing/2014/main" id="{BC78790F-A5CA-5036-002A-68242E22668D}"/>
              </a:ext>
            </a:extLst>
          </p:cNvPr>
          <p:cNvSpPr/>
          <p:nvPr/>
        </p:nvSpPr>
        <p:spPr>
          <a:xfrm>
            <a:off x="609600" y="1567543"/>
            <a:ext cx="5364480" cy="1959429"/>
          </a:xfrm>
          <a:prstGeom prst="rect">
            <a:avLst/>
          </a:prstGeom>
          <a:solidFill>
            <a:schemeClr val="bg1"/>
          </a:solidFill>
          <a:ln/>
        </p:spPr>
        <p:txBody>
          <a:bodyPr/>
          <a:lstStyle/>
          <a:p>
            <a:endParaRPr lang="ja-JP" altLang="en-US" sz="2400"/>
          </a:p>
        </p:txBody>
      </p:sp>
      <p:sp>
        <p:nvSpPr>
          <p:cNvPr id="3" name="Shape 5">
            <a:extLst>
              <a:ext uri="{FF2B5EF4-FFF2-40B4-BE49-F238E27FC236}">
                <a16:creationId xmlns:a16="http://schemas.microsoft.com/office/drawing/2014/main" id="{C7E4FB9C-5769-A1C8-D419-5AC7E46D4BE6}"/>
              </a:ext>
            </a:extLst>
          </p:cNvPr>
          <p:cNvSpPr/>
          <p:nvPr/>
        </p:nvSpPr>
        <p:spPr>
          <a:xfrm>
            <a:off x="6217920" y="1567543"/>
            <a:ext cx="5364480" cy="1959429"/>
          </a:xfrm>
          <a:prstGeom prst="rect">
            <a:avLst/>
          </a:prstGeom>
          <a:solidFill>
            <a:schemeClr val="bg1"/>
          </a:solidFill>
          <a:ln/>
        </p:spPr>
        <p:txBody>
          <a:bodyPr/>
          <a:lstStyle/>
          <a:p>
            <a:endParaRPr lang="ja-JP" altLang="en-US" sz="2400"/>
          </a:p>
        </p:txBody>
      </p:sp>
      <p:sp>
        <p:nvSpPr>
          <p:cNvPr id="4" name="Shape 8">
            <a:extLst>
              <a:ext uri="{FF2B5EF4-FFF2-40B4-BE49-F238E27FC236}">
                <a16:creationId xmlns:a16="http://schemas.microsoft.com/office/drawing/2014/main" id="{1034E0E1-4FB2-5145-15FB-DBBF79B0308C}"/>
              </a:ext>
            </a:extLst>
          </p:cNvPr>
          <p:cNvSpPr/>
          <p:nvPr/>
        </p:nvSpPr>
        <p:spPr>
          <a:xfrm>
            <a:off x="609600" y="3666928"/>
            <a:ext cx="5364480" cy="1819470"/>
          </a:xfrm>
          <a:prstGeom prst="rect">
            <a:avLst/>
          </a:prstGeom>
          <a:solidFill>
            <a:schemeClr val="bg1"/>
          </a:solidFill>
          <a:ln/>
        </p:spPr>
        <p:txBody>
          <a:bodyPr/>
          <a:lstStyle/>
          <a:p>
            <a:endParaRPr lang="ja-JP" altLang="en-US" sz="2400"/>
          </a:p>
        </p:txBody>
      </p:sp>
      <p:sp>
        <p:nvSpPr>
          <p:cNvPr id="5" name="Shape 11">
            <a:extLst>
              <a:ext uri="{FF2B5EF4-FFF2-40B4-BE49-F238E27FC236}">
                <a16:creationId xmlns:a16="http://schemas.microsoft.com/office/drawing/2014/main" id="{4D5E85E9-2A4F-A382-9769-6BCF155EFD79}"/>
              </a:ext>
            </a:extLst>
          </p:cNvPr>
          <p:cNvSpPr/>
          <p:nvPr/>
        </p:nvSpPr>
        <p:spPr>
          <a:xfrm>
            <a:off x="6217920" y="3666928"/>
            <a:ext cx="5364480" cy="1819470"/>
          </a:xfrm>
          <a:prstGeom prst="rect">
            <a:avLst/>
          </a:prstGeom>
          <a:solidFill>
            <a:schemeClr val="bg1"/>
          </a:solidFill>
          <a:ln/>
        </p:spPr>
        <p:txBody>
          <a:bodyPr/>
          <a:lstStyle/>
          <a:p>
            <a:endParaRPr lang="ja-JP" altLang="en-US" sz="2400"/>
          </a:p>
        </p:txBody>
      </p:sp>
      <p:sp>
        <p:nvSpPr>
          <p:cNvPr id="6" name="Shape 14">
            <a:extLst>
              <a:ext uri="{FF2B5EF4-FFF2-40B4-BE49-F238E27FC236}">
                <a16:creationId xmlns:a16="http://schemas.microsoft.com/office/drawing/2014/main" id="{78658FF7-B1B3-CF2A-9989-868F9FBD2A33}"/>
              </a:ext>
            </a:extLst>
          </p:cNvPr>
          <p:cNvSpPr/>
          <p:nvPr/>
        </p:nvSpPr>
        <p:spPr>
          <a:xfrm>
            <a:off x="609600" y="5778212"/>
            <a:ext cx="10972800" cy="853440"/>
          </a:xfrm>
          <a:prstGeom prst="rect">
            <a:avLst/>
          </a:prstGeom>
          <a:solidFill>
            <a:schemeClr val="accent5">
              <a:lumMod val="20000"/>
              <a:lumOff val="80000"/>
            </a:schemeClr>
          </a:solidFill>
          <a:ln/>
        </p:spPr>
        <p:txBody>
          <a:bodyPr/>
          <a:lstStyle/>
          <a:p>
            <a:endParaRPr lang="ja-JP" altLang="en-US" sz="2400"/>
          </a:p>
        </p:txBody>
      </p:sp>
      <p:sp>
        <p:nvSpPr>
          <p:cNvPr id="7" name="テキスト ボックス 6">
            <a:extLst>
              <a:ext uri="{FF2B5EF4-FFF2-40B4-BE49-F238E27FC236}">
                <a16:creationId xmlns:a16="http://schemas.microsoft.com/office/drawing/2014/main" id="{C5BC059F-AC34-D28C-4A54-836C47C03C4F}"/>
              </a:ext>
            </a:extLst>
          </p:cNvPr>
          <p:cNvSpPr txBox="1"/>
          <p:nvPr/>
        </p:nvSpPr>
        <p:spPr>
          <a:xfrm>
            <a:off x="540659" y="251650"/>
            <a:ext cx="2632452" cy="523220"/>
          </a:xfrm>
          <a:prstGeom prst="rect">
            <a:avLst/>
          </a:prstGeom>
          <a:noFill/>
        </p:spPr>
        <p:txBody>
          <a:bodyPr wrap="none" rtlCol="0">
            <a:spAutoFit/>
          </a:bodyPr>
          <a:lstStyle/>
          <a:p>
            <a:r>
              <a:rPr kumimoji="1" lang="ja-JP" altLang="en-US" sz="2800">
                <a:latin typeface="MS UI Gothic" panose="020B0600070205080204" pitchFamily="34" charset="-128"/>
                <a:ea typeface="MS UI Gothic" panose="020B0600070205080204" pitchFamily="34" charset="-128"/>
              </a:rPr>
              <a:t>従来の研究成績</a:t>
            </a:r>
          </a:p>
        </p:txBody>
      </p:sp>
      <p:sp>
        <p:nvSpPr>
          <p:cNvPr id="8" name="テキスト ボックス 7">
            <a:extLst>
              <a:ext uri="{FF2B5EF4-FFF2-40B4-BE49-F238E27FC236}">
                <a16:creationId xmlns:a16="http://schemas.microsoft.com/office/drawing/2014/main" id="{14151B4C-1548-44BC-AB9B-458C11766D4E}"/>
              </a:ext>
            </a:extLst>
          </p:cNvPr>
          <p:cNvSpPr txBox="1"/>
          <p:nvPr/>
        </p:nvSpPr>
        <p:spPr>
          <a:xfrm>
            <a:off x="540659" y="861247"/>
            <a:ext cx="4007828" cy="584775"/>
          </a:xfrm>
          <a:prstGeom prst="rect">
            <a:avLst/>
          </a:prstGeom>
          <a:noFill/>
        </p:spPr>
        <p:txBody>
          <a:bodyPr wrap="none" rtlCol="0">
            <a:spAutoFit/>
          </a:bodyPr>
          <a:lstStyle/>
          <a:p>
            <a:r>
              <a:rPr kumimoji="1" lang="ja-JP" altLang="en-US" sz="3200">
                <a:latin typeface="MS UI Gothic" panose="020B0600070205080204" pitchFamily="34" charset="-128"/>
                <a:ea typeface="MS UI Gothic" panose="020B0600070205080204" pitchFamily="34" charset="-128"/>
              </a:rPr>
              <a:t>過去</a:t>
            </a:r>
            <a:r>
              <a:rPr kumimoji="1" lang="en-US" altLang="ja-JP" sz="3200" dirty="0">
                <a:latin typeface="MS UI Gothic" panose="020B0600070205080204" pitchFamily="34" charset="-128"/>
                <a:ea typeface="MS UI Gothic" panose="020B0600070205080204" pitchFamily="34" charset="-128"/>
              </a:rPr>
              <a:t>3</a:t>
            </a:r>
            <a:r>
              <a:rPr kumimoji="1" lang="ja-JP" altLang="en-US" sz="3200">
                <a:latin typeface="MS UI Gothic" panose="020B0600070205080204" pitchFamily="34" charset="-128"/>
                <a:ea typeface="MS UI Gothic" panose="020B0600070205080204" pitchFamily="34" charset="-128"/>
              </a:rPr>
              <a:t>年間の研究業績</a:t>
            </a:r>
          </a:p>
        </p:txBody>
      </p:sp>
      <p:sp>
        <p:nvSpPr>
          <p:cNvPr id="10" name="テキスト ボックス 9">
            <a:extLst>
              <a:ext uri="{FF2B5EF4-FFF2-40B4-BE49-F238E27FC236}">
                <a16:creationId xmlns:a16="http://schemas.microsoft.com/office/drawing/2014/main" id="{8CD60944-CF3A-FCDE-32B7-8E116756D440}"/>
              </a:ext>
            </a:extLst>
          </p:cNvPr>
          <p:cNvSpPr txBox="1"/>
          <p:nvPr/>
        </p:nvSpPr>
        <p:spPr>
          <a:xfrm>
            <a:off x="740226" y="1632856"/>
            <a:ext cx="5195653" cy="1754326"/>
          </a:xfrm>
          <a:prstGeom prst="rect">
            <a:avLst/>
          </a:prstGeom>
          <a:noFill/>
        </p:spPr>
        <p:txBody>
          <a:bodyPr wrap="none" rtlCol="0">
            <a:spAutoFit/>
          </a:bodyPr>
          <a:lstStyle/>
          <a:p>
            <a:r>
              <a:rPr lang="ja-JP" altLang="en-US" sz="2800">
                <a:latin typeface="MS UI Gothic" panose="020B0600070205080204" pitchFamily="34" charset="-128"/>
                <a:ea typeface="MS UI Gothic" panose="020B0600070205080204" pitchFamily="34" charset="-128"/>
                <a:cs typeface="Times New Roman" panose="02020603050405020304" pitchFamily="18" charset="0"/>
              </a:rPr>
              <a:t>医薬品有害事象に関する</a:t>
            </a:r>
            <a:endParaRPr lang="en-US" altLang="ja-JP" sz="2800" dirty="0">
              <a:latin typeface="MS UI Gothic" panose="020B0600070205080204" pitchFamily="34" charset="-128"/>
              <a:ea typeface="MS UI Gothic" panose="020B0600070205080204" pitchFamily="34" charset="-128"/>
              <a:cs typeface="Times New Roman" panose="02020603050405020304" pitchFamily="18" charset="0"/>
            </a:endParaRPr>
          </a:p>
          <a:p>
            <a:r>
              <a:rPr lang="ja-JP" altLang="en-US" sz="2800">
                <a:latin typeface="MS UI Gothic" panose="020B0600070205080204" pitchFamily="34" charset="-128"/>
                <a:ea typeface="MS UI Gothic" panose="020B0600070205080204" pitchFamily="34" charset="-128"/>
                <a:cs typeface="Times New Roman" panose="02020603050405020304" pitchFamily="18" charset="0"/>
              </a:rPr>
              <a:t>ビッグデータ解析</a:t>
            </a:r>
            <a:endParaRPr lang="en-US" altLang="ja-JP" sz="2800" dirty="0">
              <a:latin typeface="MS UI Gothic" panose="020B0600070205080204" pitchFamily="34" charset="-128"/>
              <a:ea typeface="MS UI Gothic" panose="020B0600070205080204" pitchFamily="34" charset="-128"/>
              <a:cs typeface="Times New Roman" panose="02020603050405020304" pitchFamily="18" charset="0"/>
            </a:endParaRPr>
          </a:p>
          <a:p>
            <a:r>
              <a:rPr lang="ja-JP" altLang="en-US" sz="2800">
                <a:latin typeface="MS UI Gothic" panose="020B0600070205080204" pitchFamily="34" charset="-128"/>
                <a:ea typeface="MS UI Gothic" panose="020B0600070205080204" pitchFamily="34" charset="-128"/>
                <a:cs typeface="Times New Roman" panose="02020603050405020304" pitchFamily="18" charset="0"/>
              </a:rPr>
              <a:t>（</a:t>
            </a:r>
            <a:r>
              <a:rPr lang="en-US" altLang="ja-JP" sz="2800" dirty="0">
                <a:latin typeface="MS UI Gothic" panose="020B0600070205080204" pitchFamily="34" charset="-128"/>
                <a:ea typeface="MS UI Gothic" panose="020B0600070205080204" pitchFamily="34" charset="-128"/>
                <a:cs typeface="Times New Roman" panose="02020603050405020304" pitchFamily="18" charset="0"/>
              </a:rPr>
              <a:t>β</a:t>
            </a:r>
            <a:r>
              <a:rPr lang="ja-JP" altLang="en-US" sz="2800">
                <a:latin typeface="MS UI Gothic" panose="020B0600070205080204" pitchFamily="34" charset="-128"/>
                <a:ea typeface="MS UI Gothic" panose="020B0600070205080204" pitchFamily="34" charset="-128"/>
                <a:cs typeface="Times New Roman" panose="02020603050405020304" pitchFamily="18" charset="0"/>
              </a:rPr>
              <a:t>遮断薬とせん妄）</a:t>
            </a:r>
            <a:endParaRPr lang="en-US" altLang="ja-JP" sz="2800" dirty="0">
              <a:latin typeface="MS UI Gothic" panose="020B0600070205080204" pitchFamily="34" charset="-128"/>
              <a:ea typeface="MS UI Gothic" panose="020B0600070205080204" pitchFamily="34" charset="-128"/>
              <a:cs typeface="Times New Roman" panose="02020603050405020304" pitchFamily="18" charset="0"/>
            </a:endParaRPr>
          </a:p>
          <a:p>
            <a:r>
              <a:rPr lang="en-US" altLang="ja-JP" sz="2400" dirty="0">
                <a:latin typeface="MS UI Gothic" panose="020B0600070205080204" pitchFamily="34" charset="-128"/>
                <a:ea typeface="MS UI Gothic" panose="020B0600070205080204" pitchFamily="34" charset="-128"/>
                <a:cs typeface="Times New Roman" panose="02020603050405020304" pitchFamily="18" charset="0"/>
              </a:rPr>
              <a:t>(</a:t>
            </a:r>
            <a:r>
              <a:rPr lang="en-US" altLang="ja-JP" sz="2400" dirty="0" err="1">
                <a:latin typeface="MS UI Gothic" panose="020B0600070205080204" pitchFamily="34" charset="-128"/>
                <a:ea typeface="MS UI Gothic" panose="020B0600070205080204" pitchFamily="34" charset="-128"/>
                <a:cs typeface="Times New Roman" panose="02020603050405020304" pitchFamily="18" charset="0"/>
              </a:rPr>
              <a:t>日本総合病院精神医学会雑誌</a:t>
            </a:r>
            <a:r>
              <a:rPr lang="ja-JP" altLang="en-US" sz="2400">
                <a:latin typeface="MS UI Gothic" panose="020B0600070205080204" pitchFamily="34" charset="-128"/>
                <a:ea typeface="MS UI Gothic" panose="020B0600070205080204" pitchFamily="34" charset="-128"/>
                <a:cs typeface="Times New Roman" panose="02020603050405020304" pitchFamily="18" charset="0"/>
              </a:rPr>
              <a:t>、</a:t>
            </a:r>
            <a:r>
              <a:rPr lang="en-US" altLang="ja-JP" sz="2400" dirty="0">
                <a:latin typeface="MS UI Gothic" panose="020B0600070205080204" pitchFamily="34" charset="-128"/>
                <a:ea typeface="MS UI Gothic" panose="020B0600070205080204" pitchFamily="34" charset="-128"/>
                <a:cs typeface="Times New Roman" panose="02020603050405020304" pitchFamily="18" charset="0"/>
              </a:rPr>
              <a:t>2026)</a:t>
            </a:r>
            <a:endParaRPr lang="en-US" altLang="ja-JP" dirty="0">
              <a:latin typeface="MS UI Gothic" panose="020B0600070205080204" pitchFamily="34" charset="-128"/>
              <a:ea typeface="MS UI Gothic" panose="020B0600070205080204" pitchFamily="34" charset="-128"/>
              <a:cs typeface="Times New Roman" panose="02020603050405020304" pitchFamily="18" charset="0"/>
            </a:endParaRPr>
          </a:p>
        </p:txBody>
      </p:sp>
      <p:sp>
        <p:nvSpPr>
          <p:cNvPr id="11" name="テキスト ボックス 10">
            <a:extLst>
              <a:ext uri="{FF2B5EF4-FFF2-40B4-BE49-F238E27FC236}">
                <a16:creationId xmlns:a16="http://schemas.microsoft.com/office/drawing/2014/main" id="{55E9E6F5-D732-6EAC-7F51-ED24127A8D55}"/>
              </a:ext>
            </a:extLst>
          </p:cNvPr>
          <p:cNvSpPr txBox="1"/>
          <p:nvPr/>
        </p:nvSpPr>
        <p:spPr>
          <a:xfrm>
            <a:off x="6348546" y="1632856"/>
            <a:ext cx="4277133" cy="1323439"/>
          </a:xfrm>
          <a:prstGeom prst="rect">
            <a:avLst/>
          </a:prstGeom>
          <a:noFill/>
        </p:spPr>
        <p:txBody>
          <a:bodyPr wrap="none" rtlCol="0">
            <a:spAutoFit/>
          </a:bodyPr>
          <a:lstStyle/>
          <a:p>
            <a:r>
              <a:rPr lang="ja-JP" altLang="en-US" sz="2800">
                <a:latin typeface="MS UI Gothic" panose="020B0600070205080204" pitchFamily="34" charset="-128"/>
                <a:ea typeface="MS UI Gothic" panose="020B0600070205080204" pitchFamily="34" charset="-128"/>
                <a:cs typeface="Times New Roman" panose="02020603050405020304" pitchFamily="18" charset="0"/>
              </a:rPr>
              <a:t>残遺不眠症患者における</a:t>
            </a:r>
            <a:endParaRPr lang="en-US" altLang="ja-JP" sz="2800" dirty="0">
              <a:latin typeface="MS UI Gothic" panose="020B0600070205080204" pitchFamily="34" charset="-128"/>
              <a:ea typeface="MS UI Gothic" panose="020B0600070205080204" pitchFamily="34" charset="-128"/>
              <a:cs typeface="Times New Roman" panose="02020603050405020304" pitchFamily="18" charset="0"/>
            </a:endParaRPr>
          </a:p>
          <a:p>
            <a:r>
              <a:rPr lang="ja-JP" altLang="en-US" sz="2800">
                <a:latin typeface="MS UI Gothic" panose="020B0600070205080204" pitchFamily="34" charset="-128"/>
                <a:ea typeface="MS UI Gothic" panose="020B0600070205080204" pitchFamily="34" charset="-128"/>
                <a:cs typeface="Times New Roman" panose="02020603050405020304" pitchFamily="18" charset="0"/>
              </a:rPr>
              <a:t>非機能的認知に関する調査</a:t>
            </a:r>
            <a:endParaRPr lang="en-US" altLang="ja-JP" sz="2800" dirty="0">
              <a:latin typeface="MS UI Gothic" panose="020B0600070205080204" pitchFamily="34" charset="-128"/>
              <a:ea typeface="MS UI Gothic" panose="020B0600070205080204" pitchFamily="34" charset="-128"/>
              <a:cs typeface="Times New Roman" panose="02020603050405020304" pitchFamily="18" charset="0"/>
            </a:endParaRPr>
          </a:p>
          <a:p>
            <a:r>
              <a:rPr lang="en-US" altLang="ja-JP" sz="2400" dirty="0">
                <a:latin typeface="MS UI Gothic" panose="020B0600070205080204" pitchFamily="34" charset="-128"/>
                <a:ea typeface="MS UI Gothic" panose="020B0600070205080204" pitchFamily="34" charset="-128"/>
                <a:cs typeface="Times New Roman" panose="02020603050405020304" pitchFamily="18" charset="0"/>
              </a:rPr>
              <a:t>(</a:t>
            </a:r>
            <a:r>
              <a:rPr lang="en-US" altLang="ja-JP" sz="2400" dirty="0" err="1">
                <a:latin typeface="MS UI Gothic" panose="020B0600070205080204" pitchFamily="34" charset="-128"/>
                <a:ea typeface="MS UI Gothic" panose="020B0600070205080204" pitchFamily="34" charset="-128"/>
                <a:cs typeface="Times New Roman" panose="02020603050405020304" pitchFamily="18" charset="0"/>
              </a:rPr>
              <a:t>日本精神薬学会雑誌</a:t>
            </a:r>
            <a:r>
              <a:rPr lang="ja-JP" altLang="en-US" sz="2400">
                <a:latin typeface="MS UI Gothic" panose="020B0600070205080204" pitchFamily="34" charset="-128"/>
                <a:ea typeface="MS UI Gothic" panose="020B0600070205080204" pitchFamily="34" charset="-128"/>
                <a:cs typeface="Times New Roman" panose="02020603050405020304" pitchFamily="18" charset="0"/>
              </a:rPr>
              <a:t>、</a:t>
            </a:r>
            <a:r>
              <a:rPr lang="en-US" altLang="ja-JP" sz="2400" dirty="0">
                <a:latin typeface="MS UI Gothic" panose="020B0600070205080204" pitchFamily="34" charset="-128"/>
                <a:ea typeface="MS UI Gothic" panose="020B0600070205080204" pitchFamily="34" charset="-128"/>
                <a:cs typeface="Times New Roman" panose="02020603050405020304" pitchFamily="18" charset="0"/>
              </a:rPr>
              <a:t>2026)</a:t>
            </a:r>
          </a:p>
        </p:txBody>
      </p:sp>
      <p:sp>
        <p:nvSpPr>
          <p:cNvPr id="12" name="テキスト ボックス 11">
            <a:extLst>
              <a:ext uri="{FF2B5EF4-FFF2-40B4-BE49-F238E27FC236}">
                <a16:creationId xmlns:a16="http://schemas.microsoft.com/office/drawing/2014/main" id="{35BAC503-4B95-CD32-4C1D-48D2028F4793}"/>
              </a:ext>
            </a:extLst>
          </p:cNvPr>
          <p:cNvSpPr txBox="1"/>
          <p:nvPr/>
        </p:nvSpPr>
        <p:spPr>
          <a:xfrm>
            <a:off x="740226" y="3732241"/>
            <a:ext cx="4520789" cy="1754326"/>
          </a:xfrm>
          <a:prstGeom prst="rect">
            <a:avLst/>
          </a:prstGeom>
          <a:solidFill>
            <a:schemeClr val="bg1"/>
          </a:solidFill>
        </p:spPr>
        <p:txBody>
          <a:bodyPr wrap="none" rtlCol="0">
            <a:spAutoFit/>
          </a:bodyPr>
          <a:lstStyle/>
          <a:p>
            <a:r>
              <a:rPr lang="ja-JP" altLang="en-US" sz="2800">
                <a:latin typeface="MS UI Gothic" panose="020B0600070205080204" pitchFamily="34" charset="-128"/>
                <a:ea typeface="MS UI Gothic" panose="020B0600070205080204" pitchFamily="34" charset="-128"/>
                <a:cs typeface="Times New Roman" panose="02020603050405020304" pitchFamily="18" charset="0"/>
              </a:rPr>
              <a:t>薬学部の実習を促進させる</a:t>
            </a:r>
            <a:endParaRPr lang="en-US" altLang="ja-JP" sz="2800" dirty="0">
              <a:latin typeface="MS UI Gothic" panose="020B0600070205080204" pitchFamily="34" charset="-128"/>
              <a:ea typeface="MS UI Gothic" panose="020B0600070205080204" pitchFamily="34" charset="-128"/>
              <a:cs typeface="Times New Roman" panose="02020603050405020304" pitchFamily="18" charset="0"/>
            </a:endParaRPr>
          </a:p>
          <a:p>
            <a:r>
              <a:rPr lang="ja-JP" altLang="en-US" sz="2800">
                <a:latin typeface="MS UI Gothic" panose="020B0600070205080204" pitchFamily="34" charset="-128"/>
                <a:ea typeface="MS UI Gothic" panose="020B0600070205080204" pitchFamily="34" charset="-128"/>
                <a:cs typeface="Times New Roman" panose="02020603050405020304" pitchFamily="18" charset="0"/>
              </a:rPr>
              <a:t>教育ツール（</a:t>
            </a:r>
            <a:r>
              <a:rPr lang="en-US" altLang="ja-JP" sz="2800" dirty="0">
                <a:latin typeface="MS UI Gothic" panose="020B0600070205080204" pitchFamily="34" charset="-128"/>
                <a:ea typeface="MS UI Gothic" panose="020B0600070205080204" pitchFamily="34" charset="-128"/>
                <a:cs typeface="Times New Roman" panose="02020603050405020304" pitchFamily="18" charset="0"/>
              </a:rPr>
              <a:t>Virtual Reality</a:t>
            </a:r>
            <a:r>
              <a:rPr lang="ja-JP" altLang="en-US" sz="2800">
                <a:latin typeface="MS UI Gothic" panose="020B0600070205080204" pitchFamily="34" charset="-128"/>
                <a:ea typeface="MS UI Gothic" panose="020B0600070205080204" pitchFamily="34" charset="-128"/>
                <a:cs typeface="Times New Roman" panose="02020603050405020304" pitchFamily="18" charset="0"/>
              </a:rPr>
              <a:t>）の</a:t>
            </a:r>
            <a:endParaRPr lang="en-US" altLang="ja-JP" sz="2800" dirty="0">
              <a:latin typeface="MS UI Gothic" panose="020B0600070205080204" pitchFamily="34" charset="-128"/>
              <a:ea typeface="MS UI Gothic" panose="020B0600070205080204" pitchFamily="34" charset="-128"/>
              <a:cs typeface="Times New Roman" panose="02020603050405020304" pitchFamily="18" charset="0"/>
            </a:endParaRPr>
          </a:p>
          <a:p>
            <a:r>
              <a:rPr lang="ja-JP" altLang="en-US" sz="2800">
                <a:latin typeface="MS UI Gothic" panose="020B0600070205080204" pitchFamily="34" charset="-128"/>
                <a:ea typeface="MS UI Gothic" panose="020B0600070205080204" pitchFamily="34" charset="-128"/>
                <a:cs typeface="Times New Roman" panose="02020603050405020304" pitchFamily="18" charset="0"/>
              </a:rPr>
              <a:t>開発と検証</a:t>
            </a:r>
            <a:endParaRPr lang="en-US" altLang="ja-JP" sz="2800" dirty="0">
              <a:latin typeface="MS UI Gothic" panose="020B0600070205080204" pitchFamily="34" charset="-128"/>
              <a:ea typeface="MS UI Gothic" panose="020B0600070205080204" pitchFamily="34" charset="-128"/>
              <a:cs typeface="Times New Roman" panose="02020603050405020304" pitchFamily="18" charset="0"/>
            </a:endParaRPr>
          </a:p>
          <a:p>
            <a:r>
              <a:rPr lang="en-US" altLang="ja-JP" sz="2400" dirty="0">
                <a:latin typeface="MS UI Gothic" panose="020B0600070205080204" pitchFamily="34" charset="-128"/>
                <a:ea typeface="MS UI Gothic" panose="020B0600070205080204" pitchFamily="34" charset="-128"/>
                <a:cs typeface="Times New Roman" panose="02020603050405020304" pitchFamily="18" charset="0"/>
              </a:rPr>
              <a:t>(</a:t>
            </a:r>
            <a:r>
              <a:rPr lang="en-US" altLang="ja-JP" sz="2400" dirty="0" err="1">
                <a:latin typeface="MS UI Gothic" panose="020B0600070205080204" pitchFamily="34" charset="-128"/>
                <a:ea typeface="MS UI Gothic" panose="020B0600070205080204" pitchFamily="34" charset="-128"/>
                <a:cs typeface="Times New Roman" panose="02020603050405020304" pitchFamily="18" charset="0"/>
              </a:rPr>
              <a:t>薬学雑誌</a:t>
            </a:r>
            <a:r>
              <a:rPr lang="ja-JP" altLang="en-US" sz="2400">
                <a:latin typeface="MS UI Gothic" panose="020B0600070205080204" pitchFamily="34" charset="-128"/>
                <a:ea typeface="MS UI Gothic" panose="020B0600070205080204" pitchFamily="34" charset="-128"/>
                <a:cs typeface="Times New Roman" panose="02020603050405020304" pitchFamily="18" charset="0"/>
              </a:rPr>
              <a:t>、</a:t>
            </a:r>
            <a:r>
              <a:rPr lang="en-US" altLang="ja-JP" sz="2400" dirty="0">
                <a:latin typeface="MS UI Gothic" panose="020B0600070205080204" pitchFamily="34" charset="-128"/>
                <a:ea typeface="MS UI Gothic" panose="020B0600070205080204" pitchFamily="34" charset="-128"/>
                <a:cs typeface="Times New Roman" panose="02020603050405020304" pitchFamily="18" charset="0"/>
              </a:rPr>
              <a:t>2024)</a:t>
            </a:r>
          </a:p>
        </p:txBody>
      </p:sp>
      <p:sp>
        <p:nvSpPr>
          <p:cNvPr id="13" name="テキスト ボックス 12">
            <a:extLst>
              <a:ext uri="{FF2B5EF4-FFF2-40B4-BE49-F238E27FC236}">
                <a16:creationId xmlns:a16="http://schemas.microsoft.com/office/drawing/2014/main" id="{67768C0C-678F-3304-7C47-F81CA8566F67}"/>
              </a:ext>
            </a:extLst>
          </p:cNvPr>
          <p:cNvSpPr txBox="1"/>
          <p:nvPr/>
        </p:nvSpPr>
        <p:spPr>
          <a:xfrm>
            <a:off x="6348546" y="3732241"/>
            <a:ext cx="4379725" cy="1323439"/>
          </a:xfrm>
          <a:prstGeom prst="rect">
            <a:avLst/>
          </a:prstGeom>
          <a:noFill/>
        </p:spPr>
        <p:txBody>
          <a:bodyPr wrap="none" rtlCol="0">
            <a:spAutoFit/>
          </a:bodyPr>
          <a:lstStyle/>
          <a:p>
            <a:r>
              <a:rPr lang="ja-JP" altLang="en-US" sz="2800">
                <a:latin typeface="MS UI Gothic" panose="020B0600070205080204" pitchFamily="34" charset="-128"/>
                <a:ea typeface="MS UI Gothic" panose="020B0600070205080204" pitchFamily="34" charset="-128"/>
                <a:cs typeface="Times New Roman" panose="02020603050405020304" pitchFamily="18" charset="0"/>
              </a:rPr>
              <a:t>アルコール使用障害治療薬に</a:t>
            </a:r>
            <a:endParaRPr lang="en-US" altLang="ja-JP" sz="2800" dirty="0">
              <a:latin typeface="MS UI Gothic" panose="020B0600070205080204" pitchFamily="34" charset="-128"/>
              <a:ea typeface="MS UI Gothic" panose="020B0600070205080204" pitchFamily="34" charset="-128"/>
              <a:cs typeface="Times New Roman" panose="02020603050405020304" pitchFamily="18" charset="0"/>
            </a:endParaRPr>
          </a:p>
          <a:p>
            <a:r>
              <a:rPr lang="ja-JP" altLang="en-US" sz="2800">
                <a:latin typeface="MS UI Gothic" panose="020B0600070205080204" pitchFamily="34" charset="-128"/>
                <a:ea typeface="MS UI Gothic" panose="020B0600070205080204" pitchFamily="34" charset="-128"/>
                <a:cs typeface="Times New Roman" panose="02020603050405020304" pitchFamily="18" charset="0"/>
              </a:rPr>
              <a:t>関するシステマティックレビュー</a:t>
            </a:r>
            <a:endParaRPr lang="en-US" altLang="ja-JP" sz="2800" dirty="0">
              <a:latin typeface="MS UI Gothic" panose="020B0600070205080204" pitchFamily="34" charset="-128"/>
              <a:ea typeface="MS UI Gothic" panose="020B0600070205080204" pitchFamily="34" charset="-128"/>
              <a:cs typeface="Times New Roman" panose="02020603050405020304" pitchFamily="18" charset="0"/>
            </a:endParaRPr>
          </a:p>
          <a:p>
            <a:r>
              <a:rPr lang="en-US" altLang="ja-JP" sz="2400" dirty="0">
                <a:latin typeface="MS UI Gothic" panose="020B0600070205080204" pitchFamily="34" charset="-128"/>
                <a:ea typeface="MS UI Gothic" panose="020B0600070205080204" pitchFamily="34" charset="-128"/>
                <a:cs typeface="Times New Roman" panose="02020603050405020304" pitchFamily="18" charset="0"/>
              </a:rPr>
              <a:t>(</a:t>
            </a:r>
            <a:r>
              <a:rPr lang="en-US" altLang="ja-JP" sz="2400" dirty="0" err="1">
                <a:latin typeface="MS UI Gothic" panose="020B0600070205080204" pitchFamily="34" charset="-128"/>
                <a:ea typeface="MS UI Gothic" panose="020B0600070205080204" pitchFamily="34" charset="-128"/>
              </a:rPr>
              <a:t>Addiction誌</a:t>
            </a:r>
            <a:r>
              <a:rPr lang="en-US" altLang="ja-JP" sz="2400" dirty="0">
                <a:latin typeface="MS UI Gothic" panose="020B0600070205080204" pitchFamily="34" charset="-128"/>
                <a:ea typeface="MS UI Gothic" panose="020B0600070205080204" pitchFamily="34" charset="-128"/>
              </a:rPr>
              <a:t>, 2024</a:t>
            </a:r>
            <a:r>
              <a:rPr lang="en-US" altLang="ja-JP" sz="2400" dirty="0">
                <a:latin typeface="MS UI Gothic" panose="020B0600070205080204" pitchFamily="34" charset="-128"/>
                <a:ea typeface="MS UI Gothic" panose="020B0600070205080204" pitchFamily="34" charset="-128"/>
                <a:cs typeface="Times New Roman" panose="02020603050405020304" pitchFamily="18" charset="0"/>
              </a:rPr>
              <a:t>)</a:t>
            </a:r>
          </a:p>
        </p:txBody>
      </p:sp>
      <p:sp>
        <p:nvSpPr>
          <p:cNvPr id="14" name="テキスト ボックス 13">
            <a:extLst>
              <a:ext uri="{FF2B5EF4-FFF2-40B4-BE49-F238E27FC236}">
                <a16:creationId xmlns:a16="http://schemas.microsoft.com/office/drawing/2014/main" id="{343C2A95-04F4-18BD-F824-3CF51847F54F}"/>
              </a:ext>
            </a:extLst>
          </p:cNvPr>
          <p:cNvSpPr txBox="1"/>
          <p:nvPr/>
        </p:nvSpPr>
        <p:spPr>
          <a:xfrm>
            <a:off x="609600" y="5778212"/>
            <a:ext cx="9783447" cy="892552"/>
          </a:xfrm>
          <a:prstGeom prst="rect">
            <a:avLst/>
          </a:prstGeom>
          <a:noFill/>
        </p:spPr>
        <p:txBody>
          <a:bodyPr wrap="none" rtlCol="0">
            <a:spAutoFit/>
          </a:bodyPr>
          <a:lstStyle/>
          <a:p>
            <a:r>
              <a:rPr lang="en-US" altLang="ja-JP" sz="2800" dirty="0" err="1">
                <a:latin typeface="MS UI Gothic" panose="020B0600070205080204" pitchFamily="34" charset="-128"/>
                <a:ea typeface="MS UI Gothic" panose="020B0600070205080204" pitchFamily="34" charset="-128"/>
              </a:rPr>
              <a:t>維持期における双極性障害治療薬に関するシステマティックレビュ</a:t>
            </a:r>
            <a:r>
              <a:rPr lang="en-US" altLang="ja-JP" sz="2800" dirty="0">
                <a:latin typeface="MS UI Gothic" panose="020B0600070205080204" pitchFamily="34" charset="-128"/>
                <a:ea typeface="MS UI Gothic" panose="020B0600070205080204" pitchFamily="34" charset="-128"/>
              </a:rPr>
              <a:t>ー</a:t>
            </a:r>
          </a:p>
          <a:p>
            <a:r>
              <a:rPr lang="en-US" altLang="ja-JP" sz="2400" dirty="0">
                <a:latin typeface="MS UI Gothic" panose="020B0600070205080204" pitchFamily="34" charset="-128"/>
                <a:ea typeface="MS UI Gothic" panose="020B0600070205080204" pitchFamily="34" charset="-128"/>
              </a:rPr>
              <a:t>（</a:t>
            </a:r>
            <a:r>
              <a:rPr lang="en-US" altLang="ja-JP" sz="2400" dirty="0" err="1">
                <a:latin typeface="MS UI Gothic" panose="020B0600070205080204" pitchFamily="34" charset="-128"/>
                <a:ea typeface="MS UI Gothic" panose="020B0600070205080204" pitchFamily="34" charset="-128"/>
              </a:rPr>
              <a:t>欧州神経精神薬理学会</a:t>
            </a:r>
            <a:r>
              <a:rPr lang="en-US" altLang="ja-JP" sz="2400" dirty="0">
                <a:latin typeface="MS UI Gothic" panose="020B0600070205080204" pitchFamily="34" charset="-128"/>
                <a:ea typeface="MS UI Gothic" panose="020B0600070205080204" pitchFamily="34" charset="-128"/>
              </a:rPr>
              <a:t>, 2024）</a:t>
            </a:r>
            <a:endParaRPr kumimoji="1" lang="ja-JP" altLang="en-US" sz="2400">
              <a:latin typeface="MS UI Gothic" panose="020B0600070205080204" pitchFamily="34" charset="-128"/>
              <a:ea typeface="MS UI Gothic" panose="020B0600070205080204" pitchFamily="34" charset="-128"/>
            </a:endParaRPr>
          </a:p>
        </p:txBody>
      </p:sp>
    </p:spTree>
    <p:extLst>
      <p:ext uri="{BB962C8B-B14F-4D97-AF65-F5344CB8AC3E}">
        <p14:creationId xmlns:p14="http://schemas.microsoft.com/office/powerpoint/2010/main" val="2200884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DF448B-E509-91CB-9974-228ACD764E14}"/>
            </a:ext>
          </a:extLst>
        </p:cNvPr>
        <p:cNvGrpSpPr/>
        <p:nvPr/>
      </p:nvGrpSpPr>
      <p:grpSpPr>
        <a:xfrm>
          <a:off x="0" y="0"/>
          <a:ext cx="0" cy="0"/>
          <a:chOff x="0" y="0"/>
          <a:chExt cx="0" cy="0"/>
        </a:xfrm>
      </p:grpSpPr>
      <p:sp>
        <p:nvSpPr>
          <p:cNvPr id="13" name="角丸四角形 12">
            <a:extLst>
              <a:ext uri="{FF2B5EF4-FFF2-40B4-BE49-F238E27FC236}">
                <a16:creationId xmlns:a16="http://schemas.microsoft.com/office/drawing/2014/main" id="{756A0B37-DF90-8D90-3930-78DDD0025681}"/>
              </a:ext>
            </a:extLst>
          </p:cNvPr>
          <p:cNvSpPr/>
          <p:nvPr/>
        </p:nvSpPr>
        <p:spPr>
          <a:xfrm>
            <a:off x="548643" y="1590706"/>
            <a:ext cx="11277600" cy="1418502"/>
          </a:xfrm>
          <a:prstGeom prst="round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sz="2800" dirty="0">
                <a:solidFill>
                  <a:schemeClr val="tx1"/>
                </a:solidFill>
                <a:latin typeface="MS UI Gothic" panose="020B0600070205080204" pitchFamily="34" charset="-128"/>
                <a:ea typeface="MS UI Gothic" panose="020B0600070205080204" pitchFamily="34" charset="-128"/>
              </a:rPr>
              <a:t>①</a:t>
            </a:r>
            <a:r>
              <a:rPr kumimoji="1" lang="ja-JP" altLang="en-US" sz="2800">
                <a:solidFill>
                  <a:schemeClr val="tx1"/>
                </a:solidFill>
                <a:latin typeface="MS UI Gothic" panose="020B0600070205080204" pitchFamily="34" charset="-128"/>
                <a:ea typeface="MS UI Gothic" panose="020B0600070205080204" pitchFamily="34" charset="-128"/>
              </a:rPr>
              <a:t>「魔法の黒板」導入　→　学生の悩み解決</a:t>
            </a:r>
            <a:r>
              <a:rPr lang="ja-JP" altLang="en-US" sz="2800">
                <a:solidFill>
                  <a:schemeClr val="tx1"/>
                </a:solidFill>
                <a:latin typeface="MS UI Gothic" panose="020B0600070205080204" pitchFamily="34" charset="-128"/>
                <a:ea typeface="MS UI Gothic" panose="020B0600070205080204" pitchFamily="34" charset="-128"/>
              </a:rPr>
              <a:t>　→　学生の学習成果向上</a:t>
            </a:r>
            <a:endParaRPr kumimoji="1" lang="ja-JP" altLang="en-US" sz="2800">
              <a:solidFill>
                <a:schemeClr val="tx1"/>
              </a:solidFill>
              <a:latin typeface="MS UI Gothic" panose="020B0600070205080204" pitchFamily="34" charset="-128"/>
              <a:ea typeface="MS UI Gothic" panose="020B0600070205080204" pitchFamily="34" charset="-128"/>
            </a:endParaRPr>
          </a:p>
        </p:txBody>
      </p:sp>
      <p:sp>
        <p:nvSpPr>
          <p:cNvPr id="15" name="テキスト ボックス 14">
            <a:extLst>
              <a:ext uri="{FF2B5EF4-FFF2-40B4-BE49-F238E27FC236}">
                <a16:creationId xmlns:a16="http://schemas.microsoft.com/office/drawing/2014/main" id="{7E0B1397-19B8-78E2-1033-5F85D9261947}"/>
              </a:ext>
            </a:extLst>
          </p:cNvPr>
          <p:cNvSpPr txBox="1"/>
          <p:nvPr/>
        </p:nvSpPr>
        <p:spPr>
          <a:xfrm>
            <a:off x="540659" y="251650"/>
            <a:ext cx="1452642" cy="523220"/>
          </a:xfrm>
          <a:prstGeom prst="rect">
            <a:avLst/>
          </a:prstGeom>
          <a:noFill/>
        </p:spPr>
        <p:txBody>
          <a:bodyPr wrap="none" rtlCol="0">
            <a:spAutoFit/>
          </a:bodyPr>
          <a:lstStyle/>
          <a:p>
            <a:r>
              <a:rPr kumimoji="1" lang="ja-JP" altLang="en-US" sz="2800">
                <a:latin typeface="MS UI Gothic" panose="020B0600070205080204" pitchFamily="34" charset="-128"/>
                <a:ea typeface="MS UI Gothic" panose="020B0600070205080204" pitchFamily="34" charset="-128"/>
              </a:rPr>
              <a:t>ま　と　め</a:t>
            </a:r>
          </a:p>
        </p:txBody>
      </p:sp>
      <p:sp>
        <p:nvSpPr>
          <p:cNvPr id="16" name="テキスト ボックス 15">
            <a:extLst>
              <a:ext uri="{FF2B5EF4-FFF2-40B4-BE49-F238E27FC236}">
                <a16:creationId xmlns:a16="http://schemas.microsoft.com/office/drawing/2014/main" id="{9B7C9B19-64F5-AC8A-BF4B-86538122392A}"/>
              </a:ext>
            </a:extLst>
          </p:cNvPr>
          <p:cNvSpPr txBox="1"/>
          <p:nvPr/>
        </p:nvSpPr>
        <p:spPr>
          <a:xfrm>
            <a:off x="540659" y="861247"/>
            <a:ext cx="2978701" cy="584775"/>
          </a:xfrm>
          <a:prstGeom prst="rect">
            <a:avLst/>
          </a:prstGeom>
          <a:noFill/>
        </p:spPr>
        <p:txBody>
          <a:bodyPr wrap="none" rtlCol="0">
            <a:spAutoFit/>
          </a:bodyPr>
          <a:lstStyle/>
          <a:p>
            <a:r>
              <a:rPr kumimoji="1" lang="ja-JP" altLang="en-US" sz="3200">
                <a:latin typeface="MS UI Gothic" panose="020B0600070205080204" pitchFamily="34" charset="-128"/>
                <a:ea typeface="MS UI Gothic" panose="020B0600070205080204" pitchFamily="34" charset="-128"/>
              </a:rPr>
              <a:t>本研究</a:t>
            </a:r>
            <a:r>
              <a:rPr lang="ja-JP" altLang="en-US" sz="3200">
                <a:latin typeface="MS UI Gothic" panose="020B0600070205080204" pitchFamily="34" charset="-128"/>
                <a:ea typeface="MS UI Gothic" panose="020B0600070205080204" pitchFamily="34" charset="-128"/>
              </a:rPr>
              <a:t>のポイント</a:t>
            </a:r>
            <a:endParaRPr kumimoji="1" lang="ja-JP" altLang="en-US" sz="3200">
              <a:latin typeface="MS UI Gothic" panose="020B0600070205080204" pitchFamily="34" charset="-128"/>
              <a:ea typeface="MS UI Gothic" panose="020B0600070205080204" pitchFamily="34" charset="-128"/>
            </a:endParaRPr>
          </a:p>
        </p:txBody>
      </p:sp>
      <p:sp>
        <p:nvSpPr>
          <p:cNvPr id="5" name="角丸四角形 4">
            <a:extLst>
              <a:ext uri="{FF2B5EF4-FFF2-40B4-BE49-F238E27FC236}">
                <a16:creationId xmlns:a16="http://schemas.microsoft.com/office/drawing/2014/main" id="{0A979641-DABF-0EA3-73A9-DE1B694FC71A}"/>
              </a:ext>
            </a:extLst>
          </p:cNvPr>
          <p:cNvSpPr/>
          <p:nvPr/>
        </p:nvSpPr>
        <p:spPr>
          <a:xfrm>
            <a:off x="548643" y="3278633"/>
            <a:ext cx="11277600" cy="1418502"/>
          </a:xfrm>
          <a:prstGeom prst="round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ja-JP" sz="2800" dirty="0">
                <a:solidFill>
                  <a:schemeClr val="tx1"/>
                </a:solidFill>
                <a:latin typeface="MS UI Gothic" panose="020B0600070205080204" pitchFamily="34" charset="-128"/>
                <a:ea typeface="MS UI Gothic" panose="020B0600070205080204" pitchFamily="34" charset="-128"/>
              </a:rPr>
              <a:t>②</a:t>
            </a:r>
            <a:r>
              <a:rPr lang="ja-JP" altLang="en-US" sz="2800">
                <a:solidFill>
                  <a:schemeClr val="tx1"/>
                </a:solidFill>
                <a:latin typeface="MS UI Gothic" panose="020B0600070205080204" pitchFamily="34" charset="-128"/>
                <a:ea typeface="MS UI Gothic" panose="020B0600070205080204" pitchFamily="34" charset="-128"/>
              </a:rPr>
              <a:t>「魔法の黒板」使用　→　「つまずきの地図」作成　</a:t>
            </a:r>
            <a:endParaRPr lang="en-US" altLang="ja-JP" sz="2800" dirty="0">
              <a:solidFill>
                <a:schemeClr val="tx1"/>
              </a:solidFill>
              <a:latin typeface="MS UI Gothic" panose="020B0600070205080204" pitchFamily="34" charset="-128"/>
              <a:ea typeface="MS UI Gothic" panose="020B0600070205080204" pitchFamily="34" charset="-128"/>
            </a:endParaRPr>
          </a:p>
          <a:p>
            <a:pPr indent="3392488"/>
            <a:r>
              <a:rPr lang="ja-JP" altLang="en-US" sz="2800">
                <a:solidFill>
                  <a:schemeClr val="tx1"/>
                </a:solidFill>
                <a:latin typeface="MS UI Gothic" panose="020B0600070205080204" pitchFamily="34" charset="-128"/>
                <a:ea typeface="MS UI Gothic" panose="020B0600070205080204" pitchFamily="34" charset="-128"/>
              </a:rPr>
              <a:t>→　講義改善・教育の質向上</a:t>
            </a:r>
            <a:endParaRPr kumimoji="1" lang="ja-JP" altLang="en-US" sz="2800">
              <a:solidFill>
                <a:schemeClr val="tx1"/>
              </a:solidFill>
              <a:latin typeface="MS UI Gothic" panose="020B0600070205080204" pitchFamily="34" charset="-128"/>
              <a:ea typeface="MS UI Gothic" panose="020B0600070205080204" pitchFamily="34" charset="-128"/>
            </a:endParaRPr>
          </a:p>
        </p:txBody>
      </p:sp>
      <p:sp>
        <p:nvSpPr>
          <p:cNvPr id="6" name="角丸四角形 5">
            <a:extLst>
              <a:ext uri="{FF2B5EF4-FFF2-40B4-BE49-F238E27FC236}">
                <a16:creationId xmlns:a16="http://schemas.microsoft.com/office/drawing/2014/main" id="{F03F54DC-DFCA-E949-DC72-71507CA18E05}"/>
              </a:ext>
            </a:extLst>
          </p:cNvPr>
          <p:cNvSpPr/>
          <p:nvPr/>
        </p:nvSpPr>
        <p:spPr>
          <a:xfrm>
            <a:off x="548643" y="4966559"/>
            <a:ext cx="11277600" cy="1418502"/>
          </a:xfrm>
          <a:prstGeom prst="round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ja-JP" sz="2800" dirty="0">
                <a:solidFill>
                  <a:schemeClr val="tx1"/>
                </a:solidFill>
                <a:latin typeface="MS UI Gothic" panose="020B0600070205080204" pitchFamily="34" charset="-128"/>
                <a:ea typeface="MS UI Gothic" panose="020B0600070205080204" pitchFamily="34" charset="-128"/>
              </a:rPr>
              <a:t>③AI</a:t>
            </a:r>
            <a:r>
              <a:rPr lang="ja-JP" altLang="en-US" sz="2800">
                <a:solidFill>
                  <a:schemeClr val="tx1"/>
                </a:solidFill>
                <a:latin typeface="MS UI Gothic" panose="020B0600070205080204" pitchFamily="34" charset="-128"/>
                <a:ea typeface="MS UI Gothic" panose="020B0600070205080204" pitchFamily="34" charset="-128"/>
              </a:rPr>
              <a:t>活用の実証実験　→　他科目・大学への発展可能性</a:t>
            </a:r>
            <a:endParaRPr lang="en-US" altLang="ja-JP" sz="2800" dirty="0">
              <a:solidFill>
                <a:schemeClr val="tx1"/>
              </a:solidFill>
              <a:latin typeface="MS UI Gothic" panose="020B0600070205080204" pitchFamily="34" charset="-128"/>
              <a:ea typeface="MS UI Gothic" panose="020B0600070205080204" pitchFamily="34" charset="-128"/>
            </a:endParaRPr>
          </a:p>
          <a:p>
            <a:r>
              <a:rPr lang="ja-JP" altLang="en-US" sz="2800">
                <a:solidFill>
                  <a:schemeClr val="tx1"/>
                </a:solidFill>
                <a:latin typeface="MS UI Gothic" panose="020B0600070205080204" pitchFamily="34" charset="-128"/>
                <a:ea typeface="MS UI Gothic" panose="020B0600070205080204" pitchFamily="34" charset="-128"/>
              </a:rPr>
              <a:t>　　　　　　　　　　　　　　→　専門領域における教育改革への貢献</a:t>
            </a:r>
            <a:endParaRPr kumimoji="1" lang="ja-JP" altLang="en-US" sz="2800">
              <a:solidFill>
                <a:schemeClr val="tx1"/>
              </a:solidFill>
              <a:latin typeface="MS UI Gothic" panose="020B0600070205080204" pitchFamily="34" charset="-128"/>
              <a:ea typeface="MS UI Gothic" panose="020B0600070205080204" pitchFamily="34" charset="-128"/>
            </a:endParaRPr>
          </a:p>
        </p:txBody>
      </p:sp>
    </p:spTree>
    <p:extLst>
      <p:ext uri="{BB962C8B-B14F-4D97-AF65-F5344CB8AC3E}">
        <p14:creationId xmlns:p14="http://schemas.microsoft.com/office/powerpoint/2010/main" val="35036206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4334F-344D-4ED8-D983-BB54F269F909}"/>
            </a:ext>
          </a:extLst>
        </p:cNvPr>
        <p:cNvGrpSpPr/>
        <p:nvPr/>
      </p:nvGrpSpPr>
      <p:grpSpPr>
        <a:xfrm>
          <a:off x="0" y="0"/>
          <a:ext cx="0" cy="0"/>
          <a:chOff x="0" y="0"/>
          <a:chExt cx="0" cy="0"/>
        </a:xfrm>
      </p:grpSpPr>
      <p:pic>
        <p:nvPicPr>
          <p:cNvPr id="5" name="Picture 1" descr="A_digital_illustration_showcases_a_magical_setting.png">
            <a:extLst>
              <a:ext uri="{FF2B5EF4-FFF2-40B4-BE49-F238E27FC236}">
                <a16:creationId xmlns:a16="http://schemas.microsoft.com/office/drawing/2014/main" id="{44FD267B-A90F-804D-53F8-97B4549C720D}"/>
              </a:ext>
            </a:extLst>
          </p:cNvPr>
          <p:cNvPicPr>
            <a:picLocks noChangeAspect="1"/>
          </p:cNvPicPr>
          <p:nvPr/>
        </p:nvPicPr>
        <p:blipFill>
          <a:blip r:embed="rId3"/>
          <a:stretch>
            <a:fillRect/>
          </a:stretch>
        </p:blipFill>
        <p:spPr>
          <a:xfrm>
            <a:off x="0" y="0"/>
            <a:ext cx="12188952" cy="6858000"/>
          </a:xfrm>
          <a:prstGeom prst="rect">
            <a:avLst/>
          </a:prstGeom>
        </p:spPr>
      </p:pic>
      <p:sp>
        <p:nvSpPr>
          <p:cNvPr id="6" name="TextBox 2">
            <a:extLst>
              <a:ext uri="{FF2B5EF4-FFF2-40B4-BE49-F238E27FC236}">
                <a16:creationId xmlns:a16="http://schemas.microsoft.com/office/drawing/2014/main" id="{83FBE347-9CE7-AC1C-5F8F-D90BDD72A2FC}"/>
              </a:ext>
            </a:extLst>
          </p:cNvPr>
          <p:cNvSpPr txBox="1"/>
          <p:nvPr/>
        </p:nvSpPr>
        <p:spPr>
          <a:xfrm>
            <a:off x="1828800" y="3840480"/>
            <a:ext cx="8503920" cy="914400"/>
          </a:xfrm>
          <a:prstGeom prst="rect">
            <a:avLst/>
          </a:prstGeom>
          <a:noFill/>
        </p:spPr>
        <p:txBody>
          <a:bodyPr wrap="none">
            <a:spAutoFit/>
          </a:bodyPr>
          <a:lstStyle/>
          <a:p>
            <a:pPr algn="ctr"/>
            <a:r>
              <a:rPr sz="2800" dirty="0" err="1">
                <a:solidFill>
                  <a:srgbClr val="FFFFFF"/>
                </a:solidFill>
                <a:latin typeface="MS Mincho"/>
              </a:rPr>
              <a:t>AIを活用した学習支援システム</a:t>
            </a:r>
            <a:endParaRPr sz="2800" dirty="0">
              <a:solidFill>
                <a:srgbClr val="FFFFFF"/>
              </a:solidFill>
              <a:latin typeface="MS Mincho"/>
            </a:endParaRPr>
          </a:p>
        </p:txBody>
      </p:sp>
      <p:sp>
        <p:nvSpPr>
          <p:cNvPr id="2" name="角丸四角形 1">
            <a:extLst>
              <a:ext uri="{FF2B5EF4-FFF2-40B4-BE49-F238E27FC236}">
                <a16:creationId xmlns:a16="http://schemas.microsoft.com/office/drawing/2014/main" id="{23BA956E-D0C4-862A-C9CC-B89212A0B073}"/>
              </a:ext>
            </a:extLst>
          </p:cNvPr>
          <p:cNvSpPr/>
          <p:nvPr/>
        </p:nvSpPr>
        <p:spPr>
          <a:xfrm>
            <a:off x="674913" y="1002879"/>
            <a:ext cx="10876491" cy="5015644"/>
          </a:xfrm>
          <a:prstGeom prst="round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4800">
                <a:solidFill>
                  <a:srgbClr val="FFFF00"/>
                </a:solidFill>
                <a:latin typeface="MS UI Gothic" panose="020B0600070205080204" pitchFamily="34" charset="-128"/>
                <a:ea typeface="MS UI Gothic" panose="020B0600070205080204" pitchFamily="34" charset="-128"/>
                <a:cs typeface="Yu Gothic" pitchFamily="34" charset="-120"/>
              </a:rPr>
              <a:t>人間</a:t>
            </a:r>
            <a:r>
              <a:rPr lang="en-US" altLang="ja-JP" sz="4800" dirty="0">
                <a:solidFill>
                  <a:srgbClr val="FFFF00"/>
                </a:solidFill>
                <a:latin typeface="MS UI Gothic" panose="020B0600070205080204" pitchFamily="34" charset="-128"/>
                <a:ea typeface="MS UI Gothic" panose="020B0600070205080204" pitchFamily="34" charset="-128"/>
                <a:cs typeface="Yu Gothic" pitchFamily="34" charset="-120"/>
              </a:rPr>
              <a:t> </a:t>
            </a:r>
            <a:r>
              <a:rPr lang="ja-JP" altLang="en-US" sz="4800">
                <a:solidFill>
                  <a:srgbClr val="FFFF00"/>
                </a:solidFill>
                <a:latin typeface="MS UI Gothic" panose="020B0600070205080204" pitchFamily="34" charset="-128"/>
                <a:ea typeface="MS UI Gothic" panose="020B0600070205080204" pitchFamily="34" charset="-128"/>
                <a:cs typeface="Yu Gothic" pitchFamily="34" charset="-120"/>
              </a:rPr>
              <a:t>による「教える」と</a:t>
            </a:r>
            <a:r>
              <a:rPr lang="en-US" altLang="ja-JP" sz="4800" dirty="0">
                <a:solidFill>
                  <a:srgbClr val="FFFF00"/>
                </a:solidFill>
                <a:latin typeface="MS UI Gothic" panose="020B0600070205080204" pitchFamily="34" charset="-128"/>
                <a:ea typeface="MS UI Gothic" panose="020B0600070205080204" pitchFamily="34" charset="-128"/>
                <a:cs typeface="Yu Gothic" pitchFamily="34" charset="-120"/>
              </a:rPr>
              <a:t> AI </a:t>
            </a:r>
            <a:r>
              <a:rPr lang="ja-JP" altLang="en-US" sz="4800">
                <a:solidFill>
                  <a:srgbClr val="FFFF00"/>
                </a:solidFill>
                <a:latin typeface="MS UI Gothic" panose="020B0600070205080204" pitchFamily="34" charset="-128"/>
                <a:ea typeface="MS UI Gothic" panose="020B0600070205080204" pitchFamily="34" charset="-128"/>
                <a:cs typeface="Yu Gothic" pitchFamily="34" charset="-120"/>
              </a:rPr>
              <a:t>による「支える」“融合”</a:t>
            </a:r>
            <a:endParaRPr lang="en-US" altLang="ja-JP" sz="900" dirty="0">
              <a:solidFill>
                <a:srgbClr val="FFFF00"/>
              </a:solidFill>
              <a:latin typeface="MS UI Gothic" panose="020B0600070205080204" pitchFamily="34" charset="-128"/>
              <a:ea typeface="MS UI Gothic" panose="020B0600070205080204" pitchFamily="34" charset="-128"/>
              <a:cs typeface="Yu Gothic" pitchFamily="34" charset="-120"/>
            </a:endParaRPr>
          </a:p>
          <a:p>
            <a:pPr algn="ctr"/>
            <a:r>
              <a:rPr lang="ja-JP" altLang="en-US" sz="4800">
                <a:solidFill>
                  <a:srgbClr val="FFFF00"/>
                </a:solidFill>
                <a:latin typeface="MS UI Gothic" panose="020B0600070205080204" pitchFamily="34" charset="-128"/>
                <a:ea typeface="MS UI Gothic" panose="020B0600070205080204" pitchFamily="34" charset="-128"/>
                <a:cs typeface="Yu Gothic" pitchFamily="34" charset="-120"/>
              </a:rPr>
              <a:t>↓</a:t>
            </a:r>
            <a:endParaRPr lang="en-US" altLang="ja-JP" sz="4800" dirty="0">
              <a:solidFill>
                <a:srgbClr val="FFFF00"/>
              </a:solidFill>
              <a:latin typeface="MS UI Gothic" panose="020B0600070205080204" pitchFamily="34" charset="-128"/>
              <a:ea typeface="MS UI Gothic" panose="020B0600070205080204" pitchFamily="34" charset="-128"/>
              <a:cs typeface="Yu Gothic" pitchFamily="34" charset="-120"/>
            </a:endParaRPr>
          </a:p>
          <a:p>
            <a:pPr algn="ctr"/>
            <a:endParaRPr lang="en-US" altLang="ja-JP" sz="900" dirty="0">
              <a:solidFill>
                <a:srgbClr val="FFFF00"/>
              </a:solidFill>
              <a:latin typeface="MS UI Gothic" panose="020B0600070205080204" pitchFamily="34" charset="-128"/>
              <a:ea typeface="MS UI Gothic" panose="020B0600070205080204" pitchFamily="34" charset="-128"/>
              <a:cs typeface="Yu Gothic" pitchFamily="34" charset="-120"/>
            </a:endParaRPr>
          </a:p>
          <a:p>
            <a:pPr algn="ctr"/>
            <a:r>
              <a:rPr lang="en-US" altLang="ja-JP" sz="4800" dirty="0" err="1">
                <a:solidFill>
                  <a:srgbClr val="FFFF00"/>
                </a:solidFill>
                <a:latin typeface="MS UI Gothic" panose="020B0600070205080204" pitchFamily="34" charset="-128"/>
                <a:ea typeface="MS UI Gothic" panose="020B0600070205080204" pitchFamily="34" charset="-128"/>
                <a:cs typeface="Yu Gothic" pitchFamily="34" charset="-120"/>
              </a:rPr>
              <a:t>学びの未来を変える</a:t>
            </a:r>
            <a:endParaRPr kumimoji="1" lang="ja-JP" altLang="en-US" sz="4800">
              <a:solidFill>
                <a:srgbClr val="FFFF00"/>
              </a:solidFill>
            </a:endParaRPr>
          </a:p>
        </p:txBody>
      </p:sp>
      <p:sp>
        <p:nvSpPr>
          <p:cNvPr id="3" name="テキスト ボックス 2">
            <a:extLst>
              <a:ext uri="{FF2B5EF4-FFF2-40B4-BE49-F238E27FC236}">
                <a16:creationId xmlns:a16="http://schemas.microsoft.com/office/drawing/2014/main" id="{2A17AB94-D6E3-C235-98E4-672298C161F7}"/>
              </a:ext>
            </a:extLst>
          </p:cNvPr>
          <p:cNvSpPr txBox="1"/>
          <p:nvPr/>
        </p:nvSpPr>
        <p:spPr>
          <a:xfrm>
            <a:off x="540659" y="251650"/>
            <a:ext cx="3296095" cy="523220"/>
          </a:xfrm>
          <a:prstGeom prst="rect">
            <a:avLst/>
          </a:prstGeom>
          <a:noFill/>
        </p:spPr>
        <p:txBody>
          <a:bodyPr wrap="none" rtlCol="0">
            <a:spAutoFit/>
          </a:bodyPr>
          <a:lstStyle/>
          <a:p>
            <a:r>
              <a:rPr lang="ja-JP" altLang="en-US" sz="2800">
                <a:solidFill>
                  <a:schemeClr val="bg1"/>
                </a:solidFill>
                <a:latin typeface="MS UI Gothic" panose="020B0600070205080204" pitchFamily="34" charset="-128"/>
                <a:ea typeface="MS UI Gothic" panose="020B0600070205080204" pitchFamily="34" charset="-128"/>
              </a:rPr>
              <a:t>さいごに（私のビジョン）</a:t>
            </a:r>
            <a:endParaRPr kumimoji="1" lang="ja-JP" altLang="en-US" sz="2800">
              <a:solidFill>
                <a:schemeClr val="bg1"/>
              </a:solidFill>
              <a:latin typeface="MS UI Gothic" panose="020B0600070205080204" pitchFamily="34" charset="-128"/>
              <a:ea typeface="MS UI Gothic" panose="020B0600070205080204" pitchFamily="34" charset="-128"/>
            </a:endParaRPr>
          </a:p>
        </p:txBody>
      </p:sp>
    </p:spTree>
    <p:extLst>
      <p:ext uri="{BB962C8B-B14F-4D97-AF65-F5344CB8AC3E}">
        <p14:creationId xmlns:p14="http://schemas.microsoft.com/office/powerpoint/2010/main" val="29060743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750" fill="hold"/>
                                        <p:tgtEl>
                                          <p:spTgt spid="2"/>
                                        </p:tgtEl>
                                        <p:attrNameLst>
                                          <p:attrName>ppt_x</p:attrName>
                                        </p:attrNameLst>
                                      </p:cBhvr>
                                      <p:tavLst>
                                        <p:tav tm="0">
                                          <p:val>
                                            <p:strVal val="#ppt_x"/>
                                          </p:val>
                                        </p:tav>
                                        <p:tav tm="100000">
                                          <p:val>
                                            <p:strVal val="#ppt_x"/>
                                          </p:val>
                                        </p:tav>
                                      </p:tavLst>
                                    </p:anim>
                                    <p:anim calcmode="lin" valueType="num">
                                      <p:cBhvr additive="base">
                                        <p:cTn id="8" dur="75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1655</TotalTime>
  <Words>1782</Words>
  <Application>Microsoft Macintosh PowerPoint</Application>
  <PresentationFormat>ワイド画面</PresentationFormat>
  <Paragraphs>288</Paragraphs>
  <Slides>13</Slides>
  <Notes>13</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13</vt:i4>
      </vt:variant>
    </vt:vector>
  </HeadingPairs>
  <TitlesOfParts>
    <vt:vector size="19" baseType="lpstr">
      <vt:lpstr>MS UI Gothic</vt:lpstr>
      <vt:lpstr>MS Mincho</vt:lpstr>
      <vt:lpstr>游ゴシック</vt:lpstr>
      <vt:lpstr>游ゴシック Light</vt:lpstr>
      <vt:lpstr>Arial</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橋本　保彦</dc:creator>
  <cp:lastModifiedBy>橋本　保彦</cp:lastModifiedBy>
  <cp:revision>77</cp:revision>
  <cp:lastPrinted>2026-02-07T07:28:31Z</cp:lastPrinted>
  <dcterms:created xsi:type="dcterms:W3CDTF">2026-01-28T04:13:33Z</dcterms:created>
  <dcterms:modified xsi:type="dcterms:W3CDTF">2026-02-20T02:43:04Z</dcterms:modified>
</cp:coreProperties>
</file>