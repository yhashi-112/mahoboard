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98" r:id="rId3"/>
    <p:sldId id="300" r:id="rId4"/>
    <p:sldId id="280" r:id="rId5"/>
    <p:sldId id="296" r:id="rId6"/>
    <p:sldId id="295" r:id="rId7"/>
    <p:sldId id="258" r:id="rId8"/>
    <p:sldId id="278" r:id="rId9"/>
    <p:sldId id="292" r:id="rId10"/>
    <p:sldId id="303" r:id="rId11"/>
    <p:sldId id="293" r:id="rId12"/>
    <p:sldId id="302" r:id="rId13"/>
    <p:sldId id="282" r:id="rId14"/>
    <p:sldId id="304" r:id="rId15"/>
    <p:sldId id="289" r:id="rId16"/>
    <p:sldId id="291" r:id="rId17"/>
    <p:sldId id="283" r:id="rId18"/>
    <p:sldId id="281" r:id="rId19"/>
    <p:sldId id="288" r:id="rId20"/>
    <p:sldId id="287" r:id="rId21"/>
    <p:sldId id="290" r:id="rId22"/>
    <p:sldId id="301"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p:restoredTop sz="61680"/>
  </p:normalViewPr>
  <p:slideViewPr>
    <p:cSldViewPr snapToGrid="0">
      <p:cViewPr varScale="1">
        <p:scale>
          <a:sx n="59" d="100"/>
          <a:sy n="59" d="100"/>
        </p:scale>
        <p:origin x="1176"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4C761-8069-7841-ACDA-AB0F463787F0}" type="datetimeFigureOut">
              <a:rPr kumimoji="1" lang="ja-JP" altLang="en-US" smtClean="0"/>
              <a:t>2026/2/12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CB60D-A68C-D74B-8949-411CD6AAB588}" type="slidenum">
              <a:rPr kumimoji="1" lang="ja-JP" altLang="en-US" smtClean="0"/>
              <a:t>‹#›</a:t>
            </a:fld>
            <a:endParaRPr kumimoji="1" lang="ja-JP" altLang="en-US"/>
          </a:p>
        </p:txBody>
      </p:sp>
    </p:spTree>
    <p:extLst>
      <p:ext uri="{BB962C8B-B14F-4D97-AF65-F5344CB8AC3E}">
        <p14:creationId xmlns:p14="http://schemas.microsoft.com/office/powerpoint/2010/main" val="8021702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を活用した即時質問応答方学習支援システム「魔法の黒板」の開発と</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教育効果の検証について発表します。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薬学部の橋本です。よろしくお願いします。</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1</a:t>
            </a:fld>
            <a:endParaRPr kumimoji="1" lang="ja-JP" altLang="en-US"/>
          </a:p>
        </p:txBody>
      </p:sp>
    </p:spTree>
    <p:extLst>
      <p:ext uri="{BB962C8B-B14F-4D97-AF65-F5344CB8AC3E}">
        <p14:creationId xmlns:p14="http://schemas.microsoft.com/office/powerpoint/2010/main" val="4005254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420F6-FC0C-D5D4-7D7F-60293FDB09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8344C8-F0E3-046B-79EC-28277171DFC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4B836D7-1BED-7796-AF23-28254077814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A91F5C5-AAC1-9A05-72C9-9A000CD04DCC}"/>
              </a:ext>
            </a:extLst>
          </p:cNvPr>
          <p:cNvSpPr>
            <a:spLocks noGrp="1"/>
          </p:cNvSpPr>
          <p:nvPr>
            <p:ph type="sldNum" sz="quarter" idx="5"/>
          </p:nvPr>
        </p:nvSpPr>
        <p:spPr/>
        <p:txBody>
          <a:bodyPr/>
          <a:lstStyle/>
          <a:p>
            <a:fld id="{A56CB60D-A68C-D74B-8949-411CD6AAB588}" type="slidenum">
              <a:rPr kumimoji="1" lang="ja-JP" altLang="en-US" smtClean="0"/>
              <a:t>2</a:t>
            </a:fld>
            <a:endParaRPr kumimoji="1" lang="ja-JP" altLang="en-US"/>
          </a:p>
        </p:txBody>
      </p:sp>
    </p:spTree>
    <p:extLst>
      <p:ext uri="{BB962C8B-B14F-4D97-AF65-F5344CB8AC3E}">
        <p14:creationId xmlns:p14="http://schemas.microsoft.com/office/powerpoint/2010/main" val="3872717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1F01-80AA-ADE8-DDC1-E32D29B18B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53930D-05A0-7A3E-43D8-81E19375EADF}"/>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D45506F1-1F5A-87B2-9AA8-25173D2ADB9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A21B29D-D417-D76D-00F4-4934B3C7F419}"/>
              </a:ext>
            </a:extLst>
          </p:cNvPr>
          <p:cNvSpPr>
            <a:spLocks noGrp="1"/>
          </p:cNvSpPr>
          <p:nvPr>
            <p:ph type="sldNum" sz="quarter" idx="5"/>
          </p:nvPr>
        </p:nvSpPr>
        <p:spPr/>
        <p:txBody>
          <a:bodyPr/>
          <a:lstStyle/>
          <a:p>
            <a:fld id="{A56CB60D-A68C-D74B-8949-411CD6AAB588}" type="slidenum">
              <a:rPr kumimoji="1" lang="ja-JP" altLang="en-US" smtClean="0"/>
              <a:t>3</a:t>
            </a:fld>
            <a:endParaRPr kumimoji="1" lang="ja-JP" altLang="en-US"/>
          </a:p>
        </p:txBody>
      </p:sp>
    </p:spTree>
    <p:extLst>
      <p:ext uri="{BB962C8B-B14F-4D97-AF65-F5344CB8AC3E}">
        <p14:creationId xmlns:p14="http://schemas.microsoft.com/office/powerpoint/2010/main" val="151314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4</a:t>
            </a:fld>
            <a:endParaRPr kumimoji="1" lang="ja-JP" altLang="en-US"/>
          </a:p>
        </p:txBody>
      </p:sp>
    </p:spTree>
    <p:extLst>
      <p:ext uri="{BB962C8B-B14F-4D97-AF65-F5344CB8AC3E}">
        <p14:creationId xmlns:p14="http://schemas.microsoft.com/office/powerpoint/2010/main" val="2858684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2C10-E561-6367-D93A-1585EEAAC9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B5E0F-7449-83D2-8107-033246D974B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F4DC1034-E40E-CA2C-1716-73C3B80719E7}"/>
              </a:ext>
            </a:extLst>
          </p:cNvPr>
          <p:cNvSpPr>
            <a:spLocks noGrp="1"/>
          </p:cNvSpPr>
          <p:nvPr>
            <p:ph type="body" idx="1"/>
          </p:nvPr>
        </p:nvSpPr>
        <p:spPr/>
        <p:txBody>
          <a:bodyPr/>
          <a:lstStyle/>
          <a:p>
            <a:r>
              <a:rPr kumimoji="1" lang="ja-JP" altLang="en-US" sz="1200" kern="1200">
                <a:solidFill>
                  <a:schemeClr val="tx1"/>
                </a:solidFill>
                <a:effectLst/>
                <a:latin typeface="+mn-lt"/>
                <a:ea typeface="+mn-ea"/>
                <a:cs typeface="+mn-cs"/>
              </a:rPr>
              <a:t>研究の意義と発展性です。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まずは</a:t>
            </a:r>
            <a:r>
              <a:rPr kumimoji="1" lang="ja-JP" altLang="ja-JP" sz="1200" kern="1200">
                <a:solidFill>
                  <a:schemeClr val="tx1"/>
                </a:solidFill>
                <a:effectLst/>
                <a:latin typeface="+mn-lt"/>
                <a:ea typeface="+mn-ea"/>
                <a:cs typeface="+mn-cs"/>
              </a:rPr>
              <a:t>背景です。学生の成績不振を改善するために、従来の一方向性の講義形式から反転講義</a:t>
            </a:r>
            <a:r>
              <a:rPr kumimoji="1" lang="ja-JP" altLang="en-US" sz="1200" kern="1200">
                <a:solidFill>
                  <a:schemeClr val="tx1"/>
                </a:solidFill>
                <a:effectLst/>
                <a:latin typeface="+mn-lt"/>
                <a:ea typeface="+mn-ea"/>
                <a:cs typeface="+mn-cs"/>
              </a:rPr>
              <a:t>・演習問題を</a:t>
            </a:r>
            <a:r>
              <a:rPr kumimoji="1" lang="ja-JP" altLang="ja-JP" sz="1200" kern="1200">
                <a:solidFill>
                  <a:schemeClr val="tx1"/>
                </a:solidFill>
                <a:effectLst/>
                <a:latin typeface="+mn-lt"/>
                <a:ea typeface="+mn-ea"/>
                <a:cs typeface="+mn-cs"/>
              </a:rPr>
              <a:t>導入しました。</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その結果、成績の二極化が発生しました。</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そこで対策を考えたのですが、まず教員側が「学生の困っている内容がわからない」ことに気づきました。</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そこで成績不振学生を面談したところ、</a:t>
            </a:r>
          </a:p>
          <a:p>
            <a:r>
              <a:rPr kumimoji="1" lang="ja-JP" altLang="ja-JP" sz="1200" kern="1200">
                <a:solidFill>
                  <a:schemeClr val="tx1"/>
                </a:solidFill>
                <a:effectLst/>
                <a:latin typeface="+mn-lt"/>
                <a:ea typeface="+mn-ea"/>
                <a:cs typeface="+mn-cs"/>
              </a:rPr>
              <a:t>「対面では先生に聞きにくい」「何度も質問して怒られないか不安」という心理的抵抗</a:t>
            </a:r>
            <a:r>
              <a:rPr kumimoji="1" lang="ja-JP" altLang="en-US" sz="1200" kern="1200">
                <a:solidFill>
                  <a:schemeClr val="tx1"/>
                </a:solidFill>
                <a:effectLst/>
                <a:latin typeface="+mn-lt"/>
                <a:ea typeface="+mn-ea"/>
                <a:cs typeface="+mn-cs"/>
              </a:rPr>
              <a:t>があること、</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「疑問が解決できず試験日を迎えた」「夜中に疑問が生じても聞けない」という時間的制約</a:t>
            </a:r>
            <a:r>
              <a:rPr kumimoji="1" lang="ja-JP" altLang="en-US" sz="1200" kern="1200">
                <a:solidFill>
                  <a:schemeClr val="tx1"/>
                </a:solidFill>
                <a:effectLst/>
                <a:latin typeface="+mn-lt"/>
                <a:ea typeface="+mn-ea"/>
                <a:cs typeface="+mn-cs"/>
              </a:rPr>
              <a:t>がある</a:t>
            </a:r>
            <a:r>
              <a:rPr kumimoji="1" lang="ja-JP" altLang="ja-JP" sz="1200" kern="1200">
                <a:solidFill>
                  <a:schemeClr val="tx1"/>
                </a:solidFill>
                <a:effectLst/>
                <a:latin typeface="+mn-lt"/>
                <a:ea typeface="+mn-ea"/>
                <a:cs typeface="+mn-cs"/>
              </a:rPr>
              <a:t>という</a:t>
            </a:r>
            <a:r>
              <a:rPr kumimoji="1" lang="ja-JP" altLang="en-US" sz="1200" kern="1200">
                <a:solidFill>
                  <a:schemeClr val="tx1"/>
                </a:solidFill>
                <a:effectLst/>
                <a:latin typeface="+mn-lt"/>
                <a:ea typeface="+mn-ea"/>
                <a:cs typeface="+mn-cs"/>
              </a:rPr>
              <a:t>こと</a:t>
            </a:r>
            <a:r>
              <a:rPr kumimoji="1" lang="ja-JP" altLang="ja-JP" sz="1200" kern="1200">
                <a:solidFill>
                  <a:schemeClr val="tx1"/>
                </a:solidFill>
                <a:effectLst/>
                <a:latin typeface="+mn-lt"/>
                <a:ea typeface="+mn-ea"/>
                <a:cs typeface="+mn-cs"/>
              </a:rPr>
              <a:t>が明らかになりました。</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そこで、</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学生が教員に会わずに</a:t>
            </a:r>
            <a:r>
              <a:rPr kumimoji="1" lang="ja-JP" altLang="en-US" sz="1200" kern="1200">
                <a:solidFill>
                  <a:schemeClr val="tx1"/>
                </a:solidFill>
                <a:effectLst/>
                <a:latin typeface="+mn-lt"/>
                <a:ea typeface="+mn-ea"/>
                <a:cs typeface="+mn-cs"/>
              </a:rPr>
              <a:t>自身もモバイルで学習でき</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24</a:t>
            </a:r>
            <a:r>
              <a:rPr kumimoji="1" lang="ja-JP" altLang="ja-JP" sz="1200" kern="1200">
                <a:solidFill>
                  <a:schemeClr val="tx1"/>
                </a:solidFill>
                <a:effectLst/>
                <a:latin typeface="+mn-lt"/>
                <a:ea typeface="+mn-ea"/>
                <a:cs typeface="+mn-cs"/>
              </a:rPr>
              <a:t>時間いつでも質問に対応でき、</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かつ、教員が学生の困りごとを把握できる</a:t>
            </a:r>
            <a:r>
              <a:rPr kumimoji="1" lang="ja-JP" altLang="en-US" sz="1200" kern="1200">
                <a:solidFill>
                  <a:schemeClr val="tx1"/>
                </a:solidFill>
                <a:effectLst/>
                <a:latin typeface="+mn-lt"/>
                <a:ea typeface="+mn-ea"/>
                <a:cs typeface="+mn-cs"/>
              </a:rPr>
              <a:t>学習支援ツールの</a:t>
            </a:r>
            <a:r>
              <a:rPr kumimoji="1" lang="ja-JP" altLang="ja-JP" sz="1200" kern="1200">
                <a:solidFill>
                  <a:schemeClr val="tx1"/>
                </a:solidFill>
                <a:effectLst/>
                <a:latin typeface="+mn-lt"/>
                <a:ea typeface="+mn-ea"/>
                <a:cs typeface="+mn-cs"/>
              </a:rPr>
              <a:t>作成を</a:t>
            </a:r>
            <a:r>
              <a:rPr kumimoji="1" lang="ja-JP" altLang="en-US" sz="1200" kern="1200">
                <a:solidFill>
                  <a:schemeClr val="tx1"/>
                </a:solidFill>
                <a:effectLst/>
                <a:latin typeface="+mn-lt"/>
                <a:ea typeface="+mn-ea"/>
                <a:cs typeface="+mn-cs"/>
              </a:rPr>
              <a:t>思いつきました。</a:t>
            </a:r>
            <a:endParaRPr kumimoji="1" lang="en-US" altLang="ja-JP" sz="1200" kern="1200" dirty="0">
              <a:solidFill>
                <a:schemeClr val="tx1"/>
              </a:solidFill>
              <a:effectLst/>
              <a:latin typeface="+mn-lt"/>
              <a:ea typeface="+mn-ea"/>
              <a:cs typeface="+mn-cs"/>
            </a:endParaRPr>
          </a:p>
          <a:p>
            <a:endParaRPr kumimoji="1" lang="ja-JP" altLang="en-US"/>
          </a:p>
        </p:txBody>
      </p:sp>
      <p:sp>
        <p:nvSpPr>
          <p:cNvPr id="4" name="スライド番号プレースホルダー 3">
            <a:extLst>
              <a:ext uri="{FF2B5EF4-FFF2-40B4-BE49-F238E27FC236}">
                <a16:creationId xmlns:a16="http://schemas.microsoft.com/office/drawing/2014/main" id="{255F5DCA-48ED-386D-7341-716BC7A3811C}"/>
              </a:ext>
            </a:extLst>
          </p:cNvPr>
          <p:cNvSpPr>
            <a:spLocks noGrp="1"/>
          </p:cNvSpPr>
          <p:nvPr>
            <p:ph type="sldNum" sz="quarter" idx="5"/>
          </p:nvPr>
        </p:nvSpPr>
        <p:spPr/>
        <p:txBody>
          <a:bodyPr/>
          <a:lstStyle/>
          <a:p>
            <a:fld id="{A56CB60D-A68C-D74B-8949-411CD6AAB588}" type="slidenum">
              <a:rPr kumimoji="1" lang="ja-JP" altLang="en-US" smtClean="0"/>
              <a:t>5</a:t>
            </a:fld>
            <a:endParaRPr kumimoji="1" lang="ja-JP" altLang="en-US"/>
          </a:p>
        </p:txBody>
      </p:sp>
    </p:spTree>
    <p:extLst>
      <p:ext uri="{BB962C8B-B14F-4D97-AF65-F5344CB8AC3E}">
        <p14:creationId xmlns:p14="http://schemas.microsoft.com/office/powerpoint/2010/main" val="3127976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それが「魔法の黒板」です。</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6</a:t>
            </a:fld>
            <a:endParaRPr kumimoji="1" lang="ja-JP" altLang="en-US"/>
          </a:p>
        </p:txBody>
      </p:sp>
    </p:spTree>
    <p:extLst>
      <p:ext uri="{BB962C8B-B14F-4D97-AF65-F5344CB8AC3E}">
        <p14:creationId xmlns:p14="http://schemas.microsoft.com/office/powerpoint/2010/main" val="557115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本研究の主目的は、「魔法の黒板」が学習成果に与える影響を明らかにすることです。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副次的目的としては、学習行動の変化と</a:t>
            </a:r>
            <a:r>
              <a:rPr kumimoji="1" lang="ja-JP" altLang="en-US" sz="1200" kern="1200">
                <a:solidFill>
                  <a:schemeClr val="tx1"/>
                </a:solidFill>
                <a:effectLst/>
                <a:latin typeface="+mn-lt"/>
                <a:ea typeface="+mn-ea"/>
                <a:cs typeface="+mn-cs"/>
              </a:rPr>
              <a:t>学生のつまずきポイントを可視化できる</a:t>
            </a:r>
            <a:r>
              <a:rPr kumimoji="1" lang="ja-JP" altLang="ja-JP" sz="1200" kern="1200">
                <a:solidFill>
                  <a:schemeClr val="tx1"/>
                </a:solidFill>
                <a:effectLst/>
                <a:latin typeface="+mn-lt"/>
                <a:ea typeface="+mn-ea"/>
                <a:cs typeface="+mn-cs"/>
              </a:rPr>
              <a:t>「つまずきの地図」作成です。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将来的には、他の専門科目や他大学への展開、専門領域における</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活用の知見</a:t>
            </a:r>
            <a:r>
              <a:rPr kumimoji="1" lang="ja-JP" altLang="en-US" sz="1200" kern="1200">
                <a:solidFill>
                  <a:schemeClr val="tx1"/>
                </a:solidFill>
                <a:effectLst/>
                <a:latin typeface="+mn-lt"/>
                <a:ea typeface="+mn-ea"/>
                <a:cs typeface="+mn-cs"/>
              </a:rPr>
              <a:t>の</a:t>
            </a:r>
            <a:r>
              <a:rPr kumimoji="1" lang="ja-JP" altLang="ja-JP" sz="1200" kern="1200">
                <a:solidFill>
                  <a:schemeClr val="tx1"/>
                </a:solidFill>
                <a:effectLst/>
                <a:latin typeface="+mn-lt"/>
                <a:ea typeface="+mn-ea"/>
                <a:cs typeface="+mn-cs"/>
              </a:rPr>
              <a:t>蓄積</a:t>
            </a:r>
            <a:r>
              <a:rPr kumimoji="1" lang="ja-JP" altLang="en-US" sz="1200" kern="1200">
                <a:solidFill>
                  <a:schemeClr val="tx1"/>
                </a:solidFill>
                <a:effectLst/>
                <a:latin typeface="+mn-lt"/>
                <a:ea typeface="+mn-ea"/>
                <a:cs typeface="+mn-cs"/>
              </a:rPr>
              <a:t>が可能となります</a:t>
            </a:r>
            <a:r>
              <a:rPr kumimoji="1" lang="ja-JP" altLang="ja-JP" sz="1200" kern="1200">
                <a:solidFill>
                  <a:schemeClr val="tx1"/>
                </a:solidFill>
                <a:effectLst/>
                <a:latin typeface="+mn-lt"/>
                <a:ea typeface="+mn-ea"/>
                <a:cs typeface="+mn-cs"/>
              </a:rPr>
              <a:t>。</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7</a:t>
            </a:fld>
            <a:endParaRPr kumimoji="1" lang="ja-JP" altLang="en-US"/>
          </a:p>
        </p:txBody>
      </p:sp>
    </p:spTree>
    <p:extLst>
      <p:ext uri="{BB962C8B-B14F-4D97-AF65-F5344CB8AC3E}">
        <p14:creationId xmlns:p14="http://schemas.microsoft.com/office/powerpoint/2010/main" val="1324670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ja-JP" sz="1200" kern="1200">
                <a:solidFill>
                  <a:schemeClr val="tx1"/>
                </a:solidFill>
                <a:effectLst/>
                <a:latin typeface="+mn-lt"/>
                <a:ea typeface="+mn-ea"/>
                <a:cs typeface="+mn-cs"/>
              </a:rPr>
              <a:t>新規性についてです。</a:t>
            </a:r>
          </a:p>
          <a:p>
            <a:r>
              <a:rPr kumimoji="1" lang="ja-JP" altLang="ja-JP" sz="1200" kern="1200">
                <a:solidFill>
                  <a:schemeClr val="tx1"/>
                </a:solidFill>
                <a:effectLst/>
                <a:latin typeface="+mn-lt"/>
                <a:ea typeface="+mn-ea"/>
                <a:cs typeface="+mn-cs"/>
              </a:rPr>
              <a:t>「魔法の黒板」は専門領域（薬学教育）に特化した生成系</a:t>
            </a:r>
            <a:r>
              <a:rPr kumimoji="1" lang="en-US" altLang="ja-JP" sz="1200" kern="1200" dirty="0">
                <a:solidFill>
                  <a:schemeClr val="tx1"/>
                </a:solidFill>
                <a:effectLst/>
                <a:latin typeface="+mn-lt"/>
                <a:ea typeface="+mn-ea"/>
                <a:cs typeface="+mn-cs"/>
              </a:rPr>
              <a:t>AI</a:t>
            </a:r>
            <a:r>
              <a:rPr kumimoji="1" lang="ja-JP" altLang="en-US" sz="1200" kern="1200">
                <a:solidFill>
                  <a:schemeClr val="tx1"/>
                </a:solidFill>
                <a:effectLst/>
                <a:latin typeface="+mn-lt"/>
                <a:ea typeface="+mn-ea"/>
                <a:cs typeface="+mn-cs"/>
              </a:rPr>
              <a:t>を用いた学習支援システム</a:t>
            </a:r>
            <a:r>
              <a:rPr kumimoji="1" lang="ja-JP" altLang="ja-JP" sz="1200" kern="1200">
                <a:solidFill>
                  <a:schemeClr val="tx1"/>
                </a:solidFill>
                <a:effectLst/>
                <a:latin typeface="+mn-lt"/>
                <a:ea typeface="+mn-ea"/>
                <a:cs typeface="+mn-cs"/>
              </a:rPr>
              <a:t>です。</a:t>
            </a:r>
          </a:p>
          <a:p>
            <a:r>
              <a:rPr kumimoji="1" lang="ja-JP" altLang="ja-JP" sz="1200" kern="1200">
                <a:solidFill>
                  <a:schemeClr val="tx1"/>
                </a:solidFill>
                <a:effectLst/>
                <a:latin typeface="+mn-lt"/>
                <a:ea typeface="+mn-ea"/>
                <a:cs typeface="+mn-cs"/>
              </a:rPr>
              <a:t>このシステムの体系的導入と実証研究は、国内外で先駆的な取り組みです。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学生はいつでも質問と練習問題作成を利用でき、</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教員は</a:t>
            </a:r>
            <a:r>
              <a:rPr kumimoji="1" lang="ja-JP" altLang="en-US" sz="1200" kern="1200">
                <a:solidFill>
                  <a:schemeClr val="tx1"/>
                </a:solidFill>
                <a:effectLst/>
                <a:latin typeface="+mn-lt"/>
                <a:ea typeface="+mn-ea"/>
                <a:cs typeface="+mn-cs"/>
              </a:rPr>
              <a:t>学習履歴を確認し、</a:t>
            </a:r>
            <a:r>
              <a:rPr kumimoji="1" lang="ja-JP" altLang="ja-JP" sz="1200" kern="1200">
                <a:solidFill>
                  <a:schemeClr val="tx1"/>
                </a:solidFill>
                <a:effectLst/>
                <a:latin typeface="+mn-lt"/>
                <a:ea typeface="+mn-ea"/>
                <a:cs typeface="+mn-cs"/>
              </a:rPr>
              <a:t>つまずき箇所の</a:t>
            </a:r>
            <a:r>
              <a:rPr kumimoji="1" lang="ja-JP" altLang="en-US" sz="1200" kern="1200">
                <a:solidFill>
                  <a:schemeClr val="tx1"/>
                </a:solidFill>
                <a:effectLst/>
                <a:latin typeface="+mn-lt"/>
                <a:ea typeface="+mn-ea"/>
                <a:cs typeface="+mn-cs"/>
              </a:rPr>
              <a:t>確認、学習の時系列分析をすることが</a:t>
            </a:r>
            <a:r>
              <a:rPr kumimoji="1" lang="ja-JP" altLang="ja-JP" sz="1200" kern="1200">
                <a:solidFill>
                  <a:schemeClr val="tx1"/>
                </a:solidFill>
                <a:effectLst/>
                <a:latin typeface="+mn-lt"/>
                <a:ea typeface="+mn-ea"/>
                <a:cs typeface="+mn-cs"/>
              </a:rPr>
              <a:t>可能</a:t>
            </a:r>
            <a:r>
              <a:rPr kumimoji="1" lang="ja-JP" altLang="en-US" sz="1200" kern="1200">
                <a:solidFill>
                  <a:schemeClr val="tx1"/>
                </a:solidFill>
                <a:effectLst/>
                <a:latin typeface="+mn-lt"/>
                <a:ea typeface="+mn-ea"/>
                <a:cs typeface="+mn-cs"/>
              </a:rPr>
              <a:t>となります</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学生の質問に対して、登録済みの知識ベースから関連情報を検索し、</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その内容をもとに生成系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が回答を作成する仕組みとなっております。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学生が</a:t>
            </a:r>
            <a:r>
              <a:rPr kumimoji="1" lang="en-US" altLang="ja-JP" sz="1200" kern="1200" dirty="0">
                <a:solidFill>
                  <a:schemeClr val="tx1"/>
                </a:solidFill>
                <a:effectLst/>
                <a:latin typeface="+mn-lt"/>
                <a:ea typeface="+mn-ea"/>
                <a:cs typeface="+mn-cs"/>
              </a:rPr>
              <a:t>24</a:t>
            </a:r>
            <a:r>
              <a:rPr kumimoji="1" lang="ja-JP" altLang="ja-JP" sz="1200" kern="1200">
                <a:solidFill>
                  <a:schemeClr val="tx1"/>
                </a:solidFill>
                <a:effectLst/>
                <a:latin typeface="+mn-lt"/>
                <a:ea typeface="+mn-ea"/>
                <a:cs typeface="+mn-cs"/>
              </a:rPr>
              <a:t>時間いつでも質問できること、学生のつまずきの地図を作成できること、</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それを時系列で分析できること、これらが本研究の独創性であり、新規</a:t>
            </a:r>
            <a:r>
              <a:rPr kumimoji="1" lang="ja-JP" altLang="en-US" sz="1200" kern="1200">
                <a:solidFill>
                  <a:schemeClr val="tx1"/>
                </a:solidFill>
                <a:effectLst/>
                <a:latin typeface="+mn-lt"/>
                <a:ea typeface="+mn-ea"/>
                <a:cs typeface="+mn-cs"/>
              </a:rPr>
              <a:t>性</a:t>
            </a:r>
            <a:r>
              <a:rPr kumimoji="1" lang="ja-JP" altLang="ja-JP" sz="1200" kern="1200">
                <a:solidFill>
                  <a:schemeClr val="tx1"/>
                </a:solidFill>
                <a:effectLst/>
                <a:latin typeface="+mn-lt"/>
                <a:ea typeface="+mn-ea"/>
                <a:cs typeface="+mn-cs"/>
              </a:rPr>
              <a:t>であります。</a:t>
            </a:r>
          </a:p>
          <a:p>
            <a:r>
              <a:rPr kumimoji="1" lang="en-US" altLang="ja-JP" sz="1200" kern="1200" dirty="0">
                <a:solidFill>
                  <a:schemeClr val="tx1"/>
                </a:solidFill>
                <a:effectLst/>
                <a:latin typeface="+mn-lt"/>
                <a:ea typeface="+mn-ea"/>
                <a:cs typeface="+mn-cs"/>
              </a:rPr>
              <a:t> </a:t>
            </a:r>
            <a:endParaRPr kumimoji="1" lang="ja-JP" altLang="ja-JP" sz="120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6335-7FD9-1DBA-745E-C5D00E6D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53CFF-A52D-0EA7-B7D8-E4F866C9AA84}"/>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E004111-564D-B423-8080-01BC89EB87C7}"/>
              </a:ext>
            </a:extLst>
          </p:cNvPr>
          <p:cNvSpPr>
            <a:spLocks noGrp="1"/>
          </p:cNvSpPr>
          <p:nvPr>
            <p:ph type="body" idx="1"/>
          </p:nvPr>
        </p:nvSpPr>
        <p:spPr/>
        <p:txBody>
          <a:bodyPr/>
          <a:lstStyle/>
          <a:p>
            <a:r>
              <a:rPr kumimoji="1" lang="ja-JP" altLang="ja-JP" sz="1200" b="0" kern="1200">
                <a:solidFill>
                  <a:schemeClr val="tx1"/>
                </a:solidFill>
                <a:effectLst/>
                <a:latin typeface="+mn-lt"/>
                <a:ea typeface="+mn-ea"/>
                <a:cs typeface="+mn-cs"/>
              </a:rPr>
              <a:t>こちらが学生の入力画面です。ここを押して、質問と練習問題作成を切り替えます。</a:t>
            </a:r>
            <a:endParaRPr kumimoji="1" lang="ja-JP" altLang="ja-JP" sz="1200" b="1" kern="1200">
              <a:solidFill>
                <a:schemeClr val="tx1"/>
              </a:solidFill>
              <a:effectLst/>
              <a:latin typeface="+mn-lt"/>
              <a:ea typeface="+mn-ea"/>
              <a:cs typeface="+mn-cs"/>
            </a:endParaRPr>
          </a:p>
          <a:p>
            <a:r>
              <a:rPr kumimoji="1" lang="ja-JP" altLang="ja-JP" sz="1200" b="0" kern="1200">
                <a:solidFill>
                  <a:schemeClr val="tx1"/>
                </a:solidFill>
                <a:effectLst/>
                <a:latin typeface="+mn-lt"/>
                <a:ea typeface="+mn-ea"/>
                <a:cs typeface="+mn-cs"/>
              </a:rPr>
              <a:t>こちらが、教員の確認画面です。</a:t>
            </a:r>
            <a:endParaRPr kumimoji="1" lang="ja-JP" altLang="ja-JP" sz="1200" b="1" kern="120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6384782A-4014-BC23-25DF-B2D6C501A73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04521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CE0A2-A2C1-029B-5F51-A9A8D4E78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CE72A-879E-0ACD-1176-7C9958348A7C}"/>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507CB2E-6EF4-E649-002D-0FD3FC566588}"/>
              </a:ext>
            </a:extLst>
          </p:cNvPr>
          <p:cNvSpPr>
            <a:spLocks noGrp="1"/>
          </p:cNvSpPr>
          <p:nvPr>
            <p:ph type="body" idx="1"/>
          </p:nvPr>
        </p:nvSpPr>
        <p:spPr/>
        <p:txBody>
          <a:bodyPr/>
          <a:lstStyle/>
          <a:p>
            <a:r>
              <a:rPr kumimoji="1" lang="ja-JP" altLang="en-US" sz="1200" b="0" kern="1200">
                <a:solidFill>
                  <a:schemeClr val="tx1"/>
                </a:solidFill>
                <a:effectLst/>
                <a:latin typeface="+mn-lt"/>
                <a:ea typeface="+mn-ea"/>
                <a:cs typeface="+mn-cs"/>
              </a:rPr>
              <a:t>例えば、</a:t>
            </a:r>
            <a:r>
              <a:rPr kumimoji="1" lang="ja-JP" altLang="ja-JP" sz="1200" b="0" kern="1200">
                <a:solidFill>
                  <a:schemeClr val="tx1"/>
                </a:solidFill>
                <a:effectLst/>
                <a:latin typeface="+mn-lt"/>
                <a:ea typeface="+mn-ea"/>
                <a:cs typeface="+mn-cs"/>
              </a:rPr>
              <a:t>こちらが</a:t>
            </a:r>
            <a:r>
              <a:rPr kumimoji="1" lang="ja-JP" altLang="en-US" sz="1200" b="0" kern="1200">
                <a:solidFill>
                  <a:schemeClr val="tx1"/>
                </a:solidFill>
                <a:effectLst/>
                <a:latin typeface="+mn-lt"/>
                <a:ea typeface="+mn-ea"/>
                <a:cs typeface="+mn-cs"/>
              </a:rPr>
              <a:t>つまずきの地図の例です。</a:t>
            </a:r>
            <a:endParaRPr kumimoji="1" lang="en-US" altLang="ja-JP" sz="1200" b="0" kern="1200" dirty="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質問のカテゴリー別にヒートマップ形式で「つまずきの地図」が作成されます。</a:t>
            </a:r>
            <a:endParaRPr kumimoji="1" lang="en-US" altLang="ja-JP"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A28A8D25-74F9-23DC-6780-F3E534A3E04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52228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82156-D565-EB4B-AB80-4B5AD8971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1E72E-8891-9BD5-E513-93E87598549C}"/>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BDF81E1-0116-38EC-7DA1-D29337C486F7}"/>
              </a:ext>
            </a:extLst>
          </p:cNvPr>
          <p:cNvSpPr>
            <a:spLocks noGrp="1"/>
          </p:cNvSpPr>
          <p:nvPr>
            <p:ph type="body" idx="1"/>
          </p:nvPr>
        </p:nvSpPr>
        <p:spPr/>
        <p:txBody>
          <a:bodyPr/>
          <a:lstStyle/>
          <a:p>
            <a:r>
              <a:rPr kumimoji="1" lang="ja-JP" altLang="ja-JP" sz="1200" kern="1200">
                <a:solidFill>
                  <a:schemeClr val="tx1"/>
                </a:solidFill>
                <a:effectLst/>
                <a:latin typeface="+mn-lt"/>
                <a:ea typeface="+mn-ea"/>
                <a:cs typeface="+mn-cs"/>
              </a:rPr>
              <a:t>研究成果の教育</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研究面への反映</a:t>
            </a:r>
            <a:r>
              <a:rPr kumimoji="1" lang="ja-JP" altLang="en-US" sz="1200" kern="1200">
                <a:solidFill>
                  <a:schemeClr val="tx1"/>
                </a:solidFill>
                <a:effectLst/>
                <a:latin typeface="+mn-lt"/>
                <a:ea typeface="+mn-ea"/>
                <a:cs typeface="+mn-cs"/>
              </a:rPr>
              <a:t>について</a:t>
            </a:r>
            <a:r>
              <a:rPr kumimoji="1" lang="ja-JP" altLang="ja-JP" sz="1200" kern="1200">
                <a:solidFill>
                  <a:schemeClr val="tx1"/>
                </a:solidFill>
                <a:effectLst/>
                <a:latin typeface="+mn-lt"/>
                <a:ea typeface="+mn-ea"/>
                <a:cs typeface="+mn-cs"/>
              </a:rPr>
              <a:t>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教育面では、学生の質問データを確認することで、「つまずきの地図」が自動的に生成されます</a:t>
            </a:r>
            <a:r>
              <a:rPr kumimoji="1" lang="ja-JP" altLang="en-US"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この情報を基に講義改善、個別指導への活用、演習問題設計が可能になります。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研究面では、</a:t>
            </a:r>
            <a:r>
              <a:rPr kumimoji="1" lang="ja-JP" altLang="en-US" sz="1200" kern="1200">
                <a:solidFill>
                  <a:schemeClr val="tx1"/>
                </a:solidFill>
                <a:effectLst/>
                <a:latin typeface="+mn-lt"/>
                <a:ea typeface="+mn-ea"/>
                <a:cs typeface="+mn-cs"/>
              </a:rPr>
              <a:t>体系的な実証実験を行うことで、</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活用のエビデンス構築、</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学習支援システムの設計指針</a:t>
            </a:r>
            <a:r>
              <a:rPr kumimoji="1" lang="ja-JP" altLang="en-US" sz="1200" kern="1200">
                <a:solidFill>
                  <a:schemeClr val="tx1"/>
                </a:solidFill>
                <a:effectLst/>
                <a:latin typeface="+mn-lt"/>
                <a:ea typeface="+mn-ea"/>
                <a:cs typeface="+mn-cs"/>
              </a:rPr>
              <a:t>の構築</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他科目・他大学への展開可能性</a:t>
            </a:r>
            <a:r>
              <a:rPr kumimoji="1" lang="ja-JP" altLang="en-US" sz="1200" kern="1200">
                <a:solidFill>
                  <a:schemeClr val="tx1"/>
                </a:solidFill>
                <a:effectLst/>
                <a:latin typeface="+mn-lt"/>
                <a:ea typeface="+mn-ea"/>
                <a:cs typeface="+mn-cs"/>
              </a:rPr>
              <a:t>が見込まれます。</a:t>
            </a:r>
            <a:endParaRPr kumimoji="1" lang="ja-JP" altLang="ja-JP" sz="1200" kern="120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47E4DED9-BEB6-C750-AC86-A2C4C24C2AF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107344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617F6-71B1-DB0D-1260-5E73527EF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2F062-A6D0-00B0-5424-7856F599C5A1}"/>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086A275-F50B-F354-581F-790F6ADB8714}"/>
              </a:ext>
            </a:extLst>
          </p:cNvPr>
          <p:cNvSpPr>
            <a:spLocks noGrp="1"/>
          </p:cNvSpPr>
          <p:nvPr>
            <p:ph type="body" idx="1"/>
          </p:nvPr>
        </p:nvSpPr>
        <p:spPr/>
        <p:txBody>
          <a:bodyPr/>
          <a:lstStyle/>
          <a:p>
            <a:r>
              <a:rPr kumimoji="1" lang="ja-JP" altLang="en-US" sz="1200" kern="1200">
                <a:solidFill>
                  <a:schemeClr val="tx1"/>
                </a:solidFill>
                <a:effectLst/>
                <a:latin typeface="+mn-lt"/>
                <a:ea typeface="+mn-ea"/>
                <a:cs typeface="+mn-cs"/>
              </a:rPr>
              <a:t>年次計画の妥当性について。</a:t>
            </a:r>
            <a:r>
              <a:rPr kumimoji="1" lang="ja-JP" altLang="ja-JP" sz="1200" kern="1200">
                <a:solidFill>
                  <a:schemeClr val="tx1"/>
                </a:solidFill>
                <a:effectLst/>
                <a:latin typeface="+mn-lt"/>
                <a:ea typeface="+mn-ea"/>
                <a:cs typeface="+mn-cs"/>
              </a:rPr>
              <a:t>研究の実施スケジュールです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4-5</a:t>
            </a:r>
            <a:r>
              <a:rPr kumimoji="1" lang="ja-JP" altLang="ja-JP" sz="1200" kern="1200">
                <a:solidFill>
                  <a:schemeClr val="tx1"/>
                </a:solidFill>
                <a:effectLst/>
                <a:latin typeface="+mn-lt"/>
                <a:ea typeface="+mn-ea"/>
                <a:cs typeface="+mn-cs"/>
              </a:rPr>
              <a:t>月は、研究基盤の整理として安定稼働の確認を行います、</a:t>
            </a:r>
            <a:r>
              <a:rPr kumimoji="1" lang="ja-JP" altLang="en-US" sz="1200" kern="1200">
                <a:solidFill>
                  <a:schemeClr val="tx1"/>
                </a:solidFill>
                <a:effectLst/>
                <a:latin typeface="+mn-lt"/>
                <a:ea typeface="+mn-ea"/>
                <a:cs typeface="+mn-cs"/>
              </a:rPr>
              <a:t>そして、</a:t>
            </a:r>
            <a:r>
              <a:rPr kumimoji="1" lang="ja-JP" altLang="ja-JP" sz="1200" kern="1200">
                <a:solidFill>
                  <a:schemeClr val="tx1"/>
                </a:solidFill>
                <a:effectLst/>
                <a:latin typeface="+mn-lt"/>
                <a:ea typeface="+mn-ea"/>
                <a:cs typeface="+mn-cs"/>
              </a:rPr>
              <a:t>倫理審査承認取得</a:t>
            </a:r>
            <a:r>
              <a:rPr kumimoji="1" lang="ja-JP" altLang="en-US" sz="1200" kern="1200">
                <a:solidFill>
                  <a:schemeClr val="tx1"/>
                </a:solidFill>
                <a:effectLst/>
                <a:latin typeface="+mn-lt"/>
                <a:ea typeface="+mn-ea"/>
                <a:cs typeface="+mn-cs"/>
              </a:rPr>
              <a:t>します</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 6-8</a:t>
            </a:r>
            <a:r>
              <a:rPr kumimoji="1" lang="ja-JP" altLang="ja-JP" sz="1200" kern="1200">
                <a:solidFill>
                  <a:schemeClr val="tx1"/>
                </a:solidFill>
                <a:effectLst/>
                <a:latin typeface="+mn-lt"/>
                <a:ea typeface="+mn-ea"/>
                <a:cs typeface="+mn-cs"/>
              </a:rPr>
              <a:t>月は、</a:t>
            </a:r>
            <a:r>
              <a:rPr kumimoji="1" lang="ja-JP" altLang="en-US" sz="1200" kern="1200">
                <a:solidFill>
                  <a:schemeClr val="tx1"/>
                </a:solidFill>
                <a:effectLst/>
                <a:latin typeface="+mn-lt"/>
                <a:ea typeface="+mn-ea"/>
                <a:cs typeface="+mn-cs"/>
              </a:rPr>
              <a:t>履修済み学生を対象に運用し、</a:t>
            </a:r>
            <a:r>
              <a:rPr kumimoji="1" lang="ja-JP" altLang="ja-JP" sz="1200" kern="1200">
                <a:solidFill>
                  <a:schemeClr val="tx1"/>
                </a:solidFill>
                <a:effectLst/>
                <a:latin typeface="+mn-lt"/>
                <a:ea typeface="+mn-ea"/>
                <a:cs typeface="+mn-cs"/>
              </a:rPr>
              <a:t>機能</a:t>
            </a:r>
            <a:r>
              <a:rPr kumimoji="1" lang="ja-JP" altLang="en-US" sz="1200" kern="1200">
                <a:solidFill>
                  <a:schemeClr val="tx1"/>
                </a:solidFill>
                <a:effectLst/>
                <a:latin typeface="+mn-lt"/>
                <a:ea typeface="+mn-ea"/>
                <a:cs typeface="+mn-cs"/>
              </a:rPr>
              <a:t>を</a:t>
            </a:r>
            <a:r>
              <a:rPr kumimoji="1" lang="ja-JP" altLang="ja-JP" sz="1200" kern="1200">
                <a:solidFill>
                  <a:schemeClr val="tx1"/>
                </a:solidFill>
                <a:effectLst/>
                <a:latin typeface="+mn-lt"/>
                <a:ea typeface="+mn-ea"/>
                <a:cs typeface="+mn-cs"/>
              </a:rPr>
              <a:t>改善</a:t>
            </a:r>
            <a:r>
              <a:rPr kumimoji="1" lang="ja-JP" altLang="en-US" sz="1200" kern="1200">
                <a:solidFill>
                  <a:schemeClr val="tx1"/>
                </a:solidFill>
                <a:effectLst/>
                <a:latin typeface="+mn-lt"/>
                <a:ea typeface="+mn-ea"/>
                <a:cs typeface="+mn-cs"/>
              </a:rPr>
              <a:t>ます。そして</a:t>
            </a:r>
            <a:r>
              <a:rPr kumimoji="1" lang="ja-JP" altLang="ja-JP" sz="1200" kern="1200">
                <a:solidFill>
                  <a:schemeClr val="tx1"/>
                </a:solidFill>
                <a:effectLst/>
                <a:latin typeface="+mn-lt"/>
                <a:ea typeface="+mn-ea"/>
                <a:cs typeface="+mn-cs"/>
              </a:rPr>
              <a:t>研究データの取得可能性を確認します。</a:t>
            </a:r>
          </a:p>
          <a:p>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 9</a:t>
            </a:r>
            <a:r>
              <a:rPr kumimoji="1" lang="ja-JP" altLang="ja-JP" sz="1200" kern="1200">
                <a:solidFill>
                  <a:schemeClr val="tx1"/>
                </a:solidFill>
                <a:effectLst/>
                <a:latin typeface="+mn-lt"/>
                <a:ea typeface="+mn-ea"/>
                <a:cs typeface="+mn-cs"/>
              </a:rPr>
              <a:t>月に</a:t>
            </a:r>
            <a:r>
              <a:rPr kumimoji="1" lang="ja-JP" altLang="en-US" sz="1200" kern="1200">
                <a:solidFill>
                  <a:schemeClr val="tx1"/>
                </a:solidFill>
                <a:effectLst/>
                <a:latin typeface="+mn-lt"/>
                <a:ea typeface="+mn-ea"/>
                <a:cs typeface="+mn-cs"/>
              </a:rPr>
              <a:t>は、少数の学生を対象に</a:t>
            </a:r>
            <a:r>
              <a:rPr kumimoji="1" lang="ja-JP" altLang="ja-JP" sz="1200" kern="1200">
                <a:solidFill>
                  <a:schemeClr val="tx1"/>
                </a:solidFill>
                <a:effectLst/>
                <a:latin typeface="+mn-lt"/>
                <a:ea typeface="+mn-ea"/>
                <a:cs typeface="+mn-cs"/>
              </a:rPr>
              <a:t>プレ実証実験し、本番に向けた課題を改善します。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そして</a:t>
            </a:r>
            <a:r>
              <a:rPr kumimoji="1" lang="en-US" altLang="ja-JP" sz="1200" kern="1200" dirty="0">
                <a:solidFill>
                  <a:schemeClr val="tx1"/>
                </a:solidFill>
                <a:effectLst/>
                <a:latin typeface="+mn-lt"/>
                <a:ea typeface="+mn-ea"/>
                <a:cs typeface="+mn-cs"/>
              </a:rPr>
              <a:t> 10-12</a:t>
            </a:r>
            <a:r>
              <a:rPr kumimoji="1" lang="ja-JP" altLang="ja-JP" sz="1200" kern="1200">
                <a:solidFill>
                  <a:schemeClr val="tx1"/>
                </a:solidFill>
                <a:effectLst/>
                <a:latin typeface="+mn-lt"/>
                <a:ea typeface="+mn-ea"/>
                <a:cs typeface="+mn-cs"/>
              </a:rPr>
              <a:t>月より、「魔法の黒板」を本格導入し、</a:t>
            </a:r>
            <a:r>
              <a:rPr kumimoji="1" lang="ja-JP" altLang="en-US" sz="1200" kern="1200">
                <a:solidFill>
                  <a:schemeClr val="tx1"/>
                </a:solidFill>
                <a:effectLst/>
                <a:latin typeface="+mn-lt"/>
                <a:ea typeface="+mn-ea"/>
                <a:cs typeface="+mn-cs"/>
              </a:rPr>
              <a:t>科目対象者全員</a:t>
            </a:r>
            <a:r>
              <a:rPr kumimoji="1" lang="ja-JP" altLang="ja-JP" sz="1200" kern="1200">
                <a:solidFill>
                  <a:schemeClr val="tx1"/>
                </a:solidFill>
                <a:effectLst/>
                <a:latin typeface="+mn-lt"/>
                <a:ea typeface="+mn-ea"/>
                <a:cs typeface="+mn-cs"/>
              </a:rPr>
              <a:t>で本実証実験を行い、研究のデータ収集を行います。</a:t>
            </a:r>
          </a:p>
          <a:p>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 1</a:t>
            </a:r>
            <a:r>
              <a:rPr kumimoji="1" lang="ja-JP" altLang="ja-JP" sz="1200" kern="1200">
                <a:solidFill>
                  <a:schemeClr val="tx1"/>
                </a:solidFill>
                <a:effectLst/>
                <a:latin typeface="+mn-lt"/>
                <a:ea typeface="+mn-ea"/>
                <a:cs typeface="+mn-cs"/>
              </a:rPr>
              <a:t>月以降で、これまでのデータ分析をした後、成果</a:t>
            </a:r>
            <a:r>
              <a:rPr kumimoji="1" lang="ja-JP" altLang="en-US" sz="1200" kern="1200">
                <a:solidFill>
                  <a:schemeClr val="tx1"/>
                </a:solidFill>
                <a:effectLst/>
                <a:latin typeface="+mn-lt"/>
                <a:ea typeface="+mn-ea"/>
                <a:cs typeface="+mn-cs"/>
              </a:rPr>
              <a:t>の</a:t>
            </a:r>
            <a:r>
              <a:rPr kumimoji="1" lang="ja-JP" altLang="ja-JP" sz="1200" kern="1200">
                <a:solidFill>
                  <a:schemeClr val="tx1"/>
                </a:solidFill>
                <a:effectLst/>
                <a:latin typeface="+mn-lt"/>
                <a:ea typeface="+mn-ea"/>
                <a:cs typeface="+mn-cs"/>
              </a:rPr>
              <a:t>発表を行います。</a:t>
            </a:r>
          </a:p>
          <a:p>
            <a:endParaRPr lang="en-US" dirty="0"/>
          </a:p>
        </p:txBody>
      </p:sp>
      <p:sp>
        <p:nvSpPr>
          <p:cNvPr id="4" name="Slide Number Placeholder 3">
            <a:extLst>
              <a:ext uri="{FF2B5EF4-FFF2-40B4-BE49-F238E27FC236}">
                <a16:creationId xmlns:a16="http://schemas.microsoft.com/office/drawing/2014/main" id="{FB6357F8-2089-6704-513B-B5888C713FF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58884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ja-JP" sz="1200" kern="1200">
                <a:solidFill>
                  <a:schemeClr val="tx1"/>
                </a:solidFill>
                <a:effectLst/>
                <a:latin typeface="+mn-lt"/>
                <a:ea typeface="+mn-ea"/>
                <a:cs typeface="+mn-cs"/>
              </a:rPr>
              <a:t>経費</a:t>
            </a:r>
            <a:r>
              <a:rPr kumimoji="1" lang="ja-JP" altLang="en-US" sz="1200" kern="1200">
                <a:solidFill>
                  <a:schemeClr val="tx1"/>
                </a:solidFill>
                <a:effectLst/>
                <a:latin typeface="+mn-lt"/>
                <a:ea typeface="+mn-ea"/>
                <a:cs typeface="+mn-cs"/>
              </a:rPr>
              <a:t>の妥当性</a:t>
            </a:r>
            <a:r>
              <a:rPr kumimoji="1" lang="ja-JP" altLang="ja-JP" sz="1200" kern="1200">
                <a:solidFill>
                  <a:schemeClr val="tx1"/>
                </a:solidFill>
                <a:effectLst/>
                <a:latin typeface="+mn-lt"/>
                <a:ea typeface="+mn-ea"/>
                <a:cs typeface="+mn-cs"/>
              </a:rPr>
              <a:t>について、</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開発、動作確認、データ保管用のパソコンを購入します（機器備品費</a:t>
            </a:r>
            <a:r>
              <a:rPr kumimoji="1" lang="en-US" altLang="ja-JP" sz="1200" kern="1200" dirty="0">
                <a:solidFill>
                  <a:schemeClr val="tx1"/>
                </a:solidFill>
                <a:effectLst/>
                <a:latin typeface="+mn-lt"/>
                <a:ea typeface="+mn-ea"/>
                <a:cs typeface="+mn-cs"/>
              </a:rPr>
              <a:t>29</a:t>
            </a:r>
            <a:r>
              <a:rPr kumimoji="1" lang="ja-JP" altLang="ja-JP" sz="1200" kern="1200">
                <a:solidFill>
                  <a:schemeClr val="tx1"/>
                </a:solidFill>
                <a:effectLst/>
                <a:latin typeface="+mn-lt"/>
                <a:ea typeface="+mn-ea"/>
                <a:cs typeface="+mn-cs"/>
              </a:rPr>
              <a:t>万円）。</a:t>
            </a:r>
          </a:p>
          <a:p>
            <a:r>
              <a:rPr kumimoji="1" lang="ja-JP" altLang="ja-JP" sz="1200" kern="1200">
                <a:solidFill>
                  <a:schemeClr val="tx1"/>
                </a:solidFill>
                <a:effectLst/>
                <a:latin typeface="+mn-lt"/>
                <a:ea typeface="+mn-ea"/>
                <a:cs typeface="+mn-cs"/>
              </a:rPr>
              <a:t>消耗品</a:t>
            </a:r>
            <a:r>
              <a:rPr kumimoji="1" lang="ja-JP" altLang="en-US" sz="1200" kern="1200">
                <a:solidFill>
                  <a:schemeClr val="tx1"/>
                </a:solidFill>
                <a:effectLst/>
                <a:latin typeface="+mn-lt"/>
                <a:ea typeface="+mn-ea"/>
                <a:cs typeface="+mn-cs"/>
              </a:rPr>
              <a:t>、運用費として</a:t>
            </a:r>
            <a:r>
              <a:rPr kumimoji="1" lang="ja-JP" altLang="ja-JP" sz="1200" kern="1200">
                <a:solidFill>
                  <a:schemeClr val="tx1"/>
                </a:solidFill>
                <a:effectLst/>
                <a:latin typeface="+mn-lt"/>
                <a:ea typeface="+mn-ea"/>
                <a:cs typeface="+mn-cs"/>
              </a:rPr>
              <a:t>、生成系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使用料及、</a:t>
            </a:r>
            <a:r>
              <a:rPr kumimoji="1" lang="en-US" altLang="ja-JP" sz="1200" kern="1200" dirty="0">
                <a:solidFill>
                  <a:schemeClr val="tx1"/>
                </a:solidFill>
                <a:effectLst/>
                <a:latin typeface="+mn-lt"/>
                <a:ea typeface="+mn-ea"/>
                <a:cs typeface="+mn-cs"/>
              </a:rPr>
              <a:t>API</a:t>
            </a:r>
            <a:r>
              <a:rPr kumimoji="1" lang="ja-JP" altLang="ja-JP" sz="1200" kern="1200">
                <a:solidFill>
                  <a:schemeClr val="tx1"/>
                </a:solidFill>
                <a:effectLst/>
                <a:latin typeface="+mn-lt"/>
                <a:ea typeface="+mn-ea"/>
                <a:cs typeface="+mn-cs"/>
              </a:rPr>
              <a:t>使用量に充当します（</a:t>
            </a:r>
            <a:r>
              <a:rPr kumimoji="1" lang="en-US" altLang="ja-JP" sz="1200" kern="1200" dirty="0">
                <a:solidFill>
                  <a:schemeClr val="tx1"/>
                </a:solidFill>
                <a:effectLst/>
                <a:latin typeface="+mn-lt"/>
                <a:ea typeface="+mn-ea"/>
                <a:cs typeface="+mn-cs"/>
              </a:rPr>
              <a:t>11</a:t>
            </a:r>
            <a:r>
              <a:rPr kumimoji="1" lang="ja-JP" altLang="ja-JP" sz="1200" kern="1200">
                <a:solidFill>
                  <a:schemeClr val="tx1"/>
                </a:solidFill>
                <a:effectLst/>
                <a:latin typeface="+mn-lt"/>
                <a:ea typeface="+mn-ea"/>
                <a:cs typeface="+mn-cs"/>
              </a:rPr>
              <a:t>万円）</a:t>
            </a:r>
          </a:p>
          <a:p>
            <a:r>
              <a:rPr kumimoji="1" lang="ja-JP" altLang="ja-JP" sz="1200" kern="1200">
                <a:solidFill>
                  <a:schemeClr val="tx1"/>
                </a:solidFill>
                <a:effectLst/>
                <a:latin typeface="+mn-lt"/>
                <a:ea typeface="+mn-ea"/>
                <a:cs typeface="+mn-cs"/>
              </a:rPr>
              <a:t>情報収集としての図書の購入（</a:t>
            </a:r>
            <a:r>
              <a:rPr kumimoji="1" lang="en-US" altLang="ja-JP" sz="1200" kern="1200" dirty="0">
                <a:solidFill>
                  <a:schemeClr val="tx1"/>
                </a:solidFill>
                <a:effectLst/>
                <a:latin typeface="+mn-lt"/>
                <a:ea typeface="+mn-ea"/>
                <a:cs typeface="+mn-cs"/>
              </a:rPr>
              <a:t>2</a:t>
            </a:r>
            <a:r>
              <a:rPr kumimoji="1" lang="ja-JP" altLang="ja-JP" sz="1200" kern="1200">
                <a:solidFill>
                  <a:schemeClr val="tx1"/>
                </a:solidFill>
                <a:effectLst/>
                <a:latin typeface="+mn-lt"/>
                <a:ea typeface="+mn-ea"/>
                <a:cs typeface="+mn-cs"/>
              </a:rPr>
              <a:t>万円）、</a:t>
            </a:r>
          </a:p>
          <a:p>
            <a:r>
              <a:rPr kumimoji="1" lang="ja-JP" altLang="ja-JP" sz="1200" kern="1200">
                <a:solidFill>
                  <a:schemeClr val="tx1"/>
                </a:solidFill>
                <a:effectLst/>
                <a:latin typeface="+mn-lt"/>
                <a:ea typeface="+mn-ea"/>
                <a:cs typeface="+mn-cs"/>
              </a:rPr>
              <a:t>成果</a:t>
            </a:r>
            <a:r>
              <a:rPr kumimoji="1" lang="ja-JP" altLang="en-US" sz="1200" kern="1200">
                <a:solidFill>
                  <a:schemeClr val="tx1"/>
                </a:solidFill>
                <a:effectLst/>
                <a:latin typeface="+mn-lt"/>
                <a:ea typeface="+mn-ea"/>
                <a:cs typeface="+mn-cs"/>
              </a:rPr>
              <a:t>の学会</a:t>
            </a:r>
            <a:r>
              <a:rPr kumimoji="1" lang="ja-JP" altLang="ja-JP" sz="1200" kern="1200">
                <a:solidFill>
                  <a:schemeClr val="tx1"/>
                </a:solidFill>
                <a:effectLst/>
                <a:latin typeface="+mn-lt"/>
                <a:ea typeface="+mn-ea"/>
                <a:cs typeface="+mn-cs"/>
              </a:rPr>
              <a:t>発表</a:t>
            </a:r>
            <a:r>
              <a:rPr kumimoji="1" lang="ja-JP" altLang="en-US" sz="1200" kern="1200">
                <a:solidFill>
                  <a:schemeClr val="tx1"/>
                </a:solidFill>
                <a:effectLst/>
                <a:latin typeface="+mn-lt"/>
                <a:ea typeface="+mn-ea"/>
                <a:cs typeface="+mn-cs"/>
              </a:rPr>
              <a:t>として</a:t>
            </a:r>
            <a:r>
              <a:rPr kumimoji="1" lang="ja-JP" altLang="ja-JP" sz="1200" kern="1200">
                <a:solidFill>
                  <a:schemeClr val="tx1"/>
                </a:solidFill>
                <a:effectLst/>
                <a:latin typeface="+mn-lt"/>
                <a:ea typeface="+mn-ea"/>
                <a:cs typeface="+mn-cs"/>
              </a:rPr>
              <a:t>旅費</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8</a:t>
            </a:r>
            <a:r>
              <a:rPr kumimoji="1" lang="ja-JP" altLang="ja-JP" sz="1200" kern="1200">
                <a:solidFill>
                  <a:schemeClr val="tx1"/>
                </a:solidFill>
                <a:effectLst/>
                <a:latin typeface="+mn-lt"/>
                <a:ea typeface="+mn-ea"/>
                <a:cs typeface="+mn-cs"/>
              </a:rPr>
              <a:t>万円</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最終成果物として</a:t>
            </a:r>
            <a:r>
              <a:rPr kumimoji="1" lang="ja-JP" altLang="ja-JP" sz="1200" kern="1200">
                <a:solidFill>
                  <a:schemeClr val="tx1"/>
                </a:solidFill>
                <a:effectLst/>
                <a:latin typeface="+mn-lt"/>
                <a:ea typeface="+mn-ea"/>
                <a:cs typeface="+mn-cs"/>
              </a:rPr>
              <a:t>英語論文</a:t>
            </a:r>
            <a:r>
              <a:rPr kumimoji="1" lang="ja-JP" altLang="en-US" sz="1200" kern="1200">
                <a:solidFill>
                  <a:schemeClr val="tx1"/>
                </a:solidFill>
                <a:effectLst/>
                <a:latin typeface="+mn-lt"/>
                <a:ea typeface="+mn-ea"/>
                <a:cs typeface="+mn-cs"/>
              </a:rPr>
              <a:t>作成・</a:t>
            </a:r>
            <a:r>
              <a:rPr kumimoji="1" lang="ja-JP" altLang="ja-JP" sz="1200" kern="1200">
                <a:solidFill>
                  <a:schemeClr val="tx1"/>
                </a:solidFill>
                <a:effectLst/>
                <a:latin typeface="+mn-lt"/>
                <a:ea typeface="+mn-ea"/>
                <a:cs typeface="+mn-cs"/>
              </a:rPr>
              <a:t>投稿料</a:t>
            </a:r>
            <a:r>
              <a:rPr kumimoji="1" lang="ja-JP" altLang="en-US" sz="1200" kern="1200">
                <a:solidFill>
                  <a:schemeClr val="tx1"/>
                </a:solidFill>
                <a:effectLst/>
                <a:latin typeface="+mn-lt"/>
                <a:ea typeface="+mn-ea"/>
                <a:cs typeface="+mn-cs"/>
              </a:rPr>
              <a:t>を</a:t>
            </a:r>
            <a:r>
              <a:rPr kumimoji="1" lang="ja-JP" altLang="ja-JP" sz="1200" kern="1200">
                <a:solidFill>
                  <a:schemeClr val="tx1"/>
                </a:solidFill>
                <a:effectLst/>
                <a:latin typeface="+mn-lt"/>
                <a:ea typeface="+mn-ea"/>
                <a:cs typeface="+mn-cs"/>
              </a:rPr>
              <a:t>計画しております。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a:solidFill>
                  <a:schemeClr val="tx1"/>
                </a:solidFill>
                <a:effectLst/>
                <a:latin typeface="+mn-lt"/>
                <a:ea typeface="+mn-ea"/>
                <a:cs typeface="+mn-cs"/>
              </a:rPr>
              <a:t>従来の研究成績です。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過去</a:t>
            </a:r>
            <a:r>
              <a:rPr kumimoji="1" lang="en-US" altLang="ja-JP" sz="1200" kern="1200" dirty="0">
                <a:solidFill>
                  <a:schemeClr val="tx1"/>
                </a:solidFill>
                <a:effectLst/>
                <a:latin typeface="+mn-lt"/>
                <a:ea typeface="+mn-ea"/>
                <a:cs typeface="+mn-cs"/>
              </a:rPr>
              <a:t>3</a:t>
            </a:r>
            <a:r>
              <a:rPr kumimoji="1" lang="ja-JP" altLang="en-US" sz="1200" kern="1200">
                <a:solidFill>
                  <a:schemeClr val="tx1"/>
                </a:solidFill>
                <a:effectLst/>
                <a:latin typeface="+mn-lt"/>
                <a:ea typeface="+mn-ea"/>
                <a:cs typeface="+mn-cs"/>
              </a:rPr>
              <a:t>年で</a:t>
            </a:r>
            <a:r>
              <a:rPr kumimoji="1" lang="ja-JP" altLang="ja-JP" sz="1200" kern="1200">
                <a:solidFill>
                  <a:schemeClr val="tx1"/>
                </a:solidFill>
                <a:effectLst/>
                <a:latin typeface="+mn-lt"/>
                <a:ea typeface="+mn-ea"/>
                <a:cs typeface="+mn-cs"/>
              </a:rPr>
              <a:t>査読付き原著論文</a:t>
            </a:r>
            <a:r>
              <a:rPr kumimoji="1" lang="en-US" altLang="ja-JP" sz="1200" kern="1200" dirty="0">
                <a:solidFill>
                  <a:schemeClr val="tx1"/>
                </a:solidFill>
                <a:effectLst/>
                <a:latin typeface="+mn-lt"/>
                <a:ea typeface="+mn-ea"/>
                <a:cs typeface="+mn-cs"/>
              </a:rPr>
              <a:t>4</a:t>
            </a:r>
            <a:r>
              <a:rPr kumimoji="1" lang="ja-JP" altLang="ja-JP" sz="1200" kern="1200">
                <a:solidFill>
                  <a:schemeClr val="tx1"/>
                </a:solidFill>
                <a:effectLst/>
                <a:latin typeface="+mn-lt"/>
                <a:ea typeface="+mn-ea"/>
                <a:cs typeface="+mn-cs"/>
              </a:rPr>
              <a:t>編を発表しています。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医薬品</a:t>
            </a:r>
            <a:r>
              <a:rPr kumimoji="1" lang="ja-JP" altLang="en-US" sz="1200" kern="1200">
                <a:solidFill>
                  <a:schemeClr val="tx1"/>
                </a:solidFill>
                <a:effectLst/>
                <a:latin typeface="+mn-lt"/>
                <a:ea typeface="+mn-ea"/>
                <a:cs typeface="+mn-cs"/>
              </a:rPr>
              <a:t>の有害事象に関する</a:t>
            </a:r>
            <a:r>
              <a:rPr kumimoji="1" lang="ja-JP" altLang="ja-JP" sz="1200" kern="1200">
                <a:solidFill>
                  <a:schemeClr val="tx1"/>
                </a:solidFill>
                <a:effectLst/>
                <a:latin typeface="+mn-lt"/>
                <a:ea typeface="+mn-ea"/>
                <a:cs typeface="+mn-cs"/>
              </a:rPr>
              <a:t>ビッグデータ解析</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β</a:t>
            </a:r>
            <a:r>
              <a:rPr kumimoji="1" lang="ja-JP" altLang="en-US" sz="1200" kern="1200">
                <a:solidFill>
                  <a:schemeClr val="tx1"/>
                </a:solidFill>
                <a:effectLst/>
                <a:latin typeface="+mn-lt"/>
                <a:ea typeface="+mn-ea"/>
                <a:cs typeface="+mn-cs"/>
              </a:rPr>
              <a:t>遮断薬とせん妄との関連</a:t>
            </a:r>
            <a:r>
              <a:rPr kumimoji="1" lang="ja-JP" altLang="ja-JP" sz="1200" kern="1200">
                <a:solidFill>
                  <a:schemeClr val="tx1"/>
                </a:solidFill>
                <a:effectLst/>
                <a:latin typeface="+mn-lt"/>
                <a:ea typeface="+mn-ea"/>
                <a:cs typeface="+mn-cs"/>
              </a:rPr>
              <a:t>が１報、</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残遺不眠症患者におけるに</a:t>
            </a:r>
            <a:r>
              <a:rPr kumimoji="1" lang="ja-JP" altLang="en-US" sz="1200" kern="1200">
                <a:solidFill>
                  <a:schemeClr val="tx1"/>
                </a:solidFill>
                <a:effectLst/>
                <a:latin typeface="+mn-lt"/>
                <a:ea typeface="+mn-ea"/>
                <a:cs typeface="+mn-cs"/>
              </a:rPr>
              <a:t>非</a:t>
            </a:r>
            <a:r>
              <a:rPr kumimoji="1" lang="ja-JP" altLang="ja-JP" sz="1200" kern="1200">
                <a:solidFill>
                  <a:schemeClr val="tx1"/>
                </a:solidFill>
                <a:effectLst/>
                <a:latin typeface="+mn-lt"/>
                <a:ea typeface="+mn-ea"/>
                <a:cs typeface="+mn-cs"/>
              </a:rPr>
              <a:t>機能的認知</a:t>
            </a:r>
            <a:r>
              <a:rPr kumimoji="1" lang="ja-JP" altLang="en-US" sz="1200" kern="1200">
                <a:solidFill>
                  <a:schemeClr val="tx1"/>
                </a:solidFill>
                <a:effectLst/>
                <a:latin typeface="+mn-lt"/>
                <a:ea typeface="+mn-ea"/>
                <a:cs typeface="+mn-cs"/>
              </a:rPr>
              <a:t>に関する調査</a:t>
            </a:r>
            <a:r>
              <a:rPr kumimoji="1" lang="ja-JP" altLang="ja-JP" sz="1200" kern="1200">
                <a:solidFill>
                  <a:schemeClr val="tx1"/>
                </a:solidFill>
                <a:effectLst/>
                <a:latin typeface="+mn-lt"/>
                <a:ea typeface="+mn-ea"/>
                <a:cs typeface="+mn-cs"/>
              </a:rPr>
              <a:t>が１報、</a:t>
            </a: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薬学部の技能系実習を促進させる</a:t>
            </a:r>
            <a:r>
              <a:rPr kumimoji="1" lang="ja-JP" altLang="ja-JP" sz="1200" kern="1200">
                <a:solidFill>
                  <a:schemeClr val="tx1"/>
                </a:solidFill>
                <a:effectLst/>
                <a:latin typeface="+mn-lt"/>
                <a:ea typeface="+mn-ea"/>
                <a:cs typeface="+mn-cs"/>
              </a:rPr>
              <a:t>教育ツール</a:t>
            </a:r>
            <a:r>
              <a:rPr kumimoji="1" lang="ja-JP" altLang="en-US" sz="1200" kern="1200">
                <a:solidFill>
                  <a:schemeClr val="tx1"/>
                </a:solidFill>
                <a:effectLst/>
                <a:latin typeface="+mn-lt"/>
                <a:ea typeface="+mn-ea"/>
                <a:cs typeface="+mn-cs"/>
              </a:rPr>
              <a:t>バーチャルリアリティーのの</a:t>
            </a:r>
            <a:r>
              <a:rPr kumimoji="1" lang="ja-JP" altLang="ja-JP" sz="1200" kern="1200">
                <a:solidFill>
                  <a:schemeClr val="tx1"/>
                </a:solidFill>
                <a:effectLst/>
                <a:latin typeface="+mn-lt"/>
                <a:ea typeface="+mn-ea"/>
                <a:cs typeface="+mn-cs"/>
              </a:rPr>
              <a:t>開発</a:t>
            </a:r>
            <a:r>
              <a:rPr kumimoji="1" lang="ja-JP" altLang="en-US" sz="1200" kern="1200">
                <a:solidFill>
                  <a:schemeClr val="tx1"/>
                </a:solidFill>
                <a:effectLst/>
                <a:latin typeface="+mn-lt"/>
                <a:ea typeface="+mn-ea"/>
                <a:cs typeface="+mn-cs"/>
              </a:rPr>
              <a:t>と検証</a:t>
            </a:r>
            <a:r>
              <a:rPr kumimoji="1" lang="ja-JP" altLang="ja-JP" sz="1200" kern="1200">
                <a:solidFill>
                  <a:schemeClr val="tx1"/>
                </a:solidFill>
                <a:effectLst/>
                <a:latin typeface="+mn-lt"/>
                <a:ea typeface="+mn-ea"/>
                <a:cs typeface="+mn-cs"/>
              </a:rPr>
              <a:t>が１報、</a:t>
            </a: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アルコール使用障害治療薬に関する</a:t>
            </a:r>
            <a:r>
              <a:rPr kumimoji="1" lang="ja-JP" altLang="ja-JP" sz="1200" kern="1200">
                <a:solidFill>
                  <a:schemeClr val="tx1"/>
                </a:solidFill>
                <a:effectLst/>
                <a:latin typeface="+mn-lt"/>
                <a:ea typeface="+mn-ea"/>
                <a:cs typeface="+mn-cs"/>
              </a:rPr>
              <a:t>システマティックレビューです。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下段が学会発表です。</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双極症症治療薬に関する</a:t>
            </a:r>
            <a:r>
              <a:rPr kumimoji="1" lang="ja-JP" altLang="ja-JP" sz="1200" kern="1200">
                <a:solidFill>
                  <a:schemeClr val="tx1"/>
                </a:solidFill>
                <a:effectLst/>
                <a:latin typeface="+mn-lt"/>
                <a:ea typeface="+mn-ea"/>
                <a:cs typeface="+mn-cs"/>
              </a:rPr>
              <a:t>、システマティックレビューについて、欧州神経精神薬理学会で発表しております。</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14</a:t>
            </a:fld>
            <a:endParaRPr kumimoji="1" lang="ja-JP" altLang="en-US"/>
          </a:p>
        </p:txBody>
      </p:sp>
    </p:spTree>
    <p:extLst>
      <p:ext uri="{BB962C8B-B14F-4D97-AF65-F5344CB8AC3E}">
        <p14:creationId xmlns:p14="http://schemas.microsoft.com/office/powerpoint/2010/main" val="2182100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AD0B-7346-D2BB-FE96-29F66612A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7BE34-3125-992C-4A9D-56A4C2A52AE3}"/>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04C00881-C4DA-B168-C540-AF1D5013EC26}"/>
              </a:ext>
            </a:extLst>
          </p:cNvPr>
          <p:cNvSpPr>
            <a:spLocks noGrp="1"/>
          </p:cNvSpPr>
          <p:nvPr>
            <p:ph type="body" idx="1"/>
          </p:nvPr>
        </p:nvSpPr>
        <p:spPr/>
        <p:txBody>
          <a:bodyPr/>
          <a:lstStyle/>
          <a:p>
            <a:r>
              <a:rPr kumimoji="1" lang="ja-JP" altLang="ja-JP" sz="1200" kern="1200">
                <a:solidFill>
                  <a:schemeClr val="tx1"/>
                </a:solidFill>
                <a:effectLst/>
                <a:latin typeface="+mn-lt"/>
                <a:ea typeface="+mn-ea"/>
                <a:cs typeface="+mn-cs"/>
              </a:rPr>
              <a:t>まとめです。</a:t>
            </a:r>
          </a:p>
          <a:p>
            <a:r>
              <a:rPr kumimoji="1" lang="ja-JP" altLang="ja-JP" sz="1200" kern="1200">
                <a:solidFill>
                  <a:schemeClr val="tx1"/>
                </a:solidFill>
                <a:effectLst/>
                <a:latin typeface="+mn-lt"/>
                <a:ea typeface="+mn-ea"/>
                <a:cs typeface="+mn-cs"/>
              </a:rPr>
              <a:t>本研究のポイントは、</a:t>
            </a:r>
          </a:p>
          <a:p>
            <a:r>
              <a:rPr kumimoji="1" lang="ja-JP" altLang="ja-JP" sz="1200" kern="1200">
                <a:solidFill>
                  <a:schemeClr val="tx1"/>
                </a:solidFill>
                <a:effectLst/>
                <a:latin typeface="+mn-lt"/>
                <a:ea typeface="+mn-ea"/>
                <a:cs typeface="+mn-cs"/>
              </a:rPr>
              <a:t>１　</a:t>
            </a:r>
            <a:r>
              <a:rPr kumimoji="1" lang="ja-JP" altLang="en-US" sz="1200" kern="1200">
                <a:solidFill>
                  <a:schemeClr val="tx1"/>
                </a:solidFill>
                <a:effectLst/>
                <a:latin typeface="+mn-lt"/>
                <a:ea typeface="+mn-ea"/>
                <a:cs typeface="+mn-cs"/>
              </a:rPr>
              <a:t>非対面型・</a:t>
            </a:r>
            <a:r>
              <a:rPr kumimoji="1" lang="en-US" altLang="ja-JP" sz="1200" kern="1200" dirty="0">
                <a:solidFill>
                  <a:schemeClr val="tx1"/>
                </a:solidFill>
                <a:effectLst/>
                <a:latin typeface="+mn-lt"/>
                <a:ea typeface="+mn-ea"/>
                <a:cs typeface="+mn-cs"/>
              </a:rPr>
              <a:t>24</a:t>
            </a:r>
            <a:r>
              <a:rPr kumimoji="1" lang="ja-JP" altLang="ja-JP" sz="1200" kern="1200">
                <a:solidFill>
                  <a:schemeClr val="tx1"/>
                </a:solidFill>
                <a:effectLst/>
                <a:latin typeface="+mn-lt"/>
                <a:ea typeface="+mn-ea"/>
                <a:cs typeface="+mn-cs"/>
              </a:rPr>
              <a:t>時間質問</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対応</a:t>
            </a:r>
            <a:r>
              <a:rPr kumimoji="1" lang="ja-JP" altLang="en-US" sz="1200" kern="1200">
                <a:solidFill>
                  <a:schemeClr val="tx1"/>
                </a:solidFill>
                <a:effectLst/>
                <a:latin typeface="+mn-lt"/>
                <a:ea typeface="+mn-ea"/>
                <a:cs typeface="+mn-cs"/>
              </a:rPr>
              <a:t>、可能な</a:t>
            </a:r>
            <a:r>
              <a:rPr kumimoji="1" lang="ja-JP" altLang="ja-JP" sz="1200" kern="1200">
                <a:solidFill>
                  <a:schemeClr val="tx1"/>
                </a:solidFill>
                <a:effectLst/>
                <a:latin typeface="+mn-lt"/>
                <a:ea typeface="+mn-ea"/>
                <a:cs typeface="+mn-cs"/>
              </a:rPr>
              <a:t>学習環境を提供します。これにより、学生の学習成果向上を目指すことができます。</a:t>
            </a:r>
          </a:p>
          <a:p>
            <a:r>
              <a:rPr kumimoji="1" lang="ja-JP" altLang="ja-JP" sz="1200" kern="1200">
                <a:solidFill>
                  <a:schemeClr val="tx1"/>
                </a:solidFill>
                <a:effectLst/>
                <a:latin typeface="+mn-lt"/>
                <a:ea typeface="+mn-ea"/>
                <a:cs typeface="+mn-cs"/>
              </a:rPr>
              <a:t>２　「つまずきの地図」による講義改善とエビデンスに基づく教育計画を設計します。これにより、教育の質向上を目指すことができます。</a:t>
            </a:r>
          </a:p>
          <a:p>
            <a:r>
              <a:rPr kumimoji="1" lang="ja-JP" altLang="ja-JP" sz="1200" kern="1200">
                <a:solidFill>
                  <a:schemeClr val="tx1"/>
                </a:solidFill>
                <a:effectLst/>
                <a:latin typeface="+mn-lt"/>
                <a:ea typeface="+mn-ea"/>
                <a:cs typeface="+mn-cs"/>
              </a:rPr>
              <a:t>３　</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を活用した実証実験の知見</a:t>
            </a:r>
            <a:r>
              <a:rPr kumimoji="1" lang="ja-JP" altLang="en-US" sz="1200" kern="1200">
                <a:solidFill>
                  <a:schemeClr val="tx1"/>
                </a:solidFill>
                <a:effectLst/>
                <a:latin typeface="+mn-lt"/>
                <a:ea typeface="+mn-ea"/>
                <a:cs typeface="+mn-cs"/>
              </a:rPr>
              <a:t>は、</a:t>
            </a:r>
            <a:r>
              <a:rPr kumimoji="1" lang="ja-JP" altLang="ja-JP" sz="1200" kern="1200">
                <a:solidFill>
                  <a:schemeClr val="tx1"/>
                </a:solidFill>
                <a:effectLst/>
                <a:latin typeface="+mn-lt"/>
                <a:ea typeface="+mn-ea"/>
                <a:cs typeface="+mn-cs"/>
              </a:rPr>
              <a:t>他学部・他大学へ発展可能性を見出します。これにより、教育・専門領域における教育改革に貢献します。</a:t>
            </a:r>
          </a:p>
          <a:p>
            <a:endParaRPr lang="en-US" dirty="0"/>
          </a:p>
        </p:txBody>
      </p:sp>
      <p:sp>
        <p:nvSpPr>
          <p:cNvPr id="4" name="Slide Number Placeholder 3">
            <a:extLst>
              <a:ext uri="{FF2B5EF4-FFF2-40B4-BE49-F238E27FC236}">
                <a16:creationId xmlns:a16="http://schemas.microsoft.com/office/drawing/2014/main" id="{49EC242B-6563-31E0-E65E-85EBC220D5F2}"/>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40490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5182F-FE1D-7BFF-2C15-76B4BD4F4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7BA6B-A119-81AA-C2C7-812885CA94FF}"/>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33D3022-0DF0-F221-71D1-93CCE7C0F3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最後に、人間により「教える」と</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による「支える」という“融合”</a:t>
            </a:r>
            <a:r>
              <a:rPr kumimoji="1" lang="ja-JP" altLang="en-US" sz="1200" kern="1200">
                <a:solidFill>
                  <a:schemeClr val="tx1"/>
                </a:solidFill>
                <a:effectLst/>
                <a:latin typeface="+mn-lt"/>
                <a:ea typeface="+mn-ea"/>
                <a:cs typeface="+mn-cs"/>
              </a:rPr>
              <a:t>が</a:t>
            </a:r>
            <a:r>
              <a:rPr kumimoji="1" lang="ja-JP" altLang="ja-JP" sz="1200" kern="1200">
                <a:solidFill>
                  <a:schemeClr val="tx1"/>
                </a:solidFill>
                <a:effectLst/>
                <a:latin typeface="+mn-lt"/>
                <a:ea typeface="+mn-ea"/>
                <a:cs typeface="+mn-cs"/>
              </a:rPr>
              <a:t>、“学びの未来を変え</a:t>
            </a:r>
            <a:r>
              <a:rPr kumimoji="1" lang="ja-JP" altLang="en-US" sz="1200" kern="1200">
                <a:solidFill>
                  <a:schemeClr val="tx1"/>
                </a:solidFill>
                <a:effectLst/>
                <a:latin typeface="+mn-lt"/>
                <a:ea typeface="+mn-ea"/>
                <a:cs typeface="+mn-cs"/>
              </a:rPr>
              <a:t>る”ことを確信しております</a:t>
            </a:r>
            <a:r>
              <a:rPr kumimoji="1" lang="ja-JP" altLang="ja-JP" sz="1200" kern="1200">
                <a:solidFill>
                  <a:schemeClr val="tx1"/>
                </a:solidFill>
                <a:effectLst/>
                <a:latin typeface="+mn-lt"/>
                <a:ea typeface="+mn-ea"/>
                <a:cs typeface="+mn-cs"/>
              </a:rPr>
              <a:t>。ご清聴ありがとうございました。</a:t>
            </a:r>
          </a:p>
          <a:p>
            <a:endParaRPr lang="en-US" dirty="0"/>
          </a:p>
        </p:txBody>
      </p:sp>
      <p:sp>
        <p:nvSpPr>
          <p:cNvPr id="4" name="Slide Number Placeholder 3">
            <a:extLst>
              <a:ext uri="{FF2B5EF4-FFF2-40B4-BE49-F238E27FC236}">
                <a16:creationId xmlns:a16="http://schemas.microsoft.com/office/drawing/2014/main" id="{312476AE-C1C2-0694-5635-B6678C2323E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43172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CE91-D3DD-87C3-0BC2-D014AE2ED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7B9DF-1869-8D46-9D99-9EDDDF3C4CD8}"/>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3C94273-F14B-FA80-EAAB-72C1FA6338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7D7438-4C22-9C1D-285C-08557E6C44E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16513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F313-6C7E-2545-A876-2365B0426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500DD-9D79-5421-C720-81B02EAC79E2}"/>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3ED97060-CB8D-7637-A064-8D984E0D5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EE8375-8F08-93BF-A543-ED86E657937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12011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BF65E-BA83-10B5-B4A7-5C122C32F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CB9AD-A117-DE35-A265-0FA0CF93F142}"/>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1FEDE326-A6DC-27F2-4592-43F870F689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8EB083-ADDE-3AF9-FEEB-FADF1A71B058}"/>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6180315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D3671-A7D0-D57A-52F4-8390B6254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8DF7A-3F70-20A7-69C7-9F67C3B5FA37}"/>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1DAC2437-664E-820E-E21F-10AE8BF1D3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29DD5-0B80-8D3C-7690-E2A7D2E5FC04}"/>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93760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830339-46D6-4277-BA0B-2F9D53503A0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FF29102-F716-180D-36D7-09199B26B3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716B0DF-F498-93F2-0B5E-85AEB429C35F}"/>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3B1D021C-1B87-C694-3021-A027121414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3025E9-DB71-2BBD-C017-0822301A7ED6}"/>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24019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19E432-9E8A-46F6-B02B-389F4A7A505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D282F3-CCC7-3B03-F0C3-0E4CDB93AB9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361813-F3BE-89EE-E07A-ED12AFAF6035}"/>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CC89BE28-15CF-D1FB-FB88-A6BDEA7FF4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779DDD-60F7-8236-29A8-FBBFCB3F1A33}"/>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308597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9C0E51-FC30-49C8-1575-1776521A86E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93340D-A5A3-F1A9-9044-DC874E809B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92F5A62-24C7-5913-B010-EFCE0E4C89A9}"/>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502EB73D-179B-B70E-F4DC-3AFEF3A50B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E456E9-E15E-87FE-0A83-9400214E5146}"/>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636649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D5DC18-777E-849C-7405-7C8995D941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D4C793-F70D-7615-2398-FB07390B669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DB491E-34EF-8608-1968-551CC31F2A6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D2FCE4D-6FAE-92E2-0D26-EF49B653540A}"/>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6" name="フッター プレースホルダー 5">
            <a:extLst>
              <a:ext uri="{FF2B5EF4-FFF2-40B4-BE49-F238E27FC236}">
                <a16:creationId xmlns:a16="http://schemas.microsoft.com/office/drawing/2014/main" id="{EEF069CA-1609-02C4-FDFC-15945E950EE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46B30-FB5F-88EC-BE3B-E283210D8414}"/>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951830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E65559-50CD-89E1-7705-968B7874997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1471B9-E600-D256-3AEB-2291FD40F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96F8F25-B6C1-B010-2109-09EB0312EFD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464AA5B-1DD0-A887-F588-A0D9418FA1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ECE7D2-0275-BC69-12EB-A16217DF91F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3795171-119A-FA6C-3F41-BD7FFB34918F}"/>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8" name="フッター プレースホルダー 7">
            <a:extLst>
              <a:ext uri="{FF2B5EF4-FFF2-40B4-BE49-F238E27FC236}">
                <a16:creationId xmlns:a16="http://schemas.microsoft.com/office/drawing/2014/main" id="{B790B717-67BF-ADA2-10AF-640A2A692E5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532569-976A-E88A-024F-D63300FB724F}"/>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2559372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4B603E-179A-0B78-6D94-18FAC7FDF9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B70F68-8898-CF19-C0A5-B838B3CFBDD4}"/>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4" name="フッター プレースホルダー 3">
            <a:extLst>
              <a:ext uri="{FF2B5EF4-FFF2-40B4-BE49-F238E27FC236}">
                <a16:creationId xmlns:a16="http://schemas.microsoft.com/office/drawing/2014/main" id="{8E2D8B50-2C42-7C2B-E01F-58941E77F6B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569F158-0F79-EE96-52CB-A2856E3E11D1}"/>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827315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0B61648-1385-E05D-ADB1-E518E7BD5616}"/>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3" name="フッター プレースホルダー 2">
            <a:extLst>
              <a:ext uri="{FF2B5EF4-FFF2-40B4-BE49-F238E27FC236}">
                <a16:creationId xmlns:a16="http://schemas.microsoft.com/office/drawing/2014/main" id="{1DEDBB0B-C937-EAAE-7268-8A157FEA334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BB7BF27-3AEB-4A74-5109-DB1FF3E92BE7}"/>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306442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CE4F8D-1A1C-21CC-E6A3-972898E3390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A2AD3C0-BEBF-33FB-E262-94424E3920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6EA911E-BA29-295E-72C3-3A1002C28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C9509C9-9715-1A84-88D8-738AB63BBA3F}"/>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6" name="フッター プレースホルダー 5">
            <a:extLst>
              <a:ext uri="{FF2B5EF4-FFF2-40B4-BE49-F238E27FC236}">
                <a16:creationId xmlns:a16="http://schemas.microsoft.com/office/drawing/2014/main" id="{40672CC2-CE30-5A5E-1019-59B9032E7C2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34605E-FC5D-D795-85A7-FA40CB47EEC8}"/>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59348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1B432-6391-49C8-94DB-68688FD242F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E381A48-8DF2-4C01-15EA-86C377305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19E80A8-7F3C-1B16-F301-304B34333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67EEB-3E2F-BA71-738D-1CAA5BBDBE29}"/>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6" name="フッター プレースホルダー 5">
            <a:extLst>
              <a:ext uri="{FF2B5EF4-FFF2-40B4-BE49-F238E27FC236}">
                <a16:creationId xmlns:a16="http://schemas.microsoft.com/office/drawing/2014/main" id="{1B979F1E-27A6-11BE-9A74-23DCFBED06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5C99564-6796-72AE-6C76-AA48A68B255C}"/>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30076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110623-3828-40C1-79F1-3FFF14981C5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6800EF-8DE9-11A0-CA7D-4045A4F278B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418228-000C-75AD-3AAC-4FA190EB4829}"/>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811BDB23-AC6B-F9F9-B15A-54FF9D0380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BA07DA-2CCD-789E-C887-81921E2CA205}"/>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116437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4C6E1B8-D660-8BA9-EC66-1401AF215AC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5849D8-B9D7-4F5E-58AE-8F4F06B88B9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379AAF-838F-6370-817E-15C07AA98556}"/>
              </a:ext>
            </a:extLst>
          </p:cNvPr>
          <p:cNvSpPr>
            <a:spLocks noGrp="1"/>
          </p:cNvSpPr>
          <p:nvPr>
            <p:ph type="dt" sz="half" idx="10"/>
          </p:nvPr>
        </p:nvSpPr>
        <p:spPr/>
        <p:txBody>
          <a:bodyPr/>
          <a:lstStyle/>
          <a:p>
            <a:fld id="{F0EDC2ED-78CE-704F-B9CF-B6C276EAC7B1}" type="datetimeFigureOut">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B822060D-B74C-959B-B9C0-AC92470A2D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AC1F19-6EA8-E796-88E8-74C5F7B17C11}"/>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2597801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754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60331C9-DB52-AE3F-EABF-AF1CA41C0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0CC16E7-8849-16BD-23EA-F4AA71AE7B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B1C562B-07E2-7792-EFD4-B36B79E65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EDC2ED-78CE-704F-B9CF-B6C276EAC7B1}" type="datetimeFigureOut">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FB40BC85-BB42-2C36-1212-5923C14C68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9CFF141-E2C1-8C9D-722C-07B588FAEC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129036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4249646-67A8-E2A9-9884-1164DE52AF02}"/>
              </a:ext>
            </a:extLst>
          </p:cNvPr>
          <p:cNvSpPr txBox="1"/>
          <p:nvPr/>
        </p:nvSpPr>
        <p:spPr>
          <a:xfrm>
            <a:off x="855624" y="1061278"/>
            <a:ext cx="10480753" cy="2400657"/>
          </a:xfrm>
          <a:prstGeom prst="rect">
            <a:avLst/>
          </a:prstGeom>
          <a:noFill/>
        </p:spPr>
        <p:txBody>
          <a:bodyPr wrap="none" rtlCol="0">
            <a:spAutoFit/>
          </a:bodyPr>
          <a:lstStyle/>
          <a:p>
            <a:pPr algn="ctr"/>
            <a:r>
              <a:rPr kumimoji="1" lang="ja-JP" altLang="en-US" sz="3600">
                <a:latin typeface="MS UI Gothic" panose="020B0600070205080204" pitchFamily="34" charset="-128"/>
                <a:ea typeface="MS UI Gothic" panose="020B0600070205080204" pitchFamily="34" charset="-128"/>
              </a:rPr>
              <a:t>生成系</a:t>
            </a:r>
            <a:r>
              <a:rPr kumimoji="1" lang="en-US" altLang="ja-JP" sz="3600" dirty="0">
                <a:latin typeface="MS UI Gothic" panose="020B0600070205080204" pitchFamily="34" charset="-128"/>
                <a:ea typeface="MS UI Gothic" panose="020B0600070205080204" pitchFamily="34" charset="-128"/>
              </a:rPr>
              <a:t>AI</a:t>
            </a:r>
            <a:r>
              <a:rPr kumimoji="1" lang="ja-JP" altLang="en-US" sz="3600">
                <a:latin typeface="MS UI Gothic" panose="020B0600070205080204" pitchFamily="34" charset="-128"/>
                <a:ea typeface="MS UI Gothic" panose="020B0600070205080204" pitchFamily="34" charset="-128"/>
              </a:rPr>
              <a:t>を活用した即時質問応答型学習支援システム</a:t>
            </a:r>
            <a:endParaRPr kumimoji="1" lang="en-US" altLang="ja-JP" sz="3600" dirty="0">
              <a:latin typeface="MS UI Gothic" panose="020B0600070205080204" pitchFamily="34" charset="-128"/>
              <a:ea typeface="MS UI Gothic" panose="020B0600070205080204" pitchFamily="34" charset="-128"/>
            </a:endParaRPr>
          </a:p>
          <a:p>
            <a:pPr algn="ctr"/>
            <a:endParaRPr kumimoji="1" lang="en-US" altLang="ja-JP" sz="900" dirty="0">
              <a:latin typeface="MS UI Gothic" panose="020B0600070205080204" pitchFamily="34" charset="-128"/>
              <a:ea typeface="MS UI Gothic" panose="020B0600070205080204" pitchFamily="34" charset="-128"/>
            </a:endParaRPr>
          </a:p>
          <a:p>
            <a:pPr algn="ctr"/>
            <a:r>
              <a:rPr lang="ja-JP" altLang="en-US" sz="6000">
                <a:latin typeface="MS UI Gothic" panose="020B0600070205080204" pitchFamily="34" charset="-128"/>
                <a:ea typeface="MS UI Gothic" panose="020B0600070205080204" pitchFamily="34" charset="-128"/>
              </a:rPr>
              <a:t>🪄「魔法の黒板」🪄</a:t>
            </a:r>
            <a:endParaRPr lang="en-US" altLang="ja-JP" sz="6000" dirty="0">
              <a:latin typeface="MS UI Gothic" panose="020B0600070205080204" pitchFamily="34" charset="-128"/>
              <a:ea typeface="MS UI Gothic" panose="020B0600070205080204" pitchFamily="34" charset="-128"/>
            </a:endParaRPr>
          </a:p>
          <a:p>
            <a:pPr algn="ctr"/>
            <a:endParaRPr lang="en-US" altLang="ja-JP" sz="900" dirty="0">
              <a:latin typeface="MS UI Gothic" panose="020B0600070205080204" pitchFamily="34" charset="-128"/>
              <a:ea typeface="MS UI Gothic" panose="020B0600070205080204" pitchFamily="34" charset="-128"/>
            </a:endParaRPr>
          </a:p>
          <a:p>
            <a:pPr algn="ctr"/>
            <a:r>
              <a:rPr kumimoji="1" lang="ja-JP" altLang="en-US" sz="3600">
                <a:latin typeface="MS UI Gothic" panose="020B0600070205080204" pitchFamily="34" charset="-128"/>
                <a:ea typeface="MS UI Gothic" panose="020B0600070205080204" pitchFamily="34" charset="-128"/>
              </a:rPr>
              <a:t>の開発と薬学教育における教育効果の検証</a:t>
            </a:r>
          </a:p>
        </p:txBody>
      </p:sp>
      <p:sp>
        <p:nvSpPr>
          <p:cNvPr id="5" name="テキスト ボックス 4">
            <a:extLst>
              <a:ext uri="{FF2B5EF4-FFF2-40B4-BE49-F238E27FC236}">
                <a16:creationId xmlns:a16="http://schemas.microsoft.com/office/drawing/2014/main" id="{5EB372F0-7B2A-A458-C6A8-E29774EF3EC0}"/>
              </a:ext>
            </a:extLst>
          </p:cNvPr>
          <p:cNvSpPr txBox="1"/>
          <p:nvPr/>
        </p:nvSpPr>
        <p:spPr>
          <a:xfrm>
            <a:off x="3855642" y="4254500"/>
            <a:ext cx="4480714" cy="1338828"/>
          </a:xfrm>
          <a:prstGeom prst="rect">
            <a:avLst/>
          </a:prstGeom>
          <a:noFill/>
        </p:spPr>
        <p:txBody>
          <a:bodyPr wrap="none" rtlCol="0">
            <a:spAutoFit/>
          </a:bodyPr>
          <a:lstStyle/>
          <a:p>
            <a:pPr algn="ctr"/>
            <a:r>
              <a:rPr lang="en-US" altLang="ja-JP" sz="3600" dirty="0" err="1">
                <a:latin typeface="MS UI Gothic" panose="020B0600070205080204" pitchFamily="34" charset="-128"/>
                <a:ea typeface="MS UI Gothic" panose="020B0600070205080204" pitchFamily="34" charset="-128"/>
                <a:cs typeface="Yu Gothic" pitchFamily="34" charset="-120"/>
              </a:rPr>
              <a:t>神戸学院大学</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薬学部</a:t>
            </a:r>
            <a:endParaRPr lang="en-US" altLang="ja-JP" sz="3600" dirty="0">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latin typeface="MS UI Gothic" panose="020B0600070205080204" pitchFamily="34" charset="-128"/>
              <a:ea typeface="MS UI Gothic" panose="020B0600070205080204" pitchFamily="34" charset="-128"/>
            </a:endParaRPr>
          </a:p>
          <a:p>
            <a:pPr algn="ctr"/>
            <a:r>
              <a:rPr lang="en-US" altLang="ja-JP" sz="3600" dirty="0" err="1">
                <a:latin typeface="MS UI Gothic" panose="020B0600070205080204" pitchFamily="34" charset="-128"/>
                <a:ea typeface="MS UI Gothic" panose="020B0600070205080204" pitchFamily="34" charset="-128"/>
                <a:cs typeface="Yu Gothic" pitchFamily="34" charset="-120"/>
              </a:rPr>
              <a:t>橋本</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保彦</a:t>
            </a:r>
            <a:r>
              <a:rPr lang="ja-JP" altLang="en-US" sz="3600">
                <a:latin typeface="MS UI Gothic" panose="020B0600070205080204" pitchFamily="34" charset="-128"/>
                <a:ea typeface="MS UI Gothic" panose="020B0600070205080204" pitchFamily="34" charset="-128"/>
                <a:cs typeface="Yu Gothic" pitchFamily="34" charset="-120"/>
              </a:rPr>
              <a:t>、</a:t>
            </a:r>
            <a:r>
              <a:rPr lang="en-US" altLang="ja-JP" sz="3600" dirty="0" err="1">
                <a:latin typeface="MS UI Gothic" panose="020B0600070205080204" pitchFamily="34" charset="-128"/>
                <a:ea typeface="MS UI Gothic" panose="020B0600070205080204" pitchFamily="34" charset="-128"/>
                <a:cs typeface="Yu Gothic" pitchFamily="34" charset="-120"/>
              </a:rPr>
              <a:t>辰見</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明俊</a:t>
            </a:r>
            <a:endParaRPr kumimoji="1" lang="ja-JP" altLang="en-US" sz="3600"/>
          </a:p>
        </p:txBody>
      </p:sp>
    </p:spTree>
    <p:extLst>
      <p:ext uri="{BB962C8B-B14F-4D97-AF65-F5344CB8AC3E}">
        <p14:creationId xmlns:p14="http://schemas.microsoft.com/office/powerpoint/2010/main" val="3505997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75DAE-C91C-9611-264C-ADE24F2650DF}"/>
            </a:ext>
          </a:extLst>
        </p:cNvPr>
        <p:cNvGrpSpPr/>
        <p:nvPr/>
      </p:nvGrpSpPr>
      <p:grpSpPr>
        <a:xfrm>
          <a:off x="0" y="0"/>
          <a:ext cx="0" cy="0"/>
          <a:chOff x="0" y="0"/>
          <a:chExt cx="0" cy="0"/>
        </a:xfrm>
      </p:grpSpPr>
      <p:sp>
        <p:nvSpPr>
          <p:cNvPr id="22" name="テキスト ボックス 21">
            <a:extLst>
              <a:ext uri="{FF2B5EF4-FFF2-40B4-BE49-F238E27FC236}">
                <a16:creationId xmlns:a16="http://schemas.microsoft.com/office/drawing/2014/main" id="{2969C56B-862B-373D-E750-C948811B207E}"/>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CDEF8D58-676A-77CF-C2AC-B97727286F26}"/>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
        <p:nvSpPr>
          <p:cNvPr id="26" name="角丸四角形 25">
            <a:extLst>
              <a:ext uri="{FF2B5EF4-FFF2-40B4-BE49-F238E27FC236}">
                <a16:creationId xmlns:a16="http://schemas.microsoft.com/office/drawing/2014/main" id="{8F6B4B82-961A-316D-6793-18E433B083EB}"/>
              </a:ext>
            </a:extLst>
          </p:cNvPr>
          <p:cNvSpPr/>
          <p:nvPr/>
        </p:nvSpPr>
        <p:spPr>
          <a:xfrm>
            <a:off x="2802261" y="1643394"/>
            <a:ext cx="6591195" cy="58477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latin typeface="MS UI Gothic" panose="020B0600070205080204" pitchFamily="34" charset="-128"/>
                <a:ea typeface="MS UI Gothic" panose="020B0600070205080204" pitchFamily="34" charset="-128"/>
              </a:rPr>
              <a:t>成績不振　→　反転講義・演習問題の導入</a:t>
            </a:r>
          </a:p>
        </p:txBody>
      </p:sp>
      <p:sp>
        <p:nvSpPr>
          <p:cNvPr id="30" name="角丸四角形 29">
            <a:extLst>
              <a:ext uri="{FF2B5EF4-FFF2-40B4-BE49-F238E27FC236}">
                <a16:creationId xmlns:a16="http://schemas.microsoft.com/office/drawing/2014/main" id="{C27594A8-6F03-099C-B54F-F5CE8DED6D6C}"/>
              </a:ext>
            </a:extLst>
          </p:cNvPr>
          <p:cNvSpPr/>
          <p:nvPr/>
        </p:nvSpPr>
        <p:spPr>
          <a:xfrm>
            <a:off x="1264901" y="3346543"/>
            <a:ext cx="3714087" cy="12311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教員</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「学生の困りがわからない」</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2" name="角丸四角形 31">
            <a:extLst>
              <a:ext uri="{FF2B5EF4-FFF2-40B4-BE49-F238E27FC236}">
                <a16:creationId xmlns:a16="http://schemas.microsoft.com/office/drawing/2014/main" id="{81339155-C340-FC51-3DC3-45B2A321FFA5}"/>
              </a:ext>
            </a:extLst>
          </p:cNvPr>
          <p:cNvSpPr/>
          <p:nvPr/>
        </p:nvSpPr>
        <p:spPr>
          <a:xfrm>
            <a:off x="6911928" y="3346543"/>
            <a:ext cx="4917837" cy="2388269"/>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学生の声</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「先生に聞きにくい」</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a:t>
            </a:r>
            <a:r>
              <a:rPr kumimoji="1" lang="ja-JP" altLang="en-US" sz="2400">
                <a:solidFill>
                  <a:schemeClr val="tx1"/>
                </a:solidFill>
                <a:latin typeface="MS UI Gothic" panose="020B0600070205080204" pitchFamily="34" charset="-128"/>
                <a:ea typeface="MS UI Gothic" panose="020B0600070205080204" pitchFamily="34" charset="-128"/>
              </a:rPr>
              <a:t>何度も質問して怒られないか不安」</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「疑問が未解決のまま試験を受けた」</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kumimoji="1" lang="ja-JP" altLang="en-US" sz="2400">
                <a:solidFill>
                  <a:schemeClr val="tx1"/>
                </a:solidFill>
                <a:latin typeface="MS UI Gothic" panose="020B0600070205080204" pitchFamily="34" charset="-128"/>
                <a:ea typeface="MS UI Gothic" panose="020B0600070205080204" pitchFamily="34" charset="-128"/>
              </a:rPr>
              <a:t>「夜中に疑問が生じても解決しない」</a:t>
            </a:r>
          </a:p>
        </p:txBody>
      </p:sp>
      <p:cxnSp>
        <p:nvCxnSpPr>
          <p:cNvPr id="34" name="直線矢印コネクタ 33">
            <a:extLst>
              <a:ext uri="{FF2B5EF4-FFF2-40B4-BE49-F238E27FC236}">
                <a16:creationId xmlns:a16="http://schemas.microsoft.com/office/drawing/2014/main" id="{74BB8897-4786-6968-17AA-C2CC197D756B}"/>
              </a:ext>
            </a:extLst>
          </p:cNvPr>
          <p:cNvCxnSpPr>
            <a:cxnSpLocks/>
          </p:cNvCxnSpPr>
          <p:nvPr/>
        </p:nvCxnSpPr>
        <p:spPr>
          <a:xfrm flipH="1">
            <a:off x="3121945" y="2228170"/>
            <a:ext cx="2975914"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4A26DFEB-7428-69A0-9BAF-C0A858D864BE}"/>
              </a:ext>
            </a:extLst>
          </p:cNvPr>
          <p:cNvCxnSpPr>
            <a:cxnSpLocks/>
          </p:cNvCxnSpPr>
          <p:nvPr/>
        </p:nvCxnSpPr>
        <p:spPr>
          <a:xfrm>
            <a:off x="6205077" y="2228170"/>
            <a:ext cx="3272988"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5A6920EE-177D-83AF-1B4D-6186C691EAB1}"/>
              </a:ext>
            </a:extLst>
          </p:cNvPr>
          <p:cNvSpPr txBox="1"/>
          <p:nvPr/>
        </p:nvSpPr>
        <p:spPr>
          <a:xfrm>
            <a:off x="3462793" y="2556524"/>
            <a:ext cx="2294218" cy="461665"/>
          </a:xfrm>
          <a:prstGeom prst="rect">
            <a:avLst/>
          </a:prstGeom>
          <a:solidFill>
            <a:schemeClr val="tx1"/>
          </a:solidFill>
          <a:ln>
            <a:solidFill>
              <a:schemeClr val="bg1"/>
            </a:solidFill>
          </a:ln>
        </p:spPr>
        <p:txBody>
          <a:bodyPr wrap="none" rtlCol="0">
            <a:spAutoFit/>
          </a:bodyPr>
          <a:lstStyle/>
          <a:p>
            <a:r>
              <a:rPr lang="ja-JP" altLang="en-US" sz="2400">
                <a:solidFill>
                  <a:schemeClr val="bg1"/>
                </a:solidFill>
                <a:latin typeface="MS UI Gothic" panose="020B0600070205080204" pitchFamily="34" charset="-128"/>
                <a:ea typeface="MS UI Gothic" panose="020B0600070205080204" pitchFamily="34" charset="-128"/>
              </a:rPr>
              <a:t>教員「</a:t>
            </a:r>
            <a:r>
              <a:rPr kumimoji="1" lang="ja-JP" altLang="en-US" sz="2400">
                <a:solidFill>
                  <a:schemeClr val="bg1"/>
                </a:solidFill>
                <a:latin typeface="MS UI Gothic" panose="020B0600070205080204" pitchFamily="34" charset="-128"/>
                <a:ea typeface="MS UI Gothic" panose="020B0600070205080204" pitchFamily="34" charset="-128"/>
              </a:rPr>
              <a:t>対策は？」</a:t>
            </a:r>
          </a:p>
        </p:txBody>
      </p:sp>
      <p:sp>
        <p:nvSpPr>
          <p:cNvPr id="38" name="テキスト ボックス 37">
            <a:extLst>
              <a:ext uri="{FF2B5EF4-FFF2-40B4-BE49-F238E27FC236}">
                <a16:creationId xmlns:a16="http://schemas.microsoft.com/office/drawing/2014/main" id="{3A5D2B47-C419-7DD1-A4D7-2BA10B9BB284}"/>
              </a:ext>
            </a:extLst>
          </p:cNvPr>
          <p:cNvSpPr txBox="1"/>
          <p:nvPr/>
        </p:nvSpPr>
        <p:spPr>
          <a:xfrm>
            <a:off x="6550993" y="2556524"/>
            <a:ext cx="2581156" cy="461665"/>
          </a:xfrm>
          <a:prstGeom prst="rect">
            <a:avLst/>
          </a:prstGeom>
          <a:solidFill>
            <a:schemeClr val="tx1"/>
          </a:solidFill>
          <a:ln>
            <a:solidFill>
              <a:schemeClr val="bg1"/>
            </a:solidFill>
          </a:ln>
        </p:spPr>
        <p:txBody>
          <a:bodyPr wrap="none" rtlCol="0">
            <a:spAutoFit/>
          </a:bodyPr>
          <a:lstStyle/>
          <a:p>
            <a:r>
              <a:rPr kumimoji="1" lang="ja-JP" altLang="en-US" sz="2400">
                <a:solidFill>
                  <a:schemeClr val="bg1"/>
                </a:solidFill>
                <a:latin typeface="MS UI Gothic" panose="020B0600070205080204" pitchFamily="34" charset="-128"/>
                <a:ea typeface="MS UI Gothic" panose="020B0600070205080204" pitchFamily="34" charset="-128"/>
              </a:rPr>
              <a:t>成績不振者に面談</a:t>
            </a:r>
          </a:p>
        </p:txBody>
      </p:sp>
    </p:spTree>
    <p:extLst>
      <p:ext uri="{BB962C8B-B14F-4D97-AF65-F5344CB8AC3E}">
        <p14:creationId xmlns:p14="http://schemas.microsoft.com/office/powerpoint/2010/main" val="357778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F744-992C-75F3-783E-EED6A5D595C2}"/>
            </a:ext>
          </a:extLst>
        </p:cNvPr>
        <p:cNvGrpSpPr/>
        <p:nvPr/>
      </p:nvGrpSpPr>
      <p:grpSpPr>
        <a:xfrm>
          <a:off x="0" y="0"/>
          <a:ext cx="0" cy="0"/>
          <a:chOff x="0" y="0"/>
          <a:chExt cx="0" cy="0"/>
        </a:xfrm>
      </p:grpSpPr>
      <p:sp>
        <p:nvSpPr>
          <p:cNvPr id="22" name="テキスト ボックス 21">
            <a:extLst>
              <a:ext uri="{FF2B5EF4-FFF2-40B4-BE49-F238E27FC236}">
                <a16:creationId xmlns:a16="http://schemas.microsoft.com/office/drawing/2014/main" id="{2494D666-DD70-3BF5-AEA7-7522AD9ED64B}"/>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EE30B9C3-B22A-1EB6-0112-9CEDD7FA97DE}"/>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
        <p:nvSpPr>
          <p:cNvPr id="26" name="角丸四角形 25">
            <a:extLst>
              <a:ext uri="{FF2B5EF4-FFF2-40B4-BE49-F238E27FC236}">
                <a16:creationId xmlns:a16="http://schemas.microsoft.com/office/drawing/2014/main" id="{85FA4779-CD9F-5AE1-61D0-C6DBC8699EAC}"/>
              </a:ext>
            </a:extLst>
          </p:cNvPr>
          <p:cNvSpPr/>
          <p:nvPr/>
        </p:nvSpPr>
        <p:spPr>
          <a:xfrm>
            <a:off x="2802261" y="1643394"/>
            <a:ext cx="6591195" cy="58477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latin typeface="MS UI Gothic" panose="020B0600070205080204" pitchFamily="34" charset="-128"/>
                <a:ea typeface="MS UI Gothic" panose="020B0600070205080204" pitchFamily="34" charset="-128"/>
              </a:rPr>
              <a:t>成績不振　→　反転講義・演習問題の導入</a:t>
            </a:r>
          </a:p>
        </p:txBody>
      </p:sp>
      <p:sp>
        <p:nvSpPr>
          <p:cNvPr id="30" name="角丸四角形 29">
            <a:extLst>
              <a:ext uri="{FF2B5EF4-FFF2-40B4-BE49-F238E27FC236}">
                <a16:creationId xmlns:a16="http://schemas.microsoft.com/office/drawing/2014/main" id="{B81276F2-056D-8B32-0250-6B7301BCA9CB}"/>
              </a:ext>
            </a:extLst>
          </p:cNvPr>
          <p:cNvSpPr/>
          <p:nvPr/>
        </p:nvSpPr>
        <p:spPr>
          <a:xfrm>
            <a:off x="1264901" y="3346543"/>
            <a:ext cx="3714087" cy="12311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教員</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「学生の困りがわからない」</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2" name="角丸四角形 31">
            <a:extLst>
              <a:ext uri="{FF2B5EF4-FFF2-40B4-BE49-F238E27FC236}">
                <a16:creationId xmlns:a16="http://schemas.microsoft.com/office/drawing/2014/main" id="{DBF62467-3345-F1EB-A186-88C3DBF74F8A}"/>
              </a:ext>
            </a:extLst>
          </p:cNvPr>
          <p:cNvSpPr/>
          <p:nvPr/>
        </p:nvSpPr>
        <p:spPr>
          <a:xfrm>
            <a:off x="6911928" y="3346543"/>
            <a:ext cx="4917837" cy="2388269"/>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学生の声</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「先生に聞きにくい」</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a:t>
            </a:r>
            <a:r>
              <a:rPr kumimoji="1" lang="ja-JP" altLang="en-US" sz="2400">
                <a:solidFill>
                  <a:schemeClr val="tx1"/>
                </a:solidFill>
                <a:latin typeface="MS UI Gothic" panose="020B0600070205080204" pitchFamily="34" charset="-128"/>
                <a:ea typeface="MS UI Gothic" panose="020B0600070205080204" pitchFamily="34" charset="-128"/>
              </a:rPr>
              <a:t>何度も質問して怒られないか不安」</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「疑問が未解決のまま試験を受けた」</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kumimoji="1" lang="ja-JP" altLang="en-US" sz="2400">
                <a:solidFill>
                  <a:schemeClr val="tx1"/>
                </a:solidFill>
                <a:latin typeface="MS UI Gothic" panose="020B0600070205080204" pitchFamily="34" charset="-128"/>
                <a:ea typeface="MS UI Gothic" panose="020B0600070205080204" pitchFamily="34" charset="-128"/>
              </a:rPr>
              <a:t>「夜中に疑問が生じても解決しない」</a:t>
            </a:r>
          </a:p>
        </p:txBody>
      </p:sp>
      <p:cxnSp>
        <p:nvCxnSpPr>
          <p:cNvPr id="34" name="直線矢印コネクタ 33">
            <a:extLst>
              <a:ext uri="{FF2B5EF4-FFF2-40B4-BE49-F238E27FC236}">
                <a16:creationId xmlns:a16="http://schemas.microsoft.com/office/drawing/2014/main" id="{6B1C0922-A92F-4B09-688F-5369AFF90CF8}"/>
              </a:ext>
            </a:extLst>
          </p:cNvPr>
          <p:cNvCxnSpPr>
            <a:cxnSpLocks/>
          </p:cNvCxnSpPr>
          <p:nvPr/>
        </p:nvCxnSpPr>
        <p:spPr>
          <a:xfrm flipH="1">
            <a:off x="3121945" y="2228170"/>
            <a:ext cx="2975914"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87306DC9-D881-D616-9EFA-9A1EFE9BDF08}"/>
              </a:ext>
            </a:extLst>
          </p:cNvPr>
          <p:cNvCxnSpPr>
            <a:cxnSpLocks/>
          </p:cNvCxnSpPr>
          <p:nvPr/>
        </p:nvCxnSpPr>
        <p:spPr>
          <a:xfrm>
            <a:off x="6205077" y="2228170"/>
            <a:ext cx="3272988"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DCE0109D-4DE5-4A65-2539-FE7F606A3C52}"/>
              </a:ext>
            </a:extLst>
          </p:cNvPr>
          <p:cNvSpPr txBox="1"/>
          <p:nvPr/>
        </p:nvSpPr>
        <p:spPr>
          <a:xfrm>
            <a:off x="3462793" y="2556524"/>
            <a:ext cx="2294218" cy="461665"/>
          </a:xfrm>
          <a:prstGeom prst="rect">
            <a:avLst/>
          </a:prstGeom>
          <a:solidFill>
            <a:schemeClr val="tx1"/>
          </a:solidFill>
          <a:ln>
            <a:solidFill>
              <a:schemeClr val="bg1"/>
            </a:solidFill>
          </a:ln>
        </p:spPr>
        <p:txBody>
          <a:bodyPr wrap="none" rtlCol="0">
            <a:spAutoFit/>
          </a:bodyPr>
          <a:lstStyle/>
          <a:p>
            <a:r>
              <a:rPr lang="ja-JP" altLang="en-US" sz="2400">
                <a:solidFill>
                  <a:schemeClr val="bg1"/>
                </a:solidFill>
                <a:latin typeface="MS UI Gothic" panose="020B0600070205080204" pitchFamily="34" charset="-128"/>
                <a:ea typeface="MS UI Gothic" panose="020B0600070205080204" pitchFamily="34" charset="-128"/>
              </a:rPr>
              <a:t>教員「</a:t>
            </a:r>
            <a:r>
              <a:rPr kumimoji="1" lang="ja-JP" altLang="en-US" sz="2400">
                <a:solidFill>
                  <a:schemeClr val="bg1"/>
                </a:solidFill>
                <a:latin typeface="MS UI Gothic" panose="020B0600070205080204" pitchFamily="34" charset="-128"/>
                <a:ea typeface="MS UI Gothic" panose="020B0600070205080204" pitchFamily="34" charset="-128"/>
              </a:rPr>
              <a:t>対策は？」</a:t>
            </a:r>
          </a:p>
        </p:txBody>
      </p:sp>
      <p:sp>
        <p:nvSpPr>
          <p:cNvPr id="38" name="テキスト ボックス 37">
            <a:extLst>
              <a:ext uri="{FF2B5EF4-FFF2-40B4-BE49-F238E27FC236}">
                <a16:creationId xmlns:a16="http://schemas.microsoft.com/office/drawing/2014/main" id="{724939D3-0613-139A-6212-161AF1B1F575}"/>
              </a:ext>
            </a:extLst>
          </p:cNvPr>
          <p:cNvSpPr txBox="1"/>
          <p:nvPr/>
        </p:nvSpPr>
        <p:spPr>
          <a:xfrm>
            <a:off x="6550993" y="2556524"/>
            <a:ext cx="2581156" cy="461665"/>
          </a:xfrm>
          <a:prstGeom prst="rect">
            <a:avLst/>
          </a:prstGeom>
          <a:solidFill>
            <a:schemeClr val="tx1"/>
          </a:solidFill>
          <a:ln>
            <a:solidFill>
              <a:schemeClr val="bg1"/>
            </a:solidFill>
          </a:ln>
        </p:spPr>
        <p:txBody>
          <a:bodyPr wrap="none" rtlCol="0">
            <a:spAutoFit/>
          </a:bodyPr>
          <a:lstStyle/>
          <a:p>
            <a:r>
              <a:rPr kumimoji="1" lang="ja-JP" altLang="en-US" sz="2400">
                <a:solidFill>
                  <a:schemeClr val="bg1"/>
                </a:solidFill>
                <a:latin typeface="MS UI Gothic" panose="020B0600070205080204" pitchFamily="34" charset="-128"/>
                <a:ea typeface="MS UI Gothic" panose="020B0600070205080204" pitchFamily="34" charset="-128"/>
              </a:rPr>
              <a:t>成績不振者に面談</a:t>
            </a:r>
          </a:p>
        </p:txBody>
      </p:sp>
      <p:sp>
        <p:nvSpPr>
          <p:cNvPr id="2" name="円形吹き出し 1">
            <a:extLst>
              <a:ext uri="{FF2B5EF4-FFF2-40B4-BE49-F238E27FC236}">
                <a16:creationId xmlns:a16="http://schemas.microsoft.com/office/drawing/2014/main" id="{817DB541-DF2A-72B7-F350-2F5616F327CD}"/>
              </a:ext>
            </a:extLst>
          </p:cNvPr>
          <p:cNvSpPr/>
          <p:nvPr/>
        </p:nvSpPr>
        <p:spPr>
          <a:xfrm>
            <a:off x="9026291" y="271384"/>
            <a:ext cx="1650732" cy="1250714"/>
          </a:xfrm>
          <a:prstGeom prst="wedgeEllipseCallout">
            <a:avLst>
              <a:gd name="adj1" fmla="val -67723"/>
              <a:gd name="adj2" fmla="val 6626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tx1"/>
                </a:solidFill>
                <a:latin typeface="MS UI Gothic" panose="020B0600070205080204" pitchFamily="34" charset="-128"/>
                <a:ea typeface="MS UI Gothic" panose="020B0600070205080204" pitchFamily="34" charset="-128"/>
              </a:rPr>
              <a:t>成績の</a:t>
            </a:r>
            <a:endParaRPr lang="en-US" altLang="ja-JP" sz="2400" dirty="0">
              <a:solidFill>
                <a:schemeClr val="tx1"/>
              </a:solidFill>
              <a:latin typeface="MS UI Gothic" panose="020B0600070205080204" pitchFamily="34" charset="-128"/>
              <a:ea typeface="MS UI Gothic" panose="020B0600070205080204" pitchFamily="34" charset="-128"/>
            </a:endParaRPr>
          </a:p>
          <a:p>
            <a:pPr algn="ctr"/>
            <a:r>
              <a:rPr lang="ja-JP" altLang="en-US" sz="2400">
                <a:solidFill>
                  <a:schemeClr val="tx1"/>
                </a:solidFill>
                <a:latin typeface="MS UI Gothic" panose="020B0600070205080204" pitchFamily="34" charset="-128"/>
                <a:ea typeface="MS UI Gothic" panose="020B0600070205080204" pitchFamily="34" charset="-128"/>
              </a:rPr>
              <a:t>二極化</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30375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テキスト ボックス 21">
            <a:extLst>
              <a:ext uri="{FF2B5EF4-FFF2-40B4-BE49-F238E27FC236}">
                <a16:creationId xmlns:a16="http://schemas.microsoft.com/office/drawing/2014/main" id="{91A6FB52-7DD1-1FA1-9623-86F9E3B7D5A5}"/>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976775A6-C560-F319-E64E-5EE9EE687D0A}"/>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
        <p:nvSpPr>
          <p:cNvPr id="26" name="角丸四角形 25">
            <a:extLst>
              <a:ext uri="{FF2B5EF4-FFF2-40B4-BE49-F238E27FC236}">
                <a16:creationId xmlns:a16="http://schemas.microsoft.com/office/drawing/2014/main" id="{320DC6A6-534E-3210-924D-E4D9E571A32A}"/>
              </a:ext>
            </a:extLst>
          </p:cNvPr>
          <p:cNvSpPr/>
          <p:nvPr/>
        </p:nvSpPr>
        <p:spPr>
          <a:xfrm>
            <a:off x="2802261" y="1643394"/>
            <a:ext cx="6591195" cy="58477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latin typeface="MS UI Gothic" panose="020B0600070205080204" pitchFamily="34" charset="-128"/>
                <a:ea typeface="MS UI Gothic" panose="020B0600070205080204" pitchFamily="34" charset="-128"/>
              </a:rPr>
              <a:t>成績不振　→　反転講義・演習問題の導入</a:t>
            </a:r>
          </a:p>
        </p:txBody>
      </p:sp>
      <p:sp>
        <p:nvSpPr>
          <p:cNvPr id="30" name="角丸四角形 29">
            <a:extLst>
              <a:ext uri="{FF2B5EF4-FFF2-40B4-BE49-F238E27FC236}">
                <a16:creationId xmlns:a16="http://schemas.microsoft.com/office/drawing/2014/main" id="{33A5F859-8062-685D-914A-65E4C71915C1}"/>
              </a:ext>
            </a:extLst>
          </p:cNvPr>
          <p:cNvSpPr/>
          <p:nvPr/>
        </p:nvSpPr>
        <p:spPr>
          <a:xfrm>
            <a:off x="1264901" y="3346543"/>
            <a:ext cx="3714087" cy="12311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教員</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「学生の困りがわからない」</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2" name="角丸四角形 31">
            <a:extLst>
              <a:ext uri="{FF2B5EF4-FFF2-40B4-BE49-F238E27FC236}">
                <a16:creationId xmlns:a16="http://schemas.microsoft.com/office/drawing/2014/main" id="{3B970D38-64FD-AF60-9F14-FD4D88410ACD}"/>
              </a:ext>
            </a:extLst>
          </p:cNvPr>
          <p:cNvSpPr/>
          <p:nvPr/>
        </p:nvSpPr>
        <p:spPr>
          <a:xfrm>
            <a:off x="6911928" y="3346543"/>
            <a:ext cx="4917837" cy="2388269"/>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学生の声</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「先生に聞きにくい」</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a:t>
            </a:r>
            <a:r>
              <a:rPr kumimoji="1" lang="ja-JP" altLang="en-US" sz="2400">
                <a:solidFill>
                  <a:schemeClr val="tx1"/>
                </a:solidFill>
                <a:latin typeface="MS UI Gothic" panose="020B0600070205080204" pitchFamily="34" charset="-128"/>
                <a:ea typeface="MS UI Gothic" panose="020B0600070205080204" pitchFamily="34" charset="-128"/>
              </a:rPr>
              <a:t>何度も質問して怒られないか不安」</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「疑問が未解決のまま試験を受けた」</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kumimoji="1" lang="ja-JP" altLang="en-US" sz="2400">
                <a:solidFill>
                  <a:schemeClr val="tx1"/>
                </a:solidFill>
                <a:latin typeface="MS UI Gothic" panose="020B0600070205080204" pitchFamily="34" charset="-128"/>
                <a:ea typeface="MS UI Gothic" panose="020B0600070205080204" pitchFamily="34" charset="-128"/>
              </a:rPr>
              <a:t>「夜中に疑問が生じても解決しない」</a:t>
            </a:r>
          </a:p>
        </p:txBody>
      </p:sp>
      <p:cxnSp>
        <p:nvCxnSpPr>
          <p:cNvPr id="34" name="直線矢印コネクタ 33">
            <a:extLst>
              <a:ext uri="{FF2B5EF4-FFF2-40B4-BE49-F238E27FC236}">
                <a16:creationId xmlns:a16="http://schemas.microsoft.com/office/drawing/2014/main" id="{261C6848-A484-3EDD-1FA7-949D2366909D}"/>
              </a:ext>
            </a:extLst>
          </p:cNvPr>
          <p:cNvCxnSpPr>
            <a:cxnSpLocks/>
          </p:cNvCxnSpPr>
          <p:nvPr/>
        </p:nvCxnSpPr>
        <p:spPr>
          <a:xfrm flipH="1">
            <a:off x="3121945" y="2228170"/>
            <a:ext cx="2975914"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2E6EA73E-175F-A940-B0AE-AFE21E3638EC}"/>
              </a:ext>
            </a:extLst>
          </p:cNvPr>
          <p:cNvCxnSpPr>
            <a:cxnSpLocks/>
          </p:cNvCxnSpPr>
          <p:nvPr/>
        </p:nvCxnSpPr>
        <p:spPr>
          <a:xfrm>
            <a:off x="6205077" y="2228170"/>
            <a:ext cx="3272988"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6627012B-C330-40F6-BFAD-CEA605E81E48}"/>
              </a:ext>
            </a:extLst>
          </p:cNvPr>
          <p:cNvSpPr txBox="1"/>
          <p:nvPr/>
        </p:nvSpPr>
        <p:spPr>
          <a:xfrm>
            <a:off x="3462793" y="2556524"/>
            <a:ext cx="2294218" cy="461665"/>
          </a:xfrm>
          <a:prstGeom prst="rect">
            <a:avLst/>
          </a:prstGeom>
          <a:solidFill>
            <a:schemeClr val="tx1"/>
          </a:solidFill>
          <a:ln>
            <a:solidFill>
              <a:schemeClr val="bg1"/>
            </a:solidFill>
          </a:ln>
        </p:spPr>
        <p:txBody>
          <a:bodyPr wrap="none" rtlCol="0">
            <a:spAutoFit/>
          </a:bodyPr>
          <a:lstStyle/>
          <a:p>
            <a:r>
              <a:rPr lang="ja-JP" altLang="en-US" sz="2400">
                <a:solidFill>
                  <a:schemeClr val="bg1"/>
                </a:solidFill>
                <a:latin typeface="MS UI Gothic" panose="020B0600070205080204" pitchFamily="34" charset="-128"/>
                <a:ea typeface="MS UI Gothic" panose="020B0600070205080204" pitchFamily="34" charset="-128"/>
              </a:rPr>
              <a:t>教員「</a:t>
            </a:r>
            <a:r>
              <a:rPr kumimoji="1" lang="ja-JP" altLang="en-US" sz="2400">
                <a:solidFill>
                  <a:schemeClr val="bg1"/>
                </a:solidFill>
                <a:latin typeface="MS UI Gothic" panose="020B0600070205080204" pitchFamily="34" charset="-128"/>
                <a:ea typeface="MS UI Gothic" panose="020B0600070205080204" pitchFamily="34" charset="-128"/>
              </a:rPr>
              <a:t>対策は？」</a:t>
            </a:r>
          </a:p>
        </p:txBody>
      </p:sp>
      <p:sp>
        <p:nvSpPr>
          <p:cNvPr id="38" name="テキスト ボックス 37">
            <a:extLst>
              <a:ext uri="{FF2B5EF4-FFF2-40B4-BE49-F238E27FC236}">
                <a16:creationId xmlns:a16="http://schemas.microsoft.com/office/drawing/2014/main" id="{C0E3DB65-6341-3623-3243-773BDD3EE6B7}"/>
              </a:ext>
            </a:extLst>
          </p:cNvPr>
          <p:cNvSpPr txBox="1"/>
          <p:nvPr/>
        </p:nvSpPr>
        <p:spPr>
          <a:xfrm>
            <a:off x="6550993" y="2556524"/>
            <a:ext cx="2581156" cy="461665"/>
          </a:xfrm>
          <a:prstGeom prst="rect">
            <a:avLst/>
          </a:prstGeom>
          <a:solidFill>
            <a:schemeClr val="tx1"/>
          </a:solidFill>
          <a:ln>
            <a:solidFill>
              <a:schemeClr val="bg1"/>
            </a:solidFill>
          </a:ln>
        </p:spPr>
        <p:txBody>
          <a:bodyPr wrap="none" rtlCol="0">
            <a:spAutoFit/>
          </a:bodyPr>
          <a:lstStyle/>
          <a:p>
            <a:r>
              <a:rPr kumimoji="1" lang="ja-JP" altLang="en-US" sz="2400">
                <a:solidFill>
                  <a:schemeClr val="bg1"/>
                </a:solidFill>
                <a:latin typeface="MS UI Gothic" panose="020B0600070205080204" pitchFamily="34" charset="-128"/>
                <a:ea typeface="MS UI Gothic" panose="020B0600070205080204" pitchFamily="34" charset="-128"/>
              </a:rPr>
              <a:t>成績不振者に面談</a:t>
            </a:r>
          </a:p>
        </p:txBody>
      </p:sp>
      <p:sp>
        <p:nvSpPr>
          <p:cNvPr id="2" name="円形吹き出し 1">
            <a:extLst>
              <a:ext uri="{FF2B5EF4-FFF2-40B4-BE49-F238E27FC236}">
                <a16:creationId xmlns:a16="http://schemas.microsoft.com/office/drawing/2014/main" id="{5856F926-A2BB-1B31-82A7-C5D23F705B2B}"/>
              </a:ext>
            </a:extLst>
          </p:cNvPr>
          <p:cNvSpPr/>
          <p:nvPr/>
        </p:nvSpPr>
        <p:spPr>
          <a:xfrm>
            <a:off x="9026291" y="271384"/>
            <a:ext cx="1650732" cy="1250714"/>
          </a:xfrm>
          <a:prstGeom prst="wedgeEllipseCallout">
            <a:avLst>
              <a:gd name="adj1" fmla="val -67723"/>
              <a:gd name="adj2" fmla="val 6626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tx1"/>
                </a:solidFill>
                <a:latin typeface="MS UI Gothic" panose="020B0600070205080204" pitchFamily="34" charset="-128"/>
                <a:ea typeface="MS UI Gothic" panose="020B0600070205080204" pitchFamily="34" charset="-128"/>
              </a:rPr>
              <a:t>成績の</a:t>
            </a:r>
            <a:endParaRPr lang="en-US" altLang="ja-JP" sz="2400" dirty="0">
              <a:solidFill>
                <a:schemeClr val="tx1"/>
              </a:solidFill>
              <a:latin typeface="MS UI Gothic" panose="020B0600070205080204" pitchFamily="34" charset="-128"/>
              <a:ea typeface="MS UI Gothic" panose="020B0600070205080204" pitchFamily="34" charset="-128"/>
            </a:endParaRPr>
          </a:p>
          <a:p>
            <a:pPr algn="ctr"/>
            <a:r>
              <a:rPr lang="ja-JP" altLang="en-US" sz="2400">
                <a:solidFill>
                  <a:schemeClr val="tx1"/>
                </a:solidFill>
                <a:latin typeface="MS UI Gothic" panose="020B0600070205080204" pitchFamily="34" charset="-128"/>
                <a:ea typeface="MS UI Gothic" panose="020B0600070205080204" pitchFamily="34" charset="-128"/>
              </a:rPr>
              <a:t>二極化</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 name="円形吹き出し 2">
            <a:extLst>
              <a:ext uri="{FF2B5EF4-FFF2-40B4-BE49-F238E27FC236}">
                <a16:creationId xmlns:a16="http://schemas.microsoft.com/office/drawing/2014/main" id="{A89E79D4-7497-E90A-09DB-C027938C0FB7}"/>
              </a:ext>
            </a:extLst>
          </p:cNvPr>
          <p:cNvSpPr/>
          <p:nvPr/>
        </p:nvSpPr>
        <p:spPr>
          <a:xfrm>
            <a:off x="9478986" y="2013365"/>
            <a:ext cx="1650732" cy="1250714"/>
          </a:xfrm>
          <a:prstGeom prst="wedgeEllipseCallout">
            <a:avLst>
              <a:gd name="adj1" fmla="val -63650"/>
              <a:gd name="adj2" fmla="val 11895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rgbClr val="FF0000"/>
                </a:solidFill>
                <a:latin typeface="MS UI Gothic" panose="020B0600070205080204" pitchFamily="34" charset="-128"/>
                <a:ea typeface="MS UI Gothic" panose="020B0600070205080204" pitchFamily="34" charset="-128"/>
              </a:rPr>
              <a:t>心理的障壁</a:t>
            </a:r>
            <a:endParaRPr lang="en-US" altLang="ja-JP" sz="2400" dirty="0">
              <a:solidFill>
                <a:srgbClr val="FF0000"/>
              </a:solidFill>
              <a:latin typeface="MS UI Gothic" panose="020B0600070205080204" pitchFamily="34" charset="-128"/>
              <a:ea typeface="MS UI Gothic" panose="020B0600070205080204" pitchFamily="34" charset="-128"/>
            </a:endParaRPr>
          </a:p>
        </p:txBody>
      </p:sp>
      <p:sp>
        <p:nvSpPr>
          <p:cNvPr id="4" name="円形吹き出し 3">
            <a:extLst>
              <a:ext uri="{FF2B5EF4-FFF2-40B4-BE49-F238E27FC236}">
                <a16:creationId xmlns:a16="http://schemas.microsoft.com/office/drawing/2014/main" id="{C5D80DE7-FA45-F6A8-84E2-BF7574F0D8B9}"/>
              </a:ext>
            </a:extLst>
          </p:cNvPr>
          <p:cNvSpPr/>
          <p:nvPr/>
        </p:nvSpPr>
        <p:spPr>
          <a:xfrm>
            <a:off x="10399959" y="2964130"/>
            <a:ext cx="1650732" cy="1250714"/>
          </a:xfrm>
          <a:prstGeom prst="wedgeEllipseCallout">
            <a:avLst>
              <a:gd name="adj1" fmla="val -44914"/>
              <a:gd name="adj2" fmla="val 9637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rgbClr val="FF0000"/>
                </a:solidFill>
                <a:latin typeface="MS UI Gothic" panose="020B0600070205080204" pitchFamily="34" charset="-128"/>
                <a:ea typeface="MS UI Gothic" panose="020B0600070205080204" pitchFamily="34" charset="-128"/>
              </a:rPr>
              <a:t>時間的制約</a:t>
            </a:r>
            <a:endParaRPr lang="en-US" altLang="ja-JP" sz="2400" dirty="0">
              <a:solidFill>
                <a:srgbClr val="FF0000"/>
              </a:solidFill>
              <a:latin typeface="MS UI Gothic" panose="020B0600070205080204" pitchFamily="34" charset="-128"/>
              <a:ea typeface="MS UI Gothic" panose="020B0600070205080204"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51AF9-ACF0-9703-4D6E-716728EB23D7}"/>
            </a:ext>
          </a:extLst>
        </p:cNvPr>
        <p:cNvGrpSpPr/>
        <p:nvPr/>
      </p:nvGrpSpPr>
      <p:grpSpPr>
        <a:xfrm>
          <a:off x="0" y="0"/>
          <a:ext cx="0" cy="0"/>
          <a:chOff x="0" y="0"/>
          <a:chExt cx="0" cy="0"/>
        </a:xfrm>
      </p:grpSpPr>
      <p:sp>
        <p:nvSpPr>
          <p:cNvPr id="22" name="テキスト ボックス 21">
            <a:extLst>
              <a:ext uri="{FF2B5EF4-FFF2-40B4-BE49-F238E27FC236}">
                <a16:creationId xmlns:a16="http://schemas.microsoft.com/office/drawing/2014/main" id="{E2FB68D8-41D3-C61C-FC78-D8B7137813BB}"/>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697DBCD3-D954-BEC3-A4DD-AAD538BDC0D2}"/>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
        <p:nvSpPr>
          <p:cNvPr id="26" name="角丸四角形 25">
            <a:extLst>
              <a:ext uri="{FF2B5EF4-FFF2-40B4-BE49-F238E27FC236}">
                <a16:creationId xmlns:a16="http://schemas.microsoft.com/office/drawing/2014/main" id="{DB615E22-E006-2871-5977-E0430D85E85A}"/>
              </a:ext>
            </a:extLst>
          </p:cNvPr>
          <p:cNvSpPr/>
          <p:nvPr/>
        </p:nvSpPr>
        <p:spPr>
          <a:xfrm>
            <a:off x="2802261" y="1643394"/>
            <a:ext cx="6591195" cy="58477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latin typeface="MS UI Gothic" panose="020B0600070205080204" pitchFamily="34" charset="-128"/>
                <a:ea typeface="MS UI Gothic" panose="020B0600070205080204" pitchFamily="34" charset="-128"/>
              </a:rPr>
              <a:t>成績不振　→　反転講義・演習問題の導入</a:t>
            </a:r>
          </a:p>
        </p:txBody>
      </p:sp>
      <p:sp>
        <p:nvSpPr>
          <p:cNvPr id="30" name="角丸四角形 29">
            <a:extLst>
              <a:ext uri="{FF2B5EF4-FFF2-40B4-BE49-F238E27FC236}">
                <a16:creationId xmlns:a16="http://schemas.microsoft.com/office/drawing/2014/main" id="{109CE662-381F-FFDD-6F81-5D7AEE1C477E}"/>
              </a:ext>
            </a:extLst>
          </p:cNvPr>
          <p:cNvSpPr/>
          <p:nvPr/>
        </p:nvSpPr>
        <p:spPr>
          <a:xfrm>
            <a:off x="1264901" y="3346543"/>
            <a:ext cx="4015172" cy="12311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教員</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「学生の困り事がわからない」</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2" name="角丸四角形 31">
            <a:extLst>
              <a:ext uri="{FF2B5EF4-FFF2-40B4-BE49-F238E27FC236}">
                <a16:creationId xmlns:a16="http://schemas.microsoft.com/office/drawing/2014/main" id="{3ED1C61B-F96E-5551-54AA-65990F0AA841}"/>
              </a:ext>
            </a:extLst>
          </p:cNvPr>
          <p:cNvSpPr/>
          <p:nvPr/>
        </p:nvSpPr>
        <p:spPr>
          <a:xfrm>
            <a:off x="6911928" y="3346543"/>
            <a:ext cx="4917837" cy="2388269"/>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学生の声</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「先生に聞きにくい」</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a:t>
            </a:r>
            <a:r>
              <a:rPr kumimoji="1" lang="ja-JP" altLang="en-US" sz="2400">
                <a:solidFill>
                  <a:schemeClr val="tx1"/>
                </a:solidFill>
                <a:latin typeface="MS UI Gothic" panose="020B0600070205080204" pitchFamily="34" charset="-128"/>
                <a:ea typeface="MS UI Gothic" panose="020B0600070205080204" pitchFamily="34" charset="-128"/>
              </a:rPr>
              <a:t>何度も質問して怒られないか不安」</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「疑問が未解決のまま試験を受けた」</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kumimoji="1" lang="ja-JP" altLang="en-US" sz="2400">
                <a:solidFill>
                  <a:schemeClr val="tx1"/>
                </a:solidFill>
                <a:latin typeface="MS UI Gothic" panose="020B0600070205080204" pitchFamily="34" charset="-128"/>
                <a:ea typeface="MS UI Gothic" panose="020B0600070205080204" pitchFamily="34" charset="-128"/>
              </a:rPr>
              <a:t>「夜中に疑問が生じても解決しない」</a:t>
            </a:r>
          </a:p>
        </p:txBody>
      </p:sp>
      <p:cxnSp>
        <p:nvCxnSpPr>
          <p:cNvPr id="34" name="直線矢印コネクタ 33">
            <a:extLst>
              <a:ext uri="{FF2B5EF4-FFF2-40B4-BE49-F238E27FC236}">
                <a16:creationId xmlns:a16="http://schemas.microsoft.com/office/drawing/2014/main" id="{71F50EE4-F16C-A115-D939-B95DAB05E98F}"/>
              </a:ext>
            </a:extLst>
          </p:cNvPr>
          <p:cNvCxnSpPr>
            <a:cxnSpLocks/>
          </p:cNvCxnSpPr>
          <p:nvPr/>
        </p:nvCxnSpPr>
        <p:spPr>
          <a:xfrm flipH="1">
            <a:off x="3121945" y="2228170"/>
            <a:ext cx="2975914"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FC0E5D4E-DDFC-CEEF-A0B7-9262F98CB906}"/>
              </a:ext>
            </a:extLst>
          </p:cNvPr>
          <p:cNvCxnSpPr>
            <a:cxnSpLocks/>
          </p:cNvCxnSpPr>
          <p:nvPr/>
        </p:nvCxnSpPr>
        <p:spPr>
          <a:xfrm>
            <a:off x="6205077" y="2228170"/>
            <a:ext cx="3272988"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8649F324-7D8E-E236-C44C-0EE6EBEE691B}"/>
              </a:ext>
            </a:extLst>
          </p:cNvPr>
          <p:cNvSpPr txBox="1"/>
          <p:nvPr/>
        </p:nvSpPr>
        <p:spPr>
          <a:xfrm>
            <a:off x="3462793" y="2556524"/>
            <a:ext cx="2294218" cy="461665"/>
          </a:xfrm>
          <a:prstGeom prst="rect">
            <a:avLst/>
          </a:prstGeom>
          <a:solidFill>
            <a:schemeClr val="tx1"/>
          </a:solidFill>
          <a:ln>
            <a:solidFill>
              <a:schemeClr val="bg1"/>
            </a:solidFill>
          </a:ln>
        </p:spPr>
        <p:txBody>
          <a:bodyPr wrap="none" rtlCol="0">
            <a:spAutoFit/>
          </a:bodyPr>
          <a:lstStyle/>
          <a:p>
            <a:r>
              <a:rPr lang="ja-JP" altLang="en-US" sz="2400">
                <a:solidFill>
                  <a:schemeClr val="bg1"/>
                </a:solidFill>
                <a:latin typeface="MS UI Gothic" panose="020B0600070205080204" pitchFamily="34" charset="-128"/>
                <a:ea typeface="MS UI Gothic" panose="020B0600070205080204" pitchFamily="34" charset="-128"/>
              </a:rPr>
              <a:t>教員「</a:t>
            </a:r>
            <a:r>
              <a:rPr kumimoji="1" lang="ja-JP" altLang="en-US" sz="2400">
                <a:solidFill>
                  <a:schemeClr val="bg1"/>
                </a:solidFill>
                <a:latin typeface="MS UI Gothic" panose="020B0600070205080204" pitchFamily="34" charset="-128"/>
                <a:ea typeface="MS UI Gothic" panose="020B0600070205080204" pitchFamily="34" charset="-128"/>
              </a:rPr>
              <a:t>対策は？」</a:t>
            </a:r>
          </a:p>
        </p:txBody>
      </p:sp>
      <p:sp>
        <p:nvSpPr>
          <p:cNvPr id="38" name="テキスト ボックス 37">
            <a:extLst>
              <a:ext uri="{FF2B5EF4-FFF2-40B4-BE49-F238E27FC236}">
                <a16:creationId xmlns:a16="http://schemas.microsoft.com/office/drawing/2014/main" id="{2F78E984-1D29-0E30-15F2-6E34056D47C1}"/>
              </a:ext>
            </a:extLst>
          </p:cNvPr>
          <p:cNvSpPr txBox="1"/>
          <p:nvPr/>
        </p:nvSpPr>
        <p:spPr>
          <a:xfrm>
            <a:off x="6550993" y="2556524"/>
            <a:ext cx="2581156" cy="461665"/>
          </a:xfrm>
          <a:prstGeom prst="rect">
            <a:avLst/>
          </a:prstGeom>
          <a:solidFill>
            <a:schemeClr val="tx1"/>
          </a:solidFill>
          <a:ln>
            <a:solidFill>
              <a:schemeClr val="bg1"/>
            </a:solidFill>
          </a:ln>
        </p:spPr>
        <p:txBody>
          <a:bodyPr wrap="none" rtlCol="0">
            <a:spAutoFit/>
          </a:bodyPr>
          <a:lstStyle/>
          <a:p>
            <a:r>
              <a:rPr kumimoji="1" lang="ja-JP" altLang="en-US" sz="2400">
                <a:solidFill>
                  <a:schemeClr val="bg1"/>
                </a:solidFill>
                <a:latin typeface="MS UI Gothic" panose="020B0600070205080204" pitchFamily="34" charset="-128"/>
                <a:ea typeface="MS UI Gothic" panose="020B0600070205080204" pitchFamily="34" charset="-128"/>
              </a:rPr>
              <a:t>成績不振者に面談</a:t>
            </a:r>
          </a:p>
        </p:txBody>
      </p:sp>
      <p:sp>
        <p:nvSpPr>
          <p:cNvPr id="43" name="角丸四角形 42">
            <a:extLst>
              <a:ext uri="{FF2B5EF4-FFF2-40B4-BE49-F238E27FC236}">
                <a16:creationId xmlns:a16="http://schemas.microsoft.com/office/drawing/2014/main" id="{8501840F-0C6F-D429-FF2E-B6F657C2EA78}"/>
              </a:ext>
            </a:extLst>
          </p:cNvPr>
          <p:cNvSpPr/>
          <p:nvPr/>
        </p:nvSpPr>
        <p:spPr>
          <a:xfrm>
            <a:off x="1421812" y="4718928"/>
            <a:ext cx="4674188" cy="2031767"/>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a:solidFill>
                  <a:srgbClr val="FFFF00"/>
                </a:solidFill>
                <a:latin typeface="MS UI Gothic" panose="020B0600070205080204" pitchFamily="34" charset="-128"/>
                <a:ea typeface="MS UI Gothic" panose="020B0600070205080204" pitchFamily="34" charset="-128"/>
              </a:rPr>
              <a:t>解決策</a:t>
            </a:r>
            <a:endParaRPr kumimoji="1" lang="en-US" altLang="ja-JP" sz="2800" dirty="0">
              <a:solidFill>
                <a:srgbClr val="FFFF00"/>
              </a:solidFill>
              <a:latin typeface="MS UI Gothic" panose="020B0600070205080204" pitchFamily="34" charset="-128"/>
              <a:ea typeface="MS UI Gothic" panose="020B0600070205080204" pitchFamily="34" charset="-128"/>
            </a:endParaRPr>
          </a:p>
          <a:p>
            <a:r>
              <a:rPr lang="ja-JP" altLang="en-US" sz="2800">
                <a:solidFill>
                  <a:srgbClr val="FFFF00"/>
                </a:solidFill>
                <a:latin typeface="MS UI Gothic" panose="020B0600070205080204" pitchFamily="34" charset="-128"/>
                <a:ea typeface="MS UI Gothic" panose="020B0600070205080204" pitchFamily="34" charset="-128"/>
              </a:rPr>
              <a:t>・学生のモバイルで学習できる</a:t>
            </a:r>
            <a:endParaRPr lang="en-US" altLang="ja-JP" sz="2800" dirty="0">
              <a:solidFill>
                <a:srgbClr val="FFFF00"/>
              </a:solidFill>
              <a:latin typeface="MS UI Gothic" panose="020B0600070205080204" pitchFamily="34" charset="-128"/>
              <a:ea typeface="MS UI Gothic" panose="020B0600070205080204" pitchFamily="34" charset="-128"/>
            </a:endParaRPr>
          </a:p>
          <a:p>
            <a:r>
              <a:rPr kumimoji="1" lang="ja-JP" altLang="en-US" sz="2800">
                <a:solidFill>
                  <a:srgbClr val="FFFF00"/>
                </a:solidFill>
                <a:latin typeface="MS UI Gothic" panose="020B0600070205080204" pitchFamily="34" charset="-128"/>
                <a:ea typeface="MS UI Gothic" panose="020B0600070205080204" pitchFamily="34" charset="-128"/>
              </a:rPr>
              <a:t>・</a:t>
            </a:r>
            <a:r>
              <a:rPr kumimoji="1" lang="en-US" altLang="ja-JP" sz="2800" dirty="0">
                <a:solidFill>
                  <a:srgbClr val="FFFF00"/>
                </a:solidFill>
                <a:latin typeface="MS UI Gothic" panose="020B0600070205080204" pitchFamily="34" charset="-128"/>
                <a:ea typeface="MS UI Gothic" panose="020B0600070205080204" pitchFamily="34" charset="-128"/>
              </a:rPr>
              <a:t>24</a:t>
            </a:r>
            <a:r>
              <a:rPr kumimoji="1" lang="ja-JP" altLang="en-US" sz="2800">
                <a:solidFill>
                  <a:srgbClr val="FFFF00"/>
                </a:solidFill>
                <a:latin typeface="MS UI Gothic" panose="020B0600070205080204" pitchFamily="34" charset="-128"/>
                <a:ea typeface="MS UI Gothic" panose="020B0600070205080204" pitchFamily="34" charset="-128"/>
              </a:rPr>
              <a:t>時間いつでも質問対応</a:t>
            </a:r>
            <a:endParaRPr kumimoji="1" lang="en-US" altLang="ja-JP" sz="2800" dirty="0">
              <a:solidFill>
                <a:srgbClr val="FFFF00"/>
              </a:solidFill>
              <a:latin typeface="MS UI Gothic" panose="020B0600070205080204" pitchFamily="34" charset="-128"/>
              <a:ea typeface="MS UI Gothic" panose="020B0600070205080204" pitchFamily="34" charset="-128"/>
            </a:endParaRPr>
          </a:p>
          <a:p>
            <a:r>
              <a:rPr lang="ja-JP" altLang="en-US" sz="2800">
                <a:solidFill>
                  <a:srgbClr val="FFFF00"/>
                </a:solidFill>
                <a:latin typeface="MS UI Gothic" panose="020B0600070205080204" pitchFamily="34" charset="-128"/>
                <a:ea typeface="MS UI Gothic" panose="020B0600070205080204" pitchFamily="34" charset="-128"/>
              </a:rPr>
              <a:t>・学生の学習状況の把握</a:t>
            </a:r>
            <a:endParaRPr kumimoji="1" lang="ja-JP" altLang="en-US" sz="2800">
              <a:solidFill>
                <a:srgbClr val="FFFF00"/>
              </a:solidFill>
              <a:latin typeface="MS UI Gothic" panose="020B0600070205080204" pitchFamily="34" charset="-128"/>
              <a:ea typeface="MS UI Gothic" panose="020B0600070205080204" pitchFamily="34" charset="-128"/>
            </a:endParaRPr>
          </a:p>
        </p:txBody>
      </p:sp>
      <p:sp>
        <p:nvSpPr>
          <p:cNvPr id="2" name="円形吹き出し 1">
            <a:extLst>
              <a:ext uri="{FF2B5EF4-FFF2-40B4-BE49-F238E27FC236}">
                <a16:creationId xmlns:a16="http://schemas.microsoft.com/office/drawing/2014/main" id="{BE93C616-EDBA-FBFE-3D46-647425035CD7}"/>
              </a:ext>
            </a:extLst>
          </p:cNvPr>
          <p:cNvSpPr/>
          <p:nvPr/>
        </p:nvSpPr>
        <p:spPr>
          <a:xfrm>
            <a:off x="9026291" y="271384"/>
            <a:ext cx="1650732" cy="1250714"/>
          </a:xfrm>
          <a:prstGeom prst="wedgeEllipseCallout">
            <a:avLst>
              <a:gd name="adj1" fmla="val -67723"/>
              <a:gd name="adj2" fmla="val 6626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tx1"/>
                </a:solidFill>
                <a:latin typeface="MS UI Gothic" panose="020B0600070205080204" pitchFamily="34" charset="-128"/>
                <a:ea typeface="MS UI Gothic" panose="020B0600070205080204" pitchFamily="34" charset="-128"/>
              </a:rPr>
              <a:t>成績の</a:t>
            </a:r>
            <a:endParaRPr lang="en-US" altLang="ja-JP" sz="2400" dirty="0">
              <a:solidFill>
                <a:schemeClr val="tx1"/>
              </a:solidFill>
              <a:latin typeface="MS UI Gothic" panose="020B0600070205080204" pitchFamily="34" charset="-128"/>
              <a:ea typeface="MS UI Gothic" panose="020B0600070205080204" pitchFamily="34" charset="-128"/>
            </a:endParaRPr>
          </a:p>
          <a:p>
            <a:pPr algn="ctr"/>
            <a:r>
              <a:rPr lang="ja-JP" altLang="en-US" sz="2400">
                <a:solidFill>
                  <a:schemeClr val="tx1"/>
                </a:solidFill>
                <a:latin typeface="MS UI Gothic" panose="020B0600070205080204" pitchFamily="34" charset="-128"/>
                <a:ea typeface="MS UI Gothic" panose="020B0600070205080204" pitchFamily="34" charset="-128"/>
              </a:rPr>
              <a:t>二極化</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 name="円形吹き出し 2">
            <a:extLst>
              <a:ext uri="{FF2B5EF4-FFF2-40B4-BE49-F238E27FC236}">
                <a16:creationId xmlns:a16="http://schemas.microsoft.com/office/drawing/2014/main" id="{F5CF84AE-C231-B283-4370-9AE1FECB4A2B}"/>
              </a:ext>
            </a:extLst>
          </p:cNvPr>
          <p:cNvSpPr/>
          <p:nvPr/>
        </p:nvSpPr>
        <p:spPr>
          <a:xfrm>
            <a:off x="9478986" y="2013365"/>
            <a:ext cx="1650732" cy="1250714"/>
          </a:xfrm>
          <a:prstGeom prst="wedgeEllipseCallout">
            <a:avLst>
              <a:gd name="adj1" fmla="val -63650"/>
              <a:gd name="adj2" fmla="val 11895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rgbClr val="FF0000"/>
                </a:solidFill>
                <a:latin typeface="MS UI Gothic" panose="020B0600070205080204" pitchFamily="34" charset="-128"/>
                <a:ea typeface="MS UI Gothic" panose="020B0600070205080204" pitchFamily="34" charset="-128"/>
              </a:rPr>
              <a:t>心理的抵抗</a:t>
            </a:r>
            <a:endParaRPr lang="en-US" altLang="ja-JP" sz="2400" dirty="0">
              <a:solidFill>
                <a:srgbClr val="FF0000"/>
              </a:solidFill>
              <a:latin typeface="MS UI Gothic" panose="020B0600070205080204" pitchFamily="34" charset="-128"/>
              <a:ea typeface="MS UI Gothic" panose="020B0600070205080204" pitchFamily="34" charset="-128"/>
            </a:endParaRPr>
          </a:p>
        </p:txBody>
      </p:sp>
      <p:sp>
        <p:nvSpPr>
          <p:cNvPr id="4" name="円形吹き出し 3">
            <a:extLst>
              <a:ext uri="{FF2B5EF4-FFF2-40B4-BE49-F238E27FC236}">
                <a16:creationId xmlns:a16="http://schemas.microsoft.com/office/drawing/2014/main" id="{729086C1-C938-3528-7F00-E42ECDC454DB}"/>
              </a:ext>
            </a:extLst>
          </p:cNvPr>
          <p:cNvSpPr/>
          <p:nvPr/>
        </p:nvSpPr>
        <p:spPr>
          <a:xfrm>
            <a:off x="10399959" y="2964130"/>
            <a:ext cx="1650732" cy="1250714"/>
          </a:xfrm>
          <a:prstGeom prst="wedgeEllipseCallout">
            <a:avLst>
              <a:gd name="adj1" fmla="val -44914"/>
              <a:gd name="adj2" fmla="val 9637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rgbClr val="FF0000"/>
                </a:solidFill>
                <a:latin typeface="MS UI Gothic" panose="020B0600070205080204" pitchFamily="34" charset="-128"/>
                <a:ea typeface="MS UI Gothic" panose="020B0600070205080204" pitchFamily="34" charset="-128"/>
              </a:rPr>
              <a:t>時間的制約</a:t>
            </a:r>
            <a:endParaRPr lang="en-US" altLang="ja-JP" sz="2400" dirty="0">
              <a:solidFill>
                <a:srgbClr val="FF0000"/>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105726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descr="A_digital_illustration_showcases_a_magical_setting.png">
            <a:extLst>
              <a:ext uri="{FF2B5EF4-FFF2-40B4-BE49-F238E27FC236}">
                <a16:creationId xmlns:a16="http://schemas.microsoft.com/office/drawing/2014/main" id="{7EC360DB-2BB5-CF69-D886-7B2C7BAF2341}"/>
              </a:ext>
            </a:extLst>
          </p:cNvPr>
          <p:cNvPicPr>
            <a:picLocks noChangeAspect="1"/>
          </p:cNvPicPr>
          <p:nvPr/>
        </p:nvPicPr>
        <p:blipFill>
          <a:blip r:embed="rId3"/>
          <a:stretch>
            <a:fillRect/>
          </a:stretch>
        </p:blipFill>
        <p:spPr>
          <a:xfrm>
            <a:off x="0" y="0"/>
            <a:ext cx="12188952" cy="6858000"/>
          </a:xfrm>
          <a:prstGeom prst="rect">
            <a:avLst/>
          </a:prstGeom>
        </p:spPr>
      </p:pic>
      <p:sp>
        <p:nvSpPr>
          <p:cNvPr id="6" name="TextBox 2">
            <a:extLst>
              <a:ext uri="{FF2B5EF4-FFF2-40B4-BE49-F238E27FC236}">
                <a16:creationId xmlns:a16="http://schemas.microsoft.com/office/drawing/2014/main" id="{1ECC22E1-9A57-0ADD-CA77-CA17CA0E5601}"/>
              </a:ext>
            </a:extLst>
          </p:cNvPr>
          <p:cNvSpPr txBox="1"/>
          <p:nvPr/>
        </p:nvSpPr>
        <p:spPr>
          <a:xfrm>
            <a:off x="1828800" y="3840480"/>
            <a:ext cx="8503920" cy="914400"/>
          </a:xfrm>
          <a:prstGeom prst="rect">
            <a:avLst/>
          </a:prstGeom>
          <a:noFill/>
        </p:spPr>
        <p:txBody>
          <a:bodyPr wrap="none">
            <a:spAutoFit/>
          </a:bodyPr>
          <a:lstStyle/>
          <a:p>
            <a:pPr algn="ctr"/>
            <a:r>
              <a:rPr sz="2800" dirty="0" err="1">
                <a:solidFill>
                  <a:srgbClr val="FFFFFF"/>
                </a:solidFill>
                <a:latin typeface="MS Mincho"/>
              </a:rPr>
              <a:t>AIを活用した学習支援システム</a:t>
            </a:r>
            <a:endParaRPr sz="2800" dirty="0">
              <a:solidFill>
                <a:srgbClr val="FFFFFF"/>
              </a:solidFill>
              <a:latin typeface="MS Minch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474D6-D0DE-B8D2-CEA5-2D230A5625FD}"/>
            </a:ext>
          </a:extLst>
        </p:cNvPr>
        <p:cNvGrpSpPr/>
        <p:nvPr/>
      </p:nvGrpSpPr>
      <p:grpSpPr>
        <a:xfrm>
          <a:off x="0" y="0"/>
          <a:ext cx="0" cy="0"/>
          <a:chOff x="0" y="0"/>
          <a:chExt cx="0" cy="0"/>
        </a:xfrm>
      </p:grpSpPr>
      <p:sp>
        <p:nvSpPr>
          <p:cNvPr id="6" name="角丸四角形 5">
            <a:extLst>
              <a:ext uri="{FF2B5EF4-FFF2-40B4-BE49-F238E27FC236}">
                <a16:creationId xmlns:a16="http://schemas.microsoft.com/office/drawing/2014/main" id="{52E20E74-A02D-468C-3D6E-B00A23238465}"/>
              </a:ext>
            </a:extLst>
          </p:cNvPr>
          <p:cNvSpPr/>
          <p:nvPr/>
        </p:nvSpPr>
        <p:spPr>
          <a:xfrm>
            <a:off x="130633" y="1714497"/>
            <a:ext cx="6974188" cy="4767943"/>
          </a:xfrm>
          <a:prstGeom prst="roundRect">
            <a:avLst>
              <a:gd name="adj" fmla="val 63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76767C8-F5DD-1E7E-7496-29775DF10787}"/>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2</a:t>
            </a:r>
            <a:r>
              <a:rPr kumimoji="1" lang="ja-JP" altLang="en-US" sz="2800">
                <a:latin typeface="MS UI Gothic" panose="020B0600070205080204" pitchFamily="34" charset="-128"/>
                <a:ea typeface="MS UI Gothic" panose="020B0600070205080204" pitchFamily="34" charset="-128"/>
              </a:rPr>
              <a:t>）</a:t>
            </a:r>
          </a:p>
        </p:txBody>
      </p:sp>
      <p:sp>
        <p:nvSpPr>
          <p:cNvPr id="3" name="テキスト ボックス 2">
            <a:extLst>
              <a:ext uri="{FF2B5EF4-FFF2-40B4-BE49-F238E27FC236}">
                <a16:creationId xmlns:a16="http://schemas.microsoft.com/office/drawing/2014/main" id="{936ACB89-CE4A-1406-49BD-39857F8A2135}"/>
              </a:ext>
            </a:extLst>
          </p:cNvPr>
          <p:cNvSpPr txBox="1"/>
          <p:nvPr/>
        </p:nvSpPr>
        <p:spPr>
          <a:xfrm>
            <a:off x="540659" y="861247"/>
            <a:ext cx="5551520"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本研究の意義と将来への発展性</a:t>
            </a:r>
          </a:p>
        </p:txBody>
      </p:sp>
      <p:sp>
        <p:nvSpPr>
          <p:cNvPr id="4" name="テキスト ボックス 3">
            <a:extLst>
              <a:ext uri="{FF2B5EF4-FFF2-40B4-BE49-F238E27FC236}">
                <a16:creationId xmlns:a16="http://schemas.microsoft.com/office/drawing/2014/main" id="{231D068D-078B-E3A9-25D1-7F2FA5DF7D04}"/>
              </a:ext>
            </a:extLst>
          </p:cNvPr>
          <p:cNvSpPr txBox="1"/>
          <p:nvPr/>
        </p:nvSpPr>
        <p:spPr>
          <a:xfrm>
            <a:off x="165100" y="1943902"/>
            <a:ext cx="6058069" cy="1708160"/>
          </a:xfrm>
          <a:prstGeom prst="rect">
            <a:avLst/>
          </a:prstGeom>
          <a:noFill/>
        </p:spPr>
        <p:txBody>
          <a:bodyPr wrap="none" rtlCol="0">
            <a:spAutoFit/>
          </a:bodyPr>
          <a:lstStyle/>
          <a:p>
            <a:r>
              <a:rPr lang="en-US" altLang="ja-JP" sz="3200" dirty="0">
                <a:latin typeface="MS UI Gothic" panose="020B0600070205080204" pitchFamily="34" charset="-128"/>
                <a:ea typeface="MS UI Gothic" panose="020B0600070205080204" pitchFamily="34" charset="-128"/>
                <a:cs typeface="Yu Gothic" pitchFamily="34" charset="-120"/>
              </a:rPr>
              <a:t>🎯 </a:t>
            </a:r>
            <a:r>
              <a:rPr lang="en-US" altLang="ja-JP" sz="3200" dirty="0" err="1">
                <a:latin typeface="MS UI Gothic" panose="020B0600070205080204" pitchFamily="34" charset="-128"/>
                <a:ea typeface="MS UI Gothic" panose="020B0600070205080204" pitchFamily="34" charset="-128"/>
                <a:cs typeface="Yu Gothic" pitchFamily="34" charset="-120"/>
              </a:rPr>
              <a:t>主目的</a:t>
            </a:r>
            <a:r>
              <a:rPr lang="ja-JP" altLang="en-US" sz="3200">
                <a:latin typeface="MS UI Gothic" panose="020B0600070205080204" pitchFamily="34" charset="-128"/>
                <a:ea typeface="MS UI Gothic" panose="020B0600070205080204" pitchFamily="34" charset="-128"/>
                <a:cs typeface="Yu Gothic" pitchFamily="34" charset="-120"/>
              </a:rPr>
              <a:t>：</a:t>
            </a:r>
            <a:endParaRPr lang="en-US" altLang="ja-JP" sz="3200" dirty="0">
              <a:latin typeface="MS UI Gothic" panose="020B0600070205080204" pitchFamily="34" charset="-128"/>
              <a:ea typeface="MS UI Gothic" panose="020B0600070205080204" pitchFamily="34" charset="-128"/>
              <a:cs typeface="Yu Gothic" pitchFamily="34" charset="-120"/>
            </a:endParaRPr>
          </a:p>
          <a:p>
            <a:endParaRPr lang="en-US" altLang="ja-JP" sz="9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「魔法の黒板」が</a:t>
            </a:r>
            <a:r>
              <a:rPr lang="en-US" altLang="ja-JP" sz="3200" dirty="0" err="1">
                <a:latin typeface="MS UI Gothic" panose="020B0600070205080204" pitchFamily="34" charset="-128"/>
                <a:ea typeface="MS UI Gothic" panose="020B0600070205080204" pitchFamily="34" charset="-128"/>
                <a:cs typeface="Yu Gothic" pitchFamily="34" charset="-120"/>
              </a:rPr>
              <a:t>学生の学習成果に</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en-US" altLang="ja-JP" sz="3200" dirty="0" err="1">
                <a:latin typeface="MS UI Gothic" panose="020B0600070205080204" pitchFamily="34" charset="-128"/>
                <a:ea typeface="MS UI Gothic" panose="020B0600070205080204" pitchFamily="34" charset="-128"/>
                <a:cs typeface="Yu Gothic" pitchFamily="34" charset="-120"/>
              </a:rPr>
              <a:t>与える影響を明らかにする</a:t>
            </a:r>
            <a:endParaRPr lang="en-US" altLang="ja-JP" sz="3200" dirty="0">
              <a:latin typeface="MS UI Gothic" panose="020B0600070205080204" pitchFamily="34" charset="-128"/>
              <a:ea typeface="MS UI Gothic" panose="020B0600070205080204" pitchFamily="34" charset="-128"/>
            </a:endParaRPr>
          </a:p>
        </p:txBody>
      </p:sp>
      <p:sp>
        <p:nvSpPr>
          <p:cNvPr id="5" name="テキスト ボックス 4">
            <a:extLst>
              <a:ext uri="{FF2B5EF4-FFF2-40B4-BE49-F238E27FC236}">
                <a16:creationId xmlns:a16="http://schemas.microsoft.com/office/drawing/2014/main" id="{3469C74D-0316-1474-B611-3322C311D593}"/>
              </a:ext>
            </a:extLst>
          </p:cNvPr>
          <p:cNvSpPr txBox="1"/>
          <p:nvPr/>
        </p:nvSpPr>
        <p:spPr>
          <a:xfrm>
            <a:off x="165100" y="3927210"/>
            <a:ext cx="6939720" cy="2062103"/>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cs typeface="Yu Gothic" pitchFamily="34" charset="-120"/>
              </a:rPr>
              <a:t>📈</a:t>
            </a:r>
            <a:r>
              <a:rPr lang="en-US" altLang="ja-JP" sz="3200" dirty="0">
                <a:latin typeface="MS UI Gothic" panose="020B0600070205080204" pitchFamily="34" charset="-128"/>
                <a:ea typeface="MS UI Gothic" panose="020B0600070205080204" pitchFamily="34" charset="-128"/>
                <a:cs typeface="Yu Gothic" pitchFamily="34" charset="-120"/>
              </a:rPr>
              <a:t> </a:t>
            </a:r>
            <a:r>
              <a:rPr lang="ja-JP" altLang="en-US" sz="3200">
                <a:latin typeface="MS UI Gothic" panose="020B0600070205080204" pitchFamily="34" charset="-128"/>
                <a:ea typeface="MS UI Gothic" panose="020B0600070205080204" pitchFamily="34" charset="-128"/>
                <a:cs typeface="Yu Gothic" pitchFamily="34" charset="-120"/>
              </a:rPr>
              <a:t>副次的</a:t>
            </a:r>
            <a:r>
              <a:rPr lang="en-US" altLang="ja-JP" sz="3200" dirty="0" err="1">
                <a:latin typeface="MS UI Gothic" panose="020B0600070205080204" pitchFamily="34" charset="-128"/>
                <a:ea typeface="MS UI Gothic" panose="020B0600070205080204" pitchFamily="34" charset="-128"/>
                <a:cs typeface="Yu Gothic" pitchFamily="34" charset="-120"/>
              </a:rPr>
              <a:t>目的</a:t>
            </a:r>
            <a:r>
              <a:rPr lang="ja-JP" altLang="en-US" sz="3200">
                <a:latin typeface="MS UI Gothic" panose="020B0600070205080204" pitchFamily="34" charset="-128"/>
                <a:ea typeface="MS UI Gothic" panose="020B0600070205080204" pitchFamily="34" charset="-128"/>
                <a:cs typeface="Yu Gothic" pitchFamily="34" charset="-120"/>
              </a:rPr>
              <a:t>：</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　</a:t>
            </a:r>
            <a:r>
              <a:rPr lang="en-US" altLang="ja-JP" sz="3200" dirty="0">
                <a:latin typeface="MS UI Gothic" panose="020B0600070205080204" pitchFamily="34" charset="-128"/>
                <a:ea typeface="MS UI Gothic" panose="020B0600070205080204" pitchFamily="34" charset="-128"/>
                <a:cs typeface="Yu Gothic" pitchFamily="34" charset="-120"/>
              </a:rPr>
              <a:t>①</a:t>
            </a:r>
            <a:r>
              <a:rPr lang="en-US" altLang="ja-JP" sz="3200" dirty="0" err="1">
                <a:latin typeface="MS UI Gothic" panose="020B0600070205080204" pitchFamily="34" charset="-128"/>
                <a:ea typeface="MS UI Gothic" panose="020B0600070205080204" pitchFamily="34" charset="-128"/>
                <a:cs typeface="Yu Gothic" pitchFamily="34" charset="-120"/>
              </a:rPr>
              <a:t>学習行動・学習意欲の変化</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rPr>
              <a:t>　</a:t>
            </a:r>
            <a:r>
              <a:rPr lang="en-US" altLang="ja-JP" sz="3200" dirty="0">
                <a:latin typeface="MS UI Gothic" panose="020B0600070205080204" pitchFamily="34" charset="-128"/>
                <a:ea typeface="MS UI Gothic" panose="020B0600070205080204" pitchFamily="34" charset="-128"/>
              </a:rPr>
              <a:t>②</a:t>
            </a:r>
            <a:r>
              <a:rPr lang="en-US" altLang="ja-JP" sz="3200" dirty="0">
                <a:latin typeface="MS UI Gothic" panose="020B0600070205080204" pitchFamily="34" charset="-128"/>
                <a:ea typeface="MS UI Gothic" panose="020B0600070205080204" pitchFamily="34" charset="-128"/>
                <a:cs typeface="Yu Gothic" pitchFamily="34" charset="-120"/>
              </a:rPr>
              <a:t> 「</a:t>
            </a:r>
            <a:r>
              <a:rPr lang="en-US" altLang="ja-JP" sz="3200" dirty="0" err="1">
                <a:latin typeface="MS UI Gothic" panose="020B0600070205080204" pitchFamily="34" charset="-128"/>
                <a:ea typeface="MS UI Gothic" panose="020B0600070205080204" pitchFamily="34" charset="-128"/>
                <a:cs typeface="Yu Gothic" pitchFamily="34" charset="-120"/>
              </a:rPr>
              <a:t>つまずきの地図」の作成</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　→　</a:t>
            </a:r>
            <a:r>
              <a:rPr lang="en-US" altLang="ja-JP" sz="3200" dirty="0" err="1">
                <a:latin typeface="MS UI Gothic" panose="020B0600070205080204" pitchFamily="34" charset="-128"/>
                <a:ea typeface="MS UI Gothic" panose="020B0600070205080204" pitchFamily="34" charset="-128"/>
                <a:cs typeface="Yu Gothic" pitchFamily="34" charset="-120"/>
              </a:rPr>
              <a:t>講義改善</a:t>
            </a:r>
            <a:r>
              <a:rPr lang="ja-JP" altLang="en-US" sz="3200">
                <a:latin typeface="MS UI Gothic" panose="020B0600070205080204" pitchFamily="34" charset="-128"/>
                <a:ea typeface="MS UI Gothic" panose="020B0600070205080204" pitchFamily="34" charset="-128"/>
                <a:cs typeface="Yu Gothic" pitchFamily="34" charset="-120"/>
              </a:rPr>
              <a:t>・演習問題作成への活用</a:t>
            </a:r>
            <a:endParaRPr lang="en-US" altLang="ja-JP" sz="3200" dirty="0">
              <a:latin typeface="MS UI Gothic" panose="020B0600070205080204" pitchFamily="34" charset="-128"/>
              <a:ea typeface="MS UI Gothic" panose="020B0600070205080204" pitchFamily="34" charset="-128"/>
            </a:endParaRPr>
          </a:p>
        </p:txBody>
      </p:sp>
      <p:sp>
        <p:nvSpPr>
          <p:cNvPr id="8" name="角丸四角形 7">
            <a:extLst>
              <a:ext uri="{FF2B5EF4-FFF2-40B4-BE49-F238E27FC236}">
                <a16:creationId xmlns:a16="http://schemas.microsoft.com/office/drawing/2014/main" id="{124925CF-C033-6D08-9539-B4297AE1C79B}"/>
              </a:ext>
            </a:extLst>
          </p:cNvPr>
          <p:cNvSpPr/>
          <p:nvPr/>
        </p:nvSpPr>
        <p:spPr>
          <a:xfrm>
            <a:off x="7298881" y="1714496"/>
            <a:ext cx="4758949" cy="4767943"/>
          </a:xfrm>
          <a:prstGeom prst="roundRect">
            <a:avLst>
              <a:gd name="adj" fmla="val 63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D1A5FD9-52B6-B2DD-2168-B0FF8ACE76C3}"/>
              </a:ext>
            </a:extLst>
          </p:cNvPr>
          <p:cNvSpPr txBox="1"/>
          <p:nvPr/>
        </p:nvSpPr>
        <p:spPr>
          <a:xfrm>
            <a:off x="7805067" y="1943902"/>
            <a:ext cx="3316934"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🚀将来への発展性</a:t>
            </a:r>
          </a:p>
        </p:txBody>
      </p:sp>
      <p:sp>
        <p:nvSpPr>
          <p:cNvPr id="10" name="テキスト ボックス 9">
            <a:extLst>
              <a:ext uri="{FF2B5EF4-FFF2-40B4-BE49-F238E27FC236}">
                <a16:creationId xmlns:a16="http://schemas.microsoft.com/office/drawing/2014/main" id="{6A180D3E-D928-7F8F-163D-4A53F7ADE001}"/>
              </a:ext>
            </a:extLst>
          </p:cNvPr>
          <p:cNvSpPr txBox="1"/>
          <p:nvPr/>
        </p:nvSpPr>
        <p:spPr>
          <a:xfrm>
            <a:off x="7560609" y="2669923"/>
            <a:ext cx="4004622" cy="3970318"/>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★他の専門科目への発展</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★他大学への導入支援</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a:t>
            </a:r>
            <a:r>
              <a:rPr lang="en-US" altLang="ja-JP" sz="2800" dirty="0">
                <a:latin typeface="MS UI Gothic" panose="020B0600070205080204" pitchFamily="34" charset="-128"/>
                <a:ea typeface="MS UI Gothic" panose="020B0600070205080204" pitchFamily="34" charset="-128"/>
              </a:rPr>
              <a:t>AI</a:t>
            </a:r>
            <a:r>
              <a:rPr lang="ja-JP" altLang="en-US" sz="2800">
                <a:latin typeface="MS UI Gothic" panose="020B0600070205080204" pitchFamily="34" charset="-128"/>
                <a:ea typeface="MS UI Gothic" panose="020B0600070205080204" pitchFamily="34" charset="-128"/>
              </a:rPr>
              <a:t>教育研究の発展</a:t>
            </a:r>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（専門領域における</a:t>
            </a:r>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知見の蓄積）</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566385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4">
            <a:extLst>
              <a:ext uri="{FF2B5EF4-FFF2-40B4-BE49-F238E27FC236}">
                <a16:creationId xmlns:a16="http://schemas.microsoft.com/office/drawing/2014/main" id="{F59DFCDB-92FE-B3B3-3984-870ED357B1CC}"/>
              </a:ext>
            </a:extLst>
          </p:cNvPr>
          <p:cNvSpPr/>
          <p:nvPr/>
        </p:nvSpPr>
        <p:spPr>
          <a:xfrm>
            <a:off x="609600" y="5837692"/>
            <a:ext cx="10972800" cy="1000923"/>
          </a:xfrm>
          <a:prstGeom prst="rect">
            <a:avLst/>
          </a:prstGeom>
          <a:solidFill>
            <a:schemeClr val="accent3">
              <a:lumMod val="20000"/>
              <a:lumOff val="80000"/>
            </a:schemeClr>
          </a:solidFill>
          <a:ln/>
        </p:spPr>
        <p:txBody>
          <a:bodyPr/>
          <a:lstStyle/>
          <a:p>
            <a:endParaRPr lang="ja-JP" altLang="en-US" sz="2400"/>
          </a:p>
        </p:txBody>
      </p:sp>
      <p:sp>
        <p:nvSpPr>
          <p:cNvPr id="4" name="Shape 2"/>
          <p:cNvSpPr/>
          <p:nvPr/>
        </p:nvSpPr>
        <p:spPr>
          <a:xfrm>
            <a:off x="340778" y="1544904"/>
            <a:ext cx="4402667" cy="4216998"/>
          </a:xfrm>
          <a:prstGeom prst="rect">
            <a:avLst/>
          </a:prstGeom>
          <a:solidFill>
            <a:schemeClr val="accent4">
              <a:lumMod val="20000"/>
              <a:lumOff val="80000"/>
            </a:schemeClr>
          </a:solidFill>
          <a:ln w="25400">
            <a:solidFill>
              <a:srgbClr val="27AE60"/>
            </a:solidFill>
            <a:prstDash val="solid"/>
          </a:ln>
        </p:spPr>
        <p:txBody>
          <a:bodyPr/>
          <a:lstStyle/>
          <a:p>
            <a:pPr algn="ctr"/>
            <a:endParaRPr lang="en-US" altLang="ja-JP" sz="900" dirty="0">
              <a:latin typeface="MS UI Gothic" panose="020B0600070205080204" pitchFamily="34" charset="-128"/>
              <a:ea typeface="MS UI Gothic" panose="020B0600070205080204" pitchFamily="34" charset="-128"/>
            </a:endParaRPr>
          </a:p>
          <a:p>
            <a:pPr algn="ctr"/>
            <a:r>
              <a:rPr lang="ja-JP" altLang="en-US" sz="2800">
                <a:latin typeface="MS UI Gothic" panose="020B0600070205080204" pitchFamily="34" charset="-128"/>
                <a:ea typeface="MS UI Gothic" panose="020B0600070205080204" pitchFamily="34" charset="-128"/>
              </a:rPr>
              <a:t>学生入力画面</a:t>
            </a:r>
            <a:endParaRPr lang="en-US" altLang="ja-JP" sz="2800" dirty="0">
              <a:latin typeface="MS UI Gothic" panose="020B0600070205080204" pitchFamily="34" charset="-128"/>
              <a:ea typeface="MS UI Gothic" panose="020B0600070205080204" pitchFamily="34" charset="-128"/>
            </a:endParaRPr>
          </a:p>
        </p:txBody>
      </p:sp>
      <p:grpSp>
        <p:nvGrpSpPr>
          <p:cNvPr id="18" name="グループ化 17">
            <a:extLst>
              <a:ext uri="{FF2B5EF4-FFF2-40B4-BE49-F238E27FC236}">
                <a16:creationId xmlns:a16="http://schemas.microsoft.com/office/drawing/2014/main" id="{64AE10B2-167D-21C0-331A-4DAD20625D41}"/>
              </a:ext>
            </a:extLst>
          </p:cNvPr>
          <p:cNvGrpSpPr/>
          <p:nvPr/>
        </p:nvGrpSpPr>
        <p:grpSpPr>
          <a:xfrm>
            <a:off x="4808685" y="2172449"/>
            <a:ext cx="2293114" cy="2926080"/>
            <a:chOff x="4808685" y="1906675"/>
            <a:chExt cx="2293114" cy="2926080"/>
          </a:xfrm>
        </p:grpSpPr>
        <p:sp>
          <p:nvSpPr>
            <p:cNvPr id="12" name="右矢印 11">
              <a:extLst>
                <a:ext uri="{FF2B5EF4-FFF2-40B4-BE49-F238E27FC236}">
                  <a16:creationId xmlns:a16="http://schemas.microsoft.com/office/drawing/2014/main" id="{D8BE4019-F31F-0748-6936-B534D6BF21C3}"/>
                </a:ext>
              </a:extLst>
            </p:cNvPr>
            <p:cNvSpPr/>
            <p:nvPr/>
          </p:nvSpPr>
          <p:spPr>
            <a:xfrm>
              <a:off x="4808685" y="3145313"/>
              <a:ext cx="2293114" cy="484632"/>
            </a:xfrm>
            <a:prstGeom prst="rightArrow">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BACAF911-815B-9E02-1541-05660B305C06}"/>
                </a:ext>
              </a:extLst>
            </p:cNvPr>
            <p:cNvGrpSpPr/>
            <p:nvPr/>
          </p:nvGrpSpPr>
          <p:grpSpPr>
            <a:xfrm>
              <a:off x="5216132" y="1906675"/>
              <a:ext cx="1463040" cy="2926080"/>
              <a:chOff x="5216132" y="1906675"/>
              <a:chExt cx="1463040" cy="2926080"/>
            </a:xfrm>
          </p:grpSpPr>
          <p:sp>
            <p:nvSpPr>
              <p:cNvPr id="6" name="Shape 4"/>
              <p:cNvSpPr/>
              <p:nvPr/>
            </p:nvSpPr>
            <p:spPr>
              <a:xfrm>
                <a:off x="5216132" y="1906675"/>
                <a:ext cx="1463040" cy="2926080"/>
              </a:xfrm>
              <a:prstGeom prst="rect">
                <a:avLst/>
              </a:prstGeom>
              <a:solidFill>
                <a:schemeClr val="accent6">
                  <a:lumMod val="40000"/>
                  <a:lumOff val="60000"/>
                </a:schemeClr>
              </a:solidFill>
              <a:ln>
                <a:solidFill>
                  <a:schemeClr val="accent6"/>
                </a:solidFill>
              </a:ln>
            </p:spPr>
            <p:txBody>
              <a:bodyPr/>
              <a:lstStyle/>
              <a:p>
                <a:endParaRPr lang="ja-JP" altLang="en-US" sz="2400"/>
              </a:p>
            </p:txBody>
          </p:sp>
          <p:sp>
            <p:nvSpPr>
              <p:cNvPr id="7" name="Text 5"/>
              <p:cNvSpPr/>
              <p:nvPr/>
            </p:nvSpPr>
            <p:spPr>
              <a:xfrm>
                <a:off x="5216132" y="3010050"/>
                <a:ext cx="1463040" cy="731520"/>
              </a:xfrm>
              <a:prstGeom prst="rect">
                <a:avLst/>
              </a:prstGeom>
              <a:noFill/>
              <a:ln/>
            </p:spPr>
            <p:txBody>
              <a:bodyPr wrap="square" rtlCol="0" anchor="ctr"/>
              <a:lstStyle/>
              <a:p>
                <a:pPr algn="ctr"/>
                <a:r>
                  <a:rPr lang="en-US" dirty="0" err="1">
                    <a:latin typeface="MS UI Gothic" panose="020B0600070205080204" pitchFamily="34" charset="-128"/>
                    <a:ea typeface="MS UI Gothic" panose="020B0600070205080204" pitchFamily="34" charset="-128"/>
                  </a:rPr>
                  <a:t>技術基盤</a:t>
                </a:r>
                <a:r>
                  <a:rPr lang="en-US" dirty="0">
                    <a:latin typeface="MS UI Gothic" panose="020B0600070205080204" pitchFamily="34" charset="-128"/>
                    <a:ea typeface="MS UI Gothic" panose="020B0600070205080204" pitchFamily="34" charset="-128"/>
                  </a:rPr>
                  <a:t>：</a:t>
                </a:r>
              </a:p>
              <a:p>
                <a:pPr algn="ctr"/>
                <a:r>
                  <a:rPr lang="en-US" dirty="0" err="1">
                    <a:latin typeface="MS UI Gothic" panose="020B0600070205080204" pitchFamily="34" charset="-128"/>
                    <a:ea typeface="MS UI Gothic" panose="020B0600070205080204" pitchFamily="34" charset="-128"/>
                  </a:rPr>
                  <a:t>AIエンジン</a:t>
                </a:r>
                <a:endParaRPr lang="en-US" dirty="0">
                  <a:latin typeface="MS UI Gothic" panose="020B0600070205080204" pitchFamily="34" charset="-128"/>
                  <a:ea typeface="MS UI Gothic" panose="020B0600070205080204" pitchFamily="34" charset="-128"/>
                </a:endParaRPr>
              </a:p>
              <a:p>
                <a:pPr algn="ctr"/>
                <a:r>
                  <a:rPr lang="en-US" dirty="0">
                    <a:latin typeface="MS UI Gothic" panose="020B0600070205080204" pitchFamily="34" charset="-128"/>
                    <a:ea typeface="MS UI Gothic" panose="020B0600070205080204" pitchFamily="34" charset="-128"/>
                  </a:rPr>
                  <a:t>RAG</a:t>
                </a:r>
              </a:p>
              <a:p>
                <a:pPr algn="ctr"/>
                <a:r>
                  <a:rPr lang="en-US" dirty="0">
                    <a:latin typeface="MS UI Gothic" panose="020B0600070205080204" pitchFamily="34" charset="-128"/>
                    <a:ea typeface="MS UI Gothic" panose="020B0600070205080204" pitchFamily="34" charset="-128"/>
                  </a:rPr>
                  <a:t>+</a:t>
                </a:r>
              </a:p>
              <a:p>
                <a:pPr algn="ctr"/>
                <a:r>
                  <a:rPr lang="en-US" dirty="0" err="1">
                    <a:latin typeface="MS UI Gothic" panose="020B0600070205080204" pitchFamily="34" charset="-128"/>
                    <a:ea typeface="MS UI Gothic" panose="020B0600070205080204" pitchFamily="34" charset="-128"/>
                  </a:rPr>
                  <a:t>知識ベース</a:t>
                </a:r>
                <a:endParaRPr lang="en-US" dirty="0">
                  <a:latin typeface="MS UI Gothic" panose="020B0600070205080204" pitchFamily="34" charset="-128"/>
                  <a:ea typeface="MS UI Gothic" panose="020B0600070205080204" pitchFamily="34" charset="-128"/>
                </a:endParaRPr>
              </a:p>
              <a:p>
                <a:pPr algn="ctr"/>
                <a:r>
                  <a:rPr lang="en-US" dirty="0">
                    <a:latin typeface="MS UI Gothic" panose="020B0600070205080204" pitchFamily="34" charset="-128"/>
                    <a:ea typeface="MS UI Gothic" panose="020B0600070205080204" pitchFamily="34" charset="-128"/>
                  </a:rPr>
                  <a:t>（</a:t>
                </a:r>
                <a:r>
                  <a:rPr lang="en-US" altLang="ja-JP" dirty="0">
                    <a:latin typeface="MS UI Gothic" panose="020B0600070205080204" pitchFamily="34" charset="-128"/>
                    <a:ea typeface="MS UI Gothic" panose="020B0600070205080204" pitchFamily="34" charset="-128"/>
                  </a:rPr>
                  <a:t>137</a:t>
                </a:r>
                <a:r>
                  <a:rPr lang="ja-JP" altLang="en-US">
                    <a:latin typeface="MS UI Gothic" panose="020B0600070205080204" pitchFamily="34" charset="-128"/>
                    <a:ea typeface="MS UI Gothic" panose="020B0600070205080204" pitchFamily="34" charset="-128"/>
                  </a:rPr>
                  <a:t>項目）</a:t>
                </a:r>
                <a:endParaRPr lang="en-US" altLang="ja-JP" dirty="0">
                  <a:latin typeface="MS UI Gothic" panose="020B0600070205080204" pitchFamily="34" charset="-128"/>
                  <a:ea typeface="MS UI Gothic" panose="020B0600070205080204" pitchFamily="34" charset="-128"/>
                </a:endParaRPr>
              </a:p>
              <a:p>
                <a:pPr algn="ctr"/>
                <a:r>
                  <a:rPr lang="ja-JP" altLang="en-US">
                    <a:latin typeface="MS UI Gothic" panose="020B0600070205080204" pitchFamily="34" charset="-128"/>
                    <a:ea typeface="MS UI Gothic" panose="020B0600070205080204" pitchFamily="34" charset="-128"/>
                  </a:rPr>
                  <a:t>著作権クリア教材</a:t>
                </a:r>
                <a:endParaRPr lang="en-US" dirty="0">
                  <a:latin typeface="MS UI Gothic" panose="020B0600070205080204" pitchFamily="34" charset="-128"/>
                  <a:ea typeface="MS UI Gothic" panose="020B0600070205080204" pitchFamily="34" charset="-128"/>
                </a:endParaRPr>
              </a:p>
            </p:txBody>
          </p:sp>
        </p:grpSp>
      </p:grpSp>
      <p:sp>
        <p:nvSpPr>
          <p:cNvPr id="8" name="Shape 6"/>
          <p:cNvSpPr/>
          <p:nvPr/>
        </p:nvSpPr>
        <p:spPr>
          <a:xfrm>
            <a:off x="7139899" y="1544904"/>
            <a:ext cx="4677834" cy="4216998"/>
          </a:xfrm>
          <a:prstGeom prst="rect">
            <a:avLst/>
          </a:prstGeom>
          <a:solidFill>
            <a:srgbClr val="FEF5E7"/>
          </a:solidFill>
          <a:ln w="25400">
            <a:solidFill>
              <a:srgbClr val="F39C12"/>
            </a:solidFill>
            <a:prstDash val="solid"/>
          </a:ln>
        </p:spPr>
        <p:txBody>
          <a:bodyPr/>
          <a:lstStyle/>
          <a:p>
            <a:pPr algn="ctr"/>
            <a:endParaRPr lang="en-US" altLang="ja-JP" sz="900" dirty="0">
              <a:latin typeface="MS UI Gothic" panose="020B0600070205080204" pitchFamily="34" charset="-128"/>
              <a:ea typeface="MS UI Gothic" panose="020B0600070205080204" pitchFamily="34" charset="-128"/>
            </a:endParaRPr>
          </a:p>
          <a:p>
            <a:pPr algn="ctr"/>
            <a:r>
              <a:rPr lang="ja-JP" altLang="en-US" sz="2800">
                <a:latin typeface="MS UI Gothic" panose="020B0600070205080204" pitchFamily="34" charset="-128"/>
                <a:ea typeface="MS UI Gothic" panose="020B0600070205080204" pitchFamily="34" charset="-128"/>
              </a:rPr>
              <a:t>教員確認画面</a:t>
            </a:r>
          </a:p>
        </p:txBody>
      </p:sp>
      <p:sp>
        <p:nvSpPr>
          <p:cNvPr id="2" name="テキスト ボックス 1">
            <a:extLst>
              <a:ext uri="{FF2B5EF4-FFF2-40B4-BE49-F238E27FC236}">
                <a16:creationId xmlns:a16="http://schemas.microsoft.com/office/drawing/2014/main" id="{3CDE7700-AFE1-DABF-3A17-3B4E06567639}"/>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7F0AC8C3-2F0E-4D53-83C1-319982FA814B}"/>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sp>
        <p:nvSpPr>
          <p:cNvPr id="10" name="テキスト ボックス 9">
            <a:extLst>
              <a:ext uri="{FF2B5EF4-FFF2-40B4-BE49-F238E27FC236}">
                <a16:creationId xmlns:a16="http://schemas.microsoft.com/office/drawing/2014/main" id="{1EF88AE0-AE90-453F-E611-010939A2819F}"/>
              </a:ext>
            </a:extLst>
          </p:cNvPr>
          <p:cNvSpPr txBox="1"/>
          <p:nvPr/>
        </p:nvSpPr>
        <p:spPr>
          <a:xfrm>
            <a:off x="556666" y="5861100"/>
            <a:ext cx="11078674" cy="954107"/>
          </a:xfrm>
          <a:prstGeom prst="rect">
            <a:avLst/>
          </a:prstGeom>
          <a:noFill/>
        </p:spPr>
        <p:txBody>
          <a:bodyPr wrap="none" rtlCol="0">
            <a:spAutoFit/>
          </a:bodyPr>
          <a:lstStyle/>
          <a:p>
            <a:pPr algn="ctr"/>
            <a:r>
              <a:rPr lang="en-US" altLang="ja-JP" sz="2800" dirty="0" err="1">
                <a:latin typeface="MS UI Gothic" panose="020B0600070205080204" pitchFamily="34" charset="-128"/>
                <a:ea typeface="MS UI Gothic" panose="020B0600070205080204" pitchFamily="34" charset="-128"/>
              </a:rPr>
              <a:t>国内外での位置づけ</a:t>
            </a:r>
            <a:r>
              <a:rPr lang="en-US" altLang="ja-JP" sz="2800" dirty="0">
                <a:latin typeface="MS UI Gothic" panose="020B0600070205080204" pitchFamily="34" charset="-128"/>
                <a:ea typeface="MS UI Gothic" panose="020B0600070205080204" pitchFamily="34" charset="-128"/>
              </a:rPr>
              <a:t>:</a:t>
            </a:r>
          </a:p>
          <a:p>
            <a:pPr algn="ctr"/>
            <a:r>
              <a:rPr lang="ja-JP" altLang="en-US" sz="2800">
                <a:latin typeface="MS UI Gothic" panose="020B0600070205080204" pitchFamily="34" charset="-128"/>
                <a:ea typeface="MS UI Gothic" panose="020B0600070205080204" pitchFamily="34" charset="-128"/>
              </a:rPr>
              <a:t>専門領域（</a:t>
            </a:r>
            <a:r>
              <a:rPr lang="en-US" altLang="ja-JP" sz="2800" dirty="0" err="1">
                <a:latin typeface="MS UI Gothic" panose="020B0600070205080204" pitchFamily="34" charset="-128"/>
                <a:ea typeface="MS UI Gothic" panose="020B0600070205080204" pitchFamily="34" charset="-128"/>
              </a:rPr>
              <a:t>薬学教育</a:t>
            </a:r>
            <a:r>
              <a:rPr lang="ja-JP" altLang="en-US" sz="2800">
                <a:latin typeface="MS UI Gothic" panose="020B0600070205080204" pitchFamily="34" charset="-128"/>
                <a:ea typeface="MS UI Gothic" panose="020B0600070205080204" pitchFamily="34" charset="-128"/>
              </a:rPr>
              <a:t>）</a:t>
            </a:r>
            <a:r>
              <a:rPr lang="en-US" altLang="ja-JP" sz="2800" dirty="0" err="1">
                <a:latin typeface="MS UI Gothic" panose="020B0600070205080204" pitchFamily="34" charset="-128"/>
                <a:ea typeface="MS UI Gothic" panose="020B0600070205080204" pitchFamily="34" charset="-128"/>
              </a:rPr>
              <a:t>における生成系AIの体系的導入・実証研究は先駆的</a:t>
            </a:r>
            <a:endParaRPr kumimoji="1" lang="ja-JP" altLang="en-US" sz="280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A3E98F05-2721-3BDC-6A72-65B443CB3806}"/>
              </a:ext>
            </a:extLst>
          </p:cNvPr>
          <p:cNvSpPr txBox="1"/>
          <p:nvPr/>
        </p:nvSpPr>
        <p:spPr>
          <a:xfrm>
            <a:off x="708975" y="2540409"/>
            <a:ext cx="3889206" cy="954107"/>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en-US" altLang="ja-JP" sz="2800" dirty="0">
                <a:solidFill>
                  <a:srgbClr val="FF0000"/>
                </a:solidFill>
                <a:latin typeface="MS UI Gothic" panose="020B0600070205080204" pitchFamily="34" charset="-128"/>
                <a:ea typeface="MS UI Gothic" panose="020B0600070205080204" pitchFamily="34" charset="-128"/>
              </a:rPr>
              <a:t>24</a:t>
            </a:r>
            <a:r>
              <a:rPr kumimoji="1" lang="ja-JP" altLang="en-US" sz="2800">
                <a:solidFill>
                  <a:srgbClr val="FF0000"/>
                </a:solidFill>
                <a:latin typeface="MS UI Gothic" panose="020B0600070205080204" pitchFamily="34" charset="-128"/>
                <a:ea typeface="MS UI Gothic" panose="020B0600070205080204" pitchFamily="34" charset="-128"/>
              </a:rPr>
              <a:t>時間質問対応</a:t>
            </a:r>
            <a:endParaRPr kumimoji="1" lang="en-US" altLang="ja-JP" sz="2800" dirty="0">
              <a:solidFill>
                <a:srgbClr val="FF0000"/>
              </a:solidFill>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（カテゴリー別質問可能）</a:t>
            </a:r>
            <a:endParaRPr kumimoji="1" lang="ja-JP" altLang="en-US" sz="2800">
              <a:latin typeface="MS UI Gothic" panose="020B0600070205080204" pitchFamily="34" charset="-128"/>
              <a:ea typeface="MS UI Gothic" panose="020B0600070205080204" pitchFamily="34" charset="-128"/>
            </a:endParaRPr>
          </a:p>
        </p:txBody>
      </p:sp>
      <p:sp>
        <p:nvSpPr>
          <p:cNvPr id="16" name="テキスト ボックス 15">
            <a:extLst>
              <a:ext uri="{FF2B5EF4-FFF2-40B4-BE49-F238E27FC236}">
                <a16:creationId xmlns:a16="http://schemas.microsoft.com/office/drawing/2014/main" id="{2C963F47-FA76-2F47-B5EF-CFAFD5A539A6}"/>
              </a:ext>
            </a:extLst>
          </p:cNvPr>
          <p:cNvSpPr txBox="1"/>
          <p:nvPr/>
        </p:nvSpPr>
        <p:spPr>
          <a:xfrm>
            <a:off x="708975" y="3550055"/>
            <a:ext cx="3296095" cy="1384995"/>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・練習問題生成機能</a:t>
            </a:r>
            <a:endParaRPr kumimoji="1"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a:t>
            </a:r>
            <a:r>
              <a:rPr lang="en-US" altLang="ja-JP" sz="2800" dirty="0">
                <a:latin typeface="MS UI Gothic" panose="020B0600070205080204" pitchFamily="34" charset="-128"/>
                <a:ea typeface="MS UI Gothic" panose="020B0600070205080204" pitchFamily="34" charset="-128"/>
              </a:rPr>
              <a:t>5</a:t>
            </a:r>
            <a:r>
              <a:rPr lang="ja-JP" altLang="en-US" sz="2800">
                <a:latin typeface="MS UI Gothic" panose="020B0600070205080204" pitchFamily="34" charset="-128"/>
                <a:ea typeface="MS UI Gothic" panose="020B0600070205080204" pitchFamily="34" charset="-128"/>
              </a:rPr>
              <a:t>択</a:t>
            </a:r>
            <a:r>
              <a:rPr lang="en-US" altLang="ja-JP" sz="2800" dirty="0">
                <a:latin typeface="MS UI Gothic" panose="020B0600070205080204" pitchFamily="34" charset="-128"/>
                <a:ea typeface="MS UI Gothic" panose="020B0600070205080204" pitchFamily="34" charset="-128"/>
              </a:rPr>
              <a:t>2</a:t>
            </a:r>
            <a:r>
              <a:rPr lang="ja-JP" altLang="en-US" sz="2800">
                <a:latin typeface="MS UI Gothic" panose="020B0600070205080204" pitchFamily="34" charset="-128"/>
                <a:ea typeface="MS UI Gothic" panose="020B0600070205080204" pitchFamily="34" charset="-128"/>
              </a:rPr>
              <a:t>正解形式）</a:t>
            </a:r>
            <a:endParaRPr lang="en-US" altLang="ja-JP" sz="2800" dirty="0">
              <a:latin typeface="MS UI Gothic" panose="020B0600070205080204" pitchFamily="34" charset="-128"/>
              <a:ea typeface="MS UI Gothic" panose="020B0600070205080204" pitchFamily="34" charset="-128"/>
            </a:endParaRPr>
          </a:p>
          <a:p>
            <a:r>
              <a:rPr kumimoji="1" lang="ja-JP" altLang="en-US" sz="2800">
                <a:latin typeface="MS UI Gothic" panose="020B0600070205080204" pitchFamily="34" charset="-128"/>
                <a:ea typeface="MS UI Gothic" panose="020B0600070205080204" pitchFamily="34" charset="-128"/>
              </a:rPr>
              <a:t>　（難易度選択機能）</a:t>
            </a:r>
          </a:p>
        </p:txBody>
      </p:sp>
      <p:sp>
        <p:nvSpPr>
          <p:cNvPr id="20" name="テキスト ボックス 19">
            <a:extLst>
              <a:ext uri="{FF2B5EF4-FFF2-40B4-BE49-F238E27FC236}">
                <a16:creationId xmlns:a16="http://schemas.microsoft.com/office/drawing/2014/main" id="{171C5F5F-51A0-7AF0-812A-D08B1D944B4D}"/>
              </a:ext>
            </a:extLst>
          </p:cNvPr>
          <p:cNvSpPr txBox="1"/>
          <p:nvPr/>
        </p:nvSpPr>
        <p:spPr>
          <a:xfrm>
            <a:off x="7529513" y="2172449"/>
            <a:ext cx="2811988"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・学習履歴の確認</a:t>
            </a:r>
          </a:p>
        </p:txBody>
      </p:sp>
      <p:sp>
        <p:nvSpPr>
          <p:cNvPr id="21" name="テキスト ボックス 20">
            <a:extLst>
              <a:ext uri="{FF2B5EF4-FFF2-40B4-BE49-F238E27FC236}">
                <a16:creationId xmlns:a16="http://schemas.microsoft.com/office/drawing/2014/main" id="{9021E7D5-543D-9ADC-5461-BA29E87D3BAE}"/>
              </a:ext>
            </a:extLst>
          </p:cNvPr>
          <p:cNvSpPr txBox="1"/>
          <p:nvPr/>
        </p:nvSpPr>
        <p:spPr>
          <a:xfrm>
            <a:off x="7529513" y="2863099"/>
            <a:ext cx="393729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つまずきポイントの可視化</a:t>
            </a:r>
          </a:p>
        </p:txBody>
      </p:sp>
      <p:sp>
        <p:nvSpPr>
          <p:cNvPr id="22" name="テキスト ボックス 21">
            <a:extLst>
              <a:ext uri="{FF2B5EF4-FFF2-40B4-BE49-F238E27FC236}">
                <a16:creationId xmlns:a16="http://schemas.microsoft.com/office/drawing/2014/main" id="{24F40306-1828-9E85-1B82-15C97A00C3CA}"/>
              </a:ext>
            </a:extLst>
          </p:cNvPr>
          <p:cNvSpPr txBox="1"/>
          <p:nvPr/>
        </p:nvSpPr>
        <p:spPr>
          <a:xfrm>
            <a:off x="7529513" y="3553749"/>
            <a:ext cx="359585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学習行動時系列分析</a:t>
            </a:r>
            <a:endParaRPr kumimoji="1" lang="en-US" altLang="ja-JP" sz="2800" dirty="0">
              <a:solidFill>
                <a:srgbClr val="FF0000"/>
              </a:solidFill>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DAFF16BA-2CBE-1E00-E0F9-1D786C900737}"/>
              </a:ext>
            </a:extLst>
          </p:cNvPr>
          <p:cNvSpPr txBox="1"/>
          <p:nvPr/>
        </p:nvSpPr>
        <p:spPr>
          <a:xfrm>
            <a:off x="7529513" y="4244399"/>
            <a:ext cx="382508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・出力機能（</a:t>
            </a:r>
            <a:r>
              <a:rPr kumimoji="1" lang="en-US" altLang="ja-JP" sz="2800" dirty="0">
                <a:latin typeface="MS UI Gothic" panose="020B0600070205080204" pitchFamily="34" charset="-128"/>
                <a:ea typeface="MS UI Gothic" panose="020B0600070205080204" pitchFamily="34" charset="-128"/>
              </a:rPr>
              <a:t>CSV/Excel</a:t>
            </a:r>
            <a:r>
              <a:rPr kumimoji="1" lang="ja-JP" altLang="en-US" sz="2800">
                <a:latin typeface="MS UI Gothic" panose="020B0600070205080204" pitchFamily="34" charset="-128"/>
                <a:ea typeface="MS UI Gothic" panose="020B0600070205080204" pitchFamily="34" charset="-128"/>
              </a:rPr>
              <a:t>）</a:t>
            </a:r>
          </a:p>
        </p:txBody>
      </p:sp>
      <p:sp>
        <p:nvSpPr>
          <p:cNvPr id="24" name="テキスト ボックス 23">
            <a:extLst>
              <a:ext uri="{FF2B5EF4-FFF2-40B4-BE49-F238E27FC236}">
                <a16:creationId xmlns:a16="http://schemas.microsoft.com/office/drawing/2014/main" id="{FECBBF34-0B9C-FB2D-BFA8-0896BC968EF7}"/>
              </a:ext>
            </a:extLst>
          </p:cNvPr>
          <p:cNvSpPr txBox="1"/>
          <p:nvPr/>
        </p:nvSpPr>
        <p:spPr>
          <a:xfrm>
            <a:off x="7529513" y="4935050"/>
            <a:ext cx="3257623"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en-US" altLang="ja-JP" sz="2800" dirty="0">
                <a:latin typeface="MS UI Gothic" panose="020B0600070205080204" pitchFamily="34" charset="-128"/>
                <a:ea typeface="MS UI Gothic" panose="020B0600070205080204" pitchFamily="34" charset="-128"/>
              </a:rPr>
              <a:t>FAQ</a:t>
            </a:r>
            <a:r>
              <a:rPr kumimoji="1" lang="ja-JP" altLang="en-US" sz="2800">
                <a:latin typeface="MS UI Gothic" panose="020B0600070205080204" pitchFamily="34" charset="-128"/>
                <a:ea typeface="MS UI Gothic" panose="020B0600070205080204" pitchFamily="34" charset="-128"/>
              </a:rPr>
              <a:t>自動抽出機能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76E8-D610-D8C9-D4F8-1E20C3CDC204}"/>
            </a:ext>
          </a:extLst>
        </p:cNvPr>
        <p:cNvGrpSpPr/>
        <p:nvPr/>
      </p:nvGrpSpPr>
      <p:grpSpPr>
        <a:xfrm>
          <a:off x="0" y="0"/>
          <a:ext cx="0" cy="0"/>
          <a:chOff x="0" y="0"/>
          <a:chExt cx="0" cy="0"/>
        </a:xfrm>
      </p:grpSpPr>
      <p:sp>
        <p:nvSpPr>
          <p:cNvPr id="12" name="右矢印 11">
            <a:extLst>
              <a:ext uri="{FF2B5EF4-FFF2-40B4-BE49-F238E27FC236}">
                <a16:creationId xmlns:a16="http://schemas.microsoft.com/office/drawing/2014/main" id="{5354766D-0E22-E5BF-8A76-58602D1C593A}"/>
              </a:ext>
            </a:extLst>
          </p:cNvPr>
          <p:cNvSpPr/>
          <p:nvPr/>
        </p:nvSpPr>
        <p:spPr>
          <a:xfrm>
            <a:off x="4618185" y="3576187"/>
            <a:ext cx="2293114" cy="484632"/>
          </a:xfrm>
          <a:prstGeom prst="rightArrow">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A7AB3B6A-D388-F398-017F-2EF57823C2E7}"/>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037633DD-2DD5-9E7B-F8EA-9E1902F160AC}"/>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pic>
        <p:nvPicPr>
          <p:cNvPr id="9" name="図 8">
            <a:extLst>
              <a:ext uri="{FF2B5EF4-FFF2-40B4-BE49-F238E27FC236}">
                <a16:creationId xmlns:a16="http://schemas.microsoft.com/office/drawing/2014/main" id="{8828448C-CAE1-E05D-7B98-4B728296887F}"/>
              </a:ext>
            </a:extLst>
          </p:cNvPr>
          <p:cNvPicPr>
            <a:picLocks noChangeAspect="1"/>
          </p:cNvPicPr>
          <p:nvPr/>
        </p:nvPicPr>
        <p:blipFill>
          <a:blip r:embed="rId3"/>
          <a:stretch>
            <a:fillRect/>
          </a:stretch>
        </p:blipFill>
        <p:spPr>
          <a:xfrm>
            <a:off x="304398" y="1597685"/>
            <a:ext cx="4166002" cy="4813603"/>
          </a:xfrm>
          <a:prstGeom prst="rect">
            <a:avLst/>
          </a:prstGeom>
        </p:spPr>
      </p:pic>
      <p:pic>
        <p:nvPicPr>
          <p:cNvPr id="14" name="図 13">
            <a:extLst>
              <a:ext uri="{FF2B5EF4-FFF2-40B4-BE49-F238E27FC236}">
                <a16:creationId xmlns:a16="http://schemas.microsoft.com/office/drawing/2014/main" id="{FA498A5C-BD74-DB32-E243-C8E96973CCBB}"/>
              </a:ext>
            </a:extLst>
          </p:cNvPr>
          <p:cNvPicPr>
            <a:picLocks noChangeAspect="1"/>
          </p:cNvPicPr>
          <p:nvPr/>
        </p:nvPicPr>
        <p:blipFill>
          <a:blip r:embed="rId4"/>
          <a:stretch>
            <a:fillRect/>
          </a:stretch>
        </p:blipFill>
        <p:spPr>
          <a:xfrm>
            <a:off x="6994692" y="1623410"/>
            <a:ext cx="5159960" cy="4345590"/>
          </a:xfrm>
          <a:prstGeom prst="rect">
            <a:avLst/>
          </a:prstGeom>
        </p:spPr>
      </p:pic>
    </p:spTree>
    <p:extLst>
      <p:ext uri="{BB962C8B-B14F-4D97-AF65-F5344CB8AC3E}">
        <p14:creationId xmlns:p14="http://schemas.microsoft.com/office/powerpoint/2010/main" val="234560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8C5B-C68E-D68E-E173-E5EA4BFF8A6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7F225CC-AA6D-B64A-9F7C-9F3316C7D58D}"/>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285449D9-12E5-47FC-BC36-C65B3CFF631A}"/>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pic>
        <p:nvPicPr>
          <p:cNvPr id="4" name="図 3">
            <a:extLst>
              <a:ext uri="{FF2B5EF4-FFF2-40B4-BE49-F238E27FC236}">
                <a16:creationId xmlns:a16="http://schemas.microsoft.com/office/drawing/2014/main" id="{91F9AFB4-C8AF-DD1B-E93B-4EE3670056EF}"/>
              </a:ext>
            </a:extLst>
          </p:cNvPr>
          <p:cNvPicPr>
            <a:picLocks noChangeAspect="1"/>
          </p:cNvPicPr>
          <p:nvPr/>
        </p:nvPicPr>
        <p:blipFill>
          <a:blip r:embed="rId3"/>
          <a:stretch>
            <a:fillRect/>
          </a:stretch>
        </p:blipFill>
        <p:spPr>
          <a:xfrm>
            <a:off x="1845304" y="1446022"/>
            <a:ext cx="7772400" cy="5246885"/>
          </a:xfrm>
          <a:prstGeom prst="rect">
            <a:avLst/>
          </a:prstGeom>
        </p:spPr>
      </p:pic>
    </p:spTree>
    <p:extLst>
      <p:ext uri="{BB962C8B-B14F-4D97-AF65-F5344CB8AC3E}">
        <p14:creationId xmlns:p14="http://schemas.microsoft.com/office/powerpoint/2010/main" val="1219113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E9CC-E525-C14B-7764-13FB8197C13A}"/>
            </a:ext>
          </a:extLst>
        </p:cNvPr>
        <p:cNvGrpSpPr/>
        <p:nvPr/>
      </p:nvGrpSpPr>
      <p:grpSpPr>
        <a:xfrm>
          <a:off x="0" y="0"/>
          <a:ext cx="0" cy="0"/>
          <a:chOff x="0" y="0"/>
          <a:chExt cx="0" cy="0"/>
        </a:xfrm>
      </p:grpSpPr>
      <p:sp>
        <p:nvSpPr>
          <p:cNvPr id="36" name="角丸四角形 35">
            <a:extLst>
              <a:ext uri="{FF2B5EF4-FFF2-40B4-BE49-F238E27FC236}">
                <a16:creationId xmlns:a16="http://schemas.microsoft.com/office/drawing/2014/main" id="{8747EE8D-1002-DCB6-5421-605B9B5A309F}"/>
              </a:ext>
            </a:extLst>
          </p:cNvPr>
          <p:cNvSpPr/>
          <p:nvPr/>
        </p:nvSpPr>
        <p:spPr>
          <a:xfrm>
            <a:off x="660400" y="1549400"/>
            <a:ext cx="5067300" cy="5232400"/>
          </a:xfrm>
          <a:prstGeom prst="roundRect">
            <a:avLst>
              <a:gd name="adj" fmla="val 111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9AD5133F-4E50-5C18-C201-D167172380E6}"/>
              </a:ext>
            </a:extLst>
          </p:cNvPr>
          <p:cNvSpPr/>
          <p:nvPr/>
        </p:nvSpPr>
        <p:spPr>
          <a:xfrm>
            <a:off x="6477000" y="1562100"/>
            <a:ext cx="5067300" cy="5232400"/>
          </a:xfrm>
          <a:prstGeom prst="roundRect">
            <a:avLst>
              <a:gd name="adj" fmla="val 111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D292AB5-636D-7BA4-4A06-7AE3DE59960D}"/>
              </a:ext>
            </a:extLst>
          </p:cNvPr>
          <p:cNvSpPr txBox="1"/>
          <p:nvPr/>
        </p:nvSpPr>
        <p:spPr>
          <a:xfrm>
            <a:off x="540659" y="25165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8CBD38AD-DD20-7E84-71DA-24DEDD5F9353}"/>
              </a:ext>
            </a:extLst>
          </p:cNvPr>
          <p:cNvSpPr txBox="1"/>
          <p:nvPr/>
        </p:nvSpPr>
        <p:spPr>
          <a:xfrm>
            <a:off x="540659" y="86124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8B5EB7C2-D0BF-0349-2F94-E0812B1A4D21}"/>
              </a:ext>
            </a:extLst>
          </p:cNvPr>
          <p:cNvSpPr txBox="1"/>
          <p:nvPr/>
        </p:nvSpPr>
        <p:spPr>
          <a:xfrm>
            <a:off x="2090222" y="1561353"/>
            <a:ext cx="2207656" cy="523220"/>
          </a:xfrm>
          <a:prstGeom prst="rect">
            <a:avLst/>
          </a:prstGeom>
          <a:noFill/>
          <a:ln w="19050">
            <a:solidFill>
              <a:schemeClr val="tx1"/>
            </a:solidFill>
          </a:ln>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教育への反映</a:t>
            </a:r>
          </a:p>
        </p:txBody>
      </p:sp>
      <p:sp>
        <p:nvSpPr>
          <p:cNvPr id="27" name="テキスト ボックス 26">
            <a:extLst>
              <a:ext uri="{FF2B5EF4-FFF2-40B4-BE49-F238E27FC236}">
                <a16:creationId xmlns:a16="http://schemas.microsoft.com/office/drawing/2014/main" id="{CAAC4309-67BC-ED6D-3525-B08BB57515B1}"/>
              </a:ext>
            </a:extLst>
          </p:cNvPr>
          <p:cNvSpPr txBox="1"/>
          <p:nvPr/>
        </p:nvSpPr>
        <p:spPr>
          <a:xfrm>
            <a:off x="7906822" y="1574800"/>
            <a:ext cx="2207656" cy="523220"/>
          </a:xfrm>
          <a:prstGeom prst="rect">
            <a:avLst/>
          </a:prstGeom>
          <a:noFill/>
          <a:ln w="19050">
            <a:solidFill>
              <a:schemeClr val="tx1"/>
            </a:solidFill>
          </a:ln>
        </p:spPr>
        <p:txBody>
          <a:bodyPr wrap="none" rtlCol="0">
            <a:spAutoFit/>
          </a:bodyPr>
          <a:lstStyle/>
          <a:p>
            <a:pPr algn="ctr"/>
            <a:r>
              <a:rPr lang="ja-JP" altLang="en-US" sz="2800">
                <a:latin typeface="MS UI Gothic" panose="020B0600070205080204" pitchFamily="34" charset="-128"/>
                <a:ea typeface="MS UI Gothic" panose="020B0600070205080204" pitchFamily="34" charset="-128"/>
              </a:rPr>
              <a:t>研究</a:t>
            </a:r>
            <a:r>
              <a:rPr kumimoji="1" lang="ja-JP" altLang="en-US" sz="2800">
                <a:latin typeface="MS UI Gothic" panose="020B0600070205080204" pitchFamily="34" charset="-128"/>
                <a:ea typeface="MS UI Gothic" panose="020B0600070205080204" pitchFamily="34" charset="-128"/>
              </a:rPr>
              <a:t>への反映</a:t>
            </a:r>
          </a:p>
        </p:txBody>
      </p:sp>
      <p:grpSp>
        <p:nvGrpSpPr>
          <p:cNvPr id="33" name="グループ化 32">
            <a:extLst>
              <a:ext uri="{FF2B5EF4-FFF2-40B4-BE49-F238E27FC236}">
                <a16:creationId xmlns:a16="http://schemas.microsoft.com/office/drawing/2014/main" id="{BF8B3170-BDF3-A102-49A2-F5356E5EC893}"/>
              </a:ext>
            </a:extLst>
          </p:cNvPr>
          <p:cNvGrpSpPr/>
          <p:nvPr/>
        </p:nvGrpSpPr>
        <p:grpSpPr>
          <a:xfrm>
            <a:off x="7594600" y="2235200"/>
            <a:ext cx="2870200" cy="673100"/>
            <a:chOff x="7594600" y="2451100"/>
            <a:chExt cx="2870200" cy="673100"/>
          </a:xfrm>
        </p:grpSpPr>
        <p:sp>
          <p:nvSpPr>
            <p:cNvPr id="32" name="角丸四角形 31">
              <a:extLst>
                <a:ext uri="{FF2B5EF4-FFF2-40B4-BE49-F238E27FC236}">
                  <a16:creationId xmlns:a16="http://schemas.microsoft.com/office/drawing/2014/main" id="{437D713E-306D-84F0-00FB-A282DD7E04B4}"/>
                </a:ext>
              </a:extLst>
            </p:cNvPr>
            <p:cNvSpPr/>
            <p:nvPr/>
          </p:nvSpPr>
          <p:spPr>
            <a:xfrm>
              <a:off x="7594600" y="2451100"/>
              <a:ext cx="2870200" cy="6731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4A6717EE-3FC7-9CD4-D992-1AD1C3839B1F}"/>
                </a:ext>
              </a:extLst>
            </p:cNvPr>
            <p:cNvSpPr txBox="1"/>
            <p:nvPr/>
          </p:nvSpPr>
          <p:spPr>
            <a:xfrm>
              <a:off x="7680613" y="2526040"/>
              <a:ext cx="2698175"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体系的実証実験</a:t>
              </a:r>
            </a:p>
          </p:txBody>
        </p:sp>
      </p:grpSp>
      <p:sp>
        <p:nvSpPr>
          <p:cNvPr id="34" name="角丸四角形 33">
            <a:extLst>
              <a:ext uri="{FF2B5EF4-FFF2-40B4-BE49-F238E27FC236}">
                <a16:creationId xmlns:a16="http://schemas.microsoft.com/office/drawing/2014/main" id="{B7E04509-DEC2-ADDA-D97C-B6073356F7BB}"/>
              </a:ext>
            </a:extLst>
          </p:cNvPr>
          <p:cNvSpPr/>
          <p:nvPr/>
        </p:nvSpPr>
        <p:spPr>
          <a:xfrm>
            <a:off x="7048500" y="3378200"/>
            <a:ext cx="3924300" cy="3378200"/>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 name="グループ化 30">
            <a:extLst>
              <a:ext uri="{FF2B5EF4-FFF2-40B4-BE49-F238E27FC236}">
                <a16:creationId xmlns:a16="http://schemas.microsoft.com/office/drawing/2014/main" id="{6E9C1486-04A3-256B-B87B-CC8CDC170AFE}"/>
              </a:ext>
            </a:extLst>
          </p:cNvPr>
          <p:cNvGrpSpPr/>
          <p:nvPr/>
        </p:nvGrpSpPr>
        <p:grpSpPr>
          <a:xfrm>
            <a:off x="7278445" y="3505200"/>
            <a:ext cx="3464410" cy="3091635"/>
            <a:chOff x="7278445" y="3525164"/>
            <a:chExt cx="3464410" cy="2946866"/>
          </a:xfrm>
        </p:grpSpPr>
        <p:sp>
          <p:nvSpPr>
            <p:cNvPr id="25" name="テキスト ボックス 24">
              <a:extLst>
                <a:ext uri="{FF2B5EF4-FFF2-40B4-BE49-F238E27FC236}">
                  <a16:creationId xmlns:a16="http://schemas.microsoft.com/office/drawing/2014/main" id="{BC22CB9D-B3E5-202A-7EB8-3000C6D009AC}"/>
                </a:ext>
              </a:extLst>
            </p:cNvPr>
            <p:cNvSpPr txBox="1"/>
            <p:nvPr/>
          </p:nvSpPr>
          <p:spPr>
            <a:xfrm>
              <a:off x="7278445" y="3525164"/>
              <a:ext cx="2948243" cy="954107"/>
            </a:xfrm>
            <a:prstGeom prst="rect">
              <a:avLst/>
            </a:prstGeom>
            <a:noFill/>
          </p:spPr>
          <p:txBody>
            <a:bodyPr wrap="none" rtlCol="0">
              <a:spAutoFit/>
            </a:bodyPr>
            <a:lstStyle/>
            <a:p>
              <a:r>
                <a:rPr kumimoji="1" lang="en-US" altLang="ja-JP" sz="2800" dirty="0">
                  <a:solidFill>
                    <a:schemeClr val="bg1"/>
                  </a:solidFill>
                  <a:latin typeface="MS UI Gothic" panose="020B0600070205080204" pitchFamily="34" charset="-128"/>
                  <a:ea typeface="MS UI Gothic" panose="020B0600070205080204" pitchFamily="34" charset="-128"/>
                </a:rPr>
                <a:t>①</a:t>
              </a:r>
              <a:r>
                <a:rPr kumimoji="1" lang="ja-JP" altLang="en-US" sz="2800">
                  <a:solidFill>
                    <a:schemeClr val="bg1"/>
                  </a:solidFill>
                  <a:latin typeface="MS UI Gothic" panose="020B0600070205080204" pitchFamily="34" charset="-128"/>
                  <a:ea typeface="MS UI Gothic" panose="020B0600070205080204" pitchFamily="34" charset="-128"/>
                </a:rPr>
                <a:t>生成系</a:t>
              </a:r>
              <a:r>
                <a:rPr kumimoji="1" lang="en-US" altLang="ja-JP" sz="2800" dirty="0">
                  <a:solidFill>
                    <a:schemeClr val="bg1"/>
                  </a:solidFill>
                  <a:latin typeface="MS UI Gothic" panose="020B0600070205080204" pitchFamily="34" charset="-128"/>
                  <a:ea typeface="MS UI Gothic" panose="020B0600070205080204" pitchFamily="34" charset="-128"/>
                </a:rPr>
                <a:t>AI</a:t>
              </a:r>
              <a:r>
                <a:rPr kumimoji="1" lang="ja-JP" altLang="en-US" sz="2800">
                  <a:solidFill>
                    <a:schemeClr val="bg1"/>
                  </a:solidFill>
                  <a:latin typeface="MS UI Gothic" panose="020B0600070205080204" pitchFamily="34" charset="-128"/>
                  <a:ea typeface="MS UI Gothic" panose="020B0600070205080204" pitchFamily="34" charset="-128"/>
                </a:rPr>
                <a:t>活用の</a:t>
              </a:r>
              <a:endParaRPr kumimoji="1" lang="en-US" altLang="ja-JP" sz="2800" dirty="0">
                <a:solidFill>
                  <a:schemeClr val="bg1"/>
                </a:solidFill>
                <a:latin typeface="MS UI Gothic" panose="020B0600070205080204" pitchFamily="34" charset="-128"/>
                <a:ea typeface="MS UI Gothic" panose="020B0600070205080204" pitchFamily="34" charset="-128"/>
              </a:endParaRPr>
            </a:p>
            <a:p>
              <a:r>
                <a:rPr kumimoji="1" lang="ja-JP" altLang="en-US" sz="2800">
                  <a:solidFill>
                    <a:schemeClr val="bg1"/>
                  </a:solidFill>
                  <a:latin typeface="MS UI Gothic" panose="020B0600070205080204" pitchFamily="34" charset="-128"/>
                  <a:ea typeface="MS UI Gothic" panose="020B0600070205080204" pitchFamily="34" charset="-128"/>
                </a:rPr>
                <a:t>　エビデンスの構築</a:t>
              </a:r>
            </a:p>
          </p:txBody>
        </p:sp>
        <p:sp>
          <p:nvSpPr>
            <p:cNvPr id="26" name="テキスト ボックス 25">
              <a:extLst>
                <a:ext uri="{FF2B5EF4-FFF2-40B4-BE49-F238E27FC236}">
                  <a16:creationId xmlns:a16="http://schemas.microsoft.com/office/drawing/2014/main" id="{DCF4F2B1-3395-6F61-6F31-EF0BC3A7C159}"/>
                </a:ext>
              </a:extLst>
            </p:cNvPr>
            <p:cNvSpPr txBox="1"/>
            <p:nvPr/>
          </p:nvSpPr>
          <p:spPr>
            <a:xfrm>
              <a:off x="7278445" y="5562600"/>
              <a:ext cx="3464410" cy="909430"/>
            </a:xfrm>
            <a:prstGeom prst="rect">
              <a:avLst/>
            </a:prstGeom>
            <a:noFill/>
          </p:spPr>
          <p:txBody>
            <a:bodyPr wrap="none" rtlCol="0">
              <a:spAutoFit/>
            </a:bodyPr>
            <a:lstStyle/>
            <a:p>
              <a:r>
                <a:rPr kumimoji="1" lang="en-US" altLang="ja-JP" sz="2800" dirty="0">
                  <a:solidFill>
                    <a:schemeClr val="bg1"/>
                  </a:solidFill>
                  <a:latin typeface="MS UI Gothic" panose="020B0600070205080204" pitchFamily="34" charset="-128"/>
                  <a:ea typeface="MS UI Gothic" panose="020B0600070205080204" pitchFamily="34" charset="-128"/>
                </a:rPr>
                <a:t>③</a:t>
              </a:r>
              <a:r>
                <a:rPr kumimoji="1" lang="ja-JP" altLang="en-US" sz="2800">
                  <a:solidFill>
                    <a:schemeClr val="bg1"/>
                  </a:solidFill>
                  <a:latin typeface="MS UI Gothic" panose="020B0600070205080204" pitchFamily="34" charset="-128"/>
                  <a:ea typeface="MS UI Gothic" panose="020B0600070205080204" pitchFamily="34" charset="-128"/>
                </a:rPr>
                <a:t>他科目・他大学への</a:t>
              </a:r>
              <a:endParaRPr kumimoji="1" lang="en-US" altLang="ja-JP" sz="2800" dirty="0">
                <a:solidFill>
                  <a:schemeClr val="bg1"/>
                </a:solidFill>
                <a:latin typeface="MS UI Gothic" panose="020B0600070205080204" pitchFamily="34" charset="-128"/>
                <a:ea typeface="MS UI Gothic" panose="020B0600070205080204" pitchFamily="34" charset="-128"/>
              </a:endParaRPr>
            </a:p>
            <a:p>
              <a:r>
                <a:rPr kumimoji="1" lang="ja-JP" altLang="en-US" sz="2800">
                  <a:solidFill>
                    <a:schemeClr val="bg1"/>
                  </a:solidFill>
                  <a:latin typeface="MS UI Gothic" panose="020B0600070205080204" pitchFamily="34" charset="-128"/>
                  <a:ea typeface="MS UI Gothic" panose="020B0600070205080204" pitchFamily="34" charset="-128"/>
                </a:rPr>
                <a:t>　発展可能性</a:t>
              </a:r>
            </a:p>
          </p:txBody>
        </p:sp>
        <p:sp>
          <p:nvSpPr>
            <p:cNvPr id="28" name="テキスト ボックス 27">
              <a:extLst>
                <a:ext uri="{FF2B5EF4-FFF2-40B4-BE49-F238E27FC236}">
                  <a16:creationId xmlns:a16="http://schemas.microsoft.com/office/drawing/2014/main" id="{07DC149F-D67E-D80C-1317-9E3ACB684130}"/>
                </a:ext>
              </a:extLst>
            </p:cNvPr>
            <p:cNvSpPr txBox="1"/>
            <p:nvPr/>
          </p:nvSpPr>
          <p:spPr>
            <a:xfrm>
              <a:off x="7278445" y="4543882"/>
              <a:ext cx="3409908" cy="90943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②</a:t>
              </a:r>
              <a:r>
                <a:rPr lang="ja-JP" altLang="en-US" sz="2800">
                  <a:solidFill>
                    <a:schemeClr val="bg1"/>
                  </a:solidFill>
                  <a:latin typeface="MS UI Gothic" panose="020B0600070205080204" pitchFamily="34" charset="-128"/>
                  <a:ea typeface="MS UI Gothic" panose="020B0600070205080204" pitchFamily="34" charset="-128"/>
                </a:rPr>
                <a:t>学習支援システムの</a:t>
              </a:r>
              <a:endParaRPr lang="en-US" altLang="ja-JP" sz="2800" dirty="0">
                <a:solidFill>
                  <a:schemeClr val="bg1"/>
                </a:solidFill>
                <a:latin typeface="MS UI Gothic" panose="020B0600070205080204" pitchFamily="34" charset="-128"/>
                <a:ea typeface="MS UI Gothic" panose="020B0600070205080204" pitchFamily="34" charset="-128"/>
              </a:endParaRPr>
            </a:p>
            <a:p>
              <a:r>
                <a:rPr lang="ja-JP" altLang="en-US" sz="2800">
                  <a:solidFill>
                    <a:schemeClr val="bg1"/>
                  </a:solidFill>
                  <a:latin typeface="MS UI Gothic" panose="020B0600070205080204" pitchFamily="34" charset="-128"/>
                  <a:ea typeface="MS UI Gothic" panose="020B0600070205080204" pitchFamily="34" charset="-128"/>
                </a:rPr>
                <a:t>　設計指針の構築</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grpSp>
      <p:sp>
        <p:nvSpPr>
          <p:cNvPr id="35" name="下矢印 34">
            <a:extLst>
              <a:ext uri="{FF2B5EF4-FFF2-40B4-BE49-F238E27FC236}">
                <a16:creationId xmlns:a16="http://schemas.microsoft.com/office/drawing/2014/main" id="{FF03DBE3-2B9F-E26D-B9FD-09F24BA63722}"/>
              </a:ext>
            </a:extLst>
          </p:cNvPr>
          <p:cNvSpPr/>
          <p:nvPr/>
        </p:nvSpPr>
        <p:spPr>
          <a:xfrm>
            <a:off x="8750300" y="2997200"/>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a:extLst>
              <a:ext uri="{FF2B5EF4-FFF2-40B4-BE49-F238E27FC236}">
                <a16:creationId xmlns:a16="http://schemas.microsoft.com/office/drawing/2014/main" id="{1B66DE43-AE14-A486-8E42-2AC5F0E66A04}"/>
              </a:ext>
            </a:extLst>
          </p:cNvPr>
          <p:cNvGrpSpPr/>
          <p:nvPr/>
        </p:nvGrpSpPr>
        <p:grpSpPr>
          <a:xfrm>
            <a:off x="1498600" y="2235200"/>
            <a:ext cx="3390900" cy="673100"/>
            <a:chOff x="1485900" y="2413000"/>
            <a:chExt cx="3390900" cy="673100"/>
          </a:xfrm>
        </p:grpSpPr>
        <p:sp>
          <p:nvSpPr>
            <p:cNvPr id="38" name="角丸四角形 37">
              <a:extLst>
                <a:ext uri="{FF2B5EF4-FFF2-40B4-BE49-F238E27FC236}">
                  <a16:creationId xmlns:a16="http://schemas.microsoft.com/office/drawing/2014/main" id="{2F473264-D3B0-5C7E-6816-954DDEAC1C32}"/>
                </a:ext>
              </a:extLst>
            </p:cNvPr>
            <p:cNvSpPr/>
            <p:nvPr/>
          </p:nvSpPr>
          <p:spPr>
            <a:xfrm>
              <a:off x="1485900" y="2413000"/>
              <a:ext cx="3390900" cy="6731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28AE1C8-0569-4108-5383-678704E683D4}"/>
                </a:ext>
              </a:extLst>
            </p:cNvPr>
            <p:cNvSpPr txBox="1"/>
            <p:nvPr/>
          </p:nvSpPr>
          <p:spPr>
            <a:xfrm>
              <a:off x="1504449" y="2487940"/>
              <a:ext cx="3353803"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学生入力・使用データ</a:t>
              </a:r>
            </a:p>
          </p:txBody>
        </p:sp>
      </p:grpSp>
      <p:sp>
        <p:nvSpPr>
          <p:cNvPr id="40" name="下矢印 39">
            <a:extLst>
              <a:ext uri="{FF2B5EF4-FFF2-40B4-BE49-F238E27FC236}">
                <a16:creationId xmlns:a16="http://schemas.microsoft.com/office/drawing/2014/main" id="{FC529F7F-7F27-7827-ADA7-803C9FCA037A}"/>
              </a:ext>
            </a:extLst>
          </p:cNvPr>
          <p:cNvSpPr/>
          <p:nvPr/>
        </p:nvSpPr>
        <p:spPr>
          <a:xfrm>
            <a:off x="2951734" y="3124200"/>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365D4FD5-42A9-B251-8307-6AF876191B92}"/>
              </a:ext>
            </a:extLst>
          </p:cNvPr>
          <p:cNvGrpSpPr/>
          <p:nvPr/>
        </p:nvGrpSpPr>
        <p:grpSpPr>
          <a:xfrm>
            <a:off x="1104900" y="3531860"/>
            <a:ext cx="4178300" cy="673100"/>
            <a:chOff x="1130300" y="3303260"/>
            <a:chExt cx="4178300" cy="673100"/>
          </a:xfrm>
        </p:grpSpPr>
        <p:sp>
          <p:nvSpPr>
            <p:cNvPr id="41" name="角丸四角形 40">
              <a:extLst>
                <a:ext uri="{FF2B5EF4-FFF2-40B4-BE49-F238E27FC236}">
                  <a16:creationId xmlns:a16="http://schemas.microsoft.com/office/drawing/2014/main" id="{03107A64-A7AE-AAB0-2640-ACD065DDC40A}"/>
                </a:ext>
              </a:extLst>
            </p:cNvPr>
            <p:cNvSpPr/>
            <p:nvPr/>
          </p:nvSpPr>
          <p:spPr>
            <a:xfrm>
              <a:off x="1130300" y="3303260"/>
              <a:ext cx="4178300" cy="6731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949946E-B207-89E2-DF1F-F173165C67A2}"/>
                </a:ext>
              </a:extLst>
            </p:cNvPr>
            <p:cNvSpPr txBox="1"/>
            <p:nvPr/>
          </p:nvSpPr>
          <p:spPr>
            <a:xfrm>
              <a:off x="1159431" y="3378200"/>
              <a:ext cx="4120038"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「つまずきの地図」自動作成</a:t>
              </a:r>
            </a:p>
          </p:txBody>
        </p:sp>
      </p:grpSp>
      <p:sp>
        <p:nvSpPr>
          <p:cNvPr id="43" name="角丸四角形 42">
            <a:extLst>
              <a:ext uri="{FF2B5EF4-FFF2-40B4-BE49-F238E27FC236}">
                <a16:creationId xmlns:a16="http://schemas.microsoft.com/office/drawing/2014/main" id="{F05B82C0-526F-1315-39DD-171DC3E485B4}"/>
              </a:ext>
            </a:extLst>
          </p:cNvPr>
          <p:cNvSpPr/>
          <p:nvPr/>
        </p:nvSpPr>
        <p:spPr>
          <a:xfrm>
            <a:off x="1104899" y="4674860"/>
            <a:ext cx="4178299" cy="208154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F8BE42F1-FE60-32A0-E716-5D8B6E7BAAB4}"/>
              </a:ext>
            </a:extLst>
          </p:cNvPr>
          <p:cNvSpPr txBox="1"/>
          <p:nvPr/>
        </p:nvSpPr>
        <p:spPr>
          <a:xfrm>
            <a:off x="1248719" y="5436336"/>
            <a:ext cx="4131259"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②</a:t>
            </a:r>
            <a:r>
              <a:rPr lang="ja-JP" altLang="en-US" sz="2800">
                <a:solidFill>
                  <a:schemeClr val="bg1"/>
                </a:solidFill>
                <a:latin typeface="MS UI Gothic" panose="020B0600070205080204" pitchFamily="34" charset="-128"/>
                <a:ea typeface="MS UI Gothic" panose="020B0600070205080204" pitchFamily="34" charset="-128"/>
              </a:rPr>
              <a:t>学生個別指導への活用</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sp>
        <p:nvSpPr>
          <p:cNvPr id="37" name="テキスト ボックス 36">
            <a:extLst>
              <a:ext uri="{FF2B5EF4-FFF2-40B4-BE49-F238E27FC236}">
                <a16:creationId xmlns:a16="http://schemas.microsoft.com/office/drawing/2014/main" id="{E35AFE8A-CF6C-7E5E-6056-D6E7ECFBE498}"/>
              </a:ext>
            </a:extLst>
          </p:cNvPr>
          <p:cNvSpPr txBox="1"/>
          <p:nvPr/>
        </p:nvSpPr>
        <p:spPr>
          <a:xfrm>
            <a:off x="1248719" y="4794077"/>
            <a:ext cx="1980029"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①</a:t>
            </a:r>
            <a:r>
              <a:rPr lang="ja-JP" altLang="en-US" sz="2800">
                <a:solidFill>
                  <a:schemeClr val="bg1"/>
                </a:solidFill>
                <a:latin typeface="MS UI Gothic" panose="020B0600070205080204" pitchFamily="34" charset="-128"/>
                <a:ea typeface="MS UI Gothic" panose="020B0600070205080204" pitchFamily="34" charset="-128"/>
              </a:rPr>
              <a:t>講義改善</a:t>
            </a:r>
            <a:endParaRPr lang="en-US" altLang="ja-JP" sz="2800" dirty="0">
              <a:solidFill>
                <a:schemeClr val="bg1"/>
              </a:solidFill>
              <a:latin typeface="MS UI Gothic" panose="020B0600070205080204" pitchFamily="34" charset="-128"/>
              <a:ea typeface="MS UI Gothic" panose="020B0600070205080204" pitchFamily="34" charset="-128"/>
            </a:endParaRPr>
          </a:p>
        </p:txBody>
      </p:sp>
      <p:sp>
        <p:nvSpPr>
          <p:cNvPr id="45" name="下矢印 44">
            <a:extLst>
              <a:ext uri="{FF2B5EF4-FFF2-40B4-BE49-F238E27FC236}">
                <a16:creationId xmlns:a16="http://schemas.microsoft.com/office/drawing/2014/main" id="{5AEC3477-A3C1-2E47-1380-E66CBEE43E78}"/>
              </a:ext>
            </a:extLst>
          </p:cNvPr>
          <p:cNvSpPr/>
          <p:nvPr/>
        </p:nvSpPr>
        <p:spPr>
          <a:xfrm>
            <a:off x="2951734" y="4267200"/>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1463329B-B3F9-0F38-E9D7-A5FB44D2B8F2}"/>
              </a:ext>
            </a:extLst>
          </p:cNvPr>
          <p:cNvSpPr txBox="1"/>
          <p:nvPr/>
        </p:nvSpPr>
        <p:spPr>
          <a:xfrm>
            <a:off x="1248721" y="6078594"/>
            <a:ext cx="4003019"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③</a:t>
            </a:r>
            <a:r>
              <a:rPr lang="ja-JP" altLang="en-US" sz="2800">
                <a:solidFill>
                  <a:schemeClr val="bg1"/>
                </a:solidFill>
                <a:latin typeface="MS UI Gothic" panose="020B0600070205080204" pitchFamily="34" charset="-128"/>
                <a:ea typeface="MS UI Gothic" panose="020B0600070205080204" pitchFamily="34" charset="-128"/>
              </a:rPr>
              <a:t>演習問題作成への反映</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414545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3B29-901B-004A-3191-7783F987F313}"/>
            </a:ext>
          </a:extLst>
        </p:cNvPr>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1B4895E4-B8A6-903D-541E-FE04764CB45A}"/>
              </a:ext>
            </a:extLst>
          </p:cNvPr>
          <p:cNvSpPr/>
          <p:nvPr/>
        </p:nvSpPr>
        <p:spPr>
          <a:xfrm>
            <a:off x="464887" y="1546412"/>
            <a:ext cx="11269917" cy="5029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64244D58-58EA-27A0-55A2-E35E8EBDEC3F}"/>
              </a:ext>
            </a:extLst>
          </p:cNvPr>
          <p:cNvSpPr txBox="1"/>
          <p:nvPr/>
        </p:nvSpPr>
        <p:spPr>
          <a:xfrm>
            <a:off x="540659" y="251650"/>
            <a:ext cx="299152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年次計画の妥当性</a:t>
            </a:r>
          </a:p>
        </p:txBody>
      </p:sp>
      <p:sp>
        <p:nvSpPr>
          <p:cNvPr id="20" name="テキスト ボックス 19">
            <a:extLst>
              <a:ext uri="{FF2B5EF4-FFF2-40B4-BE49-F238E27FC236}">
                <a16:creationId xmlns:a16="http://schemas.microsoft.com/office/drawing/2014/main" id="{CEDFAC00-BF60-7300-F125-78DFF8F2CB6B}"/>
              </a:ext>
            </a:extLst>
          </p:cNvPr>
          <p:cNvSpPr txBox="1"/>
          <p:nvPr/>
        </p:nvSpPr>
        <p:spPr>
          <a:xfrm>
            <a:off x="540659" y="861247"/>
            <a:ext cx="482375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実施スケジュールと到達目標</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98A8181A-7876-638B-1018-8720BC2068A9}"/>
              </a:ext>
            </a:extLst>
          </p:cNvPr>
          <p:cNvSpPr txBox="1"/>
          <p:nvPr/>
        </p:nvSpPr>
        <p:spPr>
          <a:xfrm>
            <a:off x="1101506" y="1687607"/>
            <a:ext cx="902811" cy="523220"/>
          </a:xfrm>
          <a:prstGeom prst="rect">
            <a:avLst/>
          </a:prstGeom>
          <a:noFill/>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時期</a:t>
            </a:r>
          </a:p>
        </p:txBody>
      </p:sp>
      <p:sp>
        <p:nvSpPr>
          <p:cNvPr id="3" name="テキスト ボックス 2">
            <a:extLst>
              <a:ext uri="{FF2B5EF4-FFF2-40B4-BE49-F238E27FC236}">
                <a16:creationId xmlns:a16="http://schemas.microsoft.com/office/drawing/2014/main" id="{C5818178-8A97-948E-3192-A968FA6016E3}"/>
              </a:ext>
            </a:extLst>
          </p:cNvPr>
          <p:cNvSpPr txBox="1"/>
          <p:nvPr/>
        </p:nvSpPr>
        <p:spPr>
          <a:xfrm>
            <a:off x="2728723" y="1687607"/>
            <a:ext cx="902811" cy="523220"/>
          </a:xfrm>
          <a:prstGeom prst="rect">
            <a:avLst/>
          </a:prstGeom>
          <a:noFill/>
        </p:spPr>
        <p:txBody>
          <a:bodyPr wrap="none" rtlCol="0">
            <a:spAutoFit/>
          </a:bodyPr>
          <a:lstStyle/>
          <a:p>
            <a:pPr algn="ctr"/>
            <a:r>
              <a:rPr lang="ja-JP" altLang="en-US" sz="2800">
                <a:latin typeface="MS UI Gothic" panose="020B0600070205080204" pitchFamily="34" charset="-128"/>
                <a:ea typeface="MS UI Gothic" panose="020B0600070205080204" pitchFamily="34" charset="-128"/>
              </a:rPr>
              <a:t>内容</a:t>
            </a:r>
            <a:endParaRPr kumimoji="1" lang="ja-JP" altLang="en-US" sz="2800">
              <a:latin typeface="MS UI Gothic" panose="020B0600070205080204" pitchFamily="34" charset="-128"/>
              <a:ea typeface="MS UI Gothic" panose="020B0600070205080204" pitchFamily="34" charset="-128"/>
            </a:endParaRPr>
          </a:p>
        </p:txBody>
      </p:sp>
      <p:sp>
        <p:nvSpPr>
          <p:cNvPr id="21" name="テキスト ボックス 20">
            <a:extLst>
              <a:ext uri="{FF2B5EF4-FFF2-40B4-BE49-F238E27FC236}">
                <a16:creationId xmlns:a16="http://schemas.microsoft.com/office/drawing/2014/main" id="{F1167E92-A848-4661-94D3-21A5963A63C7}"/>
              </a:ext>
            </a:extLst>
          </p:cNvPr>
          <p:cNvSpPr txBox="1"/>
          <p:nvPr/>
        </p:nvSpPr>
        <p:spPr>
          <a:xfrm>
            <a:off x="6074359" y="1687607"/>
            <a:ext cx="1620957" cy="523220"/>
          </a:xfrm>
          <a:prstGeom prst="rect">
            <a:avLst/>
          </a:prstGeom>
          <a:noFill/>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到達目標</a:t>
            </a:r>
          </a:p>
        </p:txBody>
      </p:sp>
      <p:sp>
        <p:nvSpPr>
          <p:cNvPr id="22" name="テキスト ボックス 21">
            <a:extLst>
              <a:ext uri="{FF2B5EF4-FFF2-40B4-BE49-F238E27FC236}">
                <a16:creationId xmlns:a16="http://schemas.microsoft.com/office/drawing/2014/main" id="{C3705DA2-9CAF-E176-61A0-499011757133}"/>
              </a:ext>
            </a:extLst>
          </p:cNvPr>
          <p:cNvSpPr txBox="1"/>
          <p:nvPr/>
        </p:nvSpPr>
        <p:spPr>
          <a:xfrm>
            <a:off x="1011737" y="2501032"/>
            <a:ext cx="1082349" cy="523220"/>
          </a:xfrm>
          <a:prstGeom prst="rect">
            <a:avLst/>
          </a:prstGeom>
          <a:noFill/>
        </p:spPr>
        <p:txBody>
          <a:bodyPr wrap="none" rtlCol="0">
            <a:spAutoFit/>
          </a:bodyPr>
          <a:lstStyle/>
          <a:p>
            <a:pPr algn="ctr"/>
            <a:r>
              <a:rPr lang="en-US" altLang="ja-JP" sz="2800" dirty="0">
                <a:latin typeface="MS UI Gothic" panose="020B0600070205080204" pitchFamily="34" charset="-128"/>
                <a:ea typeface="MS UI Gothic" panose="020B0600070205080204" pitchFamily="34" charset="-128"/>
              </a:rPr>
              <a:t>4-5</a:t>
            </a:r>
            <a:r>
              <a:rPr lang="ja-JP" altLang="en-US" sz="2800">
                <a:latin typeface="MS UI Gothic" panose="020B0600070205080204" pitchFamily="34" charset="-128"/>
                <a:ea typeface="MS UI Gothic" panose="020B0600070205080204" pitchFamily="34" charset="-128"/>
              </a:rPr>
              <a:t>月</a:t>
            </a:r>
            <a:endParaRPr kumimoji="1" lang="ja-JP" altLang="en-US" sz="2800">
              <a:latin typeface="MS UI Gothic" panose="020B0600070205080204" pitchFamily="34" charset="-128"/>
              <a:ea typeface="MS UI Gothic" panose="020B0600070205080204" pitchFamily="34" charset="-128"/>
            </a:endParaRPr>
          </a:p>
        </p:txBody>
      </p:sp>
      <p:sp>
        <p:nvSpPr>
          <p:cNvPr id="24" name="テキスト ボックス 23">
            <a:extLst>
              <a:ext uri="{FF2B5EF4-FFF2-40B4-BE49-F238E27FC236}">
                <a16:creationId xmlns:a16="http://schemas.microsoft.com/office/drawing/2014/main" id="{7D36CEDE-6634-91F5-7FAF-9F2C8A7B4161}"/>
              </a:ext>
            </a:extLst>
          </p:cNvPr>
          <p:cNvSpPr txBox="1"/>
          <p:nvPr/>
        </p:nvSpPr>
        <p:spPr>
          <a:xfrm>
            <a:off x="6074359" y="2470254"/>
            <a:ext cx="4307589"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安定稼働の確認、</a:t>
            </a:r>
            <a:r>
              <a:rPr lang="ja-JP" altLang="en-US" sz="2800">
                <a:latin typeface="MS UI Gothic" panose="020B0600070205080204" pitchFamily="34" charset="-128"/>
                <a:ea typeface="MS UI Gothic" panose="020B0600070205080204" pitchFamily="34" charset="-128"/>
              </a:rPr>
              <a:t>倫理承認</a:t>
            </a:r>
            <a:endParaRPr kumimoji="1" lang="ja-JP" altLang="en-US" sz="2800">
              <a:latin typeface="MS UI Gothic" panose="020B0600070205080204" pitchFamily="34" charset="-128"/>
              <a:ea typeface="MS UI Gothic" panose="020B0600070205080204" pitchFamily="34" charset="-128"/>
            </a:endParaRPr>
          </a:p>
        </p:txBody>
      </p:sp>
      <p:sp>
        <p:nvSpPr>
          <p:cNvPr id="25" name="テキスト ボックス 24">
            <a:extLst>
              <a:ext uri="{FF2B5EF4-FFF2-40B4-BE49-F238E27FC236}">
                <a16:creationId xmlns:a16="http://schemas.microsoft.com/office/drawing/2014/main" id="{50CA7110-EE48-56DF-CCD3-E1A7DFC42A33}"/>
              </a:ext>
            </a:extLst>
          </p:cNvPr>
          <p:cNvSpPr txBox="1"/>
          <p:nvPr/>
        </p:nvSpPr>
        <p:spPr>
          <a:xfrm>
            <a:off x="1011737" y="3314457"/>
            <a:ext cx="1082349" cy="523220"/>
          </a:xfrm>
          <a:prstGeom prst="rect">
            <a:avLst/>
          </a:prstGeom>
          <a:noFill/>
        </p:spPr>
        <p:txBody>
          <a:bodyPr wrap="none" rtlCol="0">
            <a:spAutoFit/>
          </a:bodyPr>
          <a:lstStyle/>
          <a:p>
            <a:pPr algn="ctr"/>
            <a:r>
              <a:rPr lang="en-US" altLang="ja-JP" sz="2800" dirty="0">
                <a:latin typeface="MS UI Gothic" panose="020B0600070205080204" pitchFamily="34" charset="-128"/>
                <a:ea typeface="MS UI Gothic" panose="020B0600070205080204" pitchFamily="34" charset="-128"/>
              </a:rPr>
              <a:t>6-8</a:t>
            </a:r>
            <a:r>
              <a:rPr lang="ja-JP" altLang="en-US" sz="2800">
                <a:latin typeface="MS UI Gothic" panose="020B0600070205080204" pitchFamily="34" charset="-128"/>
                <a:ea typeface="MS UI Gothic" panose="020B0600070205080204" pitchFamily="34" charset="-128"/>
              </a:rPr>
              <a:t>月</a:t>
            </a:r>
            <a:endParaRPr kumimoji="1" lang="ja-JP" altLang="en-US" sz="2800">
              <a:latin typeface="MS UI Gothic" panose="020B0600070205080204" pitchFamily="34" charset="-128"/>
              <a:ea typeface="MS UI Gothic" panose="020B0600070205080204" pitchFamily="34" charset="-128"/>
            </a:endParaRPr>
          </a:p>
        </p:txBody>
      </p:sp>
      <p:sp>
        <p:nvSpPr>
          <p:cNvPr id="27" name="テキスト ボックス 26">
            <a:extLst>
              <a:ext uri="{FF2B5EF4-FFF2-40B4-BE49-F238E27FC236}">
                <a16:creationId xmlns:a16="http://schemas.microsoft.com/office/drawing/2014/main" id="{ECB38366-2FCD-1595-9954-962C97AD53B4}"/>
              </a:ext>
            </a:extLst>
          </p:cNvPr>
          <p:cNvSpPr txBox="1"/>
          <p:nvPr/>
        </p:nvSpPr>
        <p:spPr>
          <a:xfrm>
            <a:off x="6074359" y="3283679"/>
            <a:ext cx="4724370"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研究データ取得可能性の確認</a:t>
            </a:r>
            <a:endParaRPr lang="en-US" altLang="ja-JP" sz="2800" dirty="0">
              <a:latin typeface="MS UI Gothic" panose="020B0600070205080204" pitchFamily="34" charset="-128"/>
              <a:ea typeface="MS UI Gothic" panose="020B0600070205080204" pitchFamily="34" charset="-128"/>
            </a:endParaRPr>
          </a:p>
        </p:txBody>
      </p:sp>
      <p:sp>
        <p:nvSpPr>
          <p:cNvPr id="28" name="テキスト ボックス 27">
            <a:extLst>
              <a:ext uri="{FF2B5EF4-FFF2-40B4-BE49-F238E27FC236}">
                <a16:creationId xmlns:a16="http://schemas.microsoft.com/office/drawing/2014/main" id="{612B8DA0-1298-9FEB-3D6A-7EA199996979}"/>
              </a:ext>
            </a:extLst>
          </p:cNvPr>
          <p:cNvSpPr txBox="1"/>
          <p:nvPr/>
        </p:nvSpPr>
        <p:spPr>
          <a:xfrm>
            <a:off x="1191274" y="4127882"/>
            <a:ext cx="723275" cy="523220"/>
          </a:xfrm>
          <a:prstGeom prst="rect">
            <a:avLst/>
          </a:prstGeom>
          <a:noFill/>
        </p:spPr>
        <p:txBody>
          <a:bodyPr wrap="none" rtlCol="0">
            <a:spAutoFit/>
          </a:bodyPr>
          <a:lstStyle/>
          <a:p>
            <a:pPr algn="ctr"/>
            <a:r>
              <a:rPr lang="en-US" altLang="ja-JP" sz="2800" dirty="0">
                <a:latin typeface="MS UI Gothic" panose="020B0600070205080204" pitchFamily="34" charset="-128"/>
                <a:ea typeface="MS UI Gothic" panose="020B0600070205080204" pitchFamily="34" charset="-128"/>
              </a:rPr>
              <a:t>9</a:t>
            </a:r>
            <a:r>
              <a:rPr lang="ja-JP" altLang="en-US" sz="2800">
                <a:latin typeface="MS UI Gothic" panose="020B0600070205080204" pitchFamily="34" charset="-128"/>
                <a:ea typeface="MS UI Gothic" panose="020B0600070205080204" pitchFamily="34" charset="-128"/>
              </a:rPr>
              <a:t>月</a:t>
            </a:r>
            <a:endParaRPr kumimoji="1" lang="ja-JP" altLang="en-US" sz="2800">
              <a:latin typeface="MS UI Gothic" panose="020B0600070205080204" pitchFamily="34" charset="-128"/>
              <a:ea typeface="MS UI Gothic" panose="020B0600070205080204" pitchFamily="34" charset="-128"/>
            </a:endParaRPr>
          </a:p>
        </p:txBody>
      </p:sp>
      <p:sp>
        <p:nvSpPr>
          <p:cNvPr id="30" name="テキスト ボックス 29">
            <a:extLst>
              <a:ext uri="{FF2B5EF4-FFF2-40B4-BE49-F238E27FC236}">
                <a16:creationId xmlns:a16="http://schemas.microsoft.com/office/drawing/2014/main" id="{426D7916-54CC-B424-3A91-283D1CCF5E03}"/>
              </a:ext>
            </a:extLst>
          </p:cNvPr>
          <p:cNvSpPr txBox="1"/>
          <p:nvPr/>
        </p:nvSpPr>
        <p:spPr>
          <a:xfrm>
            <a:off x="6074359" y="4097104"/>
            <a:ext cx="391485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本実証に向けた課題改善</a:t>
            </a:r>
            <a:endParaRPr lang="en-US" altLang="ja-JP" sz="2800" dirty="0">
              <a:latin typeface="MS UI Gothic" panose="020B0600070205080204" pitchFamily="34" charset="-128"/>
              <a:ea typeface="MS UI Gothic" panose="020B0600070205080204" pitchFamily="34" charset="-128"/>
            </a:endParaRPr>
          </a:p>
        </p:txBody>
      </p:sp>
      <p:sp>
        <p:nvSpPr>
          <p:cNvPr id="31" name="テキスト ボックス 30">
            <a:extLst>
              <a:ext uri="{FF2B5EF4-FFF2-40B4-BE49-F238E27FC236}">
                <a16:creationId xmlns:a16="http://schemas.microsoft.com/office/drawing/2014/main" id="{24FF15EE-9D09-6C2E-8F05-D47BA800FAED}"/>
              </a:ext>
            </a:extLst>
          </p:cNvPr>
          <p:cNvSpPr txBox="1"/>
          <p:nvPr/>
        </p:nvSpPr>
        <p:spPr>
          <a:xfrm>
            <a:off x="832202" y="4941307"/>
            <a:ext cx="1441420" cy="523220"/>
          </a:xfrm>
          <a:prstGeom prst="rect">
            <a:avLst/>
          </a:prstGeom>
          <a:noFill/>
        </p:spPr>
        <p:txBody>
          <a:bodyPr wrap="none" rtlCol="0">
            <a:spAutoFit/>
          </a:bodyPr>
          <a:lstStyle/>
          <a:p>
            <a:pPr algn="ctr"/>
            <a:r>
              <a:rPr lang="en-US" altLang="ja-JP" sz="2800" dirty="0">
                <a:latin typeface="MS UI Gothic" panose="020B0600070205080204" pitchFamily="34" charset="-128"/>
                <a:ea typeface="MS UI Gothic" panose="020B0600070205080204" pitchFamily="34" charset="-128"/>
              </a:rPr>
              <a:t>10-12</a:t>
            </a:r>
            <a:r>
              <a:rPr lang="ja-JP" altLang="en-US" sz="2800">
                <a:latin typeface="MS UI Gothic" panose="020B0600070205080204" pitchFamily="34" charset="-128"/>
                <a:ea typeface="MS UI Gothic" panose="020B0600070205080204" pitchFamily="34" charset="-128"/>
              </a:rPr>
              <a:t>月</a:t>
            </a:r>
            <a:endParaRPr kumimoji="1" lang="ja-JP" altLang="en-US" sz="2800">
              <a:latin typeface="MS UI Gothic" panose="020B0600070205080204" pitchFamily="34" charset="-128"/>
              <a:ea typeface="MS UI Gothic" panose="020B0600070205080204" pitchFamily="34" charset="-128"/>
            </a:endParaRPr>
          </a:p>
        </p:txBody>
      </p:sp>
      <p:sp>
        <p:nvSpPr>
          <p:cNvPr id="33" name="テキスト ボックス 32">
            <a:extLst>
              <a:ext uri="{FF2B5EF4-FFF2-40B4-BE49-F238E27FC236}">
                <a16:creationId xmlns:a16="http://schemas.microsoft.com/office/drawing/2014/main" id="{74666448-D663-2FD4-C9C3-6A3251A7BD75}"/>
              </a:ext>
            </a:extLst>
          </p:cNvPr>
          <p:cNvSpPr txBox="1"/>
          <p:nvPr/>
        </p:nvSpPr>
        <p:spPr>
          <a:xfrm>
            <a:off x="6074359" y="4910529"/>
            <a:ext cx="5253361"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学習成果への影響、関連性の解明</a:t>
            </a:r>
            <a:endParaRPr lang="en-US" altLang="ja-JP" sz="2800" dirty="0">
              <a:latin typeface="MS UI Gothic" panose="020B0600070205080204" pitchFamily="34" charset="-128"/>
              <a:ea typeface="MS UI Gothic" panose="020B0600070205080204" pitchFamily="34" charset="-128"/>
            </a:endParaRPr>
          </a:p>
        </p:txBody>
      </p:sp>
      <p:sp>
        <p:nvSpPr>
          <p:cNvPr id="34" name="テキスト ボックス 33">
            <a:extLst>
              <a:ext uri="{FF2B5EF4-FFF2-40B4-BE49-F238E27FC236}">
                <a16:creationId xmlns:a16="http://schemas.microsoft.com/office/drawing/2014/main" id="{9AE99280-96CD-B129-90F0-1DA7B89AFBB0}"/>
              </a:ext>
            </a:extLst>
          </p:cNvPr>
          <p:cNvSpPr txBox="1"/>
          <p:nvPr/>
        </p:nvSpPr>
        <p:spPr>
          <a:xfrm>
            <a:off x="832201" y="5754730"/>
            <a:ext cx="1441420" cy="523220"/>
          </a:xfrm>
          <a:prstGeom prst="rect">
            <a:avLst/>
          </a:prstGeom>
          <a:noFill/>
        </p:spPr>
        <p:txBody>
          <a:bodyPr wrap="none" rtlCol="0">
            <a:spAutoFit/>
          </a:bodyPr>
          <a:lstStyle/>
          <a:p>
            <a:pPr algn="ctr"/>
            <a:r>
              <a:rPr lang="en-US" altLang="ja-JP" sz="2800" dirty="0">
                <a:latin typeface="MS UI Gothic" panose="020B0600070205080204" pitchFamily="34" charset="-128"/>
                <a:ea typeface="MS UI Gothic" panose="020B0600070205080204" pitchFamily="34" charset="-128"/>
              </a:rPr>
              <a:t>1</a:t>
            </a:r>
            <a:r>
              <a:rPr lang="ja-JP" altLang="en-US" sz="2800">
                <a:latin typeface="MS UI Gothic" panose="020B0600070205080204" pitchFamily="34" charset="-128"/>
                <a:ea typeface="MS UI Gothic" panose="020B0600070205080204" pitchFamily="34" charset="-128"/>
              </a:rPr>
              <a:t>月以降</a:t>
            </a:r>
            <a:endParaRPr kumimoji="1" lang="ja-JP" altLang="en-US" sz="2800">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A3066A8A-64FF-FEFC-FEDC-30D86B50C379}"/>
              </a:ext>
            </a:extLst>
          </p:cNvPr>
          <p:cNvSpPr txBox="1"/>
          <p:nvPr/>
        </p:nvSpPr>
        <p:spPr>
          <a:xfrm>
            <a:off x="2728723" y="2501032"/>
            <a:ext cx="2632452"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研究基盤の整理</a:t>
            </a:r>
            <a:endParaRPr lang="en-US" altLang="ja-JP" sz="2800" dirty="0">
              <a:latin typeface="MS UI Gothic" panose="020B0600070205080204" pitchFamily="34" charset="-128"/>
              <a:ea typeface="MS UI Gothic" panose="020B0600070205080204" pitchFamily="34" charset="-128"/>
            </a:endParaRPr>
          </a:p>
        </p:txBody>
      </p:sp>
      <p:sp>
        <p:nvSpPr>
          <p:cNvPr id="26" name="テキスト ボックス 25">
            <a:extLst>
              <a:ext uri="{FF2B5EF4-FFF2-40B4-BE49-F238E27FC236}">
                <a16:creationId xmlns:a16="http://schemas.microsoft.com/office/drawing/2014/main" id="{A94208E7-3D32-AB37-248D-C7A6CD78BA43}"/>
              </a:ext>
            </a:extLst>
          </p:cNvPr>
          <p:cNvSpPr txBox="1"/>
          <p:nvPr/>
        </p:nvSpPr>
        <p:spPr>
          <a:xfrm>
            <a:off x="2728723" y="3314457"/>
            <a:ext cx="323678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運用検証・機能改善</a:t>
            </a:r>
            <a:endParaRPr lang="en-US" altLang="ja-JP" sz="2800" dirty="0">
              <a:latin typeface="MS UI Gothic" panose="020B0600070205080204" pitchFamily="34" charset="-128"/>
              <a:ea typeface="MS UI Gothic" panose="020B0600070205080204" pitchFamily="34" charset="-128"/>
            </a:endParaRPr>
          </a:p>
        </p:txBody>
      </p:sp>
      <p:sp>
        <p:nvSpPr>
          <p:cNvPr id="29" name="テキスト ボックス 28">
            <a:extLst>
              <a:ext uri="{FF2B5EF4-FFF2-40B4-BE49-F238E27FC236}">
                <a16:creationId xmlns:a16="http://schemas.microsoft.com/office/drawing/2014/main" id="{A3B590CD-F193-FFF6-F308-B6BF487AD460}"/>
              </a:ext>
            </a:extLst>
          </p:cNvPr>
          <p:cNvSpPr txBox="1"/>
          <p:nvPr/>
        </p:nvSpPr>
        <p:spPr>
          <a:xfrm>
            <a:off x="2728723" y="4127882"/>
            <a:ext cx="2162772"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プレ実証実験</a:t>
            </a:r>
            <a:endParaRPr lang="en-US" altLang="ja-JP" sz="2800" dirty="0">
              <a:latin typeface="MS UI Gothic" panose="020B0600070205080204" pitchFamily="34" charset="-128"/>
              <a:ea typeface="MS UI Gothic" panose="020B0600070205080204" pitchFamily="34" charset="-128"/>
            </a:endParaRPr>
          </a:p>
        </p:txBody>
      </p:sp>
      <p:sp>
        <p:nvSpPr>
          <p:cNvPr id="32" name="テキスト ボックス 31">
            <a:extLst>
              <a:ext uri="{FF2B5EF4-FFF2-40B4-BE49-F238E27FC236}">
                <a16:creationId xmlns:a16="http://schemas.microsoft.com/office/drawing/2014/main" id="{C3747C8A-E728-8A5C-F08C-901138787B04}"/>
              </a:ext>
            </a:extLst>
          </p:cNvPr>
          <p:cNvSpPr txBox="1"/>
          <p:nvPr/>
        </p:nvSpPr>
        <p:spPr>
          <a:xfrm>
            <a:off x="2728723" y="4941307"/>
            <a:ext cx="1980029"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本実証実験</a:t>
            </a:r>
            <a:endParaRPr lang="en-US" altLang="ja-JP" sz="2800" dirty="0">
              <a:latin typeface="MS UI Gothic" panose="020B0600070205080204" pitchFamily="34" charset="-128"/>
              <a:ea typeface="MS UI Gothic" panose="020B0600070205080204" pitchFamily="34" charset="-128"/>
            </a:endParaRPr>
          </a:p>
        </p:txBody>
      </p:sp>
      <p:sp>
        <p:nvSpPr>
          <p:cNvPr id="35" name="テキスト ボックス 34">
            <a:extLst>
              <a:ext uri="{FF2B5EF4-FFF2-40B4-BE49-F238E27FC236}">
                <a16:creationId xmlns:a16="http://schemas.microsoft.com/office/drawing/2014/main" id="{16807603-47AC-DC78-CEE8-40DA3F3F546D}"/>
              </a:ext>
            </a:extLst>
          </p:cNvPr>
          <p:cNvSpPr txBox="1"/>
          <p:nvPr/>
        </p:nvSpPr>
        <p:spPr>
          <a:xfrm>
            <a:off x="2728723" y="5754730"/>
            <a:ext cx="2518638"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分析・成果公表</a:t>
            </a:r>
            <a:endParaRPr lang="en-US" altLang="ja-JP" sz="2800" dirty="0">
              <a:latin typeface="MS UI Gothic" panose="020B0600070205080204" pitchFamily="34" charset="-128"/>
              <a:ea typeface="MS UI Gothic" panose="020B0600070205080204" pitchFamily="34" charset="-128"/>
            </a:endParaRPr>
          </a:p>
        </p:txBody>
      </p:sp>
      <p:sp>
        <p:nvSpPr>
          <p:cNvPr id="36" name="テキスト ボックス 35">
            <a:extLst>
              <a:ext uri="{FF2B5EF4-FFF2-40B4-BE49-F238E27FC236}">
                <a16:creationId xmlns:a16="http://schemas.microsoft.com/office/drawing/2014/main" id="{40BA9839-3D4D-3C44-E695-8A131E3014DC}"/>
              </a:ext>
            </a:extLst>
          </p:cNvPr>
          <p:cNvSpPr txBox="1"/>
          <p:nvPr/>
        </p:nvSpPr>
        <p:spPr>
          <a:xfrm>
            <a:off x="6074359" y="5723952"/>
            <a:ext cx="1914307"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成果の公表</a:t>
            </a:r>
            <a:endParaRPr lang="en-US" altLang="ja-JP" sz="2800" dirty="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3748164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CDADE6BF-4B55-03AD-28BD-9033DA49ED4D}"/>
              </a:ext>
            </a:extLst>
          </p:cNvPr>
          <p:cNvSpPr/>
          <p:nvPr/>
        </p:nvSpPr>
        <p:spPr>
          <a:xfrm>
            <a:off x="726140" y="1546412"/>
            <a:ext cx="10757647" cy="5029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ED1E4376-6FFE-C6EC-AFCD-C40A530DC95B}"/>
              </a:ext>
            </a:extLst>
          </p:cNvPr>
          <p:cNvSpPr txBox="1"/>
          <p:nvPr/>
        </p:nvSpPr>
        <p:spPr>
          <a:xfrm>
            <a:off x="540659" y="251650"/>
            <a:ext cx="2273379"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経費</a:t>
            </a:r>
            <a:r>
              <a:rPr kumimoji="1" lang="ja-JP" altLang="en-US" sz="2800">
                <a:latin typeface="MS UI Gothic" panose="020B0600070205080204" pitchFamily="34" charset="-128"/>
                <a:ea typeface="MS UI Gothic" panose="020B0600070205080204" pitchFamily="34" charset="-128"/>
              </a:rPr>
              <a:t>の妥当性</a:t>
            </a:r>
          </a:p>
        </p:txBody>
      </p:sp>
      <p:sp>
        <p:nvSpPr>
          <p:cNvPr id="30" name="テキスト ボックス 29">
            <a:extLst>
              <a:ext uri="{FF2B5EF4-FFF2-40B4-BE49-F238E27FC236}">
                <a16:creationId xmlns:a16="http://schemas.microsoft.com/office/drawing/2014/main" id="{4E5990EA-2688-197E-0A82-0D26271A291B}"/>
              </a:ext>
            </a:extLst>
          </p:cNvPr>
          <p:cNvSpPr txBox="1"/>
          <p:nvPr/>
        </p:nvSpPr>
        <p:spPr>
          <a:xfrm>
            <a:off x="540659" y="861247"/>
            <a:ext cx="4471096"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研究経費の内訳と合理性</a:t>
            </a:r>
          </a:p>
        </p:txBody>
      </p:sp>
      <p:grpSp>
        <p:nvGrpSpPr>
          <p:cNvPr id="45" name="グループ化 44">
            <a:extLst>
              <a:ext uri="{FF2B5EF4-FFF2-40B4-BE49-F238E27FC236}">
                <a16:creationId xmlns:a16="http://schemas.microsoft.com/office/drawing/2014/main" id="{2CF2C2D9-8CD3-DD34-A5E2-27A712627A1D}"/>
              </a:ext>
            </a:extLst>
          </p:cNvPr>
          <p:cNvGrpSpPr/>
          <p:nvPr/>
        </p:nvGrpSpPr>
        <p:grpSpPr>
          <a:xfrm>
            <a:off x="910816" y="6057535"/>
            <a:ext cx="4039498" cy="365760"/>
            <a:chOff x="1341120" y="6151664"/>
            <a:chExt cx="4039498" cy="365760"/>
          </a:xfrm>
        </p:grpSpPr>
        <p:sp>
          <p:nvSpPr>
            <p:cNvPr id="27" name="Text 25"/>
            <p:cNvSpPr/>
            <p:nvPr/>
          </p:nvSpPr>
          <p:spPr>
            <a:xfrm>
              <a:off x="1341120" y="6151664"/>
              <a:ext cx="2101327" cy="365760"/>
            </a:xfrm>
            <a:prstGeom prst="rect">
              <a:avLst/>
            </a:prstGeom>
            <a:noFill/>
            <a:ln/>
          </p:spPr>
          <p:txBody>
            <a:bodyPr wrap="square" rtlCol="0" anchor="ctr"/>
            <a:lstStyle/>
            <a:p>
              <a:r>
                <a:rPr lang="en-US" sz="2800" b="1" dirty="0"/>
                <a:t>合計</a:t>
              </a:r>
              <a:endParaRPr lang="en-US" sz="2800" dirty="0"/>
            </a:p>
          </p:txBody>
        </p:sp>
        <p:sp>
          <p:nvSpPr>
            <p:cNvPr id="28" name="Text 26"/>
            <p:cNvSpPr/>
            <p:nvPr/>
          </p:nvSpPr>
          <p:spPr>
            <a:xfrm>
              <a:off x="3551818" y="6151664"/>
              <a:ext cx="1828800" cy="365760"/>
            </a:xfrm>
            <a:prstGeom prst="rect">
              <a:avLst/>
            </a:prstGeom>
            <a:noFill/>
            <a:ln/>
          </p:spPr>
          <p:txBody>
            <a:bodyPr wrap="square" rtlCol="0" anchor="ctr"/>
            <a:lstStyle/>
            <a:p>
              <a:pPr algn="r"/>
              <a:r>
                <a:rPr lang="en-US" sz="2800" b="1" dirty="0">
                  <a:latin typeface="MS UI Gothic" panose="020B0600070205080204" pitchFamily="34" charset="-128"/>
                  <a:ea typeface="MS UI Gothic" panose="020B0600070205080204" pitchFamily="34" charset="-128"/>
                </a:rPr>
                <a:t>1,000千円</a:t>
              </a:r>
              <a:endParaRPr lang="en-US" sz="2800" dirty="0">
                <a:latin typeface="MS UI Gothic" panose="020B0600070205080204" pitchFamily="34" charset="-128"/>
                <a:ea typeface="MS UI Gothic" panose="020B0600070205080204" pitchFamily="34" charset="-128"/>
              </a:endParaRPr>
            </a:p>
          </p:txBody>
        </p:sp>
      </p:grpSp>
      <p:grpSp>
        <p:nvGrpSpPr>
          <p:cNvPr id="40" name="グループ化 39">
            <a:extLst>
              <a:ext uri="{FF2B5EF4-FFF2-40B4-BE49-F238E27FC236}">
                <a16:creationId xmlns:a16="http://schemas.microsoft.com/office/drawing/2014/main" id="{02387080-6686-7597-9EE6-CC70E7AFCD4D}"/>
              </a:ext>
            </a:extLst>
          </p:cNvPr>
          <p:cNvGrpSpPr/>
          <p:nvPr/>
        </p:nvGrpSpPr>
        <p:grpSpPr>
          <a:xfrm>
            <a:off x="910816" y="2211295"/>
            <a:ext cx="9241717" cy="573824"/>
            <a:chOff x="1341120" y="2403561"/>
            <a:chExt cx="9241717" cy="573824"/>
          </a:xfrm>
        </p:grpSpPr>
        <p:sp>
          <p:nvSpPr>
            <p:cNvPr id="7" name="Text 5"/>
            <p:cNvSpPr/>
            <p:nvPr/>
          </p:nvSpPr>
          <p:spPr>
            <a:xfrm>
              <a:off x="1341120" y="2507593"/>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機器備品費</a:t>
              </a:r>
            </a:p>
          </p:txBody>
        </p:sp>
        <p:sp>
          <p:nvSpPr>
            <p:cNvPr id="8" name="Text 6"/>
            <p:cNvSpPr/>
            <p:nvPr/>
          </p:nvSpPr>
          <p:spPr>
            <a:xfrm>
              <a:off x="3551818" y="2507593"/>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290千円</a:t>
              </a:r>
            </a:p>
          </p:txBody>
        </p:sp>
        <p:sp>
          <p:nvSpPr>
            <p:cNvPr id="9" name="Text 7"/>
            <p:cNvSpPr/>
            <p:nvPr/>
          </p:nvSpPr>
          <p:spPr>
            <a:xfrm>
              <a:off x="5489988" y="2403561"/>
              <a:ext cx="5092849" cy="573824"/>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MacBook Pro(開発・動作確認用)</a:t>
              </a:r>
            </a:p>
          </p:txBody>
        </p:sp>
      </p:grpSp>
      <p:grpSp>
        <p:nvGrpSpPr>
          <p:cNvPr id="42" name="グループ化 41">
            <a:extLst>
              <a:ext uri="{FF2B5EF4-FFF2-40B4-BE49-F238E27FC236}">
                <a16:creationId xmlns:a16="http://schemas.microsoft.com/office/drawing/2014/main" id="{B3D35C81-94A4-DCED-C7E5-04CA5C5D7429}"/>
              </a:ext>
            </a:extLst>
          </p:cNvPr>
          <p:cNvGrpSpPr/>
          <p:nvPr/>
        </p:nvGrpSpPr>
        <p:grpSpPr>
          <a:xfrm>
            <a:off x="910816" y="4155788"/>
            <a:ext cx="10366788" cy="365760"/>
            <a:chOff x="1341120" y="4105021"/>
            <a:chExt cx="10366788" cy="365760"/>
          </a:xfrm>
        </p:grpSpPr>
        <p:sp>
          <p:nvSpPr>
            <p:cNvPr id="15" name="Text 13"/>
            <p:cNvSpPr/>
            <p:nvPr/>
          </p:nvSpPr>
          <p:spPr>
            <a:xfrm>
              <a:off x="1341120" y="4105021"/>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図書費</a:t>
              </a:r>
            </a:p>
          </p:txBody>
        </p:sp>
        <p:sp>
          <p:nvSpPr>
            <p:cNvPr id="16" name="Text 14"/>
            <p:cNvSpPr/>
            <p:nvPr/>
          </p:nvSpPr>
          <p:spPr>
            <a:xfrm>
              <a:off x="3551818" y="4105021"/>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20千円</a:t>
              </a:r>
            </a:p>
          </p:txBody>
        </p:sp>
        <p:sp>
          <p:nvSpPr>
            <p:cNvPr id="17" name="Text 15"/>
            <p:cNvSpPr/>
            <p:nvPr/>
          </p:nvSpPr>
          <p:spPr>
            <a:xfrm>
              <a:off x="5489988" y="4105021"/>
              <a:ext cx="6217920"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教育工学・生成系AI関連書籍・学術雑誌</a:t>
              </a:r>
            </a:p>
          </p:txBody>
        </p:sp>
      </p:grpSp>
      <p:grpSp>
        <p:nvGrpSpPr>
          <p:cNvPr id="41" name="グループ化 40">
            <a:extLst>
              <a:ext uri="{FF2B5EF4-FFF2-40B4-BE49-F238E27FC236}">
                <a16:creationId xmlns:a16="http://schemas.microsoft.com/office/drawing/2014/main" id="{9C1B0E93-D961-8753-532C-D407C2FEB172}"/>
              </a:ext>
            </a:extLst>
          </p:cNvPr>
          <p:cNvGrpSpPr/>
          <p:nvPr/>
        </p:nvGrpSpPr>
        <p:grpSpPr>
          <a:xfrm>
            <a:off x="910816" y="2948301"/>
            <a:ext cx="8332336" cy="1044305"/>
            <a:chOff x="1341120" y="2769321"/>
            <a:chExt cx="8332336" cy="1044305"/>
          </a:xfrm>
        </p:grpSpPr>
        <p:sp>
          <p:nvSpPr>
            <p:cNvPr id="11" name="Text 9"/>
            <p:cNvSpPr/>
            <p:nvPr/>
          </p:nvSpPr>
          <p:spPr>
            <a:xfrm>
              <a:off x="1341120" y="3108593"/>
              <a:ext cx="2101327" cy="365760"/>
            </a:xfrm>
            <a:prstGeom prst="rect">
              <a:avLst/>
            </a:prstGeom>
            <a:noFill/>
            <a:ln/>
          </p:spPr>
          <p:txBody>
            <a:bodyPr wrap="square" rtlCol="0" anchor="ctr"/>
            <a:lstStyle/>
            <a:p>
              <a:r>
                <a:rPr lang="en-US" sz="2800" dirty="0" err="1">
                  <a:latin typeface="MS UI Gothic" panose="020B0600070205080204" pitchFamily="34" charset="-128"/>
                  <a:ea typeface="MS UI Gothic" panose="020B0600070205080204" pitchFamily="34" charset="-128"/>
                </a:rPr>
                <a:t>消耗品費</a:t>
              </a:r>
              <a:endParaRPr lang="en-US" sz="2800" dirty="0">
                <a:latin typeface="MS UI Gothic" panose="020B0600070205080204" pitchFamily="34" charset="-128"/>
                <a:ea typeface="MS UI Gothic" panose="020B0600070205080204" pitchFamily="34" charset="-128"/>
              </a:endParaRPr>
            </a:p>
            <a:p>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運用費</a:t>
              </a:r>
              <a:r>
                <a:rPr lang="en-US" sz="2800" dirty="0">
                  <a:latin typeface="MS UI Gothic" panose="020B0600070205080204" pitchFamily="34" charset="-128"/>
                  <a:ea typeface="MS UI Gothic" panose="020B0600070205080204" pitchFamily="34" charset="-128"/>
                </a:rPr>
                <a:t>）</a:t>
              </a:r>
            </a:p>
          </p:txBody>
        </p:sp>
        <p:sp>
          <p:nvSpPr>
            <p:cNvPr id="12" name="Text 10"/>
            <p:cNvSpPr/>
            <p:nvPr/>
          </p:nvSpPr>
          <p:spPr>
            <a:xfrm>
              <a:off x="3551818" y="3108593"/>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110千円</a:t>
              </a:r>
            </a:p>
          </p:txBody>
        </p:sp>
        <p:sp>
          <p:nvSpPr>
            <p:cNvPr id="2" name="Text 7">
              <a:extLst>
                <a:ext uri="{FF2B5EF4-FFF2-40B4-BE49-F238E27FC236}">
                  <a16:creationId xmlns:a16="http://schemas.microsoft.com/office/drawing/2014/main" id="{253528E9-163D-DEA5-0317-9C7FA4B4E44C}"/>
                </a:ext>
              </a:extLst>
            </p:cNvPr>
            <p:cNvSpPr/>
            <p:nvPr/>
          </p:nvSpPr>
          <p:spPr>
            <a:xfrm>
              <a:off x="5489988" y="2769321"/>
              <a:ext cx="4183468" cy="1044305"/>
            </a:xfrm>
            <a:prstGeom prst="rect">
              <a:avLst/>
            </a:prstGeom>
            <a:noFill/>
            <a:ln/>
          </p:spPr>
          <p:txBody>
            <a:bodyPr wrap="square" rtlCol="0" anchor="ctr"/>
            <a:lstStyle/>
            <a:p>
              <a:r>
                <a:rPr lang="en-US" sz="2800" dirty="0" err="1">
                  <a:latin typeface="MS UI Gothic" panose="020B0600070205080204" pitchFamily="34" charset="-128"/>
                  <a:ea typeface="MS UI Gothic" panose="020B0600070205080204" pitchFamily="34" charset="-128"/>
                </a:rPr>
                <a:t>生成系AI・API使用料</a:t>
              </a:r>
              <a:r>
                <a:rPr lang="en-US" sz="2800" dirty="0">
                  <a:latin typeface="MS UI Gothic" panose="020B0600070205080204" pitchFamily="34" charset="-128"/>
                  <a:ea typeface="MS UI Gothic" panose="020B0600070205080204" pitchFamily="34" charset="-128"/>
                </a:rPr>
                <a:t>(ChatGPT/Claude/Gemini)</a:t>
              </a:r>
            </a:p>
          </p:txBody>
        </p:sp>
      </p:grpSp>
      <p:grpSp>
        <p:nvGrpSpPr>
          <p:cNvPr id="39" name="グループ化 38">
            <a:extLst>
              <a:ext uri="{FF2B5EF4-FFF2-40B4-BE49-F238E27FC236}">
                <a16:creationId xmlns:a16="http://schemas.microsoft.com/office/drawing/2014/main" id="{C5FD4EC1-89CE-EBA4-D97B-13F25F557F8B}"/>
              </a:ext>
            </a:extLst>
          </p:cNvPr>
          <p:cNvGrpSpPr/>
          <p:nvPr/>
        </p:nvGrpSpPr>
        <p:grpSpPr>
          <a:xfrm>
            <a:off x="910816" y="1524893"/>
            <a:ext cx="5763413" cy="523220"/>
            <a:chOff x="1341120" y="1968644"/>
            <a:chExt cx="5763413" cy="523220"/>
          </a:xfrm>
        </p:grpSpPr>
        <p:sp>
          <p:nvSpPr>
            <p:cNvPr id="3" name="テキスト ボックス 2">
              <a:extLst>
                <a:ext uri="{FF2B5EF4-FFF2-40B4-BE49-F238E27FC236}">
                  <a16:creationId xmlns:a16="http://schemas.microsoft.com/office/drawing/2014/main" id="{177412D6-E5CD-ED44-305F-7AEACF88FC35}"/>
                </a:ext>
              </a:extLst>
            </p:cNvPr>
            <p:cNvSpPr txBox="1"/>
            <p:nvPr/>
          </p:nvSpPr>
          <p:spPr>
            <a:xfrm>
              <a:off x="1341120" y="1968644"/>
              <a:ext cx="90281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費目</a:t>
              </a:r>
            </a:p>
          </p:txBody>
        </p:sp>
        <p:sp>
          <p:nvSpPr>
            <p:cNvPr id="31" name="テキスト ボックス 30">
              <a:extLst>
                <a:ext uri="{FF2B5EF4-FFF2-40B4-BE49-F238E27FC236}">
                  <a16:creationId xmlns:a16="http://schemas.microsoft.com/office/drawing/2014/main" id="{1DB2FE4F-0312-DE81-6E7E-80DD03FC33DC}"/>
                </a:ext>
              </a:extLst>
            </p:cNvPr>
            <p:cNvSpPr txBox="1"/>
            <p:nvPr/>
          </p:nvSpPr>
          <p:spPr>
            <a:xfrm>
              <a:off x="3551818" y="1968644"/>
              <a:ext cx="902811"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金額</a:t>
              </a:r>
              <a:endParaRPr kumimoji="1" lang="ja-JP" altLang="en-US" sz="2800">
                <a:latin typeface="MS UI Gothic" panose="020B0600070205080204" pitchFamily="34" charset="-128"/>
                <a:ea typeface="MS UI Gothic" panose="020B0600070205080204" pitchFamily="34" charset="-128"/>
              </a:endParaRPr>
            </a:p>
          </p:txBody>
        </p:sp>
        <p:sp>
          <p:nvSpPr>
            <p:cNvPr id="32" name="テキスト ボックス 31">
              <a:extLst>
                <a:ext uri="{FF2B5EF4-FFF2-40B4-BE49-F238E27FC236}">
                  <a16:creationId xmlns:a16="http://schemas.microsoft.com/office/drawing/2014/main" id="{FEC47360-AEE7-9EC7-748C-B1F6C087C9FC}"/>
                </a:ext>
              </a:extLst>
            </p:cNvPr>
            <p:cNvSpPr txBox="1"/>
            <p:nvPr/>
          </p:nvSpPr>
          <p:spPr>
            <a:xfrm>
              <a:off x="5489988" y="1968644"/>
              <a:ext cx="161454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使用用途</a:t>
              </a:r>
            </a:p>
          </p:txBody>
        </p:sp>
      </p:grpSp>
      <p:grpSp>
        <p:nvGrpSpPr>
          <p:cNvPr id="43" name="グループ化 42">
            <a:extLst>
              <a:ext uri="{FF2B5EF4-FFF2-40B4-BE49-F238E27FC236}">
                <a16:creationId xmlns:a16="http://schemas.microsoft.com/office/drawing/2014/main" id="{71AA0307-2488-ECC2-6889-FF0223BFA5E6}"/>
              </a:ext>
            </a:extLst>
          </p:cNvPr>
          <p:cNvGrpSpPr/>
          <p:nvPr/>
        </p:nvGrpSpPr>
        <p:grpSpPr>
          <a:xfrm>
            <a:off x="910816" y="4684730"/>
            <a:ext cx="5769825" cy="523220"/>
            <a:chOff x="1341120" y="4836541"/>
            <a:chExt cx="5769825" cy="523220"/>
          </a:xfrm>
        </p:grpSpPr>
        <p:sp>
          <p:nvSpPr>
            <p:cNvPr id="19" name="Text 17"/>
            <p:cNvSpPr/>
            <p:nvPr/>
          </p:nvSpPr>
          <p:spPr>
            <a:xfrm>
              <a:off x="1341120" y="4915271"/>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旅費交通費</a:t>
              </a:r>
            </a:p>
          </p:txBody>
        </p:sp>
        <p:sp>
          <p:nvSpPr>
            <p:cNvPr id="20" name="Text 18"/>
            <p:cNvSpPr/>
            <p:nvPr/>
          </p:nvSpPr>
          <p:spPr>
            <a:xfrm>
              <a:off x="3551818" y="4915271"/>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80千円</a:t>
              </a:r>
            </a:p>
          </p:txBody>
        </p:sp>
        <p:sp>
          <p:nvSpPr>
            <p:cNvPr id="36" name="テキスト ボックス 35">
              <a:extLst>
                <a:ext uri="{FF2B5EF4-FFF2-40B4-BE49-F238E27FC236}">
                  <a16:creationId xmlns:a16="http://schemas.microsoft.com/office/drawing/2014/main" id="{AC326A88-5BA5-8E2B-600C-0213E8FD2C80}"/>
                </a:ext>
              </a:extLst>
            </p:cNvPr>
            <p:cNvSpPr txBox="1"/>
            <p:nvPr/>
          </p:nvSpPr>
          <p:spPr>
            <a:xfrm>
              <a:off x="5489988" y="4836541"/>
              <a:ext cx="162095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学会発表</a:t>
              </a:r>
            </a:p>
          </p:txBody>
        </p:sp>
      </p:grpSp>
      <p:grpSp>
        <p:nvGrpSpPr>
          <p:cNvPr id="44" name="グループ化 43">
            <a:extLst>
              <a:ext uri="{FF2B5EF4-FFF2-40B4-BE49-F238E27FC236}">
                <a16:creationId xmlns:a16="http://schemas.microsoft.com/office/drawing/2014/main" id="{D6388A2A-2A67-7D2E-9DC4-4B8C6FFD62D0}"/>
              </a:ext>
            </a:extLst>
          </p:cNvPr>
          <p:cNvGrpSpPr/>
          <p:nvPr/>
        </p:nvGrpSpPr>
        <p:grpSpPr>
          <a:xfrm>
            <a:off x="910816" y="5371132"/>
            <a:ext cx="8821942" cy="523220"/>
            <a:chOff x="1341120" y="5989804"/>
            <a:chExt cx="8821942" cy="523220"/>
          </a:xfrm>
        </p:grpSpPr>
        <p:sp>
          <p:nvSpPr>
            <p:cNvPr id="23" name="Text 21"/>
            <p:cNvSpPr/>
            <p:nvPr/>
          </p:nvSpPr>
          <p:spPr>
            <a:xfrm>
              <a:off x="1341120" y="6068534"/>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その他</a:t>
              </a:r>
            </a:p>
          </p:txBody>
        </p:sp>
        <p:sp>
          <p:nvSpPr>
            <p:cNvPr id="24" name="Text 22"/>
            <p:cNvSpPr/>
            <p:nvPr/>
          </p:nvSpPr>
          <p:spPr>
            <a:xfrm>
              <a:off x="3551818" y="6068534"/>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500千円</a:t>
              </a:r>
            </a:p>
          </p:txBody>
        </p:sp>
        <p:sp>
          <p:nvSpPr>
            <p:cNvPr id="37" name="テキスト ボックス 36">
              <a:extLst>
                <a:ext uri="{FF2B5EF4-FFF2-40B4-BE49-F238E27FC236}">
                  <a16:creationId xmlns:a16="http://schemas.microsoft.com/office/drawing/2014/main" id="{6FC946C2-3774-A813-3ACC-D7301E6C0749}"/>
                </a:ext>
              </a:extLst>
            </p:cNvPr>
            <p:cNvSpPr txBox="1"/>
            <p:nvPr/>
          </p:nvSpPr>
          <p:spPr>
            <a:xfrm>
              <a:off x="5489988" y="5989804"/>
              <a:ext cx="4673074"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英語論文投稿料・英文校閲料</a:t>
              </a:r>
              <a:endParaRPr kumimoji="1" lang="en-US" altLang="ja-JP" sz="2800" dirty="0">
                <a:latin typeface="MS UI Gothic" panose="020B0600070205080204" pitchFamily="34" charset="-128"/>
                <a:ea typeface="MS UI Gothic" panose="020B0600070205080204" pitchFamily="34" charset="-128"/>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BC78790F-A5CA-5036-002A-68242E22668D}"/>
              </a:ext>
            </a:extLst>
          </p:cNvPr>
          <p:cNvSpPr/>
          <p:nvPr/>
        </p:nvSpPr>
        <p:spPr>
          <a:xfrm>
            <a:off x="609600" y="1567543"/>
            <a:ext cx="5364480" cy="1959429"/>
          </a:xfrm>
          <a:prstGeom prst="rect">
            <a:avLst/>
          </a:prstGeom>
          <a:solidFill>
            <a:schemeClr val="bg1"/>
          </a:solidFill>
          <a:ln/>
        </p:spPr>
        <p:txBody>
          <a:bodyPr/>
          <a:lstStyle/>
          <a:p>
            <a:endParaRPr lang="ja-JP" altLang="en-US" sz="2400"/>
          </a:p>
        </p:txBody>
      </p:sp>
      <p:sp>
        <p:nvSpPr>
          <p:cNvPr id="3" name="Shape 5">
            <a:extLst>
              <a:ext uri="{FF2B5EF4-FFF2-40B4-BE49-F238E27FC236}">
                <a16:creationId xmlns:a16="http://schemas.microsoft.com/office/drawing/2014/main" id="{C7E4FB9C-5769-A1C8-D419-5AC7E46D4BE6}"/>
              </a:ext>
            </a:extLst>
          </p:cNvPr>
          <p:cNvSpPr/>
          <p:nvPr/>
        </p:nvSpPr>
        <p:spPr>
          <a:xfrm>
            <a:off x="6217920" y="1567543"/>
            <a:ext cx="5364480" cy="1959429"/>
          </a:xfrm>
          <a:prstGeom prst="rect">
            <a:avLst/>
          </a:prstGeom>
          <a:solidFill>
            <a:schemeClr val="bg1"/>
          </a:solidFill>
          <a:ln/>
        </p:spPr>
        <p:txBody>
          <a:bodyPr/>
          <a:lstStyle/>
          <a:p>
            <a:endParaRPr lang="ja-JP" altLang="en-US" sz="2400"/>
          </a:p>
        </p:txBody>
      </p:sp>
      <p:sp>
        <p:nvSpPr>
          <p:cNvPr id="4" name="Shape 8">
            <a:extLst>
              <a:ext uri="{FF2B5EF4-FFF2-40B4-BE49-F238E27FC236}">
                <a16:creationId xmlns:a16="http://schemas.microsoft.com/office/drawing/2014/main" id="{1034E0E1-4FB2-5145-15FB-DBBF79B0308C}"/>
              </a:ext>
            </a:extLst>
          </p:cNvPr>
          <p:cNvSpPr/>
          <p:nvPr/>
        </p:nvSpPr>
        <p:spPr>
          <a:xfrm>
            <a:off x="609600" y="3666928"/>
            <a:ext cx="5364480" cy="1819470"/>
          </a:xfrm>
          <a:prstGeom prst="rect">
            <a:avLst/>
          </a:prstGeom>
          <a:solidFill>
            <a:schemeClr val="bg1"/>
          </a:solidFill>
          <a:ln/>
        </p:spPr>
        <p:txBody>
          <a:bodyPr/>
          <a:lstStyle/>
          <a:p>
            <a:endParaRPr lang="ja-JP" altLang="en-US" sz="2400"/>
          </a:p>
        </p:txBody>
      </p:sp>
      <p:sp>
        <p:nvSpPr>
          <p:cNvPr id="5" name="Shape 11">
            <a:extLst>
              <a:ext uri="{FF2B5EF4-FFF2-40B4-BE49-F238E27FC236}">
                <a16:creationId xmlns:a16="http://schemas.microsoft.com/office/drawing/2014/main" id="{4D5E85E9-2A4F-A382-9769-6BCF155EFD79}"/>
              </a:ext>
            </a:extLst>
          </p:cNvPr>
          <p:cNvSpPr/>
          <p:nvPr/>
        </p:nvSpPr>
        <p:spPr>
          <a:xfrm>
            <a:off x="6217920" y="3666928"/>
            <a:ext cx="5364480" cy="1819470"/>
          </a:xfrm>
          <a:prstGeom prst="rect">
            <a:avLst/>
          </a:prstGeom>
          <a:solidFill>
            <a:schemeClr val="bg1"/>
          </a:solidFill>
          <a:ln/>
        </p:spPr>
        <p:txBody>
          <a:bodyPr/>
          <a:lstStyle/>
          <a:p>
            <a:endParaRPr lang="ja-JP" altLang="en-US" sz="2400"/>
          </a:p>
        </p:txBody>
      </p:sp>
      <p:sp>
        <p:nvSpPr>
          <p:cNvPr id="6" name="Shape 14">
            <a:extLst>
              <a:ext uri="{FF2B5EF4-FFF2-40B4-BE49-F238E27FC236}">
                <a16:creationId xmlns:a16="http://schemas.microsoft.com/office/drawing/2014/main" id="{78658FF7-B1B3-CF2A-9989-868F9FBD2A33}"/>
              </a:ext>
            </a:extLst>
          </p:cNvPr>
          <p:cNvSpPr/>
          <p:nvPr/>
        </p:nvSpPr>
        <p:spPr>
          <a:xfrm>
            <a:off x="609600" y="5778212"/>
            <a:ext cx="10972800" cy="853440"/>
          </a:xfrm>
          <a:prstGeom prst="rect">
            <a:avLst/>
          </a:prstGeom>
          <a:solidFill>
            <a:schemeClr val="accent5">
              <a:lumMod val="20000"/>
              <a:lumOff val="80000"/>
            </a:schemeClr>
          </a:solidFill>
          <a:ln/>
        </p:spPr>
        <p:txBody>
          <a:bodyPr/>
          <a:lstStyle/>
          <a:p>
            <a:endParaRPr lang="ja-JP" altLang="en-US" sz="2400"/>
          </a:p>
        </p:txBody>
      </p:sp>
      <p:sp>
        <p:nvSpPr>
          <p:cNvPr id="7" name="テキスト ボックス 6">
            <a:extLst>
              <a:ext uri="{FF2B5EF4-FFF2-40B4-BE49-F238E27FC236}">
                <a16:creationId xmlns:a16="http://schemas.microsoft.com/office/drawing/2014/main" id="{C5BC059F-AC34-D28C-4A54-836C47C03C4F}"/>
              </a:ext>
            </a:extLst>
          </p:cNvPr>
          <p:cNvSpPr txBox="1"/>
          <p:nvPr/>
        </p:nvSpPr>
        <p:spPr>
          <a:xfrm>
            <a:off x="540659" y="251650"/>
            <a:ext cx="263245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従来の研究成績</a:t>
            </a:r>
          </a:p>
        </p:txBody>
      </p:sp>
      <p:sp>
        <p:nvSpPr>
          <p:cNvPr id="8" name="テキスト ボックス 7">
            <a:extLst>
              <a:ext uri="{FF2B5EF4-FFF2-40B4-BE49-F238E27FC236}">
                <a16:creationId xmlns:a16="http://schemas.microsoft.com/office/drawing/2014/main" id="{14151B4C-1548-44BC-AB9B-458C11766D4E}"/>
              </a:ext>
            </a:extLst>
          </p:cNvPr>
          <p:cNvSpPr txBox="1"/>
          <p:nvPr/>
        </p:nvSpPr>
        <p:spPr>
          <a:xfrm>
            <a:off x="540659" y="861247"/>
            <a:ext cx="4007828"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過去</a:t>
            </a:r>
            <a:r>
              <a:rPr kumimoji="1" lang="en-US" altLang="ja-JP" sz="3200" dirty="0">
                <a:latin typeface="MS UI Gothic" panose="020B0600070205080204" pitchFamily="34" charset="-128"/>
                <a:ea typeface="MS UI Gothic" panose="020B0600070205080204" pitchFamily="34" charset="-128"/>
              </a:rPr>
              <a:t>3</a:t>
            </a:r>
            <a:r>
              <a:rPr kumimoji="1" lang="ja-JP" altLang="en-US" sz="3200">
                <a:latin typeface="MS UI Gothic" panose="020B0600070205080204" pitchFamily="34" charset="-128"/>
                <a:ea typeface="MS UI Gothic" panose="020B0600070205080204" pitchFamily="34" charset="-128"/>
              </a:rPr>
              <a:t>年間の研究業績</a:t>
            </a:r>
          </a:p>
        </p:txBody>
      </p:sp>
      <p:sp>
        <p:nvSpPr>
          <p:cNvPr id="10" name="テキスト ボックス 9">
            <a:extLst>
              <a:ext uri="{FF2B5EF4-FFF2-40B4-BE49-F238E27FC236}">
                <a16:creationId xmlns:a16="http://schemas.microsoft.com/office/drawing/2014/main" id="{8CD60944-CF3A-FCDE-32B7-8E116756D440}"/>
              </a:ext>
            </a:extLst>
          </p:cNvPr>
          <p:cNvSpPr txBox="1"/>
          <p:nvPr/>
        </p:nvSpPr>
        <p:spPr>
          <a:xfrm>
            <a:off x="740226" y="1632856"/>
            <a:ext cx="5171609" cy="1323439"/>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医薬品有害事象に関する</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ビッグデータ解析</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cs typeface="Times New Roman" panose="02020603050405020304" pitchFamily="18" charset="0"/>
              </a:rPr>
              <a:t>日本総合病院精神医学会雑誌</a:t>
            </a:r>
            <a:r>
              <a:rPr lang="ja-JP" altLang="en-US" sz="24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2026)</a:t>
            </a:r>
            <a:endParaRPr lang="en-US" altLang="ja-JP" dirty="0">
              <a:latin typeface="MS UI Gothic" panose="020B0600070205080204" pitchFamily="34" charset="-128"/>
              <a:ea typeface="MS UI Gothic" panose="020B0600070205080204" pitchFamily="34" charset="-128"/>
              <a:cs typeface="Times New Roman" panose="02020603050405020304" pitchFamily="18" charset="0"/>
            </a:endParaRPr>
          </a:p>
        </p:txBody>
      </p:sp>
      <p:sp>
        <p:nvSpPr>
          <p:cNvPr id="11" name="テキスト ボックス 10">
            <a:extLst>
              <a:ext uri="{FF2B5EF4-FFF2-40B4-BE49-F238E27FC236}">
                <a16:creationId xmlns:a16="http://schemas.microsoft.com/office/drawing/2014/main" id="{55E9E6F5-D732-6EAC-7F51-ED24127A8D55}"/>
              </a:ext>
            </a:extLst>
          </p:cNvPr>
          <p:cNvSpPr txBox="1"/>
          <p:nvPr/>
        </p:nvSpPr>
        <p:spPr>
          <a:xfrm>
            <a:off x="6348546" y="1632856"/>
            <a:ext cx="4277133" cy="1323439"/>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残遺不眠症患者の</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非機能的認知に関する調査</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cs typeface="Times New Roman" panose="02020603050405020304" pitchFamily="18" charset="0"/>
              </a:rPr>
              <a:t>日本精神薬学会雑誌</a:t>
            </a:r>
            <a:r>
              <a:rPr lang="ja-JP" altLang="en-US" sz="24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2026)</a:t>
            </a:r>
          </a:p>
        </p:txBody>
      </p:sp>
      <p:sp>
        <p:nvSpPr>
          <p:cNvPr id="12" name="テキスト ボックス 11">
            <a:extLst>
              <a:ext uri="{FF2B5EF4-FFF2-40B4-BE49-F238E27FC236}">
                <a16:creationId xmlns:a16="http://schemas.microsoft.com/office/drawing/2014/main" id="{35BAC503-4B95-CD32-4C1D-48D2028F4793}"/>
              </a:ext>
            </a:extLst>
          </p:cNvPr>
          <p:cNvSpPr txBox="1"/>
          <p:nvPr/>
        </p:nvSpPr>
        <p:spPr>
          <a:xfrm>
            <a:off x="740226" y="3732241"/>
            <a:ext cx="5166799" cy="1754326"/>
          </a:xfrm>
          <a:prstGeom prst="rect">
            <a:avLst/>
          </a:prstGeom>
          <a:solidFill>
            <a:schemeClr val="bg1"/>
          </a:solid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薬学部の技能系実習を促進させる</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教育ツール（</a:t>
            </a:r>
            <a:r>
              <a:rPr lang="en-US" altLang="ja-JP" sz="2800" dirty="0">
                <a:latin typeface="MS UI Gothic" panose="020B0600070205080204" pitchFamily="34" charset="-128"/>
                <a:ea typeface="MS UI Gothic" panose="020B0600070205080204" pitchFamily="34" charset="-128"/>
                <a:cs typeface="Times New Roman" panose="02020603050405020304" pitchFamily="18" charset="0"/>
              </a:rPr>
              <a:t>Virtual Reality</a:t>
            </a:r>
            <a:r>
              <a:rPr lang="ja-JP" altLang="en-US" sz="2800">
                <a:latin typeface="MS UI Gothic" panose="020B0600070205080204" pitchFamily="34" charset="-128"/>
                <a:ea typeface="MS UI Gothic" panose="020B0600070205080204" pitchFamily="34" charset="-128"/>
                <a:cs typeface="Times New Roman" panose="02020603050405020304" pitchFamily="18" charset="0"/>
              </a:rPr>
              <a:t>）の</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開発と検証</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cs typeface="Times New Roman" panose="02020603050405020304" pitchFamily="18" charset="0"/>
              </a:rPr>
              <a:t>薬学雑誌</a:t>
            </a:r>
            <a:r>
              <a:rPr lang="ja-JP" altLang="en-US" sz="24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2026)</a:t>
            </a:r>
          </a:p>
        </p:txBody>
      </p:sp>
      <p:sp>
        <p:nvSpPr>
          <p:cNvPr id="13" name="テキスト ボックス 12">
            <a:extLst>
              <a:ext uri="{FF2B5EF4-FFF2-40B4-BE49-F238E27FC236}">
                <a16:creationId xmlns:a16="http://schemas.microsoft.com/office/drawing/2014/main" id="{67768C0C-678F-3304-7C47-F81CA8566F67}"/>
              </a:ext>
            </a:extLst>
          </p:cNvPr>
          <p:cNvSpPr txBox="1"/>
          <p:nvPr/>
        </p:nvSpPr>
        <p:spPr>
          <a:xfrm>
            <a:off x="6348546" y="3732241"/>
            <a:ext cx="4673074" cy="1323439"/>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アルコール使用障害の治療薬に</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関するシステマティックレビュー</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rPr>
              <a:t>Addiction誌</a:t>
            </a:r>
            <a:r>
              <a:rPr lang="en-US" altLang="ja-JP" sz="2400" dirty="0">
                <a:latin typeface="MS UI Gothic" panose="020B0600070205080204" pitchFamily="34" charset="-128"/>
                <a:ea typeface="MS UI Gothic" panose="020B0600070205080204" pitchFamily="34" charset="-128"/>
              </a:rPr>
              <a:t>, 2024</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p>
        </p:txBody>
      </p:sp>
      <p:sp>
        <p:nvSpPr>
          <p:cNvPr id="14" name="テキスト ボックス 13">
            <a:extLst>
              <a:ext uri="{FF2B5EF4-FFF2-40B4-BE49-F238E27FC236}">
                <a16:creationId xmlns:a16="http://schemas.microsoft.com/office/drawing/2014/main" id="{343C2A95-04F4-18BD-F824-3CF51847F54F}"/>
              </a:ext>
            </a:extLst>
          </p:cNvPr>
          <p:cNvSpPr txBox="1"/>
          <p:nvPr/>
        </p:nvSpPr>
        <p:spPr>
          <a:xfrm>
            <a:off x="609600" y="5778212"/>
            <a:ext cx="9783447" cy="892552"/>
          </a:xfrm>
          <a:prstGeom prst="rect">
            <a:avLst/>
          </a:prstGeom>
          <a:noFill/>
        </p:spPr>
        <p:txBody>
          <a:bodyPr wrap="none" rtlCol="0">
            <a:spAutoFit/>
          </a:bodyPr>
          <a:lstStyle/>
          <a:p>
            <a:r>
              <a:rPr lang="en-US" altLang="ja-JP" sz="2800" dirty="0" err="1">
                <a:latin typeface="MS UI Gothic" panose="020B0600070205080204" pitchFamily="34" charset="-128"/>
                <a:ea typeface="MS UI Gothic" panose="020B0600070205080204" pitchFamily="34" charset="-128"/>
              </a:rPr>
              <a:t>維持期における双極性障害治療薬に関するシステマティックレビュ</a:t>
            </a:r>
            <a:r>
              <a:rPr lang="en-US" altLang="ja-JP" sz="2800" dirty="0">
                <a:latin typeface="MS UI Gothic" panose="020B0600070205080204" pitchFamily="34" charset="-128"/>
                <a:ea typeface="MS UI Gothic" panose="020B0600070205080204" pitchFamily="34" charset="-128"/>
              </a:rPr>
              <a:t>ー</a:t>
            </a:r>
          </a:p>
          <a:p>
            <a:r>
              <a:rPr lang="en-US" altLang="ja-JP" sz="2400" dirty="0">
                <a:latin typeface="MS UI Gothic" panose="020B0600070205080204" pitchFamily="34" charset="-128"/>
                <a:ea typeface="MS UI Gothic" panose="020B0600070205080204" pitchFamily="34" charset="-128"/>
              </a:rPr>
              <a:t>（</a:t>
            </a:r>
            <a:r>
              <a:rPr lang="en-US" altLang="ja-JP" sz="2400" dirty="0" err="1">
                <a:latin typeface="MS UI Gothic" panose="020B0600070205080204" pitchFamily="34" charset="-128"/>
                <a:ea typeface="MS UI Gothic" panose="020B0600070205080204" pitchFamily="34" charset="-128"/>
              </a:rPr>
              <a:t>欧州神経精神薬理学会</a:t>
            </a:r>
            <a:r>
              <a:rPr lang="en-US" altLang="ja-JP" sz="2400" dirty="0">
                <a:latin typeface="MS UI Gothic" panose="020B0600070205080204" pitchFamily="34" charset="-128"/>
                <a:ea typeface="MS UI Gothic" panose="020B0600070205080204" pitchFamily="34" charset="-128"/>
              </a:rPr>
              <a:t>, 2024）</a:t>
            </a:r>
            <a:endParaRPr kumimoji="1" lang="ja-JP" altLang="en-US" sz="240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20088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448B-E509-91CB-9974-228ACD764E14}"/>
            </a:ext>
          </a:extLst>
        </p:cNvPr>
        <p:cNvGrpSpPr/>
        <p:nvPr/>
      </p:nvGrpSpPr>
      <p:grpSpPr>
        <a:xfrm>
          <a:off x="0" y="0"/>
          <a:ext cx="0" cy="0"/>
          <a:chOff x="0" y="0"/>
          <a:chExt cx="0" cy="0"/>
        </a:xfrm>
      </p:grpSpPr>
      <p:sp>
        <p:nvSpPr>
          <p:cNvPr id="13" name="角丸四角形 12">
            <a:extLst>
              <a:ext uri="{FF2B5EF4-FFF2-40B4-BE49-F238E27FC236}">
                <a16:creationId xmlns:a16="http://schemas.microsoft.com/office/drawing/2014/main" id="{756A0B37-DF90-8D90-3930-78DDD0025681}"/>
              </a:ext>
            </a:extLst>
          </p:cNvPr>
          <p:cNvSpPr/>
          <p:nvPr/>
        </p:nvSpPr>
        <p:spPr>
          <a:xfrm>
            <a:off x="548643" y="1590706"/>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solidFill>
                <a:latin typeface="MS UI Gothic" panose="020B0600070205080204" pitchFamily="34" charset="-128"/>
                <a:ea typeface="MS UI Gothic" panose="020B0600070205080204" pitchFamily="34" charset="-128"/>
              </a:rPr>
              <a:t>①</a:t>
            </a:r>
            <a:r>
              <a:rPr kumimoji="1" lang="ja-JP" altLang="en-US" sz="2800">
                <a:solidFill>
                  <a:schemeClr val="tx1"/>
                </a:solidFill>
                <a:latin typeface="MS UI Gothic" panose="020B0600070205080204" pitchFamily="34" charset="-128"/>
                <a:ea typeface="MS UI Gothic" panose="020B0600070205080204" pitchFamily="34" charset="-128"/>
              </a:rPr>
              <a:t>学生の学習成果向上</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→非対面型・</a:t>
            </a:r>
            <a:r>
              <a:rPr lang="en-US" altLang="ja-JP" sz="2800" dirty="0">
                <a:solidFill>
                  <a:schemeClr val="tx1"/>
                </a:solidFill>
                <a:latin typeface="MS UI Gothic" panose="020B0600070205080204" pitchFamily="34" charset="-128"/>
                <a:ea typeface="MS UI Gothic" panose="020B0600070205080204" pitchFamily="34" charset="-128"/>
              </a:rPr>
              <a:t>24</a:t>
            </a:r>
            <a:r>
              <a:rPr lang="ja-JP" altLang="en-US" sz="2800">
                <a:solidFill>
                  <a:schemeClr val="tx1"/>
                </a:solidFill>
                <a:latin typeface="MS UI Gothic" panose="020B0600070205080204" pitchFamily="34" charset="-128"/>
                <a:ea typeface="MS UI Gothic" panose="020B0600070205080204" pitchFamily="34" charset="-128"/>
              </a:rPr>
              <a:t>時間質問応答可能な学習環境の提供</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15" name="テキスト ボックス 14">
            <a:extLst>
              <a:ext uri="{FF2B5EF4-FFF2-40B4-BE49-F238E27FC236}">
                <a16:creationId xmlns:a16="http://schemas.microsoft.com/office/drawing/2014/main" id="{7E0B1397-19B8-78E2-1033-5F85D9261947}"/>
              </a:ext>
            </a:extLst>
          </p:cNvPr>
          <p:cNvSpPr txBox="1"/>
          <p:nvPr/>
        </p:nvSpPr>
        <p:spPr>
          <a:xfrm>
            <a:off x="540659" y="251650"/>
            <a:ext cx="145264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ま　と　め</a:t>
            </a:r>
          </a:p>
        </p:txBody>
      </p:sp>
      <p:sp>
        <p:nvSpPr>
          <p:cNvPr id="16" name="テキスト ボックス 15">
            <a:extLst>
              <a:ext uri="{FF2B5EF4-FFF2-40B4-BE49-F238E27FC236}">
                <a16:creationId xmlns:a16="http://schemas.microsoft.com/office/drawing/2014/main" id="{9B7C9B19-64F5-AC8A-BF4B-86538122392A}"/>
              </a:ext>
            </a:extLst>
          </p:cNvPr>
          <p:cNvSpPr txBox="1"/>
          <p:nvPr/>
        </p:nvSpPr>
        <p:spPr>
          <a:xfrm>
            <a:off x="540659" y="861247"/>
            <a:ext cx="297870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a:t>
            </a:r>
            <a:r>
              <a:rPr lang="ja-JP" altLang="en-US" sz="3200">
                <a:latin typeface="MS UI Gothic" panose="020B0600070205080204" pitchFamily="34" charset="-128"/>
                <a:ea typeface="MS UI Gothic" panose="020B0600070205080204" pitchFamily="34" charset="-128"/>
              </a:rPr>
              <a:t>のポイント</a:t>
            </a:r>
            <a:endParaRPr kumimoji="1" lang="ja-JP" altLang="en-US" sz="3200">
              <a:latin typeface="MS UI Gothic" panose="020B0600070205080204" pitchFamily="34" charset="-128"/>
              <a:ea typeface="MS UI Gothic" panose="020B0600070205080204" pitchFamily="34" charset="-128"/>
            </a:endParaRPr>
          </a:p>
        </p:txBody>
      </p:sp>
      <p:sp>
        <p:nvSpPr>
          <p:cNvPr id="5" name="角丸四角形 4">
            <a:extLst>
              <a:ext uri="{FF2B5EF4-FFF2-40B4-BE49-F238E27FC236}">
                <a16:creationId xmlns:a16="http://schemas.microsoft.com/office/drawing/2014/main" id="{0A979641-DABF-0EA3-73A9-DE1B694FC71A}"/>
              </a:ext>
            </a:extLst>
          </p:cNvPr>
          <p:cNvSpPr/>
          <p:nvPr/>
        </p:nvSpPr>
        <p:spPr>
          <a:xfrm>
            <a:off x="548643" y="3278633"/>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②</a:t>
            </a:r>
            <a:r>
              <a:rPr lang="ja-JP" altLang="en-US" sz="2800">
                <a:solidFill>
                  <a:schemeClr val="tx1"/>
                </a:solidFill>
                <a:latin typeface="MS UI Gothic" panose="020B0600070205080204" pitchFamily="34" charset="-128"/>
                <a:ea typeface="MS UI Gothic" panose="020B0600070205080204" pitchFamily="34" charset="-128"/>
              </a:rPr>
              <a:t>教育の質向上</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→「つまずきの地図」による講義改善とエビデンスに基づく教育計画の設計</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6" name="角丸四角形 5">
            <a:extLst>
              <a:ext uri="{FF2B5EF4-FFF2-40B4-BE49-F238E27FC236}">
                <a16:creationId xmlns:a16="http://schemas.microsoft.com/office/drawing/2014/main" id="{F03F54DC-DFCA-E949-DC72-71507CA18E05}"/>
              </a:ext>
            </a:extLst>
          </p:cNvPr>
          <p:cNvSpPr/>
          <p:nvPr/>
        </p:nvSpPr>
        <p:spPr>
          <a:xfrm>
            <a:off x="548643" y="4966559"/>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③</a:t>
            </a:r>
            <a:r>
              <a:rPr lang="ja-JP" altLang="en-US" sz="2800">
                <a:solidFill>
                  <a:schemeClr val="tx1"/>
                </a:solidFill>
                <a:latin typeface="MS UI Gothic" panose="020B0600070205080204" pitchFamily="34" charset="-128"/>
                <a:ea typeface="MS UI Gothic" panose="020B0600070205080204" pitchFamily="34" charset="-128"/>
              </a:rPr>
              <a:t>専門教育改革への貢献</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→生成系</a:t>
            </a:r>
            <a:r>
              <a:rPr lang="en-US" altLang="ja-JP" sz="2800" dirty="0">
                <a:solidFill>
                  <a:schemeClr val="tx1"/>
                </a:solidFill>
                <a:latin typeface="MS UI Gothic" panose="020B0600070205080204" pitchFamily="34" charset="-128"/>
                <a:ea typeface="MS UI Gothic" panose="020B0600070205080204" pitchFamily="34" charset="-128"/>
              </a:rPr>
              <a:t>AI</a:t>
            </a:r>
            <a:r>
              <a:rPr lang="ja-JP" altLang="en-US" sz="2800">
                <a:solidFill>
                  <a:schemeClr val="tx1"/>
                </a:solidFill>
                <a:latin typeface="MS UI Gothic" panose="020B0600070205080204" pitchFamily="34" charset="-128"/>
                <a:ea typeface="MS UI Gothic" panose="020B0600070205080204" pitchFamily="34" charset="-128"/>
              </a:rPr>
              <a:t>活用の実証実験の知見は、他科目・他大学への発展可能性</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3503620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33E8-038C-A446-EDBD-51670D0369FF}"/>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B4CD1D1A-5984-76F3-7885-11D592CCDE02}"/>
              </a:ext>
            </a:extLst>
          </p:cNvPr>
          <p:cNvSpPr txBox="1"/>
          <p:nvPr/>
        </p:nvSpPr>
        <p:spPr>
          <a:xfrm>
            <a:off x="540659" y="251650"/>
            <a:ext cx="1284326"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さいごに</a:t>
            </a:r>
            <a:endParaRPr kumimoji="1" lang="ja-JP" altLang="en-US" sz="2800">
              <a:latin typeface="MS UI Gothic" panose="020B0600070205080204" pitchFamily="34" charset="-128"/>
              <a:ea typeface="MS UI Gothic" panose="020B0600070205080204" pitchFamily="34" charset="-128"/>
            </a:endParaRPr>
          </a:p>
        </p:txBody>
      </p:sp>
      <p:sp>
        <p:nvSpPr>
          <p:cNvPr id="2" name="角丸四角形 1">
            <a:extLst>
              <a:ext uri="{FF2B5EF4-FFF2-40B4-BE49-F238E27FC236}">
                <a16:creationId xmlns:a16="http://schemas.microsoft.com/office/drawing/2014/main" id="{9B101E48-F769-74A9-67FD-C2B271C53C10}"/>
              </a:ext>
            </a:extLst>
          </p:cNvPr>
          <p:cNvSpPr/>
          <p:nvPr/>
        </p:nvSpPr>
        <p:spPr>
          <a:xfrm>
            <a:off x="674913" y="1002879"/>
            <a:ext cx="10876491" cy="501564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人間</a:t>
            </a:r>
            <a:r>
              <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による「教える」と</a:t>
            </a:r>
            <a:r>
              <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rPr>
              <a:t> AI </a:t>
            </a: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による「支える」</a:t>
            </a:r>
            <a:r>
              <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rPr>
              <a:t> = </a:t>
            </a: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「融合」</a:t>
            </a:r>
            <a:endPar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a:t>
            </a:r>
            <a:endPar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en-US" altLang="ja-JP" sz="4800" dirty="0" err="1">
                <a:solidFill>
                  <a:srgbClr val="FFFF00"/>
                </a:solidFill>
                <a:latin typeface="MS UI Gothic" panose="020B0600070205080204" pitchFamily="34" charset="-128"/>
                <a:ea typeface="MS UI Gothic" panose="020B0600070205080204" pitchFamily="34" charset="-128"/>
                <a:cs typeface="Yu Gothic" pitchFamily="34" charset="-120"/>
              </a:rPr>
              <a:t>学びの未来を変える</a:t>
            </a:r>
            <a:endParaRPr kumimoji="1" lang="ja-JP" altLang="en-US" sz="4800">
              <a:solidFill>
                <a:srgbClr val="FFFF00"/>
              </a:solidFill>
            </a:endParaRPr>
          </a:p>
        </p:txBody>
      </p:sp>
    </p:spTree>
    <p:extLst>
      <p:ext uri="{BB962C8B-B14F-4D97-AF65-F5344CB8AC3E}">
        <p14:creationId xmlns:p14="http://schemas.microsoft.com/office/powerpoint/2010/main" val="1785468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18">
            <a:extLst>
              <a:ext uri="{FF2B5EF4-FFF2-40B4-BE49-F238E27FC236}">
                <a16:creationId xmlns:a16="http://schemas.microsoft.com/office/drawing/2014/main" id="{5786D18A-181D-EEC7-766F-B1EB01734440}"/>
              </a:ext>
            </a:extLst>
          </p:cNvPr>
          <p:cNvSpPr txBox="1"/>
          <p:nvPr/>
        </p:nvSpPr>
        <p:spPr>
          <a:xfrm>
            <a:off x="540659" y="251650"/>
            <a:ext cx="299152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年次計画の妥当性</a:t>
            </a:r>
          </a:p>
        </p:txBody>
      </p:sp>
      <p:sp>
        <p:nvSpPr>
          <p:cNvPr id="20" name="テキスト ボックス 19">
            <a:extLst>
              <a:ext uri="{FF2B5EF4-FFF2-40B4-BE49-F238E27FC236}">
                <a16:creationId xmlns:a16="http://schemas.microsoft.com/office/drawing/2014/main" id="{232E3DD8-7F8D-C841-DDDA-FD01DB0CB550}"/>
              </a:ext>
            </a:extLst>
          </p:cNvPr>
          <p:cNvSpPr txBox="1"/>
          <p:nvPr/>
        </p:nvSpPr>
        <p:spPr>
          <a:xfrm>
            <a:off x="540659" y="861247"/>
            <a:ext cx="482375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実施スケジュールと到達目標</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7E895A86-4726-9923-06F8-38849A68C48B}"/>
              </a:ext>
            </a:extLst>
          </p:cNvPr>
          <p:cNvSpPr txBox="1"/>
          <p:nvPr/>
        </p:nvSpPr>
        <p:spPr>
          <a:xfrm>
            <a:off x="1035425" y="1559861"/>
            <a:ext cx="902811" cy="523220"/>
          </a:xfrm>
          <a:prstGeom prst="rect">
            <a:avLst/>
          </a:prstGeom>
          <a:noFill/>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時期</a:t>
            </a:r>
          </a:p>
        </p:txBody>
      </p:sp>
      <p:sp>
        <p:nvSpPr>
          <p:cNvPr id="3" name="テキスト ボックス 2">
            <a:extLst>
              <a:ext uri="{FF2B5EF4-FFF2-40B4-BE49-F238E27FC236}">
                <a16:creationId xmlns:a16="http://schemas.microsoft.com/office/drawing/2014/main" id="{DA9926F7-9E88-4DC4-CD41-1BD43A2BDBD8}"/>
              </a:ext>
            </a:extLst>
          </p:cNvPr>
          <p:cNvSpPr txBox="1"/>
          <p:nvPr/>
        </p:nvSpPr>
        <p:spPr>
          <a:xfrm>
            <a:off x="3080778" y="1559861"/>
            <a:ext cx="902811" cy="523220"/>
          </a:xfrm>
          <a:prstGeom prst="rect">
            <a:avLst/>
          </a:prstGeom>
          <a:noFill/>
        </p:spPr>
        <p:txBody>
          <a:bodyPr wrap="none" rtlCol="0">
            <a:spAutoFit/>
          </a:bodyPr>
          <a:lstStyle/>
          <a:p>
            <a:pPr algn="ctr"/>
            <a:r>
              <a:rPr lang="ja-JP" altLang="en-US" sz="2800">
                <a:latin typeface="MS UI Gothic" panose="020B0600070205080204" pitchFamily="34" charset="-128"/>
                <a:ea typeface="MS UI Gothic" panose="020B0600070205080204" pitchFamily="34" charset="-128"/>
              </a:rPr>
              <a:t>内容</a:t>
            </a:r>
            <a:endParaRPr kumimoji="1" lang="ja-JP" altLang="en-US" sz="2800">
              <a:latin typeface="MS UI Gothic" panose="020B0600070205080204" pitchFamily="34" charset="-128"/>
              <a:ea typeface="MS UI Gothic" panose="020B0600070205080204" pitchFamily="34" charset="-128"/>
            </a:endParaRPr>
          </a:p>
        </p:txBody>
      </p:sp>
      <p:sp>
        <p:nvSpPr>
          <p:cNvPr id="21" name="テキスト ボックス 20">
            <a:extLst>
              <a:ext uri="{FF2B5EF4-FFF2-40B4-BE49-F238E27FC236}">
                <a16:creationId xmlns:a16="http://schemas.microsoft.com/office/drawing/2014/main" id="{2B8C3D5E-0EB2-FAC7-038A-3FC27D65640C}"/>
              </a:ext>
            </a:extLst>
          </p:cNvPr>
          <p:cNvSpPr txBox="1"/>
          <p:nvPr/>
        </p:nvSpPr>
        <p:spPr>
          <a:xfrm>
            <a:off x="7670705" y="1600202"/>
            <a:ext cx="1620957" cy="523220"/>
          </a:xfrm>
          <a:prstGeom prst="rect">
            <a:avLst/>
          </a:prstGeom>
          <a:noFill/>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到達目標</a:t>
            </a:r>
          </a:p>
        </p:txBody>
      </p:sp>
      <p:sp>
        <p:nvSpPr>
          <p:cNvPr id="22" name="テキスト ボックス 21">
            <a:extLst>
              <a:ext uri="{FF2B5EF4-FFF2-40B4-BE49-F238E27FC236}">
                <a16:creationId xmlns:a16="http://schemas.microsoft.com/office/drawing/2014/main" id="{8B44551E-0DDD-A81C-F492-D76BF954360E}"/>
              </a:ext>
            </a:extLst>
          </p:cNvPr>
          <p:cNvSpPr txBox="1"/>
          <p:nvPr/>
        </p:nvSpPr>
        <p:spPr>
          <a:xfrm>
            <a:off x="1117475" y="2048436"/>
            <a:ext cx="954107" cy="461665"/>
          </a:xfrm>
          <a:prstGeom prst="rect">
            <a:avLst/>
          </a:prstGeom>
          <a:noFill/>
        </p:spPr>
        <p:txBody>
          <a:bodyPr wrap="none" rtlCol="0">
            <a:spAutoFit/>
          </a:bodyPr>
          <a:lstStyle/>
          <a:p>
            <a:pPr algn="ctr"/>
            <a:r>
              <a:rPr lang="en-US" altLang="ja-JP" sz="2400" dirty="0">
                <a:latin typeface="MS UI Gothic" panose="020B0600070205080204" pitchFamily="34" charset="-128"/>
                <a:ea typeface="MS UI Gothic" panose="020B0600070205080204" pitchFamily="34" charset="-128"/>
              </a:rPr>
              <a:t>4-5</a:t>
            </a:r>
            <a:r>
              <a:rPr lang="ja-JP" altLang="en-US" sz="2400">
                <a:latin typeface="MS UI Gothic" panose="020B0600070205080204" pitchFamily="34" charset="-128"/>
                <a:ea typeface="MS UI Gothic" panose="020B0600070205080204" pitchFamily="34" charset="-128"/>
              </a:rPr>
              <a:t>月</a:t>
            </a:r>
            <a:endParaRPr kumimoji="1" lang="ja-JP" altLang="en-US" sz="2400">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EF6EB32D-3768-3DF4-F60A-C57B173C40DE}"/>
              </a:ext>
            </a:extLst>
          </p:cNvPr>
          <p:cNvSpPr txBox="1"/>
          <p:nvPr/>
        </p:nvSpPr>
        <p:spPr>
          <a:xfrm>
            <a:off x="2525666" y="2048436"/>
            <a:ext cx="2983509" cy="1015663"/>
          </a:xfrm>
          <a:prstGeom prst="rect">
            <a:avLst/>
          </a:prstGeom>
          <a:noFill/>
        </p:spPr>
        <p:txBody>
          <a:bodyPr wrap="none" rtlCol="0">
            <a:spAutoFit/>
          </a:bodyPr>
          <a:lstStyle/>
          <a:p>
            <a:r>
              <a:rPr lang="ja-JP" altLang="en-US" sz="2400">
                <a:latin typeface="MS UI Gothic" panose="020B0600070205080204" pitchFamily="34" charset="-128"/>
                <a:ea typeface="MS UI Gothic" panose="020B0600070205080204" pitchFamily="34" charset="-128"/>
              </a:rPr>
              <a:t>研究基盤の整理</a:t>
            </a:r>
            <a:endParaRPr lang="en-US" altLang="ja-JP" sz="2400"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・システムの研究用途への整備</a:t>
            </a:r>
            <a:endParaRPr lang="en-US" altLang="ja-JP"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・倫理委員会申請・承認取得</a:t>
            </a:r>
            <a:endParaRPr lang="en-US" altLang="ja-JP" dirty="0">
              <a:latin typeface="MS UI Gothic" panose="020B0600070205080204" pitchFamily="34" charset="-128"/>
              <a:ea typeface="MS UI Gothic" panose="020B0600070205080204" pitchFamily="34" charset="-128"/>
            </a:endParaRPr>
          </a:p>
        </p:txBody>
      </p:sp>
      <p:sp>
        <p:nvSpPr>
          <p:cNvPr id="24" name="テキスト ボックス 23">
            <a:extLst>
              <a:ext uri="{FF2B5EF4-FFF2-40B4-BE49-F238E27FC236}">
                <a16:creationId xmlns:a16="http://schemas.microsoft.com/office/drawing/2014/main" id="{01225C18-2495-4A71-2E2E-17580DCBF538}"/>
              </a:ext>
            </a:extLst>
          </p:cNvPr>
          <p:cNvSpPr txBox="1"/>
          <p:nvPr/>
        </p:nvSpPr>
        <p:spPr>
          <a:xfrm>
            <a:off x="7093125" y="2088777"/>
            <a:ext cx="1874231" cy="646331"/>
          </a:xfrm>
          <a:prstGeom prst="rect">
            <a:avLst/>
          </a:prstGeom>
          <a:noFill/>
        </p:spPr>
        <p:txBody>
          <a:bodyPr wrap="none" rtlCol="0">
            <a:spAutoFit/>
          </a:bodyPr>
          <a:lstStyle/>
          <a:p>
            <a:r>
              <a:rPr lang="ja-JP" altLang="en-US">
                <a:latin typeface="MS UI Gothic" panose="020B0600070205080204" pitchFamily="34" charset="-128"/>
                <a:ea typeface="MS UI Gothic" panose="020B0600070205080204" pitchFamily="34" charset="-128"/>
              </a:rPr>
              <a:t>・倫理承認</a:t>
            </a:r>
            <a:endParaRPr lang="en-US" altLang="ja-JP" dirty="0">
              <a:latin typeface="MS UI Gothic" panose="020B0600070205080204" pitchFamily="34" charset="-128"/>
              <a:ea typeface="MS UI Gothic" panose="020B0600070205080204" pitchFamily="34" charset="-128"/>
            </a:endParaRPr>
          </a:p>
          <a:p>
            <a:r>
              <a:rPr kumimoji="1" lang="ja-JP" altLang="en-US">
                <a:latin typeface="MS UI Gothic" panose="020B0600070205080204" pitchFamily="34" charset="-128"/>
                <a:ea typeface="MS UI Gothic" panose="020B0600070205080204" pitchFamily="34" charset="-128"/>
              </a:rPr>
              <a:t>・安定稼働の確認</a:t>
            </a:r>
          </a:p>
        </p:txBody>
      </p:sp>
      <p:sp>
        <p:nvSpPr>
          <p:cNvPr id="25" name="テキスト ボックス 24">
            <a:extLst>
              <a:ext uri="{FF2B5EF4-FFF2-40B4-BE49-F238E27FC236}">
                <a16:creationId xmlns:a16="http://schemas.microsoft.com/office/drawing/2014/main" id="{4BBB0254-190A-F3B8-910C-FD235FAEE47A}"/>
              </a:ext>
            </a:extLst>
          </p:cNvPr>
          <p:cNvSpPr txBox="1"/>
          <p:nvPr/>
        </p:nvSpPr>
        <p:spPr>
          <a:xfrm>
            <a:off x="1121958" y="3101785"/>
            <a:ext cx="954107" cy="461665"/>
          </a:xfrm>
          <a:prstGeom prst="rect">
            <a:avLst/>
          </a:prstGeom>
          <a:noFill/>
        </p:spPr>
        <p:txBody>
          <a:bodyPr wrap="none" rtlCol="0">
            <a:spAutoFit/>
          </a:bodyPr>
          <a:lstStyle/>
          <a:p>
            <a:pPr algn="ctr"/>
            <a:r>
              <a:rPr lang="en-US" altLang="ja-JP" sz="2400" dirty="0">
                <a:latin typeface="MS UI Gothic" panose="020B0600070205080204" pitchFamily="34" charset="-128"/>
                <a:ea typeface="MS UI Gothic" panose="020B0600070205080204" pitchFamily="34" charset="-128"/>
              </a:rPr>
              <a:t>6-8</a:t>
            </a:r>
            <a:r>
              <a:rPr lang="ja-JP" altLang="en-US" sz="2400">
                <a:latin typeface="MS UI Gothic" panose="020B0600070205080204" pitchFamily="34" charset="-128"/>
                <a:ea typeface="MS UI Gothic" panose="020B0600070205080204" pitchFamily="34" charset="-128"/>
              </a:rPr>
              <a:t>月</a:t>
            </a:r>
            <a:endParaRPr kumimoji="1" lang="ja-JP" altLang="en-US" sz="2400">
              <a:latin typeface="MS UI Gothic" panose="020B0600070205080204" pitchFamily="34" charset="-128"/>
              <a:ea typeface="MS UI Gothic" panose="020B0600070205080204" pitchFamily="34" charset="-128"/>
            </a:endParaRPr>
          </a:p>
        </p:txBody>
      </p:sp>
      <p:sp>
        <p:nvSpPr>
          <p:cNvPr id="26" name="テキスト ボックス 25">
            <a:extLst>
              <a:ext uri="{FF2B5EF4-FFF2-40B4-BE49-F238E27FC236}">
                <a16:creationId xmlns:a16="http://schemas.microsoft.com/office/drawing/2014/main" id="{5240E387-677A-60D2-E6D6-3D09CA1371FC}"/>
              </a:ext>
            </a:extLst>
          </p:cNvPr>
          <p:cNvSpPr txBox="1"/>
          <p:nvPr/>
        </p:nvSpPr>
        <p:spPr>
          <a:xfrm>
            <a:off x="2530149" y="3101785"/>
            <a:ext cx="2961067" cy="1015663"/>
          </a:xfrm>
          <a:prstGeom prst="rect">
            <a:avLst/>
          </a:prstGeom>
          <a:noFill/>
        </p:spPr>
        <p:txBody>
          <a:bodyPr wrap="none" rtlCol="0">
            <a:spAutoFit/>
          </a:bodyPr>
          <a:lstStyle/>
          <a:p>
            <a:r>
              <a:rPr lang="ja-JP" altLang="en-US" sz="2400">
                <a:latin typeface="MS UI Gothic" panose="020B0600070205080204" pitchFamily="34" charset="-128"/>
                <a:ea typeface="MS UI Gothic" panose="020B0600070205080204" pitchFamily="34" charset="-128"/>
              </a:rPr>
              <a:t>機能改善・運用検証</a:t>
            </a:r>
            <a:endParaRPr lang="en-US" altLang="ja-JP" sz="2400"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・履修済み学生での動作確認</a:t>
            </a:r>
            <a:endParaRPr lang="en-US" altLang="ja-JP"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・つまずき地図の機能実装</a:t>
            </a:r>
            <a:endParaRPr lang="en-US" altLang="ja-JP" dirty="0">
              <a:latin typeface="MS UI Gothic" panose="020B0600070205080204" pitchFamily="34" charset="-128"/>
              <a:ea typeface="MS UI Gothic" panose="020B0600070205080204" pitchFamily="34" charset="-128"/>
            </a:endParaRPr>
          </a:p>
        </p:txBody>
      </p:sp>
      <p:sp>
        <p:nvSpPr>
          <p:cNvPr id="27" name="テキスト ボックス 26">
            <a:extLst>
              <a:ext uri="{FF2B5EF4-FFF2-40B4-BE49-F238E27FC236}">
                <a16:creationId xmlns:a16="http://schemas.microsoft.com/office/drawing/2014/main" id="{772DF273-D550-CE38-8B35-972D68B2FDB6}"/>
              </a:ext>
            </a:extLst>
          </p:cNvPr>
          <p:cNvSpPr txBox="1"/>
          <p:nvPr/>
        </p:nvSpPr>
        <p:spPr>
          <a:xfrm>
            <a:off x="7097608" y="3142126"/>
            <a:ext cx="3105337" cy="646331"/>
          </a:xfrm>
          <a:prstGeom prst="rect">
            <a:avLst/>
          </a:prstGeom>
          <a:noFill/>
        </p:spPr>
        <p:txBody>
          <a:bodyPr wrap="none" rtlCol="0">
            <a:spAutoFit/>
          </a:bodyPr>
          <a:lstStyle/>
          <a:p>
            <a:r>
              <a:rPr lang="ja-JP" altLang="en-US">
                <a:latin typeface="MS UI Gothic" panose="020B0600070205080204" pitchFamily="34" charset="-128"/>
                <a:ea typeface="MS UI Gothic" panose="020B0600070205080204" pitchFamily="34" charset="-128"/>
              </a:rPr>
              <a:t>・研究データ取得可能性の確認</a:t>
            </a:r>
            <a:endParaRPr lang="en-US" altLang="ja-JP" dirty="0">
              <a:latin typeface="MS UI Gothic" panose="020B0600070205080204" pitchFamily="34" charset="-128"/>
              <a:ea typeface="MS UI Gothic" panose="020B0600070205080204" pitchFamily="34" charset="-128"/>
            </a:endParaRPr>
          </a:p>
          <a:p>
            <a:endParaRPr kumimoji="1" lang="ja-JP" altLang="en-US">
              <a:latin typeface="MS UI Gothic" panose="020B0600070205080204" pitchFamily="34" charset="-128"/>
              <a:ea typeface="MS UI Gothic" panose="020B0600070205080204" pitchFamily="34" charset="-128"/>
            </a:endParaRPr>
          </a:p>
        </p:txBody>
      </p:sp>
      <p:sp>
        <p:nvSpPr>
          <p:cNvPr id="28" name="テキスト ボックス 27">
            <a:extLst>
              <a:ext uri="{FF2B5EF4-FFF2-40B4-BE49-F238E27FC236}">
                <a16:creationId xmlns:a16="http://schemas.microsoft.com/office/drawing/2014/main" id="{47F7C0B6-2706-EB46-2119-4EAB5AEF9DEF}"/>
              </a:ext>
            </a:extLst>
          </p:cNvPr>
          <p:cNvSpPr txBox="1"/>
          <p:nvPr/>
        </p:nvSpPr>
        <p:spPr>
          <a:xfrm>
            <a:off x="1280329" y="4195475"/>
            <a:ext cx="646331" cy="461665"/>
          </a:xfrm>
          <a:prstGeom prst="rect">
            <a:avLst/>
          </a:prstGeom>
          <a:noFill/>
        </p:spPr>
        <p:txBody>
          <a:bodyPr wrap="none" rtlCol="0">
            <a:spAutoFit/>
          </a:bodyPr>
          <a:lstStyle/>
          <a:p>
            <a:pPr algn="ctr"/>
            <a:r>
              <a:rPr lang="en-US" altLang="ja-JP" sz="2400" dirty="0">
                <a:latin typeface="MS UI Gothic" panose="020B0600070205080204" pitchFamily="34" charset="-128"/>
                <a:ea typeface="MS UI Gothic" panose="020B0600070205080204" pitchFamily="34" charset="-128"/>
              </a:rPr>
              <a:t>9</a:t>
            </a:r>
            <a:r>
              <a:rPr lang="ja-JP" altLang="en-US" sz="2400">
                <a:latin typeface="MS UI Gothic" panose="020B0600070205080204" pitchFamily="34" charset="-128"/>
                <a:ea typeface="MS UI Gothic" panose="020B0600070205080204" pitchFamily="34" charset="-128"/>
              </a:rPr>
              <a:t>月</a:t>
            </a:r>
            <a:endParaRPr kumimoji="1" lang="ja-JP" altLang="en-US" sz="2400">
              <a:latin typeface="MS UI Gothic" panose="020B0600070205080204" pitchFamily="34" charset="-128"/>
              <a:ea typeface="MS UI Gothic" panose="020B0600070205080204" pitchFamily="34" charset="-128"/>
            </a:endParaRPr>
          </a:p>
        </p:txBody>
      </p:sp>
      <p:sp>
        <p:nvSpPr>
          <p:cNvPr id="29" name="テキスト ボックス 28">
            <a:extLst>
              <a:ext uri="{FF2B5EF4-FFF2-40B4-BE49-F238E27FC236}">
                <a16:creationId xmlns:a16="http://schemas.microsoft.com/office/drawing/2014/main" id="{71B899CA-3442-4E99-4D87-AE34F6979C7E}"/>
              </a:ext>
            </a:extLst>
          </p:cNvPr>
          <p:cNvSpPr txBox="1"/>
          <p:nvPr/>
        </p:nvSpPr>
        <p:spPr>
          <a:xfrm>
            <a:off x="2534632" y="4195475"/>
            <a:ext cx="3182281" cy="1015663"/>
          </a:xfrm>
          <a:prstGeom prst="rect">
            <a:avLst/>
          </a:prstGeom>
          <a:noFill/>
        </p:spPr>
        <p:txBody>
          <a:bodyPr wrap="none" rtlCol="0">
            <a:spAutoFit/>
          </a:bodyPr>
          <a:lstStyle/>
          <a:p>
            <a:r>
              <a:rPr lang="ja-JP" altLang="en-US" sz="2400">
                <a:latin typeface="MS UI Gothic" panose="020B0600070205080204" pitchFamily="34" charset="-128"/>
                <a:ea typeface="MS UI Gothic" panose="020B0600070205080204" pitchFamily="34" charset="-128"/>
              </a:rPr>
              <a:t>プレ実証実験</a:t>
            </a:r>
            <a:endParaRPr lang="en-US" altLang="ja-JP" sz="2400"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・小規模での試行導入</a:t>
            </a:r>
            <a:endParaRPr lang="en-US" altLang="ja-JP"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・システム安定性・回答の適切生</a:t>
            </a:r>
            <a:endParaRPr lang="en-US" altLang="ja-JP" dirty="0">
              <a:latin typeface="MS UI Gothic" panose="020B0600070205080204" pitchFamily="34" charset="-128"/>
              <a:ea typeface="MS UI Gothic" panose="020B0600070205080204" pitchFamily="34" charset="-128"/>
            </a:endParaRPr>
          </a:p>
        </p:txBody>
      </p:sp>
      <p:sp>
        <p:nvSpPr>
          <p:cNvPr id="30" name="テキスト ボックス 29">
            <a:extLst>
              <a:ext uri="{FF2B5EF4-FFF2-40B4-BE49-F238E27FC236}">
                <a16:creationId xmlns:a16="http://schemas.microsoft.com/office/drawing/2014/main" id="{33297814-673C-023C-5259-6280AC55A0DB}"/>
              </a:ext>
            </a:extLst>
          </p:cNvPr>
          <p:cNvSpPr txBox="1"/>
          <p:nvPr/>
        </p:nvSpPr>
        <p:spPr>
          <a:xfrm>
            <a:off x="7102091" y="4235816"/>
            <a:ext cx="2698175" cy="369332"/>
          </a:xfrm>
          <a:prstGeom prst="rect">
            <a:avLst/>
          </a:prstGeom>
          <a:noFill/>
        </p:spPr>
        <p:txBody>
          <a:bodyPr wrap="none" rtlCol="0">
            <a:spAutoFit/>
          </a:bodyPr>
          <a:lstStyle/>
          <a:p>
            <a:r>
              <a:rPr lang="ja-JP" altLang="en-US">
                <a:latin typeface="MS UI Gothic" panose="020B0600070205080204" pitchFamily="34" charset="-128"/>
                <a:ea typeface="MS UI Gothic" panose="020B0600070205080204" pitchFamily="34" charset="-128"/>
              </a:rPr>
              <a:t>・本実証に向けた課題改善</a:t>
            </a:r>
            <a:endParaRPr lang="en-US" altLang="ja-JP" dirty="0">
              <a:latin typeface="MS UI Gothic" panose="020B0600070205080204" pitchFamily="34" charset="-128"/>
              <a:ea typeface="MS UI Gothic" panose="020B0600070205080204" pitchFamily="34" charset="-128"/>
            </a:endParaRPr>
          </a:p>
        </p:txBody>
      </p:sp>
      <p:sp>
        <p:nvSpPr>
          <p:cNvPr id="31" name="テキスト ボックス 30">
            <a:extLst>
              <a:ext uri="{FF2B5EF4-FFF2-40B4-BE49-F238E27FC236}">
                <a16:creationId xmlns:a16="http://schemas.microsoft.com/office/drawing/2014/main" id="{B4DB688D-0FAA-A4DB-0367-221C4B1452F2}"/>
              </a:ext>
            </a:extLst>
          </p:cNvPr>
          <p:cNvSpPr txBox="1"/>
          <p:nvPr/>
        </p:nvSpPr>
        <p:spPr>
          <a:xfrm>
            <a:off x="950141" y="5181589"/>
            <a:ext cx="1261885" cy="461665"/>
          </a:xfrm>
          <a:prstGeom prst="rect">
            <a:avLst/>
          </a:prstGeom>
          <a:noFill/>
        </p:spPr>
        <p:txBody>
          <a:bodyPr wrap="none" rtlCol="0">
            <a:spAutoFit/>
          </a:bodyPr>
          <a:lstStyle/>
          <a:p>
            <a:pPr algn="ctr"/>
            <a:r>
              <a:rPr lang="en-US" altLang="ja-JP" sz="2400" dirty="0">
                <a:latin typeface="MS UI Gothic" panose="020B0600070205080204" pitchFamily="34" charset="-128"/>
                <a:ea typeface="MS UI Gothic" panose="020B0600070205080204" pitchFamily="34" charset="-128"/>
              </a:rPr>
              <a:t>10-12</a:t>
            </a:r>
            <a:r>
              <a:rPr lang="ja-JP" altLang="en-US" sz="2400">
                <a:latin typeface="MS UI Gothic" panose="020B0600070205080204" pitchFamily="34" charset="-128"/>
                <a:ea typeface="MS UI Gothic" panose="020B0600070205080204" pitchFamily="34" charset="-128"/>
              </a:rPr>
              <a:t>月</a:t>
            </a:r>
            <a:endParaRPr kumimoji="1" lang="ja-JP" altLang="en-US" sz="2400">
              <a:latin typeface="MS UI Gothic" panose="020B0600070205080204" pitchFamily="34" charset="-128"/>
              <a:ea typeface="MS UI Gothic" panose="020B0600070205080204" pitchFamily="34" charset="-128"/>
            </a:endParaRPr>
          </a:p>
        </p:txBody>
      </p:sp>
      <p:sp>
        <p:nvSpPr>
          <p:cNvPr id="32" name="テキスト ボックス 31">
            <a:extLst>
              <a:ext uri="{FF2B5EF4-FFF2-40B4-BE49-F238E27FC236}">
                <a16:creationId xmlns:a16="http://schemas.microsoft.com/office/drawing/2014/main" id="{0ED355E6-9B0E-EDDB-91BE-302120FA0386}"/>
              </a:ext>
            </a:extLst>
          </p:cNvPr>
          <p:cNvSpPr txBox="1"/>
          <p:nvPr/>
        </p:nvSpPr>
        <p:spPr>
          <a:xfrm>
            <a:off x="2512221" y="5181589"/>
            <a:ext cx="3145413" cy="1015663"/>
          </a:xfrm>
          <a:prstGeom prst="rect">
            <a:avLst/>
          </a:prstGeom>
          <a:noFill/>
        </p:spPr>
        <p:txBody>
          <a:bodyPr wrap="none" rtlCol="0">
            <a:spAutoFit/>
          </a:bodyPr>
          <a:lstStyle/>
          <a:p>
            <a:r>
              <a:rPr lang="ja-JP" altLang="en-US" sz="2400">
                <a:latin typeface="MS UI Gothic" panose="020B0600070205080204" pitchFamily="34" charset="-128"/>
                <a:ea typeface="MS UI Gothic" panose="020B0600070205080204" pitchFamily="34" charset="-128"/>
              </a:rPr>
              <a:t>本実証実験</a:t>
            </a:r>
            <a:endParaRPr lang="en-US" altLang="ja-JP" sz="2400"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・大規模での本格導入</a:t>
            </a:r>
            <a:endParaRPr lang="en-US" altLang="ja-JP" dirty="0">
              <a:latin typeface="MS UI Gothic" panose="020B0600070205080204" pitchFamily="34" charset="-128"/>
              <a:ea typeface="MS UI Gothic" panose="020B0600070205080204" pitchFamily="34" charset="-128"/>
            </a:endParaRPr>
          </a:p>
          <a:p>
            <a:r>
              <a:rPr lang="ja-JP" altLang="en-US">
                <a:latin typeface="MS UI Gothic" panose="020B0600070205080204" pitchFamily="34" charset="-128"/>
                <a:ea typeface="MS UI Gothic" panose="020B0600070205080204" pitchFamily="34" charset="-128"/>
              </a:rPr>
              <a:t>・学習ログ・試験成績データ取集</a:t>
            </a:r>
            <a:endParaRPr lang="en-US" altLang="ja-JP" dirty="0">
              <a:latin typeface="MS UI Gothic" panose="020B0600070205080204" pitchFamily="34" charset="-128"/>
              <a:ea typeface="MS UI Gothic" panose="020B0600070205080204" pitchFamily="34" charset="-128"/>
            </a:endParaRPr>
          </a:p>
        </p:txBody>
      </p:sp>
      <p:sp>
        <p:nvSpPr>
          <p:cNvPr id="33" name="テキスト ボックス 32">
            <a:extLst>
              <a:ext uri="{FF2B5EF4-FFF2-40B4-BE49-F238E27FC236}">
                <a16:creationId xmlns:a16="http://schemas.microsoft.com/office/drawing/2014/main" id="{BFF0AE98-DDC9-9F6B-9165-AF2EFF2F6ECD}"/>
              </a:ext>
            </a:extLst>
          </p:cNvPr>
          <p:cNvSpPr txBox="1"/>
          <p:nvPr/>
        </p:nvSpPr>
        <p:spPr>
          <a:xfrm>
            <a:off x="7079680" y="5221930"/>
            <a:ext cx="2901756" cy="369332"/>
          </a:xfrm>
          <a:prstGeom prst="rect">
            <a:avLst/>
          </a:prstGeom>
          <a:noFill/>
        </p:spPr>
        <p:txBody>
          <a:bodyPr wrap="none" rtlCol="0">
            <a:spAutoFit/>
          </a:bodyPr>
          <a:lstStyle/>
          <a:p>
            <a:r>
              <a:rPr lang="ja-JP" altLang="en-US">
                <a:latin typeface="MS UI Gothic" panose="020B0600070205080204" pitchFamily="34" charset="-128"/>
                <a:ea typeface="MS UI Gothic" panose="020B0600070205080204" pitchFamily="34" charset="-128"/>
              </a:rPr>
              <a:t>・学習成果との関連性の解明</a:t>
            </a:r>
            <a:endParaRPr lang="en-US" altLang="ja-JP" dirty="0">
              <a:latin typeface="MS UI Gothic" panose="020B0600070205080204" pitchFamily="34" charset="-128"/>
              <a:ea typeface="MS UI Gothic" panose="020B0600070205080204" pitchFamily="34" charset="-128"/>
            </a:endParaRPr>
          </a:p>
        </p:txBody>
      </p:sp>
      <p:sp>
        <p:nvSpPr>
          <p:cNvPr id="34" name="テキスト ボックス 33">
            <a:extLst>
              <a:ext uri="{FF2B5EF4-FFF2-40B4-BE49-F238E27FC236}">
                <a16:creationId xmlns:a16="http://schemas.microsoft.com/office/drawing/2014/main" id="{DA96573F-A487-8426-965D-877C4D7E7C99}"/>
              </a:ext>
            </a:extLst>
          </p:cNvPr>
          <p:cNvSpPr txBox="1"/>
          <p:nvPr/>
        </p:nvSpPr>
        <p:spPr>
          <a:xfrm>
            <a:off x="968071" y="6194597"/>
            <a:ext cx="1261884" cy="461665"/>
          </a:xfrm>
          <a:prstGeom prst="rect">
            <a:avLst/>
          </a:prstGeom>
          <a:noFill/>
        </p:spPr>
        <p:txBody>
          <a:bodyPr wrap="none" rtlCol="0">
            <a:spAutoFit/>
          </a:bodyPr>
          <a:lstStyle/>
          <a:p>
            <a:pPr algn="ctr"/>
            <a:r>
              <a:rPr lang="en-US" altLang="ja-JP" sz="2400" dirty="0">
                <a:latin typeface="MS UI Gothic" panose="020B0600070205080204" pitchFamily="34" charset="-128"/>
                <a:ea typeface="MS UI Gothic" panose="020B0600070205080204" pitchFamily="34" charset="-128"/>
              </a:rPr>
              <a:t>1</a:t>
            </a:r>
            <a:r>
              <a:rPr lang="ja-JP" altLang="en-US" sz="2400">
                <a:latin typeface="MS UI Gothic" panose="020B0600070205080204" pitchFamily="34" charset="-128"/>
                <a:ea typeface="MS UI Gothic" panose="020B0600070205080204" pitchFamily="34" charset="-128"/>
              </a:rPr>
              <a:t>月以降</a:t>
            </a:r>
            <a:endParaRPr kumimoji="1" lang="ja-JP" altLang="en-US" sz="2400">
              <a:latin typeface="MS UI Gothic" panose="020B0600070205080204" pitchFamily="34" charset="-128"/>
              <a:ea typeface="MS UI Gothic" panose="020B0600070205080204" pitchFamily="34" charset="-128"/>
            </a:endParaRPr>
          </a:p>
        </p:txBody>
      </p:sp>
      <p:sp>
        <p:nvSpPr>
          <p:cNvPr id="35" name="テキスト ボックス 34">
            <a:extLst>
              <a:ext uri="{FF2B5EF4-FFF2-40B4-BE49-F238E27FC236}">
                <a16:creationId xmlns:a16="http://schemas.microsoft.com/office/drawing/2014/main" id="{64E8D989-9C69-A221-7A44-B611C738216D}"/>
              </a:ext>
            </a:extLst>
          </p:cNvPr>
          <p:cNvSpPr txBox="1"/>
          <p:nvPr/>
        </p:nvSpPr>
        <p:spPr>
          <a:xfrm>
            <a:off x="2530151" y="6194597"/>
            <a:ext cx="2185214" cy="461665"/>
          </a:xfrm>
          <a:prstGeom prst="rect">
            <a:avLst/>
          </a:prstGeom>
          <a:noFill/>
        </p:spPr>
        <p:txBody>
          <a:bodyPr wrap="none" rtlCol="0">
            <a:spAutoFit/>
          </a:bodyPr>
          <a:lstStyle/>
          <a:p>
            <a:r>
              <a:rPr lang="ja-JP" altLang="en-US" sz="2400">
                <a:latin typeface="MS UI Gothic" panose="020B0600070205080204" pitchFamily="34" charset="-128"/>
                <a:ea typeface="MS UI Gothic" panose="020B0600070205080204" pitchFamily="34" charset="-128"/>
              </a:rPr>
              <a:t>分析・成果公表</a:t>
            </a:r>
            <a:endParaRPr lang="en-US" altLang="ja-JP" sz="2400" dirty="0">
              <a:latin typeface="MS UI Gothic" panose="020B0600070205080204" pitchFamily="34" charset="-128"/>
              <a:ea typeface="MS UI Gothic" panose="020B0600070205080204" pitchFamily="34" charset="-128"/>
            </a:endParaRPr>
          </a:p>
        </p:txBody>
      </p:sp>
      <p:sp>
        <p:nvSpPr>
          <p:cNvPr id="36" name="テキスト ボックス 35">
            <a:extLst>
              <a:ext uri="{FF2B5EF4-FFF2-40B4-BE49-F238E27FC236}">
                <a16:creationId xmlns:a16="http://schemas.microsoft.com/office/drawing/2014/main" id="{FCE2FF3E-29E1-88EF-D878-C4F239844CA2}"/>
              </a:ext>
            </a:extLst>
          </p:cNvPr>
          <p:cNvSpPr txBox="1"/>
          <p:nvPr/>
        </p:nvSpPr>
        <p:spPr>
          <a:xfrm>
            <a:off x="7084163" y="6181150"/>
            <a:ext cx="1412566" cy="369332"/>
          </a:xfrm>
          <a:prstGeom prst="rect">
            <a:avLst/>
          </a:prstGeom>
          <a:noFill/>
        </p:spPr>
        <p:txBody>
          <a:bodyPr wrap="none" rtlCol="0">
            <a:spAutoFit/>
          </a:bodyPr>
          <a:lstStyle/>
          <a:p>
            <a:r>
              <a:rPr lang="ja-JP" altLang="en-US">
                <a:latin typeface="MS UI Gothic" panose="020B0600070205080204" pitchFamily="34" charset="-128"/>
                <a:ea typeface="MS UI Gothic" panose="020B0600070205080204" pitchFamily="34" charset="-128"/>
              </a:rPr>
              <a:t>・成果の公表</a:t>
            </a:r>
            <a:endParaRPr lang="en-US" altLang="ja-JP" dirty="0">
              <a:latin typeface="MS UI Gothic" panose="020B0600070205080204" pitchFamily="34" charset="-128"/>
              <a:ea typeface="MS UI Gothic"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609600" y="1683026"/>
            <a:ext cx="5364480" cy="2949934"/>
          </a:xfrm>
          <a:prstGeom prst="rect">
            <a:avLst/>
          </a:prstGeom>
          <a:solidFill>
            <a:srgbClr val="FFFFFF"/>
          </a:solidFill>
          <a:ln/>
        </p:spPr>
        <p:txBody>
          <a:bodyPr/>
          <a:lstStyle/>
          <a:p>
            <a:endParaRPr lang="ja-JP" altLang="en-US" sz="2400">
              <a:latin typeface="MS UI Gothic" panose="020B0600070205080204" pitchFamily="34" charset="-128"/>
              <a:ea typeface="MS UI Gothic" panose="020B0600070205080204" pitchFamily="34" charset="-128"/>
            </a:endParaRPr>
          </a:p>
        </p:txBody>
      </p:sp>
      <p:sp>
        <p:nvSpPr>
          <p:cNvPr id="5" name="Text 3"/>
          <p:cNvSpPr/>
          <p:nvPr/>
        </p:nvSpPr>
        <p:spPr>
          <a:xfrm>
            <a:off x="85344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教育への反映</a:t>
            </a:r>
          </a:p>
        </p:txBody>
      </p:sp>
      <p:sp>
        <p:nvSpPr>
          <p:cNvPr id="6" name="Text 4"/>
          <p:cNvSpPr/>
          <p:nvPr/>
        </p:nvSpPr>
        <p:spPr>
          <a:xfrm>
            <a:off x="853440" y="2233197"/>
            <a:ext cx="4876800" cy="2191908"/>
          </a:xfrm>
          <a:prstGeom prst="rect">
            <a:avLst/>
          </a:prstGeom>
          <a:noFill/>
          <a:ln/>
        </p:spPr>
        <p:txBody>
          <a:bodyPr wrap="square" rtlCol="0" anchor="ctr"/>
          <a:lstStyle/>
          <a:p>
            <a:pPr>
              <a:buSzPct val="100000"/>
            </a:pPr>
            <a:r>
              <a:rPr lang="en-US" sz="2400" dirty="0">
                <a:solidFill>
                  <a:srgbClr val="FF0000"/>
                </a:solidFill>
                <a:latin typeface="MS UI Gothic" panose="020B0600070205080204" pitchFamily="34" charset="-128"/>
                <a:ea typeface="MS UI Gothic" panose="020B0600070205080204" pitchFamily="34" charset="-128"/>
              </a:rPr>
              <a:t>つまずきマップによる講義改善</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学生の理解困難箇所を特定</a:t>
            </a:r>
          </a:p>
          <a:p>
            <a:pPr>
              <a:buSzPct val="100000"/>
            </a:pPr>
            <a:r>
              <a:rPr lang="en-US" sz="2400" dirty="0">
                <a:latin typeface="MS UI Gothic" panose="020B0600070205080204" pitchFamily="34" charset="-128"/>
                <a:ea typeface="MS UI Gothic" panose="020B0600070205080204" pitchFamily="34" charset="-128"/>
              </a:rPr>
              <a:t>弱点強化学習の実施</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個別学習指導への活用</a:t>
            </a:r>
          </a:p>
          <a:p>
            <a:pPr>
              <a:buSzPct val="100000"/>
            </a:pPr>
            <a:r>
              <a:rPr lang="en-US" sz="2400" dirty="0">
                <a:latin typeface="MS UI Gothic" panose="020B0600070205080204" pitchFamily="34" charset="-128"/>
                <a:ea typeface="MS UI Gothic" panose="020B0600070205080204" pitchFamily="34" charset="-128"/>
              </a:rPr>
              <a:t>演習問題作成への反映</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頻出質問に基づく問題設計</a:t>
            </a:r>
          </a:p>
        </p:txBody>
      </p:sp>
      <p:sp>
        <p:nvSpPr>
          <p:cNvPr id="7" name="Shape 5"/>
          <p:cNvSpPr/>
          <p:nvPr/>
        </p:nvSpPr>
        <p:spPr>
          <a:xfrm>
            <a:off x="6217920" y="1683026"/>
            <a:ext cx="5364480" cy="2949934"/>
          </a:xfrm>
          <a:prstGeom prst="rect">
            <a:avLst/>
          </a:prstGeom>
          <a:solidFill>
            <a:schemeClr val="accent6">
              <a:lumMod val="20000"/>
              <a:lumOff val="80000"/>
            </a:schemeClr>
          </a:solidFill>
          <a:ln/>
        </p:spPr>
        <p:txBody>
          <a:bodyPr/>
          <a:lstStyle/>
          <a:p>
            <a:endParaRPr lang="ja-JP" altLang="en-US" sz="2400"/>
          </a:p>
        </p:txBody>
      </p:sp>
      <p:sp>
        <p:nvSpPr>
          <p:cNvPr id="8" name="Text 6"/>
          <p:cNvSpPr/>
          <p:nvPr/>
        </p:nvSpPr>
        <p:spPr>
          <a:xfrm>
            <a:off x="646176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つまずきマップ(</a:t>
            </a:r>
            <a:r>
              <a:rPr lang="en-US" sz="2400" dirty="0" err="1">
                <a:latin typeface="MS UI Gothic" panose="020B0600070205080204" pitchFamily="34" charset="-128"/>
                <a:ea typeface="MS UI Gothic" panose="020B0600070205080204" pitchFamily="34" charset="-128"/>
              </a:rPr>
              <a:t>可視化例</a:t>
            </a:r>
            <a:r>
              <a:rPr lang="en-US" sz="2400" dirty="0">
                <a:latin typeface="MS UI Gothic" panose="020B0600070205080204" pitchFamily="34" charset="-128"/>
                <a:ea typeface="MS UI Gothic" panose="020B0600070205080204" pitchFamily="34" charset="-128"/>
              </a:rPr>
              <a:t>)</a:t>
            </a:r>
          </a:p>
        </p:txBody>
      </p:sp>
      <p:sp>
        <p:nvSpPr>
          <p:cNvPr id="10" name="Shape 8"/>
          <p:cNvSpPr/>
          <p:nvPr/>
        </p:nvSpPr>
        <p:spPr>
          <a:xfrm>
            <a:off x="2038359" y="4777820"/>
            <a:ext cx="8134350" cy="1855304"/>
          </a:xfrm>
          <a:prstGeom prst="rect">
            <a:avLst/>
          </a:prstGeom>
          <a:solidFill>
            <a:schemeClr val="accent3">
              <a:lumMod val="20000"/>
              <a:lumOff val="80000"/>
            </a:schemeClr>
          </a:solidFill>
          <a:ln/>
        </p:spPr>
        <p:txBody>
          <a:bodyPr/>
          <a:lstStyle/>
          <a:p>
            <a:endParaRPr lang="ja-JP" altLang="en-US" sz="2400"/>
          </a:p>
        </p:txBody>
      </p:sp>
      <p:sp>
        <p:nvSpPr>
          <p:cNvPr id="11" name="Text 9"/>
          <p:cNvSpPr/>
          <p:nvPr/>
        </p:nvSpPr>
        <p:spPr>
          <a:xfrm>
            <a:off x="2939433" y="4811822"/>
            <a:ext cx="2461251" cy="365760"/>
          </a:xfrm>
          <a:prstGeom prst="rect">
            <a:avLst/>
          </a:prstGeom>
          <a:noFill/>
          <a:ln/>
        </p:spPr>
        <p:txBody>
          <a:bodyPr wrap="square" rtlCol="0" anchor="ctr"/>
          <a:lstStyle/>
          <a:p>
            <a:pPr algn="ctr"/>
            <a:r>
              <a:rPr lang="en-US" sz="2400" b="1" dirty="0">
                <a:latin typeface="MS UI Gothic" panose="020B0600070205080204" pitchFamily="34" charset="-128"/>
                <a:ea typeface="MS UI Gothic" panose="020B0600070205080204" pitchFamily="34" charset="-128"/>
              </a:rPr>
              <a:t>🌟 研究への貢献</a:t>
            </a:r>
            <a:endParaRPr lang="en-US" sz="2400" dirty="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C817668A-6880-9A65-E4A2-B7228AF02EF6}"/>
              </a:ext>
            </a:extLst>
          </p:cNvPr>
          <p:cNvSpPr txBox="1"/>
          <p:nvPr/>
        </p:nvSpPr>
        <p:spPr>
          <a:xfrm>
            <a:off x="540659" y="35923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5F0DAF27-3108-72A4-6721-B6ADD42AC414}"/>
              </a:ext>
            </a:extLst>
          </p:cNvPr>
          <p:cNvSpPr txBox="1"/>
          <p:nvPr/>
        </p:nvSpPr>
        <p:spPr>
          <a:xfrm>
            <a:off x="540659" y="96882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0E87E354-6C48-67B7-A57A-26D270809C34}"/>
              </a:ext>
            </a:extLst>
          </p:cNvPr>
          <p:cNvSpPr txBox="1"/>
          <p:nvPr/>
        </p:nvSpPr>
        <p:spPr>
          <a:xfrm>
            <a:off x="3067059" y="5220510"/>
            <a:ext cx="6644768"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・薬学教育における生成系</a:t>
            </a:r>
            <a:r>
              <a:rPr kumimoji="1" lang="en-US" altLang="ja-JP" sz="2400" dirty="0">
                <a:latin typeface="MS UI Gothic" panose="020B0600070205080204" pitchFamily="34" charset="-128"/>
                <a:ea typeface="MS UI Gothic" panose="020B0600070205080204" pitchFamily="34" charset="-128"/>
              </a:rPr>
              <a:t>AI</a:t>
            </a:r>
            <a:r>
              <a:rPr kumimoji="1" lang="ja-JP" altLang="en-US" sz="2400">
                <a:latin typeface="MS UI Gothic" panose="020B0600070205080204" pitchFamily="34" charset="-128"/>
                <a:ea typeface="MS UI Gothic" panose="020B0600070205080204" pitchFamily="34" charset="-128"/>
              </a:rPr>
              <a:t>活用のエビデンスの構築</a:t>
            </a:r>
          </a:p>
        </p:txBody>
      </p:sp>
      <p:sp>
        <p:nvSpPr>
          <p:cNvPr id="3" name="テキスト ボックス 2">
            <a:extLst>
              <a:ext uri="{FF2B5EF4-FFF2-40B4-BE49-F238E27FC236}">
                <a16:creationId xmlns:a16="http://schemas.microsoft.com/office/drawing/2014/main" id="{97F1E784-5A65-65E0-2271-2882FD49AFC4}"/>
              </a:ext>
            </a:extLst>
          </p:cNvPr>
          <p:cNvSpPr txBox="1"/>
          <p:nvPr/>
        </p:nvSpPr>
        <p:spPr>
          <a:xfrm>
            <a:off x="3067059" y="5686812"/>
            <a:ext cx="4894289"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・学習支援システムの設計指針の提示</a:t>
            </a:r>
          </a:p>
        </p:txBody>
      </p:sp>
      <p:sp>
        <p:nvSpPr>
          <p:cNvPr id="15" name="テキスト ボックス 14">
            <a:extLst>
              <a:ext uri="{FF2B5EF4-FFF2-40B4-BE49-F238E27FC236}">
                <a16:creationId xmlns:a16="http://schemas.microsoft.com/office/drawing/2014/main" id="{C9799B00-18A6-325E-D9C1-4B5CA78C336D}"/>
              </a:ext>
            </a:extLst>
          </p:cNvPr>
          <p:cNvSpPr txBox="1"/>
          <p:nvPr/>
        </p:nvSpPr>
        <p:spPr>
          <a:xfrm>
            <a:off x="3067058" y="6153115"/>
            <a:ext cx="5751896"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・他の科目・他の大学への発展可能性の実証</a:t>
            </a:r>
          </a:p>
        </p:txBody>
      </p:sp>
      <p:sp>
        <p:nvSpPr>
          <p:cNvPr id="16" name="テキスト ボックス 15">
            <a:extLst>
              <a:ext uri="{FF2B5EF4-FFF2-40B4-BE49-F238E27FC236}">
                <a16:creationId xmlns:a16="http://schemas.microsoft.com/office/drawing/2014/main" id="{CA5AFEB8-1BD4-A470-C9C3-C2A82DE49F85}"/>
              </a:ext>
            </a:extLst>
          </p:cNvPr>
          <p:cNvSpPr txBox="1"/>
          <p:nvPr/>
        </p:nvSpPr>
        <p:spPr>
          <a:xfrm>
            <a:off x="6461760" y="2172928"/>
            <a:ext cx="2505814" cy="461665"/>
          </a:xfrm>
          <a:prstGeom prst="rect">
            <a:avLst/>
          </a:prstGeom>
          <a:noFill/>
        </p:spPr>
        <p:txBody>
          <a:bodyPr wrap="none" rtlCol="0">
            <a:spAutoFit/>
          </a:bodyPr>
          <a:lstStyle/>
          <a:p>
            <a:r>
              <a:rPr kumimoji="1" lang="en-US" altLang="ja-JP" sz="2400" dirty="0">
                <a:latin typeface="MS UI Gothic" panose="020B0600070205080204" pitchFamily="34" charset="-128"/>
                <a:ea typeface="MS UI Gothic" panose="020B0600070205080204" pitchFamily="34" charset="-128"/>
              </a:rPr>
              <a:t>【</a:t>
            </a:r>
            <a:r>
              <a:rPr kumimoji="1" lang="ja-JP" altLang="en-US" sz="2400">
                <a:latin typeface="MS UI Gothic" panose="020B0600070205080204" pitchFamily="34" charset="-128"/>
                <a:ea typeface="MS UI Gothic" panose="020B0600070205080204" pitchFamily="34" charset="-128"/>
              </a:rPr>
              <a:t>頻度質問</a:t>
            </a:r>
            <a:r>
              <a:rPr lang="ja-JP" altLang="en-US" sz="2400">
                <a:latin typeface="MS UI Gothic" panose="020B0600070205080204" pitchFamily="34" charset="-128"/>
                <a:ea typeface="MS UI Gothic" panose="020B0600070205080204" pitchFamily="34" charset="-128"/>
              </a:rPr>
              <a:t>トップ</a:t>
            </a:r>
            <a:r>
              <a:rPr lang="en-US" altLang="ja-JP" sz="2400" dirty="0">
                <a:latin typeface="MS UI Gothic" panose="020B0600070205080204" pitchFamily="34" charset="-128"/>
                <a:ea typeface="MS UI Gothic" panose="020B0600070205080204" pitchFamily="34" charset="-128"/>
              </a:rPr>
              <a:t>3】</a:t>
            </a:r>
            <a:endParaRPr kumimoji="1" lang="en-US" altLang="ja-JP" sz="2400" dirty="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9E4DF636-7297-AF5A-6608-B84E29918749}"/>
              </a:ext>
            </a:extLst>
          </p:cNvPr>
          <p:cNvSpPr txBox="1"/>
          <p:nvPr/>
        </p:nvSpPr>
        <p:spPr>
          <a:xfrm>
            <a:off x="6547657" y="2764365"/>
            <a:ext cx="4567276"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① </a:t>
            </a:r>
            <a:r>
              <a:rPr lang="en-US" altLang="ja-JP" sz="2400" dirty="0" err="1">
                <a:latin typeface="MS UI Gothic" panose="020B0600070205080204" pitchFamily="34" charset="-128"/>
                <a:ea typeface="MS UI Gothic" panose="020B0600070205080204" pitchFamily="34" charset="-128"/>
              </a:rPr>
              <a:t>感度・特異度の計算方法</a:t>
            </a:r>
            <a:r>
              <a:rPr lang="en-US" altLang="ja-JP" sz="2400" dirty="0">
                <a:latin typeface="MS UI Gothic" panose="020B0600070205080204" pitchFamily="34" charset="-128"/>
                <a:ea typeface="MS UI Gothic" panose="020B0600070205080204" pitchFamily="34" charset="-128"/>
              </a:rPr>
              <a:t>(45件)</a:t>
            </a:r>
          </a:p>
        </p:txBody>
      </p:sp>
      <p:sp>
        <p:nvSpPr>
          <p:cNvPr id="18" name="テキスト ボックス 17">
            <a:extLst>
              <a:ext uri="{FF2B5EF4-FFF2-40B4-BE49-F238E27FC236}">
                <a16:creationId xmlns:a16="http://schemas.microsoft.com/office/drawing/2014/main" id="{4E3F78AE-0C31-887D-0CD8-402B46C0CE6E}"/>
              </a:ext>
            </a:extLst>
          </p:cNvPr>
          <p:cNvSpPr txBox="1"/>
          <p:nvPr/>
        </p:nvSpPr>
        <p:spPr>
          <a:xfrm>
            <a:off x="6547657" y="3284874"/>
            <a:ext cx="3231975"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② </a:t>
            </a:r>
            <a:r>
              <a:rPr lang="en-US" altLang="ja-JP" sz="2400" dirty="0" err="1">
                <a:latin typeface="MS UI Gothic" panose="020B0600070205080204" pitchFamily="34" charset="-128"/>
                <a:ea typeface="MS UI Gothic" panose="020B0600070205080204" pitchFamily="34" charset="-128"/>
              </a:rPr>
              <a:t>オッズ比の解釈</a:t>
            </a:r>
            <a:r>
              <a:rPr lang="en-US" altLang="ja-JP" sz="2400" dirty="0">
                <a:latin typeface="MS UI Gothic" panose="020B0600070205080204" pitchFamily="34" charset="-128"/>
                <a:ea typeface="MS UI Gothic" panose="020B0600070205080204" pitchFamily="34" charset="-128"/>
              </a:rPr>
              <a:t>(38件)</a:t>
            </a:r>
          </a:p>
        </p:txBody>
      </p:sp>
      <p:sp>
        <p:nvSpPr>
          <p:cNvPr id="20" name="テキスト ボックス 19">
            <a:extLst>
              <a:ext uri="{FF2B5EF4-FFF2-40B4-BE49-F238E27FC236}">
                <a16:creationId xmlns:a16="http://schemas.microsoft.com/office/drawing/2014/main" id="{9EF30BAF-9F58-57BC-E428-7EDE769A5455}"/>
              </a:ext>
            </a:extLst>
          </p:cNvPr>
          <p:cNvSpPr txBox="1"/>
          <p:nvPr/>
        </p:nvSpPr>
        <p:spPr>
          <a:xfrm>
            <a:off x="6547657" y="3864646"/>
            <a:ext cx="2719014"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③ </a:t>
            </a:r>
            <a:r>
              <a:rPr lang="en-US" altLang="ja-JP" sz="2400" dirty="0" err="1">
                <a:latin typeface="MS UI Gothic" panose="020B0600070205080204" pitchFamily="34" charset="-128"/>
                <a:ea typeface="MS UI Gothic" panose="020B0600070205080204" pitchFamily="34" charset="-128"/>
              </a:rPr>
              <a:t>p値の意味</a:t>
            </a:r>
            <a:r>
              <a:rPr lang="en-US" altLang="ja-JP" sz="2400" dirty="0">
                <a:latin typeface="MS UI Gothic" panose="020B0600070205080204" pitchFamily="34" charset="-128"/>
                <a:ea typeface="MS UI Gothic" panose="020B0600070205080204" pitchFamily="34" charset="-128"/>
              </a:rPr>
              <a:t>(32件)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3509-E58B-C691-7644-DCC0B70C646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3F7B948-2529-402F-D4A8-6266B20E2434}"/>
              </a:ext>
            </a:extLst>
          </p:cNvPr>
          <p:cNvSpPr/>
          <p:nvPr/>
        </p:nvSpPr>
        <p:spPr>
          <a:xfrm>
            <a:off x="609600" y="1683026"/>
            <a:ext cx="5364480" cy="2949934"/>
          </a:xfrm>
          <a:prstGeom prst="rect">
            <a:avLst/>
          </a:prstGeom>
          <a:solidFill>
            <a:srgbClr val="FFFFFF"/>
          </a:solidFill>
          <a:ln/>
        </p:spPr>
        <p:txBody>
          <a:bodyPr/>
          <a:lstStyle/>
          <a:p>
            <a:endParaRPr lang="ja-JP" altLang="en-US" sz="2400">
              <a:latin typeface="MS UI Gothic" panose="020B0600070205080204" pitchFamily="34" charset="-128"/>
              <a:ea typeface="MS UI Gothic" panose="020B0600070205080204" pitchFamily="34" charset="-128"/>
            </a:endParaRPr>
          </a:p>
        </p:txBody>
      </p:sp>
      <p:sp>
        <p:nvSpPr>
          <p:cNvPr id="5" name="Text 3">
            <a:extLst>
              <a:ext uri="{FF2B5EF4-FFF2-40B4-BE49-F238E27FC236}">
                <a16:creationId xmlns:a16="http://schemas.microsoft.com/office/drawing/2014/main" id="{1267FB49-77FC-532E-9C73-E491849CDC18}"/>
              </a:ext>
            </a:extLst>
          </p:cNvPr>
          <p:cNvSpPr/>
          <p:nvPr/>
        </p:nvSpPr>
        <p:spPr>
          <a:xfrm>
            <a:off x="85344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教育への反映</a:t>
            </a:r>
          </a:p>
        </p:txBody>
      </p:sp>
      <p:sp>
        <p:nvSpPr>
          <p:cNvPr id="6" name="Text 4">
            <a:extLst>
              <a:ext uri="{FF2B5EF4-FFF2-40B4-BE49-F238E27FC236}">
                <a16:creationId xmlns:a16="http://schemas.microsoft.com/office/drawing/2014/main" id="{285902DB-7FAA-5691-E41A-24FC26CB16EF}"/>
              </a:ext>
            </a:extLst>
          </p:cNvPr>
          <p:cNvSpPr/>
          <p:nvPr/>
        </p:nvSpPr>
        <p:spPr>
          <a:xfrm>
            <a:off x="853440" y="2233197"/>
            <a:ext cx="4876800" cy="2191908"/>
          </a:xfrm>
          <a:prstGeom prst="rect">
            <a:avLst/>
          </a:prstGeom>
          <a:noFill/>
          <a:ln/>
        </p:spPr>
        <p:txBody>
          <a:bodyPr wrap="square" rtlCol="0" anchor="ctr"/>
          <a:lstStyle/>
          <a:p>
            <a:pPr>
              <a:buSzPct val="100000"/>
            </a:pPr>
            <a:r>
              <a:rPr lang="en-US" sz="2400" dirty="0">
                <a:latin typeface="MS UI Gothic" panose="020B0600070205080204" pitchFamily="34" charset="-128"/>
                <a:ea typeface="MS UI Gothic" panose="020B0600070205080204" pitchFamily="34" charset="-128"/>
              </a:rPr>
              <a:t>つまずきマップによる</a:t>
            </a:r>
            <a:r>
              <a:rPr lang="en-US" sz="2400" dirty="0">
                <a:solidFill>
                  <a:srgbClr val="FF0000"/>
                </a:solidFill>
                <a:latin typeface="MS UI Gothic" panose="020B0600070205080204" pitchFamily="34" charset="-128"/>
                <a:ea typeface="MS UI Gothic" panose="020B0600070205080204" pitchFamily="34" charset="-128"/>
              </a:rPr>
              <a:t>講義改善</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学生の理解困難箇所を特定</a:t>
            </a:r>
          </a:p>
          <a:p>
            <a:pPr>
              <a:buSzPct val="100000"/>
            </a:pPr>
            <a:r>
              <a:rPr lang="en-US" sz="2400" dirty="0">
                <a:solidFill>
                  <a:srgbClr val="FF0000"/>
                </a:solidFill>
                <a:latin typeface="MS UI Gothic" panose="020B0600070205080204" pitchFamily="34" charset="-128"/>
                <a:ea typeface="MS UI Gothic" panose="020B0600070205080204" pitchFamily="34" charset="-128"/>
              </a:rPr>
              <a:t>弱点強化学習</a:t>
            </a:r>
            <a:r>
              <a:rPr lang="en-US" sz="2400" dirty="0">
                <a:latin typeface="MS UI Gothic" panose="020B0600070205080204" pitchFamily="34" charset="-128"/>
                <a:ea typeface="MS UI Gothic" panose="020B0600070205080204" pitchFamily="34" charset="-128"/>
              </a:rPr>
              <a:t>の実施</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個別学習指導への活用</a:t>
            </a:r>
          </a:p>
          <a:p>
            <a:pPr>
              <a:buSzPct val="100000"/>
            </a:pPr>
            <a:r>
              <a:rPr lang="en-US" sz="2400" dirty="0">
                <a:solidFill>
                  <a:srgbClr val="FF0000"/>
                </a:solidFill>
                <a:latin typeface="MS UI Gothic" panose="020B0600070205080204" pitchFamily="34" charset="-128"/>
                <a:ea typeface="MS UI Gothic" panose="020B0600070205080204" pitchFamily="34" charset="-128"/>
              </a:rPr>
              <a:t>演習問題作成への反映</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頻出質問に基づく問題設計</a:t>
            </a:r>
          </a:p>
        </p:txBody>
      </p:sp>
      <p:sp>
        <p:nvSpPr>
          <p:cNvPr id="7" name="Shape 5">
            <a:extLst>
              <a:ext uri="{FF2B5EF4-FFF2-40B4-BE49-F238E27FC236}">
                <a16:creationId xmlns:a16="http://schemas.microsoft.com/office/drawing/2014/main" id="{39A0BB1E-32FF-A742-0EE5-6FB72457DA06}"/>
              </a:ext>
            </a:extLst>
          </p:cNvPr>
          <p:cNvSpPr/>
          <p:nvPr/>
        </p:nvSpPr>
        <p:spPr>
          <a:xfrm>
            <a:off x="6217920" y="1683026"/>
            <a:ext cx="5364480" cy="2949934"/>
          </a:xfrm>
          <a:prstGeom prst="rect">
            <a:avLst/>
          </a:prstGeom>
          <a:solidFill>
            <a:schemeClr val="accent6">
              <a:lumMod val="20000"/>
              <a:lumOff val="80000"/>
            </a:schemeClr>
          </a:solidFill>
          <a:ln/>
        </p:spPr>
        <p:txBody>
          <a:bodyPr/>
          <a:lstStyle/>
          <a:p>
            <a:endParaRPr lang="ja-JP" altLang="en-US" sz="2400"/>
          </a:p>
        </p:txBody>
      </p:sp>
      <p:sp>
        <p:nvSpPr>
          <p:cNvPr id="8" name="Text 6">
            <a:extLst>
              <a:ext uri="{FF2B5EF4-FFF2-40B4-BE49-F238E27FC236}">
                <a16:creationId xmlns:a16="http://schemas.microsoft.com/office/drawing/2014/main" id="{518A933B-DCF9-6EA0-C944-861F880385C6}"/>
              </a:ext>
            </a:extLst>
          </p:cNvPr>
          <p:cNvSpPr/>
          <p:nvPr/>
        </p:nvSpPr>
        <p:spPr>
          <a:xfrm>
            <a:off x="646176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つまずきマップ(</a:t>
            </a:r>
            <a:r>
              <a:rPr lang="en-US" sz="2400" dirty="0" err="1">
                <a:latin typeface="MS UI Gothic" panose="020B0600070205080204" pitchFamily="34" charset="-128"/>
                <a:ea typeface="MS UI Gothic" panose="020B0600070205080204" pitchFamily="34" charset="-128"/>
              </a:rPr>
              <a:t>可視化例</a:t>
            </a:r>
            <a:r>
              <a:rPr lang="en-US" sz="2400" dirty="0">
                <a:latin typeface="MS UI Gothic" panose="020B0600070205080204" pitchFamily="34" charset="-128"/>
                <a:ea typeface="MS UI Gothic" panose="020B0600070205080204" pitchFamily="34" charset="-128"/>
              </a:rPr>
              <a:t>)</a:t>
            </a:r>
          </a:p>
        </p:txBody>
      </p:sp>
      <p:sp>
        <p:nvSpPr>
          <p:cNvPr id="10" name="Shape 8">
            <a:extLst>
              <a:ext uri="{FF2B5EF4-FFF2-40B4-BE49-F238E27FC236}">
                <a16:creationId xmlns:a16="http://schemas.microsoft.com/office/drawing/2014/main" id="{9106F739-05EC-D3F0-11F0-02E6DB741C44}"/>
              </a:ext>
            </a:extLst>
          </p:cNvPr>
          <p:cNvSpPr/>
          <p:nvPr/>
        </p:nvSpPr>
        <p:spPr>
          <a:xfrm>
            <a:off x="2038359" y="4777820"/>
            <a:ext cx="8134350" cy="1855304"/>
          </a:xfrm>
          <a:prstGeom prst="rect">
            <a:avLst/>
          </a:prstGeom>
          <a:solidFill>
            <a:schemeClr val="accent3">
              <a:lumMod val="20000"/>
              <a:lumOff val="80000"/>
            </a:schemeClr>
          </a:solidFill>
          <a:ln/>
        </p:spPr>
        <p:txBody>
          <a:bodyPr/>
          <a:lstStyle/>
          <a:p>
            <a:endParaRPr lang="ja-JP" altLang="en-US" sz="2400"/>
          </a:p>
        </p:txBody>
      </p:sp>
      <p:sp>
        <p:nvSpPr>
          <p:cNvPr id="11" name="Text 9">
            <a:extLst>
              <a:ext uri="{FF2B5EF4-FFF2-40B4-BE49-F238E27FC236}">
                <a16:creationId xmlns:a16="http://schemas.microsoft.com/office/drawing/2014/main" id="{6CE6EDBF-92C0-E1D4-EF2A-ACEA0588244B}"/>
              </a:ext>
            </a:extLst>
          </p:cNvPr>
          <p:cNvSpPr/>
          <p:nvPr/>
        </p:nvSpPr>
        <p:spPr>
          <a:xfrm>
            <a:off x="2939433" y="4811822"/>
            <a:ext cx="2461251" cy="365760"/>
          </a:xfrm>
          <a:prstGeom prst="rect">
            <a:avLst/>
          </a:prstGeom>
          <a:noFill/>
          <a:ln/>
        </p:spPr>
        <p:txBody>
          <a:bodyPr wrap="square" rtlCol="0" anchor="ctr"/>
          <a:lstStyle/>
          <a:p>
            <a:pPr algn="ctr"/>
            <a:r>
              <a:rPr lang="en-US" sz="2400" b="1" dirty="0">
                <a:latin typeface="MS UI Gothic" panose="020B0600070205080204" pitchFamily="34" charset="-128"/>
                <a:ea typeface="MS UI Gothic" panose="020B0600070205080204" pitchFamily="34" charset="-128"/>
              </a:rPr>
              <a:t>🌟 研究への貢献</a:t>
            </a:r>
            <a:endParaRPr lang="en-US" sz="2400" dirty="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1A2B3984-650C-0409-29EC-72DA97617A66}"/>
              </a:ext>
            </a:extLst>
          </p:cNvPr>
          <p:cNvSpPr txBox="1"/>
          <p:nvPr/>
        </p:nvSpPr>
        <p:spPr>
          <a:xfrm>
            <a:off x="540659" y="35923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C0877BA5-6188-04EA-DB68-0F0BBD3BEC08}"/>
              </a:ext>
            </a:extLst>
          </p:cNvPr>
          <p:cNvSpPr txBox="1"/>
          <p:nvPr/>
        </p:nvSpPr>
        <p:spPr>
          <a:xfrm>
            <a:off x="540659" y="96882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881CF70F-40D4-7318-F742-36FB3641AC35}"/>
              </a:ext>
            </a:extLst>
          </p:cNvPr>
          <p:cNvSpPr txBox="1"/>
          <p:nvPr/>
        </p:nvSpPr>
        <p:spPr>
          <a:xfrm>
            <a:off x="3067059" y="5220510"/>
            <a:ext cx="6644768"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・薬学教育における生成系</a:t>
            </a:r>
            <a:r>
              <a:rPr kumimoji="1" lang="en-US" altLang="ja-JP" sz="2400" dirty="0">
                <a:latin typeface="MS UI Gothic" panose="020B0600070205080204" pitchFamily="34" charset="-128"/>
                <a:ea typeface="MS UI Gothic" panose="020B0600070205080204" pitchFamily="34" charset="-128"/>
              </a:rPr>
              <a:t>AI</a:t>
            </a:r>
            <a:r>
              <a:rPr kumimoji="1" lang="ja-JP" altLang="en-US" sz="2400">
                <a:latin typeface="MS UI Gothic" panose="020B0600070205080204" pitchFamily="34" charset="-128"/>
                <a:ea typeface="MS UI Gothic" panose="020B0600070205080204" pitchFamily="34" charset="-128"/>
              </a:rPr>
              <a:t>活用の</a:t>
            </a:r>
            <a:r>
              <a:rPr kumimoji="1" lang="ja-JP" altLang="en-US" sz="2400">
                <a:solidFill>
                  <a:srgbClr val="FF0000"/>
                </a:solidFill>
                <a:latin typeface="MS UI Gothic" panose="020B0600070205080204" pitchFamily="34" charset="-128"/>
                <a:ea typeface="MS UI Gothic" panose="020B0600070205080204" pitchFamily="34" charset="-128"/>
              </a:rPr>
              <a:t>エビデンスの構築</a:t>
            </a:r>
          </a:p>
        </p:txBody>
      </p:sp>
      <p:sp>
        <p:nvSpPr>
          <p:cNvPr id="3" name="テキスト ボックス 2">
            <a:extLst>
              <a:ext uri="{FF2B5EF4-FFF2-40B4-BE49-F238E27FC236}">
                <a16:creationId xmlns:a16="http://schemas.microsoft.com/office/drawing/2014/main" id="{7C8D2DFD-42F3-A8A6-8F3F-417CFDF8BFD8}"/>
              </a:ext>
            </a:extLst>
          </p:cNvPr>
          <p:cNvSpPr txBox="1"/>
          <p:nvPr/>
        </p:nvSpPr>
        <p:spPr>
          <a:xfrm>
            <a:off x="3067059" y="5686812"/>
            <a:ext cx="4894289"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・学習支援システムの</a:t>
            </a:r>
            <a:r>
              <a:rPr kumimoji="1" lang="ja-JP" altLang="en-US" sz="2400">
                <a:solidFill>
                  <a:srgbClr val="FF0000"/>
                </a:solidFill>
                <a:latin typeface="MS UI Gothic" panose="020B0600070205080204" pitchFamily="34" charset="-128"/>
                <a:ea typeface="MS UI Gothic" panose="020B0600070205080204" pitchFamily="34" charset="-128"/>
              </a:rPr>
              <a:t>設計指針の提示</a:t>
            </a:r>
          </a:p>
        </p:txBody>
      </p:sp>
      <p:sp>
        <p:nvSpPr>
          <p:cNvPr id="15" name="テキスト ボックス 14">
            <a:extLst>
              <a:ext uri="{FF2B5EF4-FFF2-40B4-BE49-F238E27FC236}">
                <a16:creationId xmlns:a16="http://schemas.microsoft.com/office/drawing/2014/main" id="{94EFD9D6-0C46-8C47-7326-ADAA8893D1EE}"/>
              </a:ext>
            </a:extLst>
          </p:cNvPr>
          <p:cNvSpPr txBox="1"/>
          <p:nvPr/>
        </p:nvSpPr>
        <p:spPr>
          <a:xfrm>
            <a:off x="3067058" y="6153115"/>
            <a:ext cx="5751896"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・他の科目・他の大学への</a:t>
            </a:r>
            <a:r>
              <a:rPr kumimoji="1" lang="ja-JP" altLang="en-US" sz="2400">
                <a:solidFill>
                  <a:srgbClr val="FF0000"/>
                </a:solidFill>
                <a:latin typeface="MS UI Gothic" panose="020B0600070205080204" pitchFamily="34" charset="-128"/>
                <a:ea typeface="MS UI Gothic" panose="020B0600070205080204" pitchFamily="34" charset="-128"/>
              </a:rPr>
              <a:t>発展可能性の実証</a:t>
            </a:r>
          </a:p>
        </p:txBody>
      </p:sp>
      <p:sp>
        <p:nvSpPr>
          <p:cNvPr id="16" name="テキスト ボックス 15">
            <a:extLst>
              <a:ext uri="{FF2B5EF4-FFF2-40B4-BE49-F238E27FC236}">
                <a16:creationId xmlns:a16="http://schemas.microsoft.com/office/drawing/2014/main" id="{DFA70BF8-3D45-E05B-489E-35DF248B4002}"/>
              </a:ext>
            </a:extLst>
          </p:cNvPr>
          <p:cNvSpPr txBox="1"/>
          <p:nvPr/>
        </p:nvSpPr>
        <p:spPr>
          <a:xfrm>
            <a:off x="6461760" y="2172928"/>
            <a:ext cx="2505814" cy="461665"/>
          </a:xfrm>
          <a:prstGeom prst="rect">
            <a:avLst/>
          </a:prstGeom>
          <a:noFill/>
        </p:spPr>
        <p:txBody>
          <a:bodyPr wrap="none" rtlCol="0">
            <a:spAutoFit/>
          </a:bodyPr>
          <a:lstStyle/>
          <a:p>
            <a:r>
              <a:rPr kumimoji="1" lang="en-US" altLang="ja-JP" sz="2400" dirty="0">
                <a:latin typeface="MS UI Gothic" panose="020B0600070205080204" pitchFamily="34" charset="-128"/>
                <a:ea typeface="MS UI Gothic" panose="020B0600070205080204" pitchFamily="34" charset="-128"/>
              </a:rPr>
              <a:t>【</a:t>
            </a:r>
            <a:r>
              <a:rPr kumimoji="1" lang="ja-JP" altLang="en-US" sz="2400">
                <a:latin typeface="MS UI Gothic" panose="020B0600070205080204" pitchFamily="34" charset="-128"/>
                <a:ea typeface="MS UI Gothic" panose="020B0600070205080204" pitchFamily="34" charset="-128"/>
              </a:rPr>
              <a:t>頻度質問</a:t>
            </a:r>
            <a:r>
              <a:rPr lang="ja-JP" altLang="en-US" sz="2400">
                <a:latin typeface="MS UI Gothic" panose="020B0600070205080204" pitchFamily="34" charset="-128"/>
                <a:ea typeface="MS UI Gothic" panose="020B0600070205080204" pitchFamily="34" charset="-128"/>
              </a:rPr>
              <a:t>トップ</a:t>
            </a:r>
            <a:r>
              <a:rPr lang="en-US" altLang="ja-JP" sz="2400" dirty="0">
                <a:latin typeface="MS UI Gothic" panose="020B0600070205080204" pitchFamily="34" charset="-128"/>
                <a:ea typeface="MS UI Gothic" panose="020B0600070205080204" pitchFamily="34" charset="-128"/>
              </a:rPr>
              <a:t>3】</a:t>
            </a:r>
            <a:endParaRPr kumimoji="1" lang="en-US" altLang="ja-JP" sz="2400" dirty="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2E5101F7-F1EF-F1D8-B32F-F3FFF96987D7}"/>
              </a:ext>
            </a:extLst>
          </p:cNvPr>
          <p:cNvSpPr txBox="1"/>
          <p:nvPr/>
        </p:nvSpPr>
        <p:spPr>
          <a:xfrm>
            <a:off x="6547657" y="2764365"/>
            <a:ext cx="4567276"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① </a:t>
            </a:r>
            <a:r>
              <a:rPr lang="en-US" altLang="ja-JP" sz="2400" dirty="0" err="1">
                <a:latin typeface="MS UI Gothic" panose="020B0600070205080204" pitchFamily="34" charset="-128"/>
                <a:ea typeface="MS UI Gothic" panose="020B0600070205080204" pitchFamily="34" charset="-128"/>
              </a:rPr>
              <a:t>感度・特異度の計算方法</a:t>
            </a:r>
            <a:r>
              <a:rPr lang="en-US" altLang="ja-JP" sz="2400" dirty="0">
                <a:latin typeface="MS UI Gothic" panose="020B0600070205080204" pitchFamily="34" charset="-128"/>
                <a:ea typeface="MS UI Gothic" panose="020B0600070205080204" pitchFamily="34" charset="-128"/>
              </a:rPr>
              <a:t>(45件)</a:t>
            </a:r>
          </a:p>
        </p:txBody>
      </p:sp>
      <p:sp>
        <p:nvSpPr>
          <p:cNvPr id="18" name="テキスト ボックス 17">
            <a:extLst>
              <a:ext uri="{FF2B5EF4-FFF2-40B4-BE49-F238E27FC236}">
                <a16:creationId xmlns:a16="http://schemas.microsoft.com/office/drawing/2014/main" id="{1F07F2FB-6368-74FA-576A-C9BB2BDDB49A}"/>
              </a:ext>
            </a:extLst>
          </p:cNvPr>
          <p:cNvSpPr txBox="1"/>
          <p:nvPr/>
        </p:nvSpPr>
        <p:spPr>
          <a:xfrm>
            <a:off x="6547657" y="3284874"/>
            <a:ext cx="3231975"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② </a:t>
            </a:r>
            <a:r>
              <a:rPr lang="en-US" altLang="ja-JP" sz="2400" dirty="0" err="1">
                <a:latin typeface="MS UI Gothic" panose="020B0600070205080204" pitchFamily="34" charset="-128"/>
                <a:ea typeface="MS UI Gothic" panose="020B0600070205080204" pitchFamily="34" charset="-128"/>
              </a:rPr>
              <a:t>オッズ比の解釈</a:t>
            </a:r>
            <a:r>
              <a:rPr lang="en-US" altLang="ja-JP" sz="2400" dirty="0">
                <a:latin typeface="MS UI Gothic" panose="020B0600070205080204" pitchFamily="34" charset="-128"/>
                <a:ea typeface="MS UI Gothic" panose="020B0600070205080204" pitchFamily="34" charset="-128"/>
              </a:rPr>
              <a:t>(38件)</a:t>
            </a:r>
          </a:p>
        </p:txBody>
      </p:sp>
      <p:sp>
        <p:nvSpPr>
          <p:cNvPr id="20" name="テキスト ボックス 19">
            <a:extLst>
              <a:ext uri="{FF2B5EF4-FFF2-40B4-BE49-F238E27FC236}">
                <a16:creationId xmlns:a16="http://schemas.microsoft.com/office/drawing/2014/main" id="{CCAA7264-BC5B-A9A3-9395-A9ADA2D95046}"/>
              </a:ext>
            </a:extLst>
          </p:cNvPr>
          <p:cNvSpPr txBox="1"/>
          <p:nvPr/>
        </p:nvSpPr>
        <p:spPr>
          <a:xfrm>
            <a:off x="6547657" y="3864646"/>
            <a:ext cx="2719014"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③ </a:t>
            </a:r>
            <a:r>
              <a:rPr lang="en-US" altLang="ja-JP" sz="2400" dirty="0" err="1">
                <a:latin typeface="MS UI Gothic" panose="020B0600070205080204" pitchFamily="34" charset="-128"/>
                <a:ea typeface="MS UI Gothic" panose="020B0600070205080204" pitchFamily="34" charset="-128"/>
              </a:rPr>
              <a:t>p値の意味</a:t>
            </a:r>
            <a:r>
              <a:rPr lang="en-US" altLang="ja-JP" sz="2400" dirty="0">
                <a:latin typeface="MS UI Gothic" panose="020B0600070205080204" pitchFamily="34" charset="-128"/>
                <a:ea typeface="MS UI Gothic" panose="020B0600070205080204" pitchFamily="34" charset="-128"/>
              </a:rPr>
              <a:t>(32件)</a:t>
            </a:r>
          </a:p>
        </p:txBody>
      </p:sp>
    </p:spTree>
    <p:extLst>
      <p:ext uri="{BB962C8B-B14F-4D97-AF65-F5344CB8AC3E}">
        <p14:creationId xmlns:p14="http://schemas.microsoft.com/office/powerpoint/2010/main" val="821989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B4858-4446-E880-8828-05E986FC9B3F}"/>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2CBB2DA9-7500-7D8B-9088-1AA015E1D4CF}"/>
              </a:ext>
            </a:extLst>
          </p:cNvPr>
          <p:cNvSpPr/>
          <p:nvPr/>
        </p:nvSpPr>
        <p:spPr>
          <a:xfrm>
            <a:off x="609600" y="1683026"/>
            <a:ext cx="5364480" cy="2949934"/>
          </a:xfrm>
          <a:prstGeom prst="rect">
            <a:avLst/>
          </a:prstGeom>
          <a:solidFill>
            <a:srgbClr val="FFFFFF"/>
          </a:solidFill>
          <a:ln/>
        </p:spPr>
        <p:txBody>
          <a:bodyPr/>
          <a:lstStyle/>
          <a:p>
            <a:endParaRPr lang="ja-JP" altLang="en-US" sz="2400">
              <a:latin typeface="MS UI Gothic" panose="020B0600070205080204" pitchFamily="34" charset="-128"/>
              <a:ea typeface="MS UI Gothic" panose="020B0600070205080204" pitchFamily="34" charset="-128"/>
            </a:endParaRPr>
          </a:p>
        </p:txBody>
      </p:sp>
      <p:sp>
        <p:nvSpPr>
          <p:cNvPr id="5" name="Text 3">
            <a:extLst>
              <a:ext uri="{FF2B5EF4-FFF2-40B4-BE49-F238E27FC236}">
                <a16:creationId xmlns:a16="http://schemas.microsoft.com/office/drawing/2014/main" id="{E7CE21C3-761B-BEFA-DF5F-D8499FEBF87B}"/>
              </a:ext>
            </a:extLst>
          </p:cNvPr>
          <p:cNvSpPr/>
          <p:nvPr/>
        </p:nvSpPr>
        <p:spPr>
          <a:xfrm>
            <a:off x="85344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教育への反映</a:t>
            </a:r>
          </a:p>
        </p:txBody>
      </p:sp>
      <p:sp>
        <p:nvSpPr>
          <p:cNvPr id="6" name="Text 4">
            <a:extLst>
              <a:ext uri="{FF2B5EF4-FFF2-40B4-BE49-F238E27FC236}">
                <a16:creationId xmlns:a16="http://schemas.microsoft.com/office/drawing/2014/main" id="{195F6789-ABC3-E464-BEBE-E12F765A13A5}"/>
              </a:ext>
            </a:extLst>
          </p:cNvPr>
          <p:cNvSpPr/>
          <p:nvPr/>
        </p:nvSpPr>
        <p:spPr>
          <a:xfrm>
            <a:off x="853440" y="2233197"/>
            <a:ext cx="4876800" cy="2191908"/>
          </a:xfrm>
          <a:prstGeom prst="rect">
            <a:avLst/>
          </a:prstGeom>
          <a:noFill/>
          <a:ln/>
        </p:spPr>
        <p:txBody>
          <a:bodyPr wrap="square" rtlCol="0" anchor="ctr"/>
          <a:lstStyle/>
          <a:p>
            <a:pPr>
              <a:buSzPct val="100000"/>
            </a:pPr>
            <a:r>
              <a:rPr lang="en-US" sz="2400" dirty="0">
                <a:latin typeface="MS UI Gothic" panose="020B0600070205080204" pitchFamily="34" charset="-128"/>
                <a:ea typeface="MS UI Gothic" panose="020B0600070205080204" pitchFamily="34" charset="-128"/>
              </a:rPr>
              <a:t>つまずきマップによる講義改善</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学生の理解困難箇所を特定</a:t>
            </a:r>
          </a:p>
          <a:p>
            <a:pPr>
              <a:buSzPct val="100000"/>
            </a:pPr>
            <a:r>
              <a:rPr lang="en-US" sz="2400" dirty="0">
                <a:latin typeface="MS UI Gothic" panose="020B0600070205080204" pitchFamily="34" charset="-128"/>
                <a:ea typeface="MS UI Gothic" panose="020B0600070205080204" pitchFamily="34" charset="-128"/>
              </a:rPr>
              <a:t>弱点強化学習の実施</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個別学習指導への活用</a:t>
            </a:r>
          </a:p>
          <a:p>
            <a:pPr>
              <a:buSzPct val="100000"/>
            </a:pPr>
            <a:r>
              <a:rPr lang="en-US" sz="2400" dirty="0">
                <a:latin typeface="MS UI Gothic" panose="020B0600070205080204" pitchFamily="34" charset="-128"/>
                <a:ea typeface="MS UI Gothic" panose="020B0600070205080204" pitchFamily="34" charset="-128"/>
              </a:rPr>
              <a:t>演習問題作成への反映</a:t>
            </a:r>
          </a:p>
          <a:p>
            <a:pPr>
              <a:buSzPct val="100000"/>
            </a:pPr>
            <a:r>
              <a:rPr lang="ja-JP" altLang="en-US" sz="2400">
                <a:latin typeface="MS UI Gothic" panose="020B0600070205080204" pitchFamily="34" charset="-128"/>
                <a:ea typeface="MS UI Gothic" panose="020B0600070205080204" pitchFamily="34" charset="-128"/>
              </a:rPr>
              <a:t>　　→　</a:t>
            </a:r>
            <a:r>
              <a:rPr lang="en-US" sz="2400" dirty="0">
                <a:latin typeface="MS UI Gothic" panose="020B0600070205080204" pitchFamily="34" charset="-128"/>
                <a:ea typeface="MS UI Gothic" panose="020B0600070205080204" pitchFamily="34" charset="-128"/>
              </a:rPr>
              <a:t>頻出質問に基づく問題設計</a:t>
            </a:r>
          </a:p>
        </p:txBody>
      </p:sp>
      <p:sp>
        <p:nvSpPr>
          <p:cNvPr id="7" name="Shape 5">
            <a:extLst>
              <a:ext uri="{FF2B5EF4-FFF2-40B4-BE49-F238E27FC236}">
                <a16:creationId xmlns:a16="http://schemas.microsoft.com/office/drawing/2014/main" id="{DAA1DF9E-9ECA-FDF4-AC8E-3484F1ED3E7C}"/>
              </a:ext>
            </a:extLst>
          </p:cNvPr>
          <p:cNvSpPr/>
          <p:nvPr/>
        </p:nvSpPr>
        <p:spPr>
          <a:xfrm>
            <a:off x="6217920" y="1683026"/>
            <a:ext cx="5364480" cy="2949934"/>
          </a:xfrm>
          <a:prstGeom prst="rect">
            <a:avLst/>
          </a:prstGeom>
          <a:solidFill>
            <a:schemeClr val="accent6">
              <a:lumMod val="20000"/>
              <a:lumOff val="80000"/>
            </a:schemeClr>
          </a:solidFill>
          <a:ln/>
        </p:spPr>
        <p:txBody>
          <a:bodyPr/>
          <a:lstStyle/>
          <a:p>
            <a:endParaRPr lang="ja-JP" altLang="en-US" sz="2400"/>
          </a:p>
        </p:txBody>
      </p:sp>
      <p:sp>
        <p:nvSpPr>
          <p:cNvPr id="8" name="Text 6">
            <a:extLst>
              <a:ext uri="{FF2B5EF4-FFF2-40B4-BE49-F238E27FC236}">
                <a16:creationId xmlns:a16="http://schemas.microsoft.com/office/drawing/2014/main" id="{0EFFF46C-E467-C732-BA7F-2764B118611E}"/>
              </a:ext>
            </a:extLst>
          </p:cNvPr>
          <p:cNvSpPr/>
          <p:nvPr/>
        </p:nvSpPr>
        <p:spPr>
          <a:xfrm>
            <a:off x="6461760" y="1708284"/>
            <a:ext cx="4876800" cy="487680"/>
          </a:xfrm>
          <a:prstGeom prst="rect">
            <a:avLst/>
          </a:prstGeom>
          <a:noFill/>
          <a:ln/>
        </p:spPr>
        <p:txBody>
          <a:bodyPr wrap="square" rtlCol="0" anchor="ctr"/>
          <a:lstStyle/>
          <a:p>
            <a:r>
              <a:rPr lang="en-US" sz="2400" dirty="0">
                <a:latin typeface="MS UI Gothic" panose="020B0600070205080204" pitchFamily="34" charset="-128"/>
                <a:ea typeface="MS UI Gothic" panose="020B0600070205080204" pitchFamily="34" charset="-128"/>
              </a:rPr>
              <a:t>📍 つまずきマップ(</a:t>
            </a:r>
            <a:r>
              <a:rPr lang="en-US" sz="2400" dirty="0" err="1">
                <a:latin typeface="MS UI Gothic" panose="020B0600070205080204" pitchFamily="34" charset="-128"/>
                <a:ea typeface="MS UI Gothic" panose="020B0600070205080204" pitchFamily="34" charset="-128"/>
              </a:rPr>
              <a:t>可視化例</a:t>
            </a:r>
            <a:r>
              <a:rPr lang="en-US" sz="2400" dirty="0">
                <a:latin typeface="MS UI Gothic" panose="020B0600070205080204" pitchFamily="34" charset="-128"/>
                <a:ea typeface="MS UI Gothic" panose="020B0600070205080204" pitchFamily="34" charset="-128"/>
              </a:rPr>
              <a:t>)</a:t>
            </a:r>
          </a:p>
        </p:txBody>
      </p:sp>
      <p:sp>
        <p:nvSpPr>
          <p:cNvPr id="10" name="Shape 8">
            <a:extLst>
              <a:ext uri="{FF2B5EF4-FFF2-40B4-BE49-F238E27FC236}">
                <a16:creationId xmlns:a16="http://schemas.microsoft.com/office/drawing/2014/main" id="{53E5B9DD-2E0A-E0A6-B1E5-4956B0EABE97}"/>
              </a:ext>
            </a:extLst>
          </p:cNvPr>
          <p:cNvSpPr/>
          <p:nvPr/>
        </p:nvSpPr>
        <p:spPr>
          <a:xfrm>
            <a:off x="2038359" y="4777820"/>
            <a:ext cx="8134350" cy="1855304"/>
          </a:xfrm>
          <a:prstGeom prst="rect">
            <a:avLst/>
          </a:prstGeom>
          <a:solidFill>
            <a:schemeClr val="accent3">
              <a:lumMod val="20000"/>
              <a:lumOff val="80000"/>
            </a:schemeClr>
          </a:solidFill>
          <a:ln/>
        </p:spPr>
        <p:txBody>
          <a:bodyPr/>
          <a:lstStyle/>
          <a:p>
            <a:endParaRPr lang="ja-JP" altLang="en-US" sz="2400"/>
          </a:p>
        </p:txBody>
      </p:sp>
      <p:sp>
        <p:nvSpPr>
          <p:cNvPr id="11" name="Text 9">
            <a:extLst>
              <a:ext uri="{FF2B5EF4-FFF2-40B4-BE49-F238E27FC236}">
                <a16:creationId xmlns:a16="http://schemas.microsoft.com/office/drawing/2014/main" id="{ED1E8A27-37EF-F188-B6D1-4E0A3BE664A2}"/>
              </a:ext>
            </a:extLst>
          </p:cNvPr>
          <p:cNvSpPr/>
          <p:nvPr/>
        </p:nvSpPr>
        <p:spPr>
          <a:xfrm>
            <a:off x="2939433" y="4811822"/>
            <a:ext cx="2461251" cy="365760"/>
          </a:xfrm>
          <a:prstGeom prst="rect">
            <a:avLst/>
          </a:prstGeom>
          <a:noFill/>
          <a:ln/>
        </p:spPr>
        <p:txBody>
          <a:bodyPr wrap="square" rtlCol="0" anchor="ctr"/>
          <a:lstStyle/>
          <a:p>
            <a:pPr algn="ctr"/>
            <a:r>
              <a:rPr lang="en-US" sz="2400" b="1" dirty="0">
                <a:latin typeface="MS UI Gothic" panose="020B0600070205080204" pitchFamily="34" charset="-128"/>
                <a:ea typeface="MS UI Gothic" panose="020B0600070205080204" pitchFamily="34" charset="-128"/>
              </a:rPr>
              <a:t>🌟 研究への貢献</a:t>
            </a:r>
            <a:endParaRPr lang="en-US" sz="2400" dirty="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2675BAC8-17C3-EB5E-7F37-14CA46AAE55C}"/>
              </a:ext>
            </a:extLst>
          </p:cNvPr>
          <p:cNvSpPr txBox="1"/>
          <p:nvPr/>
        </p:nvSpPr>
        <p:spPr>
          <a:xfrm>
            <a:off x="540659" y="35923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4C0A473E-0FBB-4C70-075D-985CE29E8B05}"/>
              </a:ext>
            </a:extLst>
          </p:cNvPr>
          <p:cNvSpPr txBox="1"/>
          <p:nvPr/>
        </p:nvSpPr>
        <p:spPr>
          <a:xfrm>
            <a:off x="540659" y="96882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 name="テキスト ボックス 1">
            <a:extLst>
              <a:ext uri="{FF2B5EF4-FFF2-40B4-BE49-F238E27FC236}">
                <a16:creationId xmlns:a16="http://schemas.microsoft.com/office/drawing/2014/main" id="{E43D9BAA-FAD4-53E8-C044-5FB3B22F7907}"/>
              </a:ext>
            </a:extLst>
          </p:cNvPr>
          <p:cNvSpPr txBox="1"/>
          <p:nvPr/>
        </p:nvSpPr>
        <p:spPr>
          <a:xfrm>
            <a:off x="3067059" y="5220510"/>
            <a:ext cx="6644768"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・薬学教育における生成系</a:t>
            </a:r>
            <a:r>
              <a:rPr kumimoji="1" lang="en-US" altLang="ja-JP" sz="2400" dirty="0">
                <a:latin typeface="MS UI Gothic" panose="020B0600070205080204" pitchFamily="34" charset="-128"/>
                <a:ea typeface="MS UI Gothic" panose="020B0600070205080204" pitchFamily="34" charset="-128"/>
              </a:rPr>
              <a:t>AI</a:t>
            </a:r>
            <a:r>
              <a:rPr kumimoji="1" lang="ja-JP" altLang="en-US" sz="2400">
                <a:latin typeface="MS UI Gothic" panose="020B0600070205080204" pitchFamily="34" charset="-128"/>
                <a:ea typeface="MS UI Gothic" panose="020B0600070205080204" pitchFamily="34" charset="-128"/>
              </a:rPr>
              <a:t>活用のエビデンスの構築</a:t>
            </a:r>
          </a:p>
        </p:txBody>
      </p:sp>
      <p:sp>
        <p:nvSpPr>
          <p:cNvPr id="3" name="テキスト ボックス 2">
            <a:extLst>
              <a:ext uri="{FF2B5EF4-FFF2-40B4-BE49-F238E27FC236}">
                <a16:creationId xmlns:a16="http://schemas.microsoft.com/office/drawing/2014/main" id="{8242A5E1-7A7A-D169-DEF0-65299F596FB4}"/>
              </a:ext>
            </a:extLst>
          </p:cNvPr>
          <p:cNvSpPr txBox="1"/>
          <p:nvPr/>
        </p:nvSpPr>
        <p:spPr>
          <a:xfrm>
            <a:off x="3067059" y="5686812"/>
            <a:ext cx="4894289"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・学習支援システムの設計指針の提示</a:t>
            </a:r>
          </a:p>
        </p:txBody>
      </p:sp>
      <p:sp>
        <p:nvSpPr>
          <p:cNvPr id="15" name="テキスト ボックス 14">
            <a:extLst>
              <a:ext uri="{FF2B5EF4-FFF2-40B4-BE49-F238E27FC236}">
                <a16:creationId xmlns:a16="http://schemas.microsoft.com/office/drawing/2014/main" id="{33D8F1A6-1898-1A7B-1577-1DB68D594606}"/>
              </a:ext>
            </a:extLst>
          </p:cNvPr>
          <p:cNvSpPr txBox="1"/>
          <p:nvPr/>
        </p:nvSpPr>
        <p:spPr>
          <a:xfrm>
            <a:off x="3067058" y="6153115"/>
            <a:ext cx="5751896" cy="461665"/>
          </a:xfrm>
          <a:prstGeom prst="rect">
            <a:avLst/>
          </a:prstGeom>
          <a:noFill/>
        </p:spPr>
        <p:txBody>
          <a:bodyPr wrap="none" rtlCol="0">
            <a:spAutoFit/>
          </a:bodyPr>
          <a:lstStyle/>
          <a:p>
            <a:r>
              <a:rPr kumimoji="1" lang="ja-JP" altLang="en-US" sz="2400">
                <a:latin typeface="MS UI Gothic" panose="020B0600070205080204" pitchFamily="34" charset="-128"/>
                <a:ea typeface="MS UI Gothic" panose="020B0600070205080204" pitchFamily="34" charset="-128"/>
              </a:rPr>
              <a:t>・他の科目・他の大学への発展可能性の実証</a:t>
            </a:r>
          </a:p>
        </p:txBody>
      </p:sp>
      <p:sp>
        <p:nvSpPr>
          <p:cNvPr id="16" name="テキスト ボックス 15">
            <a:extLst>
              <a:ext uri="{FF2B5EF4-FFF2-40B4-BE49-F238E27FC236}">
                <a16:creationId xmlns:a16="http://schemas.microsoft.com/office/drawing/2014/main" id="{B174A3A9-1861-F58D-00D1-210917CEC564}"/>
              </a:ext>
            </a:extLst>
          </p:cNvPr>
          <p:cNvSpPr txBox="1"/>
          <p:nvPr/>
        </p:nvSpPr>
        <p:spPr>
          <a:xfrm>
            <a:off x="6461760" y="2172928"/>
            <a:ext cx="2505814" cy="461665"/>
          </a:xfrm>
          <a:prstGeom prst="rect">
            <a:avLst/>
          </a:prstGeom>
          <a:noFill/>
        </p:spPr>
        <p:txBody>
          <a:bodyPr wrap="none" rtlCol="0">
            <a:spAutoFit/>
          </a:bodyPr>
          <a:lstStyle/>
          <a:p>
            <a:r>
              <a:rPr kumimoji="1" lang="en-US" altLang="ja-JP" sz="2400" dirty="0">
                <a:latin typeface="MS UI Gothic" panose="020B0600070205080204" pitchFamily="34" charset="-128"/>
                <a:ea typeface="MS UI Gothic" panose="020B0600070205080204" pitchFamily="34" charset="-128"/>
              </a:rPr>
              <a:t>【</a:t>
            </a:r>
            <a:r>
              <a:rPr kumimoji="1" lang="ja-JP" altLang="en-US" sz="2400">
                <a:latin typeface="MS UI Gothic" panose="020B0600070205080204" pitchFamily="34" charset="-128"/>
                <a:ea typeface="MS UI Gothic" panose="020B0600070205080204" pitchFamily="34" charset="-128"/>
              </a:rPr>
              <a:t>頻度質問</a:t>
            </a:r>
            <a:r>
              <a:rPr lang="ja-JP" altLang="en-US" sz="2400">
                <a:latin typeface="MS UI Gothic" panose="020B0600070205080204" pitchFamily="34" charset="-128"/>
                <a:ea typeface="MS UI Gothic" panose="020B0600070205080204" pitchFamily="34" charset="-128"/>
              </a:rPr>
              <a:t>トップ</a:t>
            </a:r>
            <a:r>
              <a:rPr lang="en-US" altLang="ja-JP" sz="2400" dirty="0">
                <a:latin typeface="MS UI Gothic" panose="020B0600070205080204" pitchFamily="34" charset="-128"/>
                <a:ea typeface="MS UI Gothic" panose="020B0600070205080204" pitchFamily="34" charset="-128"/>
              </a:rPr>
              <a:t>3】</a:t>
            </a:r>
            <a:endParaRPr kumimoji="1" lang="en-US" altLang="ja-JP" sz="2400" dirty="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433DE36E-4FE0-DADE-BD6B-6CE4FFAE14A3}"/>
              </a:ext>
            </a:extLst>
          </p:cNvPr>
          <p:cNvSpPr txBox="1"/>
          <p:nvPr/>
        </p:nvSpPr>
        <p:spPr>
          <a:xfrm>
            <a:off x="6547657" y="2764365"/>
            <a:ext cx="4567276"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① </a:t>
            </a:r>
            <a:r>
              <a:rPr lang="en-US" altLang="ja-JP" sz="2400" dirty="0" err="1">
                <a:latin typeface="MS UI Gothic" panose="020B0600070205080204" pitchFamily="34" charset="-128"/>
                <a:ea typeface="MS UI Gothic" panose="020B0600070205080204" pitchFamily="34" charset="-128"/>
              </a:rPr>
              <a:t>感度・特異度の計算方法</a:t>
            </a:r>
            <a:r>
              <a:rPr lang="en-US" altLang="ja-JP" sz="2400" dirty="0">
                <a:latin typeface="MS UI Gothic" panose="020B0600070205080204" pitchFamily="34" charset="-128"/>
                <a:ea typeface="MS UI Gothic" panose="020B0600070205080204" pitchFamily="34" charset="-128"/>
              </a:rPr>
              <a:t>(45件)</a:t>
            </a:r>
          </a:p>
        </p:txBody>
      </p:sp>
      <p:sp>
        <p:nvSpPr>
          <p:cNvPr id="18" name="テキスト ボックス 17">
            <a:extLst>
              <a:ext uri="{FF2B5EF4-FFF2-40B4-BE49-F238E27FC236}">
                <a16:creationId xmlns:a16="http://schemas.microsoft.com/office/drawing/2014/main" id="{A901A5A5-0CDD-08AB-1B14-F15AA03FC123}"/>
              </a:ext>
            </a:extLst>
          </p:cNvPr>
          <p:cNvSpPr txBox="1"/>
          <p:nvPr/>
        </p:nvSpPr>
        <p:spPr>
          <a:xfrm>
            <a:off x="6547657" y="3284874"/>
            <a:ext cx="3231975"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② </a:t>
            </a:r>
            <a:r>
              <a:rPr lang="en-US" altLang="ja-JP" sz="2400" dirty="0" err="1">
                <a:latin typeface="MS UI Gothic" panose="020B0600070205080204" pitchFamily="34" charset="-128"/>
                <a:ea typeface="MS UI Gothic" panose="020B0600070205080204" pitchFamily="34" charset="-128"/>
              </a:rPr>
              <a:t>オッズ比の解釈</a:t>
            </a:r>
            <a:r>
              <a:rPr lang="en-US" altLang="ja-JP" sz="2400" dirty="0">
                <a:latin typeface="MS UI Gothic" panose="020B0600070205080204" pitchFamily="34" charset="-128"/>
                <a:ea typeface="MS UI Gothic" panose="020B0600070205080204" pitchFamily="34" charset="-128"/>
              </a:rPr>
              <a:t>(38件)</a:t>
            </a:r>
          </a:p>
        </p:txBody>
      </p:sp>
      <p:sp>
        <p:nvSpPr>
          <p:cNvPr id="20" name="テキスト ボックス 19">
            <a:extLst>
              <a:ext uri="{FF2B5EF4-FFF2-40B4-BE49-F238E27FC236}">
                <a16:creationId xmlns:a16="http://schemas.microsoft.com/office/drawing/2014/main" id="{48845B0B-EC71-A7B1-45CB-66E79D43FA0C}"/>
              </a:ext>
            </a:extLst>
          </p:cNvPr>
          <p:cNvSpPr txBox="1"/>
          <p:nvPr/>
        </p:nvSpPr>
        <p:spPr>
          <a:xfrm>
            <a:off x="6547657" y="3864646"/>
            <a:ext cx="2719014" cy="461665"/>
          </a:xfrm>
          <a:prstGeom prst="rect">
            <a:avLst/>
          </a:prstGeom>
          <a:noFill/>
        </p:spPr>
        <p:txBody>
          <a:bodyPr wrap="none" rtlCol="0">
            <a:spAutoFit/>
          </a:bodyPr>
          <a:lstStyle/>
          <a:p>
            <a:r>
              <a:rPr lang="en-US" altLang="ja-JP" sz="2400" dirty="0">
                <a:latin typeface="MS UI Gothic" panose="020B0600070205080204" pitchFamily="34" charset="-128"/>
                <a:ea typeface="MS UI Gothic" panose="020B0600070205080204" pitchFamily="34" charset="-128"/>
              </a:rPr>
              <a:t>③ </a:t>
            </a:r>
            <a:r>
              <a:rPr lang="en-US" altLang="ja-JP" sz="2400" dirty="0" err="1">
                <a:latin typeface="MS UI Gothic" panose="020B0600070205080204" pitchFamily="34" charset="-128"/>
                <a:ea typeface="MS UI Gothic" panose="020B0600070205080204" pitchFamily="34" charset="-128"/>
              </a:rPr>
              <a:t>p値の意味</a:t>
            </a:r>
            <a:r>
              <a:rPr lang="en-US" altLang="ja-JP" sz="2400" dirty="0">
                <a:latin typeface="MS UI Gothic" panose="020B0600070205080204" pitchFamily="34" charset="-128"/>
                <a:ea typeface="MS UI Gothic" panose="020B0600070205080204" pitchFamily="34" charset="-128"/>
              </a:rPr>
              <a:t>(32件)</a:t>
            </a:r>
          </a:p>
        </p:txBody>
      </p:sp>
      <p:pic>
        <p:nvPicPr>
          <p:cNvPr id="9" name="図 8">
            <a:extLst>
              <a:ext uri="{FF2B5EF4-FFF2-40B4-BE49-F238E27FC236}">
                <a16:creationId xmlns:a16="http://schemas.microsoft.com/office/drawing/2014/main" id="{F667546B-7C7E-F6B4-5961-9B726FB65D69}"/>
              </a:ext>
            </a:extLst>
          </p:cNvPr>
          <p:cNvPicPr>
            <a:picLocks noChangeAspect="1"/>
          </p:cNvPicPr>
          <p:nvPr/>
        </p:nvPicPr>
        <p:blipFill>
          <a:blip r:embed="rId3"/>
          <a:stretch>
            <a:fillRect/>
          </a:stretch>
        </p:blipFill>
        <p:spPr>
          <a:xfrm>
            <a:off x="2209800" y="995438"/>
            <a:ext cx="7772400" cy="5246885"/>
          </a:xfrm>
          <a:prstGeom prst="rect">
            <a:avLst/>
          </a:prstGeom>
        </p:spPr>
      </p:pic>
    </p:spTree>
    <p:extLst>
      <p:ext uri="{BB962C8B-B14F-4D97-AF65-F5344CB8AC3E}">
        <p14:creationId xmlns:p14="http://schemas.microsoft.com/office/powerpoint/2010/main" val="406421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75CE-C1B6-47C1-0469-88154B458A97}"/>
            </a:ext>
          </a:extLst>
        </p:cNvPr>
        <p:cNvGrpSpPr/>
        <p:nvPr/>
      </p:nvGrpSpPr>
      <p:grpSpPr>
        <a:xfrm>
          <a:off x="0" y="0"/>
          <a:ext cx="0" cy="0"/>
          <a:chOff x="0" y="0"/>
          <a:chExt cx="0" cy="0"/>
        </a:xfrm>
      </p:grpSpPr>
      <p:sp>
        <p:nvSpPr>
          <p:cNvPr id="13" name="角丸四角形 12">
            <a:extLst>
              <a:ext uri="{FF2B5EF4-FFF2-40B4-BE49-F238E27FC236}">
                <a16:creationId xmlns:a16="http://schemas.microsoft.com/office/drawing/2014/main" id="{33D69A4E-C2C1-580D-30FF-9944ABD2FC39}"/>
              </a:ext>
            </a:extLst>
          </p:cNvPr>
          <p:cNvSpPr/>
          <p:nvPr/>
        </p:nvSpPr>
        <p:spPr>
          <a:xfrm>
            <a:off x="914400" y="1590705"/>
            <a:ext cx="9700952" cy="225392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a:solidFill>
                  <a:schemeClr val="tx1"/>
                </a:solidFill>
                <a:latin typeface="MS UI Gothic" panose="020B0600070205080204" pitchFamily="34" charset="-128"/>
                <a:ea typeface="MS UI Gothic" panose="020B0600070205080204" pitchFamily="34" charset="-128"/>
              </a:rPr>
              <a:t>・生成系</a:t>
            </a:r>
            <a:r>
              <a:rPr kumimoji="1" lang="en-US" altLang="ja-JP" sz="2800" dirty="0">
                <a:solidFill>
                  <a:schemeClr val="tx1"/>
                </a:solidFill>
                <a:latin typeface="MS UI Gothic" panose="020B0600070205080204" pitchFamily="34" charset="-128"/>
                <a:ea typeface="MS UI Gothic" panose="020B0600070205080204" pitchFamily="34" charset="-128"/>
              </a:rPr>
              <a:t>AI</a:t>
            </a:r>
            <a:r>
              <a:rPr kumimoji="1" lang="ja-JP" altLang="en-US" sz="2800">
                <a:solidFill>
                  <a:schemeClr val="tx1"/>
                </a:solidFill>
                <a:latin typeface="MS UI Gothic" panose="020B0600070205080204" pitchFamily="34" charset="-128"/>
                <a:ea typeface="MS UI Gothic" panose="020B0600070205080204" pitchFamily="34" charset="-128"/>
              </a:rPr>
              <a:t>を活用した学習支援ツールを開発し</a:t>
            </a:r>
            <a:endParaRPr kumimoji="1"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学生の「困った」に対応する。</a:t>
            </a:r>
            <a:endParaRPr lang="en-US" altLang="ja-JP" sz="2800" dirty="0">
              <a:solidFill>
                <a:schemeClr val="tx1"/>
              </a:solidFill>
              <a:latin typeface="MS UI Gothic" panose="020B0600070205080204" pitchFamily="34" charset="-128"/>
              <a:ea typeface="MS UI Gothic" panose="020B0600070205080204" pitchFamily="34" charset="-128"/>
            </a:endParaRPr>
          </a:p>
          <a:p>
            <a:endParaRPr lang="en-US" altLang="ja-JP" sz="9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a:t>
            </a:r>
            <a:r>
              <a:rPr lang="en-US" altLang="ja-JP" sz="2800" dirty="0">
                <a:solidFill>
                  <a:schemeClr val="tx1"/>
                </a:solidFill>
                <a:latin typeface="MS UI Gothic" panose="020B0600070205080204" pitchFamily="34" charset="-128"/>
                <a:ea typeface="MS UI Gothic" panose="020B0600070205080204" pitchFamily="34" charset="-128"/>
              </a:rPr>
              <a:t>AI</a:t>
            </a:r>
            <a:r>
              <a:rPr lang="ja-JP" altLang="en-US" sz="2800">
                <a:solidFill>
                  <a:schemeClr val="tx1"/>
                </a:solidFill>
                <a:latin typeface="MS UI Gothic" panose="020B0600070205080204" pitchFamily="34" charset="-128"/>
                <a:ea typeface="MS UI Gothic" panose="020B0600070205080204" pitchFamily="34" charset="-128"/>
              </a:rPr>
              <a:t>を用いた教育効果の実証実験を実施。</a:t>
            </a:r>
            <a:endParaRPr lang="en-US" altLang="ja-JP" sz="2800" dirty="0">
              <a:solidFill>
                <a:schemeClr val="tx1"/>
              </a:solidFill>
              <a:latin typeface="MS UI Gothic" panose="020B0600070205080204" pitchFamily="34" charset="-128"/>
              <a:ea typeface="MS UI Gothic" panose="020B0600070205080204" pitchFamily="34" charset="-128"/>
            </a:endParaRPr>
          </a:p>
          <a:p>
            <a:endParaRPr lang="en-US" altLang="ja-JP" sz="900" dirty="0">
              <a:solidFill>
                <a:schemeClr val="tx1"/>
              </a:solidFill>
              <a:latin typeface="MS UI Gothic" panose="020B0600070205080204" pitchFamily="34" charset="-128"/>
              <a:ea typeface="MS UI Gothic" panose="020B0600070205080204" pitchFamily="34" charset="-128"/>
            </a:endParaRPr>
          </a:p>
          <a:p>
            <a:r>
              <a:rPr kumimoji="1" lang="ja-JP" altLang="en-US" sz="2800">
                <a:solidFill>
                  <a:schemeClr val="tx1"/>
                </a:solidFill>
                <a:latin typeface="MS UI Gothic" panose="020B0600070205080204" pitchFamily="34" charset="-128"/>
                <a:ea typeface="MS UI Gothic" panose="020B0600070205080204" pitchFamily="34" charset="-128"/>
              </a:rPr>
              <a:t>・学生・教員双方の価値を産み出す</a:t>
            </a:r>
          </a:p>
        </p:txBody>
      </p:sp>
      <p:sp>
        <p:nvSpPr>
          <p:cNvPr id="15" name="テキスト ボックス 14">
            <a:extLst>
              <a:ext uri="{FF2B5EF4-FFF2-40B4-BE49-F238E27FC236}">
                <a16:creationId xmlns:a16="http://schemas.microsoft.com/office/drawing/2014/main" id="{4103750D-0BC3-175F-E061-B644B63BE5F2}"/>
              </a:ext>
            </a:extLst>
          </p:cNvPr>
          <p:cNvSpPr txBox="1"/>
          <p:nvPr/>
        </p:nvSpPr>
        <p:spPr>
          <a:xfrm>
            <a:off x="540659" y="359230"/>
            <a:ext cx="145264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ま　と　め</a:t>
            </a:r>
          </a:p>
        </p:txBody>
      </p:sp>
      <p:sp>
        <p:nvSpPr>
          <p:cNvPr id="16" name="テキスト ボックス 15">
            <a:extLst>
              <a:ext uri="{FF2B5EF4-FFF2-40B4-BE49-F238E27FC236}">
                <a16:creationId xmlns:a16="http://schemas.microsoft.com/office/drawing/2014/main" id="{3582CB19-AD4B-0414-4135-2C115C821C37}"/>
              </a:ext>
            </a:extLst>
          </p:cNvPr>
          <p:cNvSpPr txBox="1"/>
          <p:nvPr/>
        </p:nvSpPr>
        <p:spPr>
          <a:xfrm>
            <a:off x="540659" y="968827"/>
            <a:ext cx="297870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a:t>
            </a:r>
            <a:r>
              <a:rPr lang="ja-JP" altLang="en-US" sz="3200">
                <a:latin typeface="MS UI Gothic" panose="020B0600070205080204" pitchFamily="34" charset="-128"/>
                <a:ea typeface="MS UI Gothic" panose="020B0600070205080204" pitchFamily="34" charset="-128"/>
              </a:rPr>
              <a:t>のポイント</a:t>
            </a:r>
            <a:endParaRPr kumimoji="1" lang="ja-JP" altLang="en-US" sz="3200">
              <a:latin typeface="MS UI Gothic" panose="020B0600070205080204" pitchFamily="34" charset="-128"/>
              <a:ea typeface="MS UI Gothic" panose="020B0600070205080204" pitchFamily="34" charset="-128"/>
            </a:endParaRPr>
          </a:p>
        </p:txBody>
      </p:sp>
      <p:sp>
        <p:nvSpPr>
          <p:cNvPr id="17" name="テキスト ボックス 16">
            <a:extLst>
              <a:ext uri="{FF2B5EF4-FFF2-40B4-BE49-F238E27FC236}">
                <a16:creationId xmlns:a16="http://schemas.microsoft.com/office/drawing/2014/main" id="{AEDFC3EC-E0E2-873C-9E4F-664EEBE4D1AA}"/>
              </a:ext>
            </a:extLst>
          </p:cNvPr>
          <p:cNvSpPr txBox="1"/>
          <p:nvPr/>
        </p:nvSpPr>
        <p:spPr>
          <a:xfrm>
            <a:off x="540658" y="3881735"/>
            <a:ext cx="182614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💡独創性</a:t>
            </a:r>
          </a:p>
        </p:txBody>
      </p:sp>
      <p:sp>
        <p:nvSpPr>
          <p:cNvPr id="18" name="角丸四角形 17">
            <a:extLst>
              <a:ext uri="{FF2B5EF4-FFF2-40B4-BE49-F238E27FC236}">
                <a16:creationId xmlns:a16="http://schemas.microsoft.com/office/drawing/2014/main" id="{C4BE5536-678F-6668-DFC3-0590E5A73EC2}"/>
              </a:ext>
            </a:extLst>
          </p:cNvPr>
          <p:cNvSpPr/>
          <p:nvPr/>
        </p:nvSpPr>
        <p:spPr>
          <a:xfrm>
            <a:off x="914400" y="4503612"/>
            <a:ext cx="9700952" cy="225392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800">
                <a:solidFill>
                  <a:srgbClr val="000000"/>
                </a:solidFill>
                <a:latin typeface="MS UI Gothic" panose="020B0600070205080204" pitchFamily="34" charset="-128"/>
                <a:ea typeface="MS UI Gothic" panose="020B0600070205080204" pitchFamily="34" charset="-128"/>
                <a:cs typeface="Yu Gothic" pitchFamily="34" charset="-120"/>
              </a:rPr>
              <a:t>・</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24時間リアルタイム対応 - 疑問を放置しない環境</a:t>
            </a:r>
          </a:p>
          <a:p>
            <a:endParaRPr lang="en-US" altLang="ja-JP" sz="900" dirty="0">
              <a:solidFill>
                <a:srgbClr val="000000"/>
              </a:solidFill>
              <a:latin typeface="MS UI Gothic" panose="020B0600070205080204" pitchFamily="34" charset="-128"/>
              <a:ea typeface="MS UI Gothic" panose="020B0600070205080204" pitchFamily="34" charset="-128"/>
              <a:cs typeface="Yu Gothic" pitchFamily="34" charset="-120"/>
            </a:endParaRPr>
          </a:p>
          <a:p>
            <a:r>
              <a:rPr kumimoji="1" lang="ja-JP" altLang="en-US" sz="2800">
                <a:solidFill>
                  <a:srgbClr val="000000"/>
                </a:solidFill>
                <a:latin typeface="MS UI Gothic" panose="020B0600070205080204" pitchFamily="34" charset="-128"/>
                <a:ea typeface="MS UI Gothic" panose="020B0600070205080204" pitchFamily="34" charset="-128"/>
              </a:rPr>
              <a:t>・</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 つまずきの地図 - 質問データの定量分析・可視化</a:t>
            </a:r>
          </a:p>
          <a:p>
            <a:endParaRPr kumimoji="1" lang="en-US" altLang="ja-JP" sz="900" dirty="0">
              <a:solidFill>
                <a:srgbClr val="000000"/>
              </a:solidFill>
              <a:latin typeface="MS UI Gothic" panose="020B0600070205080204" pitchFamily="34" charset="-128"/>
              <a:ea typeface="MS UI Gothic" panose="020B0600070205080204" pitchFamily="34" charset="-128"/>
            </a:endParaRPr>
          </a:p>
          <a:p>
            <a:r>
              <a:rPr kumimoji="1" lang="ja-JP" altLang="en-US" sz="2800">
                <a:solidFill>
                  <a:srgbClr val="000000"/>
                </a:solidFill>
                <a:latin typeface="MS UI Gothic" panose="020B0600070205080204" pitchFamily="34" charset="-128"/>
                <a:ea typeface="MS UI Gothic" panose="020B0600070205080204" pitchFamily="34" charset="-128"/>
              </a:rPr>
              <a:t>・</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 </a:t>
            </a:r>
            <a:r>
              <a:rPr lang="en-US" altLang="ja-JP" sz="2800" dirty="0" err="1">
                <a:solidFill>
                  <a:srgbClr val="000000"/>
                </a:solidFill>
                <a:latin typeface="MS UI Gothic" panose="020B0600070205080204" pitchFamily="34" charset="-128"/>
                <a:ea typeface="MS UI Gothic" panose="020B0600070205080204" pitchFamily="34" charset="-128"/>
                <a:cs typeface="Yu Gothic" pitchFamily="34" charset="-120"/>
              </a:rPr>
              <a:t>客観的教育効果検証</a:t>
            </a:r>
            <a:r>
              <a:rPr lang="en-US" altLang="ja-JP" sz="2800" dirty="0">
                <a:solidFill>
                  <a:srgbClr val="000000"/>
                </a:solidFill>
                <a:latin typeface="MS UI Gothic" panose="020B0600070205080204" pitchFamily="34" charset="-128"/>
                <a:ea typeface="MS UI Gothic" panose="020B0600070205080204" pitchFamily="34" charset="-128"/>
                <a:cs typeface="Yu Gothic" pitchFamily="34" charset="-120"/>
              </a:rPr>
              <a:t> – </a:t>
            </a:r>
            <a:r>
              <a:rPr lang="en-US" altLang="ja-JP" sz="2800" dirty="0" err="1">
                <a:solidFill>
                  <a:srgbClr val="000000"/>
                </a:solidFill>
                <a:latin typeface="MS UI Gothic" panose="020B0600070205080204" pitchFamily="34" charset="-128"/>
                <a:ea typeface="MS UI Gothic" panose="020B0600070205080204" pitchFamily="34" charset="-128"/>
                <a:cs typeface="Yu Gothic" pitchFamily="34" charset="-120"/>
              </a:rPr>
              <a:t>過去の成績データの活用</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19" name="角丸四角形 18">
            <a:extLst>
              <a:ext uri="{FF2B5EF4-FFF2-40B4-BE49-F238E27FC236}">
                <a16:creationId xmlns:a16="http://schemas.microsoft.com/office/drawing/2014/main" id="{4502B39C-1C9C-4329-1B75-41F90C353BA1}"/>
              </a:ext>
            </a:extLst>
          </p:cNvPr>
          <p:cNvSpPr/>
          <p:nvPr/>
        </p:nvSpPr>
        <p:spPr>
          <a:xfrm>
            <a:off x="1576648" y="1590104"/>
            <a:ext cx="9038704" cy="3392908"/>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人間</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による「教える」と</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AI </a:t>
            </a:r>
            <a:r>
              <a:rPr lang="ja-JP" altLang="en-US" sz="360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rPr>
              <a:t>による「支える」</a:t>
            </a:r>
            <a:endParaRPr lang="en-US" altLang="ja-JP" sz="3600" dirty="0">
              <a:solidFill>
                <a:schemeClr val="tx1"/>
              </a:solidFill>
              <a:highlight>
                <a:srgbClr val="00FF00"/>
              </a:highlight>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→「融合」</a:t>
            </a:r>
            <a:endPar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a:t>
            </a:r>
            <a:endPar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魔法の黒板</a:t>
            </a:r>
            <a:r>
              <a:rPr lang="ja-JP" altLang="en-US" sz="3600">
                <a:solidFill>
                  <a:srgbClr val="FFFF00"/>
                </a:solidFill>
                <a:latin typeface="MS UI Gothic" panose="020B0600070205080204" pitchFamily="34" charset="-128"/>
                <a:ea typeface="MS UI Gothic" panose="020B0600070205080204" pitchFamily="34" charset="-128"/>
                <a:cs typeface="Yu Gothic" pitchFamily="34" charset="-120"/>
              </a:rPr>
              <a:t>」の導入は</a:t>
            </a:r>
            <a:r>
              <a:rPr lang="en-US" altLang="ja-JP" sz="3600" dirty="0">
                <a:solidFill>
                  <a:srgbClr val="FFFF00"/>
                </a:solidFill>
                <a:latin typeface="MS UI Gothic" panose="020B0600070205080204" pitchFamily="34" charset="-128"/>
                <a:ea typeface="MS UI Gothic" panose="020B0600070205080204" pitchFamily="34" charset="-128"/>
                <a:cs typeface="Yu Gothic" pitchFamily="34" charset="-120"/>
              </a:rPr>
              <a:t>、学びの未来を変える</a:t>
            </a:r>
            <a:endParaRPr kumimoji="1" lang="ja-JP" altLang="en-US" sz="3600">
              <a:solidFill>
                <a:srgbClr val="FFFF00"/>
              </a:solidFill>
            </a:endParaRPr>
          </a:p>
        </p:txBody>
      </p:sp>
    </p:spTree>
    <p:extLst>
      <p:ext uri="{BB962C8B-B14F-4D97-AF65-F5344CB8AC3E}">
        <p14:creationId xmlns:p14="http://schemas.microsoft.com/office/powerpoint/2010/main" val="1859526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1A1E-D483-DBCA-52E9-562DE3519F8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5E31423A-1841-BCC6-4606-6A4166AEA5D6}"/>
              </a:ext>
            </a:extLst>
          </p:cNvPr>
          <p:cNvSpPr/>
          <p:nvPr/>
        </p:nvSpPr>
        <p:spPr>
          <a:xfrm>
            <a:off x="609600" y="1950720"/>
            <a:ext cx="5364480" cy="1706880"/>
          </a:xfrm>
          <a:prstGeom prst="rect">
            <a:avLst/>
          </a:prstGeom>
          <a:solidFill>
            <a:srgbClr val="FFFFFF"/>
          </a:solidFill>
          <a:ln/>
        </p:spPr>
        <p:txBody>
          <a:bodyPr/>
          <a:lstStyle/>
          <a:p>
            <a:endParaRPr lang="ja-JP" altLang="en-US" sz="2400"/>
          </a:p>
        </p:txBody>
      </p:sp>
      <p:sp>
        <p:nvSpPr>
          <p:cNvPr id="5" name="Text 3">
            <a:extLst>
              <a:ext uri="{FF2B5EF4-FFF2-40B4-BE49-F238E27FC236}">
                <a16:creationId xmlns:a16="http://schemas.microsoft.com/office/drawing/2014/main" id="{E42AD4EC-E192-90FC-88A9-EA5ED890903F}"/>
              </a:ext>
            </a:extLst>
          </p:cNvPr>
          <p:cNvSpPr/>
          <p:nvPr/>
        </p:nvSpPr>
        <p:spPr>
          <a:xfrm>
            <a:off x="853440" y="213360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4-5月:研究基盤の整理</a:t>
            </a:r>
            <a:endParaRPr lang="en-US" sz="2400" dirty="0">
              <a:latin typeface="MS UI Gothic" panose="020B0600070205080204" pitchFamily="34" charset="-128"/>
              <a:ea typeface="MS UI Gothic" panose="020B0600070205080204" pitchFamily="34" charset="-128"/>
            </a:endParaRPr>
          </a:p>
        </p:txBody>
      </p:sp>
      <p:sp>
        <p:nvSpPr>
          <p:cNvPr id="6" name="Text 4">
            <a:extLst>
              <a:ext uri="{FF2B5EF4-FFF2-40B4-BE49-F238E27FC236}">
                <a16:creationId xmlns:a16="http://schemas.microsoft.com/office/drawing/2014/main" id="{90169E1E-9F9D-18DB-B566-7525D93F9FA0}"/>
              </a:ext>
            </a:extLst>
          </p:cNvPr>
          <p:cNvSpPr/>
          <p:nvPr/>
        </p:nvSpPr>
        <p:spPr>
          <a:xfrm>
            <a:off x="853440" y="2560320"/>
            <a:ext cx="4876800" cy="85344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システムの研究用途への整備</a:t>
            </a:r>
            <a:endParaRPr lang="en-US" dirty="0">
              <a:latin typeface="MS UI Gothic" panose="020B0600070205080204" pitchFamily="34" charset="-128"/>
              <a:ea typeface="MS UI Gothic" panose="020B0600070205080204" pitchFamily="34" charset="-128"/>
            </a:endParaRP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倫理審査申請・承認取得</a:t>
            </a:r>
            <a:endParaRPr lang="en-US" dirty="0">
              <a:latin typeface="MS UI Gothic" panose="020B0600070205080204" pitchFamily="34" charset="-128"/>
              <a:ea typeface="MS UI Gothic" panose="020B0600070205080204" pitchFamily="34" charset="-128"/>
            </a:endParaRPr>
          </a:p>
          <a:p>
            <a:pPr>
              <a:buSzPct val="100000"/>
            </a:pPr>
            <a:endParaRPr lang="en-US" sz="900"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倫理承認、安定稼働の確認</a:t>
            </a:r>
            <a:endParaRPr lang="en-US" b="1" dirty="0">
              <a:latin typeface="MS UI Gothic" panose="020B0600070205080204" pitchFamily="34" charset="-128"/>
              <a:ea typeface="MS UI Gothic" panose="020B0600070205080204" pitchFamily="34" charset="-128"/>
            </a:endParaRPr>
          </a:p>
        </p:txBody>
      </p:sp>
      <p:sp>
        <p:nvSpPr>
          <p:cNvPr id="7" name="Shape 5">
            <a:extLst>
              <a:ext uri="{FF2B5EF4-FFF2-40B4-BE49-F238E27FC236}">
                <a16:creationId xmlns:a16="http://schemas.microsoft.com/office/drawing/2014/main" id="{6D855FF3-4420-A2DB-46C5-B5944D2AB4FA}"/>
              </a:ext>
            </a:extLst>
          </p:cNvPr>
          <p:cNvSpPr/>
          <p:nvPr/>
        </p:nvSpPr>
        <p:spPr>
          <a:xfrm>
            <a:off x="6217920" y="1950720"/>
            <a:ext cx="5364480" cy="1706880"/>
          </a:xfrm>
          <a:prstGeom prst="rect">
            <a:avLst/>
          </a:prstGeom>
          <a:solidFill>
            <a:srgbClr val="FFFFFF"/>
          </a:solidFill>
          <a:ln/>
        </p:spPr>
        <p:txBody>
          <a:bodyPr/>
          <a:lstStyle/>
          <a:p>
            <a:endParaRPr lang="ja-JP" altLang="en-US" sz="2400"/>
          </a:p>
        </p:txBody>
      </p:sp>
      <p:sp>
        <p:nvSpPr>
          <p:cNvPr id="8" name="Text 6">
            <a:extLst>
              <a:ext uri="{FF2B5EF4-FFF2-40B4-BE49-F238E27FC236}">
                <a16:creationId xmlns:a16="http://schemas.microsoft.com/office/drawing/2014/main" id="{8E0A3F5F-E2D0-B0DF-680A-39766B2A812D}"/>
              </a:ext>
            </a:extLst>
          </p:cNvPr>
          <p:cNvSpPr/>
          <p:nvPr/>
        </p:nvSpPr>
        <p:spPr>
          <a:xfrm>
            <a:off x="6461760" y="213360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6-8月:機能改善・運用検証</a:t>
            </a:r>
            <a:endParaRPr lang="en-US" sz="2400" dirty="0">
              <a:latin typeface="MS UI Gothic" panose="020B0600070205080204" pitchFamily="34" charset="-128"/>
              <a:ea typeface="MS UI Gothic" panose="020B0600070205080204" pitchFamily="34" charset="-128"/>
            </a:endParaRPr>
          </a:p>
        </p:txBody>
      </p:sp>
      <p:sp>
        <p:nvSpPr>
          <p:cNvPr id="9" name="Text 7">
            <a:extLst>
              <a:ext uri="{FF2B5EF4-FFF2-40B4-BE49-F238E27FC236}">
                <a16:creationId xmlns:a16="http://schemas.microsoft.com/office/drawing/2014/main" id="{A055CE3C-8C16-9A62-5D19-5FAEBDA92992}"/>
              </a:ext>
            </a:extLst>
          </p:cNvPr>
          <p:cNvSpPr/>
          <p:nvPr/>
        </p:nvSpPr>
        <p:spPr>
          <a:xfrm>
            <a:off x="6461760" y="2560320"/>
            <a:ext cx="4876800" cy="85344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履修済み学生での動作検証</a:t>
            </a:r>
            <a:endParaRPr lang="en-US" dirty="0">
              <a:latin typeface="MS UI Gothic" panose="020B0600070205080204" pitchFamily="34" charset="-128"/>
              <a:ea typeface="MS UI Gothic" panose="020B0600070205080204" pitchFamily="34" charset="-128"/>
            </a:endParaRP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つまずき分類・可視化機能実装</a:t>
            </a:r>
            <a:endParaRPr lang="en-US" dirty="0">
              <a:latin typeface="MS UI Gothic" panose="020B0600070205080204" pitchFamily="34" charset="-128"/>
              <a:ea typeface="MS UI Gothic" panose="020B0600070205080204" pitchFamily="34" charset="-128"/>
            </a:endParaRPr>
          </a:p>
          <a:p>
            <a:pPr>
              <a:buSzPct val="100000"/>
            </a:pPr>
            <a:endParaRPr lang="en-US" sz="900"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研究データ取得可能性確認</a:t>
            </a:r>
            <a:endParaRPr lang="en-US" b="1" dirty="0">
              <a:latin typeface="MS UI Gothic" panose="020B0600070205080204" pitchFamily="34" charset="-128"/>
              <a:ea typeface="MS UI Gothic" panose="020B0600070205080204" pitchFamily="34" charset="-128"/>
            </a:endParaRPr>
          </a:p>
        </p:txBody>
      </p:sp>
      <p:sp>
        <p:nvSpPr>
          <p:cNvPr id="10" name="Shape 8">
            <a:extLst>
              <a:ext uri="{FF2B5EF4-FFF2-40B4-BE49-F238E27FC236}">
                <a16:creationId xmlns:a16="http://schemas.microsoft.com/office/drawing/2014/main" id="{B59C7329-3BF3-86F7-44E5-1A675FE7514E}"/>
              </a:ext>
            </a:extLst>
          </p:cNvPr>
          <p:cNvSpPr/>
          <p:nvPr/>
        </p:nvSpPr>
        <p:spPr>
          <a:xfrm>
            <a:off x="609600" y="3901440"/>
            <a:ext cx="5364480" cy="1584960"/>
          </a:xfrm>
          <a:prstGeom prst="rect">
            <a:avLst/>
          </a:prstGeom>
          <a:solidFill>
            <a:srgbClr val="FFFFFF"/>
          </a:solidFill>
          <a:ln/>
        </p:spPr>
        <p:txBody>
          <a:bodyPr/>
          <a:lstStyle/>
          <a:p>
            <a:endParaRPr lang="ja-JP" altLang="en-US" sz="2400"/>
          </a:p>
        </p:txBody>
      </p:sp>
      <p:sp>
        <p:nvSpPr>
          <p:cNvPr id="11" name="Text 9">
            <a:extLst>
              <a:ext uri="{FF2B5EF4-FFF2-40B4-BE49-F238E27FC236}">
                <a16:creationId xmlns:a16="http://schemas.microsoft.com/office/drawing/2014/main" id="{F04C4BBF-C5C9-1A03-33C2-9EF118ABB1BB}"/>
              </a:ext>
            </a:extLst>
          </p:cNvPr>
          <p:cNvSpPr/>
          <p:nvPr/>
        </p:nvSpPr>
        <p:spPr>
          <a:xfrm>
            <a:off x="853440" y="408432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9月:プレ実証実験</a:t>
            </a:r>
            <a:endParaRPr lang="en-US" sz="2400" dirty="0">
              <a:latin typeface="MS UI Gothic" panose="020B0600070205080204" pitchFamily="34" charset="-128"/>
              <a:ea typeface="MS UI Gothic" panose="020B0600070205080204" pitchFamily="34" charset="-128"/>
            </a:endParaRPr>
          </a:p>
        </p:txBody>
      </p:sp>
      <p:sp>
        <p:nvSpPr>
          <p:cNvPr id="12" name="Text 10">
            <a:extLst>
              <a:ext uri="{FF2B5EF4-FFF2-40B4-BE49-F238E27FC236}">
                <a16:creationId xmlns:a16="http://schemas.microsoft.com/office/drawing/2014/main" id="{1693C550-C701-8CAA-32CD-B857B592471A}"/>
              </a:ext>
            </a:extLst>
          </p:cNvPr>
          <p:cNvSpPr/>
          <p:nvPr/>
        </p:nvSpPr>
        <p:spPr>
          <a:xfrm>
            <a:off x="853440" y="4511040"/>
            <a:ext cx="4876800" cy="79248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・3年生約30名での試行導入</a:t>
            </a: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システム安定性・回答適切性検証</a:t>
            </a:r>
            <a:endParaRPr lang="en-US" dirty="0">
              <a:latin typeface="MS UI Gothic" panose="020B0600070205080204" pitchFamily="34" charset="-128"/>
              <a:ea typeface="MS UI Gothic" panose="020B0600070205080204" pitchFamily="34" charset="-128"/>
            </a:endParaRPr>
          </a:p>
          <a:p>
            <a:endParaRPr lang="en-US" sz="900" i="1"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本実証に向けた課題改善</a:t>
            </a:r>
            <a:endParaRPr lang="en-US" b="1" dirty="0">
              <a:latin typeface="MS UI Gothic" panose="020B0600070205080204" pitchFamily="34" charset="-128"/>
              <a:ea typeface="MS UI Gothic" panose="020B0600070205080204" pitchFamily="34" charset="-128"/>
            </a:endParaRPr>
          </a:p>
        </p:txBody>
      </p:sp>
      <p:sp>
        <p:nvSpPr>
          <p:cNvPr id="13" name="Shape 11">
            <a:extLst>
              <a:ext uri="{FF2B5EF4-FFF2-40B4-BE49-F238E27FC236}">
                <a16:creationId xmlns:a16="http://schemas.microsoft.com/office/drawing/2014/main" id="{2EAB3C72-D357-DEE8-2337-96F01C2B7C93}"/>
              </a:ext>
            </a:extLst>
          </p:cNvPr>
          <p:cNvSpPr/>
          <p:nvPr/>
        </p:nvSpPr>
        <p:spPr>
          <a:xfrm>
            <a:off x="6217920" y="3901440"/>
            <a:ext cx="5364480" cy="1584960"/>
          </a:xfrm>
          <a:prstGeom prst="rect">
            <a:avLst/>
          </a:prstGeom>
          <a:solidFill>
            <a:srgbClr val="FFFFFF"/>
          </a:solidFill>
          <a:ln/>
        </p:spPr>
        <p:txBody>
          <a:bodyPr/>
          <a:lstStyle/>
          <a:p>
            <a:endParaRPr lang="ja-JP" altLang="en-US" sz="2400"/>
          </a:p>
        </p:txBody>
      </p:sp>
      <p:sp>
        <p:nvSpPr>
          <p:cNvPr id="14" name="Text 12">
            <a:extLst>
              <a:ext uri="{FF2B5EF4-FFF2-40B4-BE49-F238E27FC236}">
                <a16:creationId xmlns:a16="http://schemas.microsoft.com/office/drawing/2014/main" id="{B5AC9FFB-46D6-2A4D-D3D3-0591BD2CC5CD}"/>
              </a:ext>
            </a:extLst>
          </p:cNvPr>
          <p:cNvSpPr/>
          <p:nvPr/>
        </p:nvSpPr>
        <p:spPr>
          <a:xfrm>
            <a:off x="6461760" y="4084320"/>
            <a:ext cx="4876800" cy="365760"/>
          </a:xfrm>
          <a:prstGeom prst="rect">
            <a:avLst/>
          </a:prstGeom>
          <a:noFill/>
          <a:ln/>
        </p:spPr>
        <p:txBody>
          <a:bodyPr wrap="square" rtlCol="0" anchor="ctr"/>
          <a:lstStyle/>
          <a:p>
            <a:r>
              <a:rPr lang="en-US" sz="2400" b="1" dirty="0">
                <a:latin typeface="MS UI Gothic" panose="020B0600070205080204" pitchFamily="34" charset="-128"/>
                <a:ea typeface="MS UI Gothic" panose="020B0600070205080204" pitchFamily="34" charset="-128"/>
              </a:rPr>
              <a:t>📅 10-12月:本実証実験</a:t>
            </a:r>
            <a:endParaRPr lang="en-US" sz="2400" dirty="0">
              <a:latin typeface="MS UI Gothic" panose="020B0600070205080204" pitchFamily="34" charset="-128"/>
              <a:ea typeface="MS UI Gothic" panose="020B0600070205080204" pitchFamily="34" charset="-128"/>
            </a:endParaRPr>
          </a:p>
        </p:txBody>
      </p:sp>
      <p:sp>
        <p:nvSpPr>
          <p:cNvPr id="15" name="Text 13">
            <a:extLst>
              <a:ext uri="{FF2B5EF4-FFF2-40B4-BE49-F238E27FC236}">
                <a16:creationId xmlns:a16="http://schemas.microsoft.com/office/drawing/2014/main" id="{10F951E8-7758-875E-04DB-D0C4A1ED4331}"/>
              </a:ext>
            </a:extLst>
          </p:cNvPr>
          <p:cNvSpPr/>
          <p:nvPr/>
        </p:nvSpPr>
        <p:spPr>
          <a:xfrm>
            <a:off x="6461760" y="4511040"/>
            <a:ext cx="4876800" cy="792480"/>
          </a:xfrm>
          <a:prstGeom prst="rect">
            <a:avLst/>
          </a:prstGeom>
          <a:noFill/>
          <a:ln/>
        </p:spPr>
        <p:txBody>
          <a:bodyPr wrap="square" rtlCol="0" anchor="ctr"/>
          <a:lstStyle/>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・3年生全体(約250名)での本格導入</a:t>
            </a:r>
          </a:p>
          <a:p>
            <a:pPr>
              <a:buSzPct val="100000"/>
            </a:pPr>
            <a:r>
              <a:rPr lang="ja-JP" altLang="en-US">
                <a:latin typeface="MS UI Gothic" panose="020B0600070205080204" pitchFamily="34" charset="-128"/>
                <a:ea typeface="MS UI Gothic" panose="020B0600070205080204" pitchFamily="34" charset="-128"/>
              </a:rPr>
              <a:t>　　　</a:t>
            </a:r>
            <a:r>
              <a:rPr lang="en-US" dirty="0">
                <a:latin typeface="MS UI Gothic" panose="020B0600070205080204" pitchFamily="34" charset="-128"/>
                <a:ea typeface="MS UI Gothic" panose="020B0600070205080204" pitchFamily="34" charset="-128"/>
              </a:rPr>
              <a:t>・</a:t>
            </a:r>
            <a:r>
              <a:rPr lang="en-US" dirty="0" err="1">
                <a:latin typeface="MS UI Gothic" panose="020B0600070205080204" pitchFamily="34" charset="-128"/>
                <a:ea typeface="MS UI Gothic" panose="020B0600070205080204" pitchFamily="34" charset="-128"/>
              </a:rPr>
              <a:t>学習ログ・試験成績データ収集</a:t>
            </a:r>
            <a:endParaRPr lang="en-US" dirty="0">
              <a:latin typeface="MS UI Gothic" panose="020B0600070205080204" pitchFamily="34" charset="-128"/>
              <a:ea typeface="MS UI Gothic" panose="020B0600070205080204" pitchFamily="34" charset="-128"/>
            </a:endParaRPr>
          </a:p>
          <a:p>
            <a:pPr>
              <a:buSzPct val="100000"/>
            </a:pPr>
            <a:endParaRPr lang="en-US" sz="900" dirty="0">
              <a:latin typeface="MS UI Gothic" panose="020B0600070205080204" pitchFamily="34" charset="-128"/>
              <a:ea typeface="MS UI Gothic" panose="020B0600070205080204" pitchFamily="34" charset="-128"/>
            </a:endParaRPr>
          </a:p>
          <a:p>
            <a:pPr algn="ctr"/>
            <a:r>
              <a:rPr lang="en-US" b="1" dirty="0">
                <a:latin typeface="MS UI Gothic" panose="020B0600070205080204" pitchFamily="34" charset="-128"/>
                <a:ea typeface="MS UI Gothic" panose="020B0600070205080204" pitchFamily="34" charset="-128"/>
              </a:rPr>
              <a:t>到達目標: </a:t>
            </a:r>
            <a:r>
              <a:rPr lang="en-US" b="1" dirty="0" err="1">
                <a:latin typeface="MS UI Gothic" panose="020B0600070205080204" pitchFamily="34" charset="-128"/>
                <a:ea typeface="MS UI Gothic" panose="020B0600070205080204" pitchFamily="34" charset="-128"/>
              </a:rPr>
              <a:t>学習成果との関連性解明</a:t>
            </a:r>
            <a:endParaRPr lang="en-US" b="1" dirty="0">
              <a:latin typeface="MS UI Gothic" panose="020B0600070205080204" pitchFamily="34" charset="-128"/>
              <a:ea typeface="MS UI Gothic" panose="020B0600070205080204" pitchFamily="34" charset="-128"/>
            </a:endParaRPr>
          </a:p>
        </p:txBody>
      </p:sp>
      <p:sp>
        <p:nvSpPr>
          <p:cNvPr id="16" name="Shape 14">
            <a:extLst>
              <a:ext uri="{FF2B5EF4-FFF2-40B4-BE49-F238E27FC236}">
                <a16:creationId xmlns:a16="http://schemas.microsoft.com/office/drawing/2014/main" id="{86CCC07D-B713-7B98-C581-9216F9BA8CD8}"/>
              </a:ext>
            </a:extLst>
          </p:cNvPr>
          <p:cNvSpPr/>
          <p:nvPr/>
        </p:nvSpPr>
        <p:spPr>
          <a:xfrm>
            <a:off x="609600" y="5730240"/>
            <a:ext cx="10972800" cy="853440"/>
          </a:xfrm>
          <a:prstGeom prst="rect">
            <a:avLst/>
          </a:prstGeom>
          <a:solidFill>
            <a:schemeClr val="accent3">
              <a:lumMod val="20000"/>
              <a:lumOff val="80000"/>
            </a:schemeClr>
          </a:solidFill>
          <a:ln/>
        </p:spPr>
        <p:txBody>
          <a:bodyPr/>
          <a:lstStyle/>
          <a:p>
            <a:endParaRPr lang="ja-JP" altLang="en-US" sz="2400"/>
          </a:p>
        </p:txBody>
      </p:sp>
      <p:sp>
        <p:nvSpPr>
          <p:cNvPr id="17" name="Text 15">
            <a:extLst>
              <a:ext uri="{FF2B5EF4-FFF2-40B4-BE49-F238E27FC236}">
                <a16:creationId xmlns:a16="http://schemas.microsoft.com/office/drawing/2014/main" id="{86E86E49-418B-3E5E-83E3-47FB117CC438}"/>
              </a:ext>
            </a:extLst>
          </p:cNvPr>
          <p:cNvSpPr/>
          <p:nvPr/>
        </p:nvSpPr>
        <p:spPr>
          <a:xfrm>
            <a:off x="853440" y="5913120"/>
            <a:ext cx="10485120" cy="365760"/>
          </a:xfrm>
          <a:prstGeom prst="rect">
            <a:avLst/>
          </a:prstGeom>
          <a:noFill/>
          <a:ln/>
        </p:spPr>
        <p:txBody>
          <a:bodyPr wrap="square" rtlCol="0" anchor="ctr"/>
          <a:lstStyle/>
          <a:p>
            <a:r>
              <a:rPr lang="en-US" sz="2133" b="1" dirty="0"/>
              <a:t>📅 1月以降:分析・成果公表</a:t>
            </a:r>
            <a:endParaRPr lang="en-US" sz="2133" dirty="0"/>
          </a:p>
        </p:txBody>
      </p:sp>
      <p:sp>
        <p:nvSpPr>
          <p:cNvPr id="18" name="Text 16">
            <a:extLst>
              <a:ext uri="{FF2B5EF4-FFF2-40B4-BE49-F238E27FC236}">
                <a16:creationId xmlns:a16="http://schemas.microsoft.com/office/drawing/2014/main" id="{34CC4D1C-4C38-9E5D-7C2E-31C80184A4CB}"/>
              </a:ext>
            </a:extLst>
          </p:cNvPr>
          <p:cNvSpPr/>
          <p:nvPr/>
        </p:nvSpPr>
        <p:spPr>
          <a:xfrm>
            <a:off x="853440" y="6278880"/>
            <a:ext cx="10485120" cy="243840"/>
          </a:xfrm>
          <a:prstGeom prst="rect">
            <a:avLst/>
          </a:prstGeom>
          <a:noFill/>
          <a:ln/>
        </p:spPr>
        <p:txBody>
          <a:bodyPr wrap="square" rtlCol="0" anchor="ctr"/>
          <a:lstStyle/>
          <a:p>
            <a:r>
              <a:rPr lang="ja-JP" altLang="en-US">
                <a:latin typeface="MS UI Gothic" panose="020B0600070205080204" pitchFamily="34" charset="-128"/>
                <a:ea typeface="MS UI Gothic" panose="020B0600070205080204" pitchFamily="34" charset="-128"/>
              </a:rPr>
              <a:t>　　　</a:t>
            </a:r>
            <a:r>
              <a:rPr lang="en-US" dirty="0" err="1">
                <a:latin typeface="MS UI Gothic" panose="020B0600070205080204" pitchFamily="34" charset="-128"/>
                <a:ea typeface="MS UI Gothic" panose="020B0600070205080204" pitchFamily="34" charset="-128"/>
              </a:rPr>
              <a:t>データ分析、学会発表</a:t>
            </a:r>
            <a:r>
              <a:rPr lang="en-US" dirty="0">
                <a:latin typeface="MS UI Gothic" panose="020B0600070205080204" pitchFamily="34" charset="-128"/>
                <a:ea typeface="MS UI Gothic" panose="020B0600070205080204" pitchFamily="34" charset="-128"/>
              </a:rPr>
              <a:t>(日本医療薬学会)、学術論文投稿</a:t>
            </a:r>
          </a:p>
        </p:txBody>
      </p:sp>
      <p:sp>
        <p:nvSpPr>
          <p:cNvPr id="19" name="テキスト ボックス 18">
            <a:extLst>
              <a:ext uri="{FF2B5EF4-FFF2-40B4-BE49-F238E27FC236}">
                <a16:creationId xmlns:a16="http://schemas.microsoft.com/office/drawing/2014/main" id="{A3843F7C-7239-B73A-77C1-680CCA1B709C}"/>
              </a:ext>
            </a:extLst>
          </p:cNvPr>
          <p:cNvSpPr txBox="1"/>
          <p:nvPr/>
        </p:nvSpPr>
        <p:spPr>
          <a:xfrm>
            <a:off x="540659" y="251650"/>
            <a:ext cx="299152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年次計画の妥当性</a:t>
            </a:r>
          </a:p>
        </p:txBody>
      </p:sp>
      <p:sp>
        <p:nvSpPr>
          <p:cNvPr id="20" name="テキスト ボックス 19">
            <a:extLst>
              <a:ext uri="{FF2B5EF4-FFF2-40B4-BE49-F238E27FC236}">
                <a16:creationId xmlns:a16="http://schemas.microsoft.com/office/drawing/2014/main" id="{6E2FB9C7-4B4E-7BA9-2531-26C88BD9FABA}"/>
              </a:ext>
            </a:extLst>
          </p:cNvPr>
          <p:cNvSpPr txBox="1"/>
          <p:nvPr/>
        </p:nvSpPr>
        <p:spPr>
          <a:xfrm>
            <a:off x="540659" y="861247"/>
            <a:ext cx="482375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実施スケジュールと到達目標</a:t>
            </a:r>
            <a:endParaRPr kumimoji="1" lang="ja-JP" altLang="en-US" sz="320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180334286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2829</Words>
  <Application>Microsoft Macintosh PowerPoint</Application>
  <PresentationFormat>ワイド画面</PresentationFormat>
  <Paragraphs>444</Paragraphs>
  <Slides>22</Slides>
  <Notes>22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MS UI Gothic</vt:lpstr>
      <vt:lpstr>MS Mincho</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橋本　保彦</dc:creator>
  <cp:lastModifiedBy>橋本　保彦</cp:lastModifiedBy>
  <cp:revision>51</cp:revision>
  <cp:lastPrinted>2026-02-07T07:28:31Z</cp:lastPrinted>
  <dcterms:created xsi:type="dcterms:W3CDTF">2026-01-28T04:13:33Z</dcterms:created>
  <dcterms:modified xsi:type="dcterms:W3CDTF">2026-02-12T06:48:20Z</dcterms:modified>
</cp:coreProperties>
</file>