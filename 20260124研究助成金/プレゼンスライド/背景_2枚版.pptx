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7"/>
  </p:normalViewPr>
  <p:slideViewPr>
    <p:cSldViewPr snapToGrid="0" snapToObjects="1">
      <p:cViewPr varScale="1">
        <p:scale>
          <a:sx n="81" d="100"/>
          <a:sy n="81" d="100"/>
        </p:scale>
        <p:origin x="93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7A0168-FF0F-FD45-B5DF-BE554D6581F7}" type="datetimeFigureOut">
              <a:rPr kumimoji="1" lang="ja-JP" altLang="en-US" smtClean="0"/>
              <a:t>2026/2/3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122699-7C32-E34E-B8B0-1618FDEB8A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69285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122699-7C32-E34E-B8B0-1618FDEB8A55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4695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89676" y="274320"/>
            <a:ext cx="10851047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2962FF"/>
                </a:solidFill>
              </a:defRPr>
            </a:pPr>
            <a:r>
              <a:rPr>
                <a:latin typeface="MS UI Gothic" panose="020B0600070205080204" pitchFamily="34" charset="-128"/>
                <a:ea typeface="MS UI Gothic" panose="020B0600070205080204" pitchFamily="34" charset="-128"/>
              </a:rPr>
              <a:t>研究の背景と課題:「魔法の黒板」開発の経緯 (1/2)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3716000" cy="18288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396775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80000"/>
                </a:solidFill>
              </a:defRPr>
            </a:pPr>
            <a:r>
              <a:rPr>
                <a:latin typeface="MS UI Gothic" panose="020B0600070205080204" pitchFamily="34" charset="-128"/>
                <a:ea typeface="MS UI Gothic" panose="020B0600070205080204" pitchFamily="34" charset="-128"/>
              </a:rPr>
              <a:t>📊 課題の発見プロセス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6400800" cy="1188720"/>
          </a:xfrm>
          <a:prstGeom prst="rect">
            <a:avLst/>
          </a:prstGeom>
          <a:solidFill>
            <a:srgbClr val="FFC8C8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 b="1"/>
            </a:pPr>
            <a:r>
              <a:rPr sz="2800" dirty="0">
                <a:solidFill>
                  <a:schemeClr val="tx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1. </a:t>
            </a:r>
            <a:r>
              <a:rPr sz="2800" dirty="0" err="1">
                <a:solidFill>
                  <a:schemeClr val="tx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成績不振の顕在化</a:t>
            </a:r>
            <a:endParaRPr sz="2800" dirty="0">
              <a:solidFill>
                <a:schemeClr val="tx1"/>
              </a:solidFill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200400" y="3200400"/>
            <a:ext cx="914400" cy="457200"/>
          </a:xfrm>
          <a:prstGeom prst="round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3657600"/>
            <a:ext cx="6400800" cy="1188720"/>
          </a:xfrm>
          <a:prstGeom prst="rect">
            <a:avLst/>
          </a:prstGeom>
          <a:solidFill>
            <a:srgbClr val="FFDCB4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 b="1"/>
            </a:pPr>
            <a:r>
              <a:rPr sz="2800" dirty="0">
                <a:solidFill>
                  <a:schemeClr val="tx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2. </a:t>
            </a:r>
            <a:r>
              <a:rPr sz="2800" dirty="0" err="1">
                <a:solidFill>
                  <a:schemeClr val="tx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反転講義導入</a:t>
            </a:r>
            <a:r>
              <a:rPr lang="ja-JP" altLang="en-US" sz="2800">
                <a:solidFill>
                  <a:schemeClr val="tx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＋演習問題</a:t>
            </a:r>
            <a:endParaRPr sz="2800" dirty="0">
              <a:solidFill>
                <a:schemeClr val="tx1"/>
              </a:solidFill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r>
              <a:rPr sz="2800" dirty="0">
                <a:solidFill>
                  <a:schemeClr val="tx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   → </a:t>
            </a:r>
            <a:r>
              <a:rPr sz="2800" dirty="0" err="1">
                <a:solidFill>
                  <a:schemeClr val="tx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成績の二極化</a:t>
            </a:r>
            <a:endParaRPr sz="2800" dirty="0">
              <a:solidFill>
                <a:schemeClr val="tx1"/>
              </a:solidFill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200400" y="4846320"/>
            <a:ext cx="914400" cy="457200"/>
          </a:xfrm>
          <a:prstGeom prst="round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7200" y="5303520"/>
            <a:ext cx="6400800" cy="1188720"/>
          </a:xfrm>
          <a:prstGeom prst="rect">
            <a:avLst/>
          </a:prstGeom>
          <a:solidFill>
            <a:srgbClr val="C8E6FF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 b="1"/>
            </a:pPr>
            <a:r>
              <a:rPr sz="2800">
                <a:solidFill>
                  <a:schemeClr val="tx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3. 学生面談実施</a:t>
            </a:r>
          </a:p>
          <a:p>
            <a:r>
              <a:rPr sz="2800">
                <a:solidFill>
                  <a:schemeClr val="tx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   → 本質的課題の発見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280160"/>
            <a:ext cx="512351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4C8"/>
                </a:solidFill>
              </a:defRPr>
            </a:pPr>
            <a:r>
              <a:rPr>
                <a:latin typeface="MS UI Gothic" panose="020B0600070205080204" pitchFamily="34" charset="-128"/>
                <a:ea typeface="MS UI Gothic" panose="020B0600070205080204" pitchFamily="34" charset="-128"/>
              </a:rPr>
              <a:t>💬 学生面談で明らかになった課題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2103120"/>
            <a:ext cx="6400800" cy="822960"/>
          </a:xfrm>
          <a:prstGeom prst="rect">
            <a:avLst/>
          </a:prstGeom>
          <a:solidFill>
            <a:srgbClr val="FFE6E6"/>
          </a:solidFill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/>
            </a:pPr>
            <a:r>
              <a:rPr sz="2400" dirty="0">
                <a:solidFill>
                  <a:schemeClr val="tx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💬 </a:t>
            </a:r>
            <a:r>
              <a:rPr sz="2400" dirty="0" err="1">
                <a:solidFill>
                  <a:schemeClr val="tx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質問したいけど、先生に聞きにくい</a:t>
            </a:r>
            <a:r>
              <a:rPr sz="2400" dirty="0">
                <a:solidFill>
                  <a:schemeClr val="tx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3108960"/>
            <a:ext cx="6400800" cy="822960"/>
          </a:xfrm>
          <a:prstGeom prst="rect">
            <a:avLst/>
          </a:prstGeom>
          <a:solidFill>
            <a:srgbClr val="E6F0FF"/>
          </a:solidFill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/>
            </a:pPr>
            <a:r>
              <a:rPr sz="2400">
                <a:solidFill>
                  <a:schemeClr val="tx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💬 何度も同じ質問をして怒られないか不安…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4114800"/>
            <a:ext cx="6400800" cy="822960"/>
          </a:xfrm>
          <a:prstGeom prst="rect">
            <a:avLst/>
          </a:prstGeom>
          <a:solidFill>
            <a:srgbClr val="FFF5E6"/>
          </a:solidFill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/>
            </a:pPr>
            <a:r>
              <a:rPr sz="2400">
                <a:solidFill>
                  <a:schemeClr val="tx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💬 疑問を解決できず、試験日を迎えた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5120640"/>
            <a:ext cx="6400800" cy="822960"/>
          </a:xfrm>
          <a:prstGeom prst="rect">
            <a:avLst/>
          </a:prstGeom>
          <a:solidFill>
            <a:srgbClr val="F0FFF0"/>
          </a:solidFill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/>
            </a:pPr>
            <a:r>
              <a:rPr sz="2400">
                <a:solidFill>
                  <a:schemeClr val="tx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💬 夜中に疑問に気づいたが、誰にも聞けない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6217920"/>
            <a:ext cx="6400800" cy="1463040"/>
          </a:xfrm>
          <a:prstGeom prst="rect">
            <a:avLst/>
          </a:prstGeom>
          <a:solidFill>
            <a:srgbClr val="FFF0F0"/>
          </a:solidFill>
          <a:ln w="31750">
            <a:solidFill>
              <a:srgbClr val="C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C80000"/>
                </a:solidFill>
              </a:defRPr>
            </a:pPr>
            <a:r>
              <a:rPr>
                <a:solidFill>
                  <a:schemeClr val="tx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⚠️ 教員側の課題認識</a:t>
            </a:r>
          </a:p>
          <a:p>
            <a:pPr>
              <a:spcBef>
                <a:spcPts val="800"/>
              </a:spcBef>
              <a:defRPr sz="1800" b="1"/>
            </a:pPr>
            <a:r>
              <a:rPr>
                <a:solidFill>
                  <a:schemeClr val="tx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❌ 学生が困っていることを把握していない</a:t>
            </a:r>
          </a:p>
          <a:p>
            <a:pPr>
              <a:spcBef>
                <a:spcPts val="600"/>
              </a:spcBef>
              <a:defRPr sz="1800" b="1"/>
            </a:pPr>
            <a:r>
              <a:rPr>
                <a:solidFill>
                  <a:schemeClr val="tx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❌ 学生の学習状況を把握していない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371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2962FF"/>
                </a:solidFill>
              </a:defRPr>
            </a:pPr>
            <a:r>
              <a:t>研究の背景と課題:「魔法の黒板」開発の経緯 (2/2)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3716000" cy="18288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371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9600"/>
                </a:solidFill>
              </a:defRPr>
            </a:pPr>
            <a:r>
              <a:t>💡 課題解決への3つのアプローチ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2377440"/>
            <a:ext cx="914400" cy="914400"/>
          </a:xfrm>
          <a:prstGeom prst="ellipse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①</a:t>
            </a:r>
          </a:p>
        </p:txBody>
      </p:sp>
      <p:sp>
        <p:nvSpPr>
          <p:cNvPr id="6" name="Rectangle 5"/>
          <p:cNvSpPr/>
          <p:nvPr/>
        </p:nvSpPr>
        <p:spPr>
          <a:xfrm>
            <a:off x="2103120" y="2377440"/>
            <a:ext cx="11887200" cy="1188720"/>
          </a:xfrm>
          <a:prstGeom prst="rect">
            <a:avLst/>
          </a:prstGeom>
          <a:solidFill>
            <a:srgbClr val="E6F0FF"/>
          </a:solidFill>
          <a:ln w="31750">
            <a:solidFill>
              <a:srgbClr val="29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2962FF"/>
                </a:solidFill>
              </a:defRPr>
            </a:pPr>
            <a:r>
              <a:t>困りごとに救いの手を！</a:t>
            </a:r>
          </a:p>
          <a:p>
            <a:pPr>
              <a:spcBef>
                <a:spcPts val="800"/>
              </a:spcBef>
              <a:defRPr sz="2000">
                <a:solidFill>
                  <a:srgbClr val="505050"/>
                </a:solidFill>
              </a:defRPr>
            </a:pPr>
            <a:r>
              <a:t>24時間いつでも質問できる環境を提供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3840480"/>
            <a:ext cx="914400" cy="914400"/>
          </a:xfrm>
          <a:prstGeom prst="ellipse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②</a:t>
            </a:r>
          </a:p>
        </p:txBody>
      </p:sp>
      <p:sp>
        <p:nvSpPr>
          <p:cNvPr id="8" name="Rectangle 7"/>
          <p:cNvSpPr/>
          <p:nvPr/>
        </p:nvSpPr>
        <p:spPr>
          <a:xfrm>
            <a:off x="2103120" y="3840480"/>
            <a:ext cx="11887200" cy="1188720"/>
          </a:xfrm>
          <a:prstGeom prst="rect">
            <a:avLst/>
          </a:prstGeom>
          <a:solidFill>
            <a:srgbClr val="F0FFF0"/>
          </a:solidFill>
          <a:ln w="31750">
            <a:solidFill>
              <a:srgbClr val="29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2962FF"/>
                </a:solidFill>
              </a:defRPr>
            </a:pPr>
            <a:r>
              <a:t>学生が使いやすい学習環境</a:t>
            </a:r>
          </a:p>
          <a:p>
            <a:pPr>
              <a:spcBef>
                <a:spcPts val="800"/>
              </a:spcBef>
              <a:defRPr sz="2000">
                <a:solidFill>
                  <a:srgbClr val="505050"/>
                </a:solidFill>
              </a:defRPr>
            </a:pPr>
            <a:r>
              <a:t>気軽に何度でも質問できる心理的安全性を確保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5303520"/>
            <a:ext cx="914400" cy="914400"/>
          </a:xfrm>
          <a:prstGeom prst="ellipse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③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03120" y="5303520"/>
            <a:ext cx="11887200" cy="1188720"/>
          </a:xfrm>
          <a:prstGeom prst="rect">
            <a:avLst/>
          </a:prstGeom>
          <a:solidFill>
            <a:srgbClr val="FFF5E6"/>
          </a:solidFill>
          <a:ln w="31750">
            <a:solidFill>
              <a:srgbClr val="29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2962FF"/>
                </a:solidFill>
              </a:defRPr>
            </a:pPr>
            <a:r>
              <a:t>学習状況の可視化</a:t>
            </a:r>
          </a:p>
          <a:p>
            <a:pPr>
              <a:spcBef>
                <a:spcPts val="800"/>
              </a:spcBef>
              <a:defRPr sz="2000">
                <a:solidFill>
                  <a:srgbClr val="505050"/>
                </a:solidFill>
              </a:defRPr>
            </a:pPr>
            <a:r>
              <a:t>つまずきポイントを把握し、適切な支援を実現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0" y="6583680"/>
            <a:ext cx="10972800" cy="1371600"/>
          </a:xfrm>
          <a:prstGeom prst="rect">
            <a:avLst/>
          </a:prstGeom>
          <a:solidFill>
            <a:srgbClr val="FFFADC"/>
          </a:solidFill>
          <a:ln w="50800">
            <a:solidFill>
              <a:srgbClr val="FFC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C86400"/>
                </a:solidFill>
              </a:defRPr>
            </a:pPr>
            <a:r>
              <a:t>✨「魔法の黒板」の誕生✨</a:t>
            </a:r>
          </a:p>
          <a:p>
            <a:pPr algn="ctr">
              <a:spcBef>
                <a:spcPts val="1000"/>
              </a:spcBef>
              <a:defRPr sz="2400" b="1">
                <a:solidFill>
                  <a:srgbClr val="2962FF"/>
                </a:solidFill>
              </a:defRPr>
            </a:pPr>
            <a:r>
              <a:t>AI技術を活用した教育支援システム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87</Words>
  <Application>Microsoft Macintosh PowerPoint</Application>
  <PresentationFormat>ユーザー設定</PresentationFormat>
  <Paragraphs>29</Paragraphs>
  <Slides>2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7" baseType="lpstr">
      <vt:lpstr>MS UI Gothic</vt:lpstr>
      <vt:lpstr>游ゴシック</vt:lpstr>
      <vt:lpstr>Arial</vt:lpstr>
      <vt:lpstr>Calibri</vt:lpstr>
      <vt:lpstr>Office Theme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橋本　保彦</cp:lastModifiedBy>
  <cp:revision>2</cp:revision>
  <dcterms:created xsi:type="dcterms:W3CDTF">2013-01-27T09:14:16Z</dcterms:created>
  <dcterms:modified xsi:type="dcterms:W3CDTF">2026-02-02T22:57:08Z</dcterms:modified>
  <cp:category/>
</cp:coreProperties>
</file>