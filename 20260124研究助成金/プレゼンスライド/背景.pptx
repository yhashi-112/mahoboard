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7"/>
  </p:normalViewPr>
  <p:slideViewPr>
    <p:cSldViewPr snapToGrid="0">
      <p:cViewPr varScale="1">
        <p:scale>
          <a:sx n="97" d="100"/>
          <a:sy n="97" d="100"/>
        </p:scale>
        <p:origin x="9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600724-9A85-0D0C-9929-B615B4F57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6932C50-6C11-7385-66B0-0E1C1E1DF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132636-5DE8-AD42-A114-92B575A6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6D9A00-608F-5489-2610-61C18CF2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935D8B-105B-434F-07FB-441C4A452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560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69706D-71E0-C3E9-4210-2B46A798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92327B-D642-1F83-B31F-1AB3EC80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E22CF7-681D-7482-330E-6C9B53A3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5A7F13-244C-569E-2E45-AD6E51EE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803181-0421-0E00-0B31-107C9F1A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915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649D41-CC58-63FD-8B87-9BA39DA5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632F25-63AD-8093-BDE7-0A413CED9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DC8885-AF7B-5350-E00D-EAE91D0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70290F-1513-4123-592A-3E7CB360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35B948-0C78-8065-C9C9-D0F05E0B0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314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5D31E2-36AF-CF9D-497D-B2D7D4A98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9F9B14-864E-E0F4-8C13-D590ED7E1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59BA38-1315-A065-DE33-8DE208093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A117BA-5F4D-F9C9-8D9C-208B1E862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3AE50C-7E7A-BBD6-E1B6-8006C6EC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0F23A0-22AE-543B-74CB-A51C0E4B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7121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F4C593-DAFD-D1BF-454E-3A82FEF4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6B121C-A59C-F311-F87D-C04433200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1F8DE1-5F50-23B4-6254-46087F759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C59C5E0-3494-46B3-B460-2BC4E7657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00C1C9-CF98-0F20-3E3C-BDCD94C324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C0A3F7-9A9C-9CDC-F8E8-F65F5576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EE07D3-B1A5-8B75-859E-6058A9C01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27CBFAF-72CE-0B11-2CC6-8779483A6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741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D4194-E005-508F-494C-3CDF8B5E5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9027DEF-5446-3FD0-48F5-45281D26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4A1D05-299B-F7F9-0FA1-340D49ED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C333196-0905-6EF0-ACA3-ECA7C000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719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C5C73F7-0889-0B84-6132-468A08E25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5AB9AD1-982A-2113-D577-443F735B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FC238F-48B7-133B-CB4C-3ED79300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19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25EBD-0A74-7C7D-6063-3EC2CCEE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28A9A7-38C3-6162-20C3-FBDE56B90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18678B-A386-CEF8-88F3-E2EDD8960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00FCC5-0406-5B8B-C540-EED04EBC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C1097E-0253-BA96-D611-424258EA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C134B3-D2FE-FC46-B85D-27FB03A8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88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79DA1C-F763-87F2-DE7F-A844FB2A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22B06D2-0725-3BCE-8884-4CD8E327D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7914F1-A810-8019-8454-6FE49C004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343445-2F4A-242A-B6C4-A79347EA8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38C397-F843-9497-620F-8A4525AF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5B21A9-37BF-A8B6-8EB0-2B89778F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083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96A879-C201-1BDA-F8EB-7D2CAFE0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375E03-FCAA-2E57-2F7E-97DC272EE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2646AE-A53F-8103-2476-CF9A3D40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9F2D29-C2AF-95F9-18CD-5B3C6DDD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4550A2-D10A-5A75-FC0E-FE368A90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165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6E0AC5A-6F1F-2C76-B3B2-DD5CAEEDB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98A064-C7E8-C0C6-CB45-7E7B26506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CE17E7-1F25-F2A0-5A61-473F22BA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2D8711-C220-82A8-10DF-271361EA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A4A73D-5D35-0E9E-7FF7-AF53E4BB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466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2D01B22-8763-DFF7-7A37-523305B34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0DFED6-AB48-8B51-62C6-E1A2744D8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0B6D3B-6272-00C5-5CF2-EBBAC49D6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E58DD-06EC-D645-A69E-A04EAB9759E6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83648A-F376-FD38-4C3B-79E916410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B03897-D832-883C-019C-52120866F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3F6A8-834A-C94F-8775-28CDB7C1C3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0327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B7CF9B-84A9-ECCA-C5EE-BE2AE683652E}"/>
              </a:ext>
            </a:extLst>
          </p:cNvPr>
          <p:cNvSpPr txBox="1"/>
          <p:nvPr/>
        </p:nvSpPr>
        <p:spPr>
          <a:xfrm>
            <a:off x="3712175" y="355600"/>
            <a:ext cx="47676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研究の背景と課題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0405A79-BFE3-046B-E1BA-AD65DABC8251}"/>
              </a:ext>
            </a:extLst>
          </p:cNvPr>
          <p:cNvSpPr txBox="1"/>
          <p:nvPr/>
        </p:nvSpPr>
        <p:spPr>
          <a:xfrm>
            <a:off x="967409" y="1186597"/>
            <a:ext cx="2157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St: </a:t>
            </a:r>
            <a:r>
              <a:rPr kumimoji="1" lang="ja-JP" altLang="en-US"/>
              <a:t>学生の成績不振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91162D-8F44-C4F9-4563-7024111DDE46}"/>
              </a:ext>
            </a:extLst>
          </p:cNvPr>
          <p:cNvSpPr txBox="1"/>
          <p:nvPr/>
        </p:nvSpPr>
        <p:spPr>
          <a:xfrm>
            <a:off x="967409" y="1729410"/>
            <a:ext cx="10871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Tc: </a:t>
            </a:r>
            <a:r>
              <a:rPr kumimoji="1" lang="ja-JP" altLang="en-US"/>
              <a:t>従来型講義（一方向性聞くだ</a:t>
            </a:r>
            <a:r>
              <a:rPr lang="ja-JP" altLang="en-US"/>
              <a:t>けの授業）</a:t>
            </a:r>
            <a:r>
              <a:rPr kumimoji="1" lang="ja-JP" altLang="en-US"/>
              <a:t>　→　反転講義に変更（講義日前に講義を視聴）＋演習問題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4C03AB-CF60-954B-8D26-B260196BCA17}"/>
              </a:ext>
            </a:extLst>
          </p:cNvPr>
          <p:cNvSpPr txBox="1"/>
          <p:nvPr/>
        </p:nvSpPr>
        <p:spPr>
          <a:xfrm>
            <a:off x="967408" y="2331859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St: </a:t>
            </a:r>
            <a:r>
              <a:rPr kumimoji="1" lang="ja-JP" altLang="en-US"/>
              <a:t>成績の二極化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8CCE2E-7A43-CEAF-A7B5-3AEB3D42F33A}"/>
              </a:ext>
            </a:extLst>
          </p:cNvPr>
          <p:cNvSpPr txBox="1"/>
          <p:nvPr/>
        </p:nvSpPr>
        <p:spPr>
          <a:xfrm>
            <a:off x="967408" y="2934308"/>
            <a:ext cx="2196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Tc</a:t>
            </a:r>
            <a:r>
              <a:rPr kumimoji="1" lang="en-US" altLang="ja-JP" dirty="0"/>
              <a:t>: </a:t>
            </a:r>
            <a:r>
              <a:rPr lang="ja-JP" altLang="en-US"/>
              <a:t>学生面談を実施</a:t>
            </a:r>
            <a:endParaRPr kumimoji="1" lang="ja-JP" altLang="en-US"/>
          </a:p>
        </p:txBody>
      </p:sp>
      <p:sp>
        <p:nvSpPr>
          <p:cNvPr id="10" name="角丸四角形吹き出し 9">
            <a:extLst>
              <a:ext uri="{FF2B5EF4-FFF2-40B4-BE49-F238E27FC236}">
                <a16:creationId xmlns:a16="http://schemas.microsoft.com/office/drawing/2014/main" id="{1A6FE975-5B13-5D8E-12F8-C7E874D323D3}"/>
              </a:ext>
            </a:extLst>
          </p:cNvPr>
          <p:cNvSpPr/>
          <p:nvPr/>
        </p:nvSpPr>
        <p:spPr>
          <a:xfrm>
            <a:off x="4876800" y="2379813"/>
            <a:ext cx="5300870" cy="1561389"/>
          </a:xfrm>
          <a:prstGeom prst="wedgeRoundRectCallout">
            <a:avLst>
              <a:gd name="adj1" fmla="val -79263"/>
              <a:gd name="adj2" fmla="val -4430"/>
              <a:gd name="adj3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学生の声：</a:t>
            </a:r>
            <a:endParaRPr lang="en-US" altLang="ja-JP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「質問したいけど、先生に聞きにくい」</a:t>
            </a:r>
            <a:endParaRPr lang="en-US" altLang="ja-JP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「何度も同じ質問をそても怒られないか」</a:t>
            </a:r>
            <a:endParaRPr lang="en-US" altLang="ja-JP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「疑問を解決できず、試験日を迎えた」</a:t>
            </a:r>
            <a:endParaRPr lang="en-US" altLang="ja-JP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「夜中に疑問に気づいたが、誰にも聞くことができない」</a:t>
            </a:r>
            <a:endParaRPr lang="en-US" altLang="ja-JP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5B3BC1-5671-192D-5B1D-BCDABDD4B739}"/>
              </a:ext>
            </a:extLst>
          </p:cNvPr>
          <p:cNvSpPr txBox="1"/>
          <p:nvPr/>
        </p:nvSpPr>
        <p:spPr>
          <a:xfrm>
            <a:off x="967408" y="4266152"/>
            <a:ext cx="57246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Tc</a:t>
            </a:r>
            <a:r>
              <a:rPr kumimoji="1" lang="en-US" altLang="ja-JP" dirty="0"/>
              <a:t>: </a:t>
            </a:r>
            <a:r>
              <a:rPr kumimoji="1" lang="ja-JP" altLang="en-US"/>
              <a:t>対策を講じる前に、</a:t>
            </a:r>
            <a:endParaRPr kumimoji="1" lang="en-US" altLang="ja-JP" dirty="0"/>
          </a:p>
          <a:p>
            <a:r>
              <a:rPr lang="ja-JP" altLang="en-US"/>
              <a:t>　・そもそも学生が困っていることを把握していない</a:t>
            </a:r>
            <a:endParaRPr lang="en-US" altLang="ja-JP" dirty="0"/>
          </a:p>
          <a:p>
            <a:r>
              <a:rPr kumimoji="1" lang="ja-JP" altLang="en-US"/>
              <a:t>　・学生の学習状況を把握していない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/>
              <a:t>そこで・・・</a:t>
            </a:r>
          </a:p>
        </p:txBody>
      </p:sp>
    </p:spTree>
    <p:extLst>
      <p:ext uri="{BB962C8B-B14F-4D97-AF65-F5344CB8AC3E}">
        <p14:creationId xmlns:p14="http://schemas.microsoft.com/office/powerpoint/2010/main" val="215637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E16E1-BC46-846B-E80C-5632219D0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8AD049-5118-3A02-3047-F07EDE16A2E2}"/>
              </a:ext>
            </a:extLst>
          </p:cNvPr>
          <p:cNvSpPr txBox="1"/>
          <p:nvPr/>
        </p:nvSpPr>
        <p:spPr>
          <a:xfrm>
            <a:off x="3712175" y="355600"/>
            <a:ext cx="47676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研究の背景と課題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2E3EDD-1288-A8A0-3642-0FE71AB0A1AC}"/>
              </a:ext>
            </a:extLst>
          </p:cNvPr>
          <p:cNvSpPr txBox="1"/>
          <p:nvPr/>
        </p:nvSpPr>
        <p:spPr>
          <a:xfrm>
            <a:off x="967409" y="1186597"/>
            <a:ext cx="2157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St: </a:t>
            </a:r>
            <a:r>
              <a:rPr kumimoji="1" lang="ja-JP" altLang="en-US"/>
              <a:t>学生の成績不振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C2FD2C0-BF4E-9AD5-BD74-A1241C7445A5}"/>
              </a:ext>
            </a:extLst>
          </p:cNvPr>
          <p:cNvSpPr txBox="1"/>
          <p:nvPr/>
        </p:nvSpPr>
        <p:spPr>
          <a:xfrm>
            <a:off x="967409" y="1729410"/>
            <a:ext cx="10871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Tc: </a:t>
            </a:r>
            <a:r>
              <a:rPr kumimoji="1" lang="ja-JP" altLang="en-US"/>
              <a:t>従来型講義（一方向性聞くだ</a:t>
            </a:r>
            <a:r>
              <a:rPr lang="ja-JP" altLang="en-US"/>
              <a:t>けの授業）</a:t>
            </a:r>
            <a:r>
              <a:rPr kumimoji="1" lang="ja-JP" altLang="en-US"/>
              <a:t>　→　反転講義に変更（講義日前に講義を視聴）＋演習問題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0FE17E1-23AB-9988-C941-0E0604E4FF21}"/>
              </a:ext>
            </a:extLst>
          </p:cNvPr>
          <p:cNvSpPr txBox="1"/>
          <p:nvPr/>
        </p:nvSpPr>
        <p:spPr>
          <a:xfrm>
            <a:off x="967408" y="2331859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St: </a:t>
            </a:r>
            <a:r>
              <a:rPr kumimoji="1" lang="ja-JP" altLang="en-US"/>
              <a:t>成績の二極化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C708002-0A27-6404-FF7A-FB9E8FA331F7}"/>
              </a:ext>
            </a:extLst>
          </p:cNvPr>
          <p:cNvSpPr txBox="1"/>
          <p:nvPr/>
        </p:nvSpPr>
        <p:spPr>
          <a:xfrm>
            <a:off x="967408" y="2934308"/>
            <a:ext cx="2196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Tc</a:t>
            </a:r>
            <a:r>
              <a:rPr kumimoji="1" lang="en-US" altLang="ja-JP" dirty="0"/>
              <a:t>: </a:t>
            </a:r>
            <a:r>
              <a:rPr lang="ja-JP" altLang="en-US"/>
              <a:t>学生面談を実施</a:t>
            </a:r>
            <a:endParaRPr kumimoji="1" lang="ja-JP" altLang="en-US"/>
          </a:p>
        </p:txBody>
      </p:sp>
      <p:sp>
        <p:nvSpPr>
          <p:cNvPr id="10" name="角丸四角形吹き出し 9">
            <a:extLst>
              <a:ext uri="{FF2B5EF4-FFF2-40B4-BE49-F238E27FC236}">
                <a16:creationId xmlns:a16="http://schemas.microsoft.com/office/drawing/2014/main" id="{16150863-1C0C-D9D6-A44F-48C6170FBCA9}"/>
              </a:ext>
            </a:extLst>
          </p:cNvPr>
          <p:cNvSpPr/>
          <p:nvPr/>
        </p:nvSpPr>
        <p:spPr>
          <a:xfrm>
            <a:off x="4876800" y="2272223"/>
            <a:ext cx="5300870" cy="1881014"/>
          </a:xfrm>
          <a:prstGeom prst="wedgeRoundRectCallout">
            <a:avLst>
              <a:gd name="adj1" fmla="val -79263"/>
              <a:gd name="adj2" fmla="val -4430"/>
              <a:gd name="adj3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学生の声：</a:t>
            </a:r>
            <a:endParaRPr lang="en-US" altLang="ja-JP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「質問したいけど、先生に聞きにくい」</a:t>
            </a:r>
            <a:endParaRPr lang="en-US" altLang="ja-JP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「何度も同じ質問をそても怒られないか」</a:t>
            </a:r>
            <a:endParaRPr lang="en-US" altLang="ja-JP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「疑問を解決できず、試験日を迎えた」</a:t>
            </a:r>
            <a:endParaRPr lang="en-US" altLang="ja-JP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「夜中に疑問に気づいたが、誰にも聞くことができない」</a:t>
            </a:r>
            <a:endParaRPr lang="en-US" altLang="ja-JP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5CA80FB-88B0-273B-9756-A4BE6CA47192}"/>
              </a:ext>
            </a:extLst>
          </p:cNvPr>
          <p:cNvSpPr txBox="1"/>
          <p:nvPr/>
        </p:nvSpPr>
        <p:spPr>
          <a:xfrm>
            <a:off x="967408" y="4266152"/>
            <a:ext cx="57246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Tc</a:t>
            </a:r>
            <a:r>
              <a:rPr kumimoji="1" lang="en-US" altLang="ja-JP" dirty="0"/>
              <a:t>: </a:t>
            </a:r>
            <a:r>
              <a:rPr kumimoji="1" lang="ja-JP" altLang="en-US"/>
              <a:t>対策を講じる前に、</a:t>
            </a:r>
            <a:endParaRPr kumimoji="1" lang="en-US" altLang="ja-JP" dirty="0"/>
          </a:p>
          <a:p>
            <a:r>
              <a:rPr lang="ja-JP" altLang="en-US"/>
              <a:t>　・そもそも学生が困っていることを把握していない</a:t>
            </a:r>
            <a:endParaRPr lang="en-US" altLang="ja-JP" dirty="0"/>
          </a:p>
          <a:p>
            <a:r>
              <a:rPr kumimoji="1" lang="ja-JP" altLang="en-US"/>
              <a:t>　・学生の学習状況を把握していない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/>
              <a:t>そこで・・・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A2BB6339-CFDE-6AA3-DF49-7260231ABE93}"/>
              </a:ext>
            </a:extLst>
          </p:cNvPr>
          <p:cNvSpPr/>
          <p:nvPr/>
        </p:nvSpPr>
        <p:spPr>
          <a:xfrm>
            <a:off x="2692743" y="4252493"/>
            <a:ext cx="6504265" cy="188101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①</a:t>
            </a:r>
            <a:r>
              <a:rPr kumimoji="1" lang="ja-JP" altLang="en-US" sz="2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私の発想：困りごとに救いの手を！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4A674A16-324C-6793-3BD3-FC79FE1934E3}"/>
              </a:ext>
            </a:extLst>
          </p:cNvPr>
          <p:cNvSpPr/>
          <p:nvPr/>
        </p:nvSpPr>
        <p:spPr>
          <a:xfrm>
            <a:off x="2692743" y="2331859"/>
            <a:ext cx="6504265" cy="188101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②</a:t>
            </a:r>
            <a:r>
              <a:rPr lang="ja-JP" altLang="en-US" sz="2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学生が使いやすい学習環境を作ろう</a:t>
            </a:r>
            <a:endParaRPr kumimoji="1" lang="ja-JP" altLang="en-US" sz="280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860AF4F2-79B8-160D-4730-312DFA4B1109}"/>
              </a:ext>
            </a:extLst>
          </p:cNvPr>
          <p:cNvSpPr/>
          <p:nvPr/>
        </p:nvSpPr>
        <p:spPr>
          <a:xfrm>
            <a:off x="2692742" y="378758"/>
            <a:ext cx="6504265" cy="188101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③</a:t>
            </a:r>
            <a:r>
              <a:rPr lang="ja-JP" altLang="en-US" sz="2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「魔法の黒板」の誕生！！</a:t>
            </a:r>
            <a:endParaRPr lang="en-US" altLang="ja-JP" sz="2800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kumimoji="1" lang="ja-JP" altLang="en-US" sz="2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（課題解決策）</a:t>
            </a:r>
          </a:p>
        </p:txBody>
      </p:sp>
    </p:spTree>
    <p:extLst>
      <p:ext uri="{BB962C8B-B14F-4D97-AF65-F5344CB8AC3E}">
        <p14:creationId xmlns:p14="http://schemas.microsoft.com/office/powerpoint/2010/main" val="535361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306</Words>
  <Application>Microsoft Macintosh PowerPoint</Application>
  <PresentationFormat>ワイド画面</PresentationFormat>
  <Paragraphs>34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MS UI 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橋本　保彦</dc:creator>
  <cp:lastModifiedBy>橋本　保彦</cp:lastModifiedBy>
  <cp:revision>2</cp:revision>
  <dcterms:created xsi:type="dcterms:W3CDTF">2026-02-02T21:46:24Z</dcterms:created>
  <dcterms:modified xsi:type="dcterms:W3CDTF">2026-02-02T21:59:04Z</dcterms:modified>
</cp:coreProperties>
</file>