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6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445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薬学教育における生成AI活用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教育支援システムの実証研究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</a:rPr>
              <a:t>—医薬品情報学教育の質向上を目指して—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神戸学院大学 薬学部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保田 康彦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B59B6"/>
                </a:solidFill>
              </a:rPr>
              <a:t>背景と課題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235A"/>
                </a:solidFill>
              </a:rPr>
              <a:t>📊 教育の現状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薬学教育モデル・コアカリキュラム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医薬品情報学：</a:t>
            </a:r>
            <a:r>
              <a:rPr lang="en-US" sz="1600" dirty="0">
                <a:solidFill>
                  <a:srgbClr val="2C3E50"/>
                </a:solidFill>
              </a:rPr>
              <a:t>137項目の知識習得が必須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学生の実態：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複雑な統計概念の理解困難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研究デザインの応用力不足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235A"/>
                </a:solidFill>
              </a:rPr>
              <a:t>⚠️ 解決すべき課題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3931920" cy="173736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❶ 学習支援の時間的制約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授業時間外の質問対応が困難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❷ 個別最適化の限界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250名の多様な理解度に対応できない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❸ 学習行動の可視化不足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つまずきポイントの把握が困難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59B6"/>
                </a:solidFill>
              </a:rPr>
              <a:t>→ 24時間対応可能なAI教育支援システムが必要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B59B6"/>
                </a:solidFill>
              </a:rPr>
              <a:t>研究目的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235A"/>
                </a:solidFill>
              </a:rPr>
              <a:t>🎯 本研究が目指すもの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2C3E50"/>
                </a:solidFill>
              </a:rPr>
              <a:t>薬学専門教育に特化したAIシステム「魔法の黒板」を開発し、</a:t>
            </a:r>
            <a:endParaRPr lang="en-US" sz="18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3E50"/>
                </a:solidFill>
              </a:rPr>
              <a:t>学生・教員双方の教育効果を</a:t>
            </a:r>
            <a:r>
              <a:rPr lang="en-US" sz="1800" b="1" dirty="0">
                <a:solidFill>
                  <a:srgbClr val="9B59B6"/>
                </a:solidFill>
              </a:rPr>
              <a:t>定量的に実証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3200400"/>
            <a:ext cx="548640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828800" y="39319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✓ 24時間質問対応による学習機会の拡大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✓ 学習行動データの可視化と分析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✓ 他の医療系教育への応用可能な実装モデル確立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B59B6"/>
                </a:solidFill>
              </a:rPr>
              <a:t>関連研究との位置づけ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235A"/>
                </a:solidFill>
              </a:rPr>
              <a:t>📚 先行研究の状況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657600" cy="109728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国際的動向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医学教育でのChatGPT活用報告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汎用ツールの試行が中心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3657600" cy="109728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国内の状況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医療系でのAI教育活用は限定的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薬学専門領域での研究は未開拓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235A"/>
                </a:solidFill>
              </a:rPr>
              <a:t>💡 本研究の独自性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❶ 薬学専門教育への特化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   137項目の知識ベース、著作権クリア教材によるRAG実装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❷ 体系的実装モデルの構築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   段階的導入プロセス、学生・教員双方の機能設計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❸ 客観的教育効果の実証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   10年分の成績データ活用、定量的評価手法の確立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B59B6"/>
                </a:solidFill>
              </a:rPr>
              <a:t>「魔法の黒板」システム概要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926080" cy="2560320"/>
          </a:xfrm>
          <a:prstGeom prst="rect">
            <a:avLst/>
          </a:prstGeom>
          <a:solidFill>
            <a:srgbClr val="D5F4E6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C3E50"/>
                </a:solidFill>
              </a:rPr>
              <a:t>👨‍🎓 学生画面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24時間質問対応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カテゴリ別質問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練習問題生成</a:t>
            </a:r>
            <a:endParaRPr lang="en-US" sz="1400" dirty="0"/>
          </a:p>
          <a:p>
            <a:pPr marL="0" lvl="1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(5択2正解形式)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難易度選択機能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2103120"/>
            <a:ext cx="1097280" cy="7315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931920" y="2194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AIエンジン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RAG+知識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ベース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280160"/>
            <a:ext cx="3108960" cy="2560320"/>
          </a:xfrm>
          <a:prstGeom prst="rect">
            <a:avLst/>
          </a:prstGeom>
          <a:solidFill>
            <a:srgbClr val="FEF5E7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0" y="146304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C3E50"/>
                </a:solidFill>
              </a:rPr>
              <a:t>👨‍🏫 教員画面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学習履歴の確認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つまずきポイント</a:t>
            </a:r>
            <a:endParaRPr lang="en-US" sz="1400" dirty="0"/>
          </a:p>
          <a:p>
            <a:pPr marL="0" lvl="1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の可視化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FAQ自動抽出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データ出力機能</a:t>
            </a:r>
            <a:endParaRPr lang="en-US" sz="1400" dirty="0"/>
          </a:p>
          <a:p>
            <a:pPr marL="0" lvl="1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  (CSV/Excel)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</a:rPr>
              <a:t>🔧 技術基盤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</a:rPr>
              <a:t>OpenAI GPT-4o / Claude Sonnet4・Opus4  |  RAG + 137項目知識ベース  |  著作権クリア教材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B59B6"/>
                </a:solidFill>
              </a:rPr>
              <a:t>教育的配慮と安全設計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47472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</a:rPr>
              <a:t>🛡️ 安全性の確保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NGワード自動検出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不適切質問のログ記録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教員による事後確認機能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155448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</a:rPr>
              <a:t>📱 アクセシビリティ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スマホ最適化設計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シンプルな操作画面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24時間いつでも利用可能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</a:rPr>
              <a:t>🎓 学習効果の最大化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段階的難易度調整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即時フィードバック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反復学習の促進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931920" cy="155448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</a:rPr>
              <a:t>⚖️ 倫理的配慮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703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オプトアウト方式採用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匿名データ収集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プライバシー保護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B59B6"/>
                </a:solidFill>
              </a:rPr>
              <a:t>研究計画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01168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</a:rPr>
              <a:t>準備期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235A"/>
                </a:solidFill>
              </a:rPr>
              <a:t>2026年4～8月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システム最終調整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倫理審査申請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パイロット実施（30名）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7680960" cy="100584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</a:rPr>
              <a:t>実証期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688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235A"/>
                </a:solidFill>
              </a:rPr>
              <a:t>2026年9月～2027年1月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本実装（250名対象）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学習データ収集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定期的モニタリング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</a:rPr>
              <a:t>分析期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235A"/>
                </a:solidFill>
              </a:rPr>
              <a:t>2027年2～3月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886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成績データ分析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10年分データとの比較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学生アンケート実施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</a:rPr>
              <a:t>📊 評価指標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</a:rPr>
              <a:t>成績向上度 | 利用頻度 | 質問内容分析 | 学習行動パターン | 学生満足度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B59B6"/>
                </a:solidFill>
              </a:rPr>
              <a:t>期待される成果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92608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996696"/>
            <a:ext cx="7680960" cy="1673352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7280" y="117043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235A"/>
                </a:solidFill>
              </a:rPr>
              <a:t>🎯 直接的成果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2763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学生の学習効果向上：24時間サポートによる理解度改善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教員の教育改善：つまずきポイントの可視化とデータに基づく授業改善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定量的評価モデル：10年分データとの比較による客観的効果検証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7680960" cy="2130552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235A"/>
                </a:solidFill>
              </a:rPr>
              <a:t>🌟 波及効果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他領域への展開</a:t>
            </a:r>
            <a:endParaRPr lang="en-US" sz="1400" dirty="0"/>
          </a:p>
          <a:p>
            <a:pPr marL="0" lvl="1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→ </a:t>
            </a:r>
            <a:r>
              <a:rPr lang="en-US" sz="1400" dirty="0" err="1">
                <a:solidFill>
                  <a:srgbClr val="2C3E50"/>
                </a:solidFill>
              </a:rPr>
              <a:t>薬理学、薬剤学、病態学など他の専門科目への応用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実装モデルの提供</a:t>
            </a:r>
            <a:endParaRPr lang="en-US" sz="1400" dirty="0"/>
          </a:p>
          <a:p>
            <a:pPr marL="0" lvl="1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→ </a:t>
            </a:r>
            <a:r>
              <a:rPr lang="en-US" sz="1400" dirty="0" err="1">
                <a:solidFill>
                  <a:srgbClr val="2C3E50"/>
                </a:solidFill>
              </a:rPr>
              <a:t>他大学の薬学・医療系教育への導入支援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AI教育研究の発展</a:t>
            </a:r>
            <a:endParaRPr lang="en-US" sz="1400" dirty="0"/>
          </a:p>
          <a:p>
            <a:pPr marL="0" lvl="1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→ 専門教育におけるAI活用の学術的知見蓄積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まとめ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0" y="14081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B59B6"/>
                </a:solidFill>
              </a:rPr>
              <a:t>🎯 本研究のポイント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0" y="2194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薬学専門教育特化型AIシステム</a:t>
            </a:r>
            <a:endParaRPr lang="en-US" sz="16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137項目知識ベース（著作権完全クリア）</a:t>
            </a:r>
            <a:endParaRPr lang="en-US" sz="1600" dirty="0"/>
          </a:p>
          <a:p>
            <a:pPr marL="0" indent="0" algn="ctr">
              <a:lnSpc>
                <a:spcPts val="1800"/>
              </a:lnSpc>
              <a:buNone/>
            </a:pPr>
            <a:endParaRPr lang="en-US" sz="16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学生・教員双方に価値提供</a:t>
            </a:r>
            <a:endParaRPr lang="en-US" sz="16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24時間学習支援 + データ分析による教育改善</a:t>
            </a:r>
            <a:endParaRPr lang="en-US" sz="1600" dirty="0"/>
          </a:p>
          <a:p>
            <a:pPr marL="0" indent="0" algn="ctr">
              <a:lnSpc>
                <a:spcPts val="1800"/>
              </a:lnSpc>
              <a:buNone/>
            </a:pPr>
            <a:endParaRPr lang="en-US" sz="16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客観的教育効果検証</a:t>
            </a:r>
            <a:endParaRPr lang="en-US" sz="16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3E50"/>
                </a:solidFill>
              </a:rPr>
              <a:t>10年分データ活用による定量分析</a:t>
            </a:r>
            <a:endParaRPr lang="en-US" sz="1600" dirty="0"/>
          </a:p>
          <a:p>
            <a:pPr marL="0" indent="0" algn="ctr">
              <a:lnSpc>
                <a:spcPts val="1800"/>
              </a:lnSpc>
              <a:buNone/>
            </a:pPr>
            <a:endParaRPr lang="en-US" sz="16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9B59B6"/>
                </a:solidFill>
              </a:rPr>
              <a:t>2026年度実証実験実施予定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</a:rPr>
              <a:t>「魔法の黒板」で、学びの未来を変える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ご清聴ありがとうございました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神戸学院大学 薬学部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保田 康彦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59B6"/>
                </a:solidFill>
              </a:rPr>
              <a:t>【補足】システム詳細図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200400"/>
          </a:xfrm>
          <a:prstGeom prst="rect">
            <a:avLst/>
          </a:prstGeom>
          <a:solidFill>
            <a:srgbClr val="D5F4E6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学生入力画面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・24時間質問入力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・カテゴリ別質問対応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・練習問題自動生成</a:t>
            </a:r>
            <a:endParaRPr lang="en-US" sz="1300" dirty="0"/>
          </a:p>
          <a:p>
            <a:pPr marL="0" lvl="1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（5択2正解形式）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・難易度選択機能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2103120"/>
            <a:ext cx="2377440" cy="9144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383280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医薬品情報学専用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AIエンジン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RAG + 知識ベース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OpenAI GPT-4o,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Anthropic Claude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Sonnet4, Opus4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・オリジナル講義資料</a:t>
            </a:r>
            <a:endParaRPr lang="en-US" sz="1100" dirty="0"/>
          </a:p>
          <a:p>
            <a:pPr marL="0" lvl="1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  （著作権クリア）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・学習ログの安全な管理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3200400"/>
          </a:xfrm>
          <a:prstGeom prst="rect">
            <a:avLst/>
          </a:prstGeom>
          <a:solidFill>
            <a:srgbClr val="FEF5E7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126480" y="109728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教員確認画面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・学習履歴の確認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・つまずきポイントの</a:t>
            </a:r>
            <a:endParaRPr lang="en-US" sz="1300" dirty="0"/>
          </a:p>
          <a:p>
            <a:pPr marL="0" lvl="1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可視化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・FAQ自動抽出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・記録出力機能</a:t>
            </a:r>
            <a:endParaRPr lang="en-US" sz="1300" dirty="0"/>
          </a:p>
          <a:p>
            <a:pPr marL="0" lvl="1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（CSV/excel）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</a:rPr>
              <a:t>📊 データフロー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</a:rPr>
              <a:t>学生の質問 → AI処理（RAG検索） → 専門的回答 → 学習ログ、蓄積・分析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59B6"/>
                </a:solidFill>
              </a:rPr>
              <a:t>【補足】研究の独創性（詳細）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188720" y="13258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235A"/>
                </a:solidFill>
              </a:rPr>
              <a:t>❶ 24時間リアルタイム対応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疑問を放置しない学習環境の実現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7315200" cy="100584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188720" y="26060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235A"/>
                </a:solidFill>
              </a:rPr>
              <a:t>❷ つまずきの地図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質問データの定量分析・可視化による教育改善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7315200" cy="100584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188720" y="3886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235A"/>
                </a:solidFill>
              </a:rPr>
              <a:t>❸ 客観的教育効果検証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42976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10年分の成績データを活用した統計的分析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477</Words>
  <Application>Microsoft Macintosh PowerPoint</Application>
  <PresentationFormat>画面に合わせる (16:9)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薬学教育における生成AI活用システムの実証研究</dc:title>
  <dc:subject>PptxGenJS Presentation</dc:subject>
  <dc:creator>保田康彦</dc:creator>
  <cp:lastModifiedBy>橋本　保彦</cp:lastModifiedBy>
  <cp:revision>2</cp:revision>
  <dcterms:created xsi:type="dcterms:W3CDTF">2026-01-29T22:02:40Z</dcterms:created>
  <dcterms:modified xsi:type="dcterms:W3CDTF">2026-01-29T22:14:23Z</dcterms:modified>
</cp:coreProperties>
</file>