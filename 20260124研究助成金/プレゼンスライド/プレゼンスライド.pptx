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61" r:id="rId2"/>
    <p:sldId id="256" r:id="rId3"/>
    <p:sldId id="269" r:id="rId4"/>
    <p:sldId id="259" r:id="rId5"/>
    <p:sldId id="264" r:id="rId6"/>
    <p:sldId id="265" r:id="rId7"/>
    <p:sldId id="266" r:id="rId8"/>
    <p:sldId id="267" r:id="rId9"/>
    <p:sldId id="260" r:id="rId10"/>
    <p:sldId id="270" r:id="rId11"/>
    <p:sldId id="271" r:id="rId12"/>
  </p:sldIdLst>
  <p:sldSz cx="6858000" cy="51435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26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59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41772"/>
            <a:ext cx="58293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701528"/>
            <a:ext cx="51435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46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823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282305"/>
            <a:ext cx="5915025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442099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3231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369218"/>
            <a:ext cx="291465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369218"/>
            <a:ext cx="291465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564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73845"/>
            <a:ext cx="5915025" cy="9941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878806"/>
            <a:ext cx="2915543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7641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7350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9482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40570"/>
            <a:ext cx="3471863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104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40570"/>
            <a:ext cx="3471863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00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311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73843"/>
            <a:ext cx="1478756" cy="435887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73843"/>
            <a:ext cx="4350544" cy="435887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701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30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73845"/>
            <a:ext cx="5915025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369218"/>
            <a:ext cx="5915025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767264"/>
            <a:ext cx="23145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4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C033-8F13-F56B-8B42-25CC1913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12D5326-42F5-2925-A2C3-839F6DB7994F}"/>
              </a:ext>
            </a:extLst>
          </p:cNvPr>
          <p:cNvSpPr txBox="1"/>
          <p:nvPr/>
        </p:nvSpPr>
        <p:spPr>
          <a:xfrm>
            <a:off x="1124523" y="1102490"/>
            <a:ext cx="460895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1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AI</a:t>
            </a:r>
            <a:r>
              <a:rPr kumimoji="1" lang="ja-JP" altLang="en-US" sz="2100">
                <a:latin typeface="MS UI Gothic" panose="020B0600070205080204" pitchFamily="34" charset="-128"/>
                <a:ea typeface="MS UI Gothic" panose="020B0600070205080204" pitchFamily="34" charset="-128"/>
              </a:rPr>
              <a:t>を活用した即時質問応答型</a:t>
            </a:r>
            <a:endParaRPr kumimoji="1" lang="en-US" altLang="ja-JP" sz="21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kumimoji="1" lang="ja-JP" altLang="en-US" sz="2100">
                <a:latin typeface="MS UI Gothic" panose="020B0600070205080204" pitchFamily="34" charset="-128"/>
                <a:ea typeface="MS UI Gothic" panose="020B0600070205080204" pitchFamily="34" charset="-128"/>
              </a:rPr>
              <a:t>学習支援システム「魔法の黒板」の開発と</a:t>
            </a:r>
            <a:endParaRPr kumimoji="1" lang="en-US" altLang="ja-JP" sz="21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kumimoji="1" lang="ja-JP" altLang="en-US" sz="2100">
                <a:latin typeface="MS UI Gothic" panose="020B0600070205080204" pitchFamily="34" charset="-128"/>
                <a:ea typeface="MS UI Gothic" panose="020B0600070205080204" pitchFamily="34" charset="-128"/>
              </a:rPr>
              <a:t>薬学教育における教育効果の検証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5813CB-9621-5D84-7783-CE369D08DA45}"/>
              </a:ext>
            </a:extLst>
          </p:cNvPr>
          <p:cNvSpPr txBox="1"/>
          <p:nvPr/>
        </p:nvSpPr>
        <p:spPr>
          <a:xfrm>
            <a:off x="2013829" y="3071714"/>
            <a:ext cx="28777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>
                <a:latin typeface="MS UI Gothic" panose="020B0600070205080204" pitchFamily="34" charset="-128"/>
                <a:ea typeface="MS UI Gothic" panose="020B0600070205080204" pitchFamily="34" charset="-128"/>
              </a:rPr>
              <a:t>薬学部</a:t>
            </a:r>
            <a:endParaRPr kumimoji="1" lang="en-US" altLang="ja-JP" sz="21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kumimoji="1" lang="ja-JP" altLang="en-US" sz="2100">
                <a:latin typeface="MS UI Gothic" panose="020B0600070205080204" pitchFamily="34" charset="-128"/>
                <a:ea typeface="MS UI Gothic" panose="020B0600070205080204" pitchFamily="34" charset="-128"/>
              </a:rPr>
              <a:t>橋本　保彦、辰見　明俊</a:t>
            </a:r>
          </a:p>
        </p:txBody>
      </p:sp>
    </p:spTree>
    <p:extLst>
      <p:ext uri="{BB962C8B-B14F-4D97-AF65-F5344CB8AC3E}">
        <p14:creationId xmlns:p14="http://schemas.microsoft.com/office/powerpoint/2010/main" val="211729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5324" y="718281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  <a:spcAft>
                <a:spcPts val="600"/>
              </a:spcAft>
            </a:pPr>
            <a:r>
              <a:rPr lang="en-US" sz="1650" b="1" dirty="0">
                <a:solidFill>
                  <a:srgbClr val="FFD7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【背景】</a:t>
            </a:r>
            <a:endParaRPr lang="en-US" sz="165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5324" y="1016108"/>
            <a:ext cx="5900506" cy="683121"/>
          </a:xfrm>
          <a:prstGeom prst="roundRect">
            <a:avLst>
              <a:gd name="adj" fmla="val 16162"/>
            </a:avLst>
          </a:prstGeom>
          <a:solidFill>
            <a:schemeClr val="bg1">
              <a:alpha val="95000"/>
            </a:schemeClr>
          </a:solidFill>
          <a:ln/>
        </p:spPr>
        <p:txBody>
          <a:bodyPr wrap="square" rtlCol="0" anchor="ctr"/>
          <a:lstStyle/>
          <a:p>
            <a:pPr>
              <a:lnSpc>
                <a:spcPts val="1913"/>
              </a:lnSpc>
            </a:pP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薬学教育では膨大な専門知識の習得が求められる中</a:t>
            </a:r>
            <a:r>
              <a:rPr lang="en-US" altLang="ja-JP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、</a:t>
            </a:r>
          </a:p>
          <a:p>
            <a:pPr>
              <a:lnSpc>
                <a:spcPts val="1913"/>
              </a:lnSpc>
            </a:pP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学生は多くの「つまずき」に直面している</a:t>
            </a:r>
            <a:endParaRPr lang="en-US" altLang="ja-JP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5324" y="1764289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  <a:spcAft>
                <a:spcPts val="600"/>
              </a:spcAft>
            </a:pPr>
            <a:r>
              <a:rPr lang="en-US" sz="1650" b="1" dirty="0">
                <a:solidFill>
                  <a:srgbClr val="FFD7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【現状の課題】</a:t>
            </a:r>
            <a:endParaRPr lang="en-US" sz="165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5324" y="2062116"/>
            <a:ext cx="5900506" cy="1483819"/>
          </a:xfrm>
          <a:prstGeom prst="roundRect">
            <a:avLst>
              <a:gd name="adj" fmla="val 5732"/>
            </a:avLst>
          </a:prstGeom>
          <a:solidFill>
            <a:schemeClr val="bg1">
              <a:alpha val="95000"/>
            </a:schemeClr>
          </a:solidFill>
          <a:ln/>
        </p:spPr>
        <p:txBody>
          <a:bodyPr wrap="square" rtlCol="0" anchor="ctr"/>
          <a:lstStyle/>
          <a:p>
            <a:pPr>
              <a:lnSpc>
                <a:spcPts val="168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ja-JP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・</a:t>
            </a: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疑問点を即座に解決する手段が限定的</a:t>
            </a:r>
            <a:endParaRPr lang="en-US" altLang="ja-JP" dirty="0">
              <a:latin typeface="MS UI Gothic" panose="020B0600070205080204" pitchFamily="34" charset="-128"/>
              <a:ea typeface="MS UI Gothic" panose="020B0600070205080204" pitchFamily="34" charset="-128"/>
              <a:cs typeface="Arial" pitchFamily="34" charset="-120"/>
            </a:endParaRPr>
          </a:p>
          <a:p>
            <a:pPr>
              <a:lnSpc>
                <a:spcPts val="168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ja-JP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・</a:t>
            </a: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つまずきの放置</a:t>
            </a:r>
            <a:r>
              <a:rPr lang="en-US" altLang="ja-JP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 → </a:t>
            </a: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学習意欲の低下</a:t>
            </a:r>
            <a:endParaRPr lang="en-US" altLang="ja-JP" dirty="0">
              <a:latin typeface="MS UI Gothic" panose="020B0600070205080204" pitchFamily="34" charset="-128"/>
              <a:ea typeface="MS UI Gothic" panose="020B0600070205080204" pitchFamily="34" charset="-128"/>
              <a:cs typeface="Arial" pitchFamily="34" charset="-120"/>
            </a:endParaRPr>
          </a:p>
          <a:p>
            <a:pPr>
              <a:lnSpc>
                <a:spcPts val="168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ja-JP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・</a:t>
            </a: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理解困難点の把握が困難</a:t>
            </a:r>
            <a:endParaRPr lang="en-US" altLang="ja-JP" dirty="0">
              <a:latin typeface="MS UI Gothic" panose="020B0600070205080204" pitchFamily="34" charset="-128"/>
              <a:ea typeface="MS UI Gothic" panose="020B0600070205080204" pitchFamily="34" charset="-128"/>
              <a:cs typeface="Arial" pitchFamily="34" charset="-120"/>
            </a:endParaRPr>
          </a:p>
          <a:p>
            <a:pPr>
              <a:lnSpc>
                <a:spcPts val="168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ja-JP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・</a:t>
            </a: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スマホ世代への対応不足</a:t>
            </a:r>
            <a:endParaRPr lang="en-US" altLang="ja-JP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6894" y="2521894"/>
            <a:ext cx="7811262" cy="213271"/>
          </a:xfrm>
          <a:prstGeom prst="rect">
            <a:avLst/>
          </a:prstGeom>
          <a:noFill/>
          <a:ln/>
        </p:spPr>
        <p:txBody>
          <a:bodyPr wrap="square" lIns="209550" tIns="0" rIns="0" bIns="0" rtlCol="0" anchor="t"/>
          <a:lstStyle/>
          <a:p>
            <a:pPr>
              <a:lnSpc>
                <a:spcPts val="1680"/>
              </a:lnSpc>
              <a:spcBef>
                <a:spcPts val="450"/>
              </a:spcBef>
              <a:spcAft>
                <a:spcPts val="450"/>
              </a:spcAft>
            </a:pP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6894" y="2792314"/>
            <a:ext cx="7811262" cy="213271"/>
          </a:xfrm>
          <a:prstGeom prst="rect">
            <a:avLst/>
          </a:prstGeom>
          <a:noFill/>
          <a:ln/>
        </p:spPr>
        <p:txBody>
          <a:bodyPr wrap="square" lIns="209550" tIns="0" rIns="0" bIns="0" rtlCol="0" anchor="t"/>
          <a:lstStyle/>
          <a:p>
            <a:pPr>
              <a:lnSpc>
                <a:spcPts val="1680"/>
              </a:lnSpc>
              <a:spcBef>
                <a:spcPts val="450"/>
              </a:spcBef>
              <a:spcAft>
                <a:spcPts val="450"/>
              </a:spcAft>
            </a:pP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6894" y="3062735"/>
            <a:ext cx="7811262" cy="213271"/>
          </a:xfrm>
          <a:prstGeom prst="rect">
            <a:avLst/>
          </a:prstGeom>
          <a:noFill/>
          <a:ln/>
        </p:spPr>
        <p:txBody>
          <a:bodyPr wrap="square" lIns="209550" tIns="0" rIns="0" bIns="0" rtlCol="0" anchor="t"/>
          <a:lstStyle/>
          <a:p>
            <a:pPr>
              <a:lnSpc>
                <a:spcPts val="1680"/>
              </a:lnSpc>
              <a:spcBef>
                <a:spcPts val="450"/>
              </a:spcBef>
              <a:spcAft>
                <a:spcPts val="450"/>
              </a:spcAft>
            </a:pP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5324" y="3610995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  <a:spcAft>
                <a:spcPts val="600"/>
              </a:spcAft>
            </a:pPr>
            <a:r>
              <a:rPr lang="en-US" sz="1650" b="1" dirty="0">
                <a:solidFill>
                  <a:srgbClr val="FFD7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【研究目的】</a:t>
            </a:r>
            <a:endParaRPr lang="en-US" sz="165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5324" y="3908823"/>
            <a:ext cx="5900506" cy="946844"/>
          </a:xfrm>
          <a:prstGeom prst="roundRect">
            <a:avLst>
              <a:gd name="adj" fmla="val 10667"/>
            </a:avLst>
          </a:prstGeom>
          <a:solidFill>
            <a:schemeClr val="bg1">
              <a:alpha val="95000"/>
            </a:schemeClr>
          </a:solidFill>
          <a:ln/>
        </p:spPr>
        <p:txBody>
          <a:bodyPr wrap="square" rtlCol="0" anchor="ctr"/>
          <a:lstStyle/>
          <a:p>
            <a:pPr>
              <a:lnSpc>
                <a:spcPts val="1913"/>
              </a:lnSpc>
            </a:pP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これらの課題を解決するため、AI</a:t>
            </a:r>
            <a:r>
              <a:rPr lang="ja-JP" altLang="en-US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を</a:t>
            </a: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活用</a:t>
            </a:r>
            <a:r>
              <a:rPr lang="ja-JP" altLang="en-US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した即時質問応答</a:t>
            </a: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型学習支援システム「</a:t>
            </a:r>
            <a:r>
              <a:rPr lang="en-US" altLang="ja-JP" dirty="0" err="1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魔法の黒板</a:t>
            </a:r>
            <a:r>
              <a:rPr lang="en-US" altLang="ja-JP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」を開発し、薬学教育における教育効果を検証する</a:t>
            </a:r>
            <a:endParaRPr lang="en-US" altLang="ja-JP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0316955-3BB0-BB1E-42A4-625107C3331E}"/>
              </a:ext>
            </a:extLst>
          </p:cNvPr>
          <p:cNvSpPr txBox="1"/>
          <p:nvPr/>
        </p:nvSpPr>
        <p:spPr>
          <a:xfrm>
            <a:off x="1999762" y="212882"/>
            <a:ext cx="2858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研究の背景と目的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2170526" y="2220488"/>
            <a:ext cx="21985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35"/>
              </a:lnSpc>
              <a:spcBef>
                <a:spcPts val="225"/>
              </a:spcBef>
              <a:spcAft>
                <a:spcPts val="225"/>
              </a:spcAft>
            </a:pPr>
            <a:r>
              <a:rPr lang="en-US" sz="3600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⇄</a:t>
            </a:r>
            <a:endParaRPr lang="en-US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15675" y="2220488"/>
            <a:ext cx="21985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35"/>
              </a:lnSpc>
              <a:spcBef>
                <a:spcPts val="225"/>
              </a:spcBef>
              <a:spcAft>
                <a:spcPts val="225"/>
              </a:spcAft>
            </a:pPr>
            <a:r>
              <a:rPr lang="en-US" sz="3600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⇄</a:t>
            </a:r>
            <a:endParaRPr lang="en-US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8625" y="4009786"/>
            <a:ext cx="6000750" cy="974447"/>
          </a:xfrm>
          <a:prstGeom prst="roundRect">
            <a:avLst>
              <a:gd name="adj" fmla="val 655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1500" y="4100469"/>
            <a:ext cx="5829300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450"/>
              </a:spcAft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r>
              <a:rPr lang="en-US" sz="1200" b="1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データフロー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59570" y="4346147"/>
            <a:ext cx="1216867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33"/>
              </a:lnSpc>
              <a:spcBef>
                <a:spcPts val="225"/>
              </a:spcBef>
              <a:spcAft>
                <a:spcPts val="225"/>
              </a:spcAft>
            </a:pPr>
            <a:r>
              <a:rPr lang="en-US" sz="1238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238" dirty="0"/>
          </a:p>
        </p:txBody>
      </p:sp>
      <p:sp>
        <p:nvSpPr>
          <p:cNvPr id="20" name="Text 17"/>
          <p:cNvSpPr/>
          <p:nvPr/>
        </p:nvSpPr>
        <p:spPr>
          <a:xfrm>
            <a:off x="559570" y="4594727"/>
            <a:ext cx="1216867" cy="10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0"/>
              </a:lnSpc>
            </a:pPr>
            <a:r>
              <a:rPr lang="en-US" sz="12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学生の質問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850231" y="4317572"/>
            <a:ext cx="145733" cy="4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</a:pPr>
            <a:r>
              <a:rPr lang="en-US" sz="11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2066901" y="4346147"/>
            <a:ext cx="1216867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33"/>
              </a:lnSpc>
              <a:spcBef>
                <a:spcPts val="225"/>
              </a:spcBef>
              <a:spcAft>
                <a:spcPts val="225"/>
              </a:spcAft>
            </a:pPr>
            <a:r>
              <a:rPr lang="en-US" sz="1238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238" dirty="0"/>
          </a:p>
        </p:txBody>
      </p:sp>
      <p:sp>
        <p:nvSpPr>
          <p:cNvPr id="23" name="Text 20"/>
          <p:cNvSpPr/>
          <p:nvPr/>
        </p:nvSpPr>
        <p:spPr>
          <a:xfrm>
            <a:off x="2066901" y="4594727"/>
            <a:ext cx="1216867" cy="205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0"/>
              </a:lnSpc>
            </a:pPr>
            <a:r>
              <a:rPr lang="en-US" sz="1200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AI処理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  <a:cs typeface="Arial" pitchFamily="34" charset="-120"/>
            </a:endParaRPr>
          </a:p>
          <a:p>
            <a:pPr algn="ctr">
              <a:lnSpc>
                <a:spcPts val="810"/>
              </a:lnSpc>
            </a:pPr>
            <a:endParaRPr lang="en-US" sz="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>
              <a:lnSpc>
                <a:spcPts val="810"/>
              </a:lnSpc>
            </a:pPr>
            <a:r>
              <a:rPr lang="en-US" sz="12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(</a:t>
            </a:r>
            <a:r>
              <a:rPr lang="en-US" sz="1200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RAG検索</a:t>
            </a:r>
            <a:r>
              <a:rPr lang="en-US" sz="12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)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357562" y="4317572"/>
            <a:ext cx="145733" cy="4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</a:pPr>
            <a:r>
              <a:rPr lang="en-US" sz="11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3574233" y="4346147"/>
            <a:ext cx="1216867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33"/>
              </a:lnSpc>
              <a:spcBef>
                <a:spcPts val="225"/>
              </a:spcBef>
              <a:spcAft>
                <a:spcPts val="225"/>
              </a:spcAft>
            </a:pPr>
            <a:r>
              <a:rPr lang="en-US" sz="1238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3574233" y="4594727"/>
            <a:ext cx="1216867" cy="10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0"/>
              </a:lnSpc>
            </a:pPr>
            <a:r>
              <a:rPr lang="en-US" sz="12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専門的回答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864894" y="4317572"/>
            <a:ext cx="145733" cy="4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</a:pPr>
            <a:r>
              <a:rPr lang="en-US" sz="11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5081564" y="4346147"/>
            <a:ext cx="1216867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33"/>
              </a:lnSpc>
              <a:spcBef>
                <a:spcPts val="225"/>
              </a:spcBef>
              <a:spcAft>
                <a:spcPts val="225"/>
              </a:spcAft>
            </a:pPr>
            <a:r>
              <a:rPr lang="en-US" sz="1238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238" dirty="0"/>
          </a:p>
        </p:txBody>
      </p:sp>
      <p:sp>
        <p:nvSpPr>
          <p:cNvPr id="29" name="Text 26"/>
          <p:cNvSpPr/>
          <p:nvPr/>
        </p:nvSpPr>
        <p:spPr>
          <a:xfrm>
            <a:off x="5081564" y="4594727"/>
            <a:ext cx="1216867" cy="205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0"/>
              </a:lnSpc>
            </a:pPr>
            <a:r>
              <a:rPr lang="en-US" sz="1200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学習ログ</a:t>
            </a:r>
            <a:r>
              <a:rPr lang="en-US" sz="12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、</a:t>
            </a:r>
          </a:p>
          <a:p>
            <a:pPr algn="ctr">
              <a:lnSpc>
                <a:spcPts val="810"/>
              </a:lnSpc>
            </a:pPr>
            <a:endParaRPr lang="en-US" sz="800" dirty="0">
              <a:latin typeface="MS UI Gothic" panose="020B0600070205080204" pitchFamily="34" charset="-128"/>
              <a:ea typeface="MS UI Gothic" panose="020B0600070205080204" pitchFamily="34" charset="-128"/>
              <a:cs typeface="Arial" pitchFamily="34" charset="-120"/>
            </a:endParaRPr>
          </a:p>
          <a:p>
            <a:pPr algn="ctr">
              <a:lnSpc>
                <a:spcPts val="810"/>
              </a:lnSpc>
            </a:pPr>
            <a:r>
              <a:rPr lang="en-US" sz="1200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蓄積・分析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F770A13-1C88-E436-BEE2-875891C65213}"/>
              </a:ext>
            </a:extLst>
          </p:cNvPr>
          <p:cNvSpPr txBox="1"/>
          <p:nvPr/>
        </p:nvSpPr>
        <p:spPr>
          <a:xfrm>
            <a:off x="1103687" y="212883"/>
            <a:ext cx="46506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魔法の黒板ーシステムの概要ー</a:t>
            </a: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4AC91429-065A-D0AD-172B-57C9AC346619}"/>
              </a:ext>
            </a:extLst>
          </p:cNvPr>
          <p:cNvGrpSpPr/>
          <p:nvPr/>
        </p:nvGrpSpPr>
        <p:grpSpPr>
          <a:xfrm>
            <a:off x="424815" y="1128366"/>
            <a:ext cx="1492716" cy="2439293"/>
            <a:chOff x="829545" y="1128366"/>
            <a:chExt cx="1492716" cy="2439293"/>
          </a:xfrm>
        </p:grpSpPr>
        <p:sp>
          <p:nvSpPr>
            <p:cNvPr id="3" name="Text 1"/>
            <p:cNvSpPr/>
            <p:nvPr/>
          </p:nvSpPr>
          <p:spPr>
            <a:xfrm>
              <a:off x="856022" y="1128366"/>
              <a:ext cx="1450945" cy="2439293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38100">
              <a:solidFill>
                <a:srgbClr val="4CAF50"/>
              </a:solidFill>
            </a:ln>
            <a:effectLst>
              <a:outerShdw blurRad="190500" dist="76200" dir="5400000" algn="bl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endParaRPr lang="en-US" sz="135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018042" y="1238451"/>
              <a:ext cx="961835" cy="4200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3308"/>
                </a:lnSpc>
                <a:spcBef>
                  <a:spcPts val="225"/>
                </a:spcBef>
                <a:spcAft>
                  <a:spcPts val="563"/>
                </a:spcAft>
              </a:pPr>
              <a:r>
                <a:rPr lang="en-US" sz="2363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🎓</a:t>
              </a:r>
              <a:endParaRPr lang="en-US" sz="2363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018042" y="1587514"/>
              <a:ext cx="961835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575"/>
                </a:lnSpc>
                <a:spcAft>
                  <a:spcPts val="450"/>
                </a:spcAft>
              </a:pPr>
              <a:r>
                <a:rPr lang="en-US" sz="12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学生入力画面</a:t>
              </a:r>
              <a:endParaRPr lang="en-US" sz="12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41081DA5-C635-2408-81D6-3B88F128BFE5}"/>
                </a:ext>
              </a:extLst>
            </p:cNvPr>
            <p:cNvSpPr txBox="1"/>
            <p:nvPr/>
          </p:nvSpPr>
          <p:spPr>
            <a:xfrm>
              <a:off x="829545" y="1851460"/>
              <a:ext cx="13388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kumimoji="1" lang="en-US" altLang="ja-JP" sz="12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24</a:t>
              </a:r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時間質問入力</a:t>
              </a: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304DECB4-BE3E-CDE8-F9C7-3617D147491A}"/>
                </a:ext>
              </a:extLst>
            </p:cNvPr>
            <p:cNvSpPr txBox="1"/>
            <p:nvPr/>
          </p:nvSpPr>
          <p:spPr>
            <a:xfrm>
              <a:off x="829545" y="2160825"/>
              <a:ext cx="9781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・カテゴリー別</a:t>
              </a:r>
              <a:endParaRPr kumimoji="1" lang="en-US" altLang="ja-JP" sz="12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　質問対応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BFB1D01F-EBE4-6034-E6EA-27CE73BAE103}"/>
                </a:ext>
              </a:extLst>
            </p:cNvPr>
            <p:cNvSpPr txBox="1"/>
            <p:nvPr/>
          </p:nvSpPr>
          <p:spPr>
            <a:xfrm>
              <a:off x="829545" y="2654856"/>
              <a:ext cx="14927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・練習問題自動生成</a:t>
              </a:r>
              <a:endParaRPr kumimoji="1" lang="en-US" altLang="ja-JP" sz="12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　（</a:t>
              </a:r>
              <a:r>
                <a:rPr kumimoji="1" lang="en-US" altLang="ja-JP" sz="12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5</a:t>
              </a:r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択</a:t>
              </a:r>
              <a:r>
                <a:rPr kumimoji="1" lang="en-US" altLang="ja-JP" sz="12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</a:t>
              </a:r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正解形式）</a:t>
              </a: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0E2D2E9D-4C8A-DBF4-A4CF-DF9BBCE53CED}"/>
                </a:ext>
              </a:extLst>
            </p:cNvPr>
            <p:cNvSpPr txBox="1"/>
            <p:nvPr/>
          </p:nvSpPr>
          <p:spPr>
            <a:xfrm>
              <a:off x="829545" y="3148887"/>
              <a:ext cx="13388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・難易度選択機能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3CDC82FE-1248-6CFB-032B-E0C274DA5F15}"/>
              </a:ext>
            </a:extLst>
          </p:cNvPr>
          <p:cNvGrpSpPr/>
          <p:nvPr/>
        </p:nvGrpSpPr>
        <p:grpSpPr>
          <a:xfrm>
            <a:off x="4833796" y="1128366"/>
            <a:ext cx="1475657" cy="2439293"/>
            <a:chOff x="4691391" y="1128366"/>
            <a:chExt cx="1475657" cy="2439293"/>
          </a:xfrm>
        </p:grpSpPr>
        <p:sp>
          <p:nvSpPr>
            <p:cNvPr id="13" name="Text 10"/>
            <p:cNvSpPr/>
            <p:nvPr/>
          </p:nvSpPr>
          <p:spPr>
            <a:xfrm>
              <a:off x="4716103" y="1128366"/>
              <a:ext cx="1450945" cy="2439293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38100">
              <a:solidFill>
                <a:srgbClr val="FF9800"/>
              </a:solidFill>
            </a:ln>
            <a:effectLst>
              <a:outerShdw blurRad="190500" dist="76200" dir="5400000" algn="bl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endParaRPr lang="en-US" sz="13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4878123" y="1238451"/>
              <a:ext cx="961835" cy="4200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3308"/>
                </a:lnSpc>
                <a:spcBef>
                  <a:spcPts val="225"/>
                </a:spcBef>
                <a:spcAft>
                  <a:spcPts val="563"/>
                </a:spcAft>
              </a:pPr>
              <a:r>
                <a:rPr lang="en-US" sz="2363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👨‍🏫</a:t>
              </a:r>
              <a:endParaRPr lang="en-US" sz="2363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4878123" y="1587514"/>
              <a:ext cx="961835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575"/>
                </a:lnSpc>
                <a:spcAft>
                  <a:spcPts val="450"/>
                </a:spcAft>
              </a:pPr>
              <a:r>
                <a:rPr lang="en-US" sz="12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教員確認画面</a:t>
              </a:r>
              <a:endParaRPr lang="en-US" sz="12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027EC0F5-E2AC-BE76-E7F9-A5B09246F5D6}"/>
                </a:ext>
              </a:extLst>
            </p:cNvPr>
            <p:cNvSpPr txBox="1"/>
            <p:nvPr/>
          </p:nvSpPr>
          <p:spPr>
            <a:xfrm>
              <a:off x="4691391" y="1869044"/>
              <a:ext cx="13099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・学習履歴の確認</a:t>
              </a: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BB22231-F3B3-3418-B317-8E384BF57FF2}"/>
                </a:ext>
              </a:extLst>
            </p:cNvPr>
            <p:cNvSpPr txBox="1"/>
            <p:nvPr/>
          </p:nvSpPr>
          <p:spPr>
            <a:xfrm>
              <a:off x="4691391" y="2172548"/>
              <a:ext cx="13340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・つまづき</a:t>
              </a:r>
              <a:endParaRPr kumimoji="1" lang="en-US" altLang="ja-JP" sz="12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　ポイントの可視化</a:t>
              </a: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6EC56408-C660-40CA-6EB8-C05974CD2B72}"/>
                </a:ext>
              </a:extLst>
            </p:cNvPr>
            <p:cNvSpPr txBox="1"/>
            <p:nvPr/>
          </p:nvSpPr>
          <p:spPr>
            <a:xfrm>
              <a:off x="4691391" y="2660718"/>
              <a:ext cx="12153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kumimoji="1" lang="en-US" altLang="ja-JP" sz="12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FAQ </a:t>
              </a:r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自動抽出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9837E863-5D82-7EAD-FA30-BE9D08305851}"/>
                </a:ext>
              </a:extLst>
            </p:cNvPr>
            <p:cNvSpPr txBox="1"/>
            <p:nvPr/>
          </p:nvSpPr>
          <p:spPr>
            <a:xfrm>
              <a:off x="4691391" y="2964221"/>
              <a:ext cx="11849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・記録出力機能</a:t>
              </a:r>
              <a:endParaRPr kumimoji="1" lang="en-US" altLang="ja-JP" sz="12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　（</a:t>
              </a:r>
              <a:r>
                <a:rPr kumimoji="1" lang="en-US" altLang="ja-JP" sz="12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csv/excel</a:t>
              </a:r>
              <a:r>
                <a:rPr kumimoji="1" lang="ja-JP" altLang="en-US" sz="1200">
                  <a:latin typeface="MS UI Gothic" panose="020B0600070205080204" pitchFamily="34" charset="-128"/>
                  <a:ea typeface="MS UI Gothic" panose="020B0600070205080204" pitchFamily="34" charset="-128"/>
                </a:rPr>
                <a:t>）</a:t>
              </a: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11C1505C-87A5-8D39-A21E-414016624A1A}"/>
              </a:ext>
            </a:extLst>
          </p:cNvPr>
          <p:cNvGrpSpPr/>
          <p:nvPr/>
        </p:nvGrpSpPr>
        <p:grpSpPr>
          <a:xfrm>
            <a:off x="2539300" y="1128366"/>
            <a:ext cx="1616122" cy="1388720"/>
            <a:chOff x="2640699" y="1530268"/>
            <a:chExt cx="1616122" cy="1388720"/>
          </a:xfr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43" name="円/楕円 42">
              <a:extLst>
                <a:ext uri="{FF2B5EF4-FFF2-40B4-BE49-F238E27FC236}">
                  <a16:creationId xmlns:a16="http://schemas.microsoft.com/office/drawing/2014/main" id="{381830D4-7EAC-12F8-3146-CC2AAC6AD991}"/>
                </a:ext>
              </a:extLst>
            </p:cNvPr>
            <p:cNvSpPr/>
            <p:nvPr/>
          </p:nvSpPr>
          <p:spPr>
            <a:xfrm>
              <a:off x="2760065" y="1530268"/>
              <a:ext cx="1388720" cy="138872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D1B659CE-4AE4-EFE4-FBF0-D75A3D3C361D}"/>
                </a:ext>
              </a:extLst>
            </p:cNvPr>
            <p:cNvSpPr/>
            <p:nvPr/>
          </p:nvSpPr>
          <p:spPr>
            <a:xfrm>
              <a:off x="3249830" y="1648663"/>
              <a:ext cx="409190" cy="450056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3544"/>
                </a:lnSpc>
                <a:spcBef>
                  <a:spcPts val="225"/>
                </a:spcBef>
                <a:spcAft>
                  <a:spcPts val="338"/>
                </a:spcAft>
              </a:pPr>
              <a:r>
                <a:rPr lang="en-US" sz="2531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🤖</a:t>
              </a:r>
              <a:endParaRPr lang="en-US" sz="2531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5887B6E0-DA1D-DD1A-3F7A-C04386A586BA}"/>
                </a:ext>
              </a:extLst>
            </p:cNvPr>
            <p:cNvSpPr/>
            <p:nvPr/>
          </p:nvSpPr>
          <p:spPr>
            <a:xfrm>
              <a:off x="2640699" y="2007240"/>
              <a:ext cx="1616122" cy="4095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418"/>
                </a:lnSpc>
              </a:pPr>
              <a:r>
                <a:rPr lang="en-US" sz="12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医薬品情報学専用</a:t>
              </a:r>
              <a:endParaRPr lang="en-US" sz="12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endParaRPr>
            </a:p>
            <a:p>
              <a:pPr algn="ctr">
                <a:lnSpc>
                  <a:spcPts val="1418"/>
                </a:lnSpc>
              </a:pPr>
              <a:r>
                <a:rPr lang="en-US" sz="12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AIエンジン</a:t>
              </a:r>
              <a:endParaRPr lang="en-US" sz="12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6FFFA479-9D23-3F4F-F3A0-2A951FE22FB5}"/>
                </a:ext>
              </a:extLst>
            </p:cNvPr>
            <p:cNvSpPr/>
            <p:nvPr/>
          </p:nvSpPr>
          <p:spPr>
            <a:xfrm>
              <a:off x="3056187" y="2445697"/>
              <a:ext cx="796477" cy="259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024"/>
                </a:lnSpc>
                <a:spcBef>
                  <a:spcPts val="169"/>
                </a:spcBef>
              </a:pPr>
              <a:r>
                <a:rPr lang="en-US" sz="1200" dirty="0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RAG + </a:t>
              </a:r>
            </a:p>
            <a:p>
              <a:pPr algn="ctr">
                <a:lnSpc>
                  <a:spcPts val="1024"/>
                </a:lnSpc>
                <a:spcBef>
                  <a:spcPts val="169"/>
                </a:spcBef>
              </a:pPr>
              <a:r>
                <a:rPr lang="en-US" sz="12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知識ベース</a:t>
              </a:r>
              <a:endParaRPr lang="en-US" sz="12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C2F9FDEE-8D1E-28D6-3D5F-ADC2CFD32326}"/>
              </a:ext>
            </a:extLst>
          </p:cNvPr>
          <p:cNvGrpSpPr/>
          <p:nvPr/>
        </p:nvGrpSpPr>
        <p:grpSpPr>
          <a:xfrm>
            <a:off x="2638267" y="2528001"/>
            <a:ext cx="1632525" cy="1297886"/>
            <a:chOff x="2495862" y="2528001"/>
            <a:chExt cx="1632525" cy="1297886"/>
          </a:xfr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48" name="角丸四角形 47">
              <a:extLst>
                <a:ext uri="{FF2B5EF4-FFF2-40B4-BE49-F238E27FC236}">
                  <a16:creationId xmlns:a16="http://schemas.microsoft.com/office/drawing/2014/main" id="{7F7B009C-3ACD-CEAD-2942-304C48D536C2}"/>
                </a:ext>
              </a:extLst>
            </p:cNvPr>
            <p:cNvSpPr/>
            <p:nvPr/>
          </p:nvSpPr>
          <p:spPr>
            <a:xfrm>
              <a:off x="2495862" y="2528001"/>
              <a:ext cx="1512440" cy="1297886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697EB61B-A032-ABB0-41CC-3E01E0D1BD33}"/>
                </a:ext>
              </a:extLst>
            </p:cNvPr>
            <p:cNvSpPr txBox="1"/>
            <p:nvPr/>
          </p:nvSpPr>
          <p:spPr>
            <a:xfrm>
              <a:off x="2518651" y="2565336"/>
              <a:ext cx="123623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05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kumimoji="1" lang="en-US" altLang="ja-JP" sz="105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OpenAI GPT-4o, </a:t>
              </a:r>
              <a:endParaRPr kumimoji="1" lang="ja-JP" altLang="en-US" sz="105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EAE63B6-EE29-D7D0-4260-A03F88F30840}"/>
                </a:ext>
              </a:extLst>
            </p:cNvPr>
            <p:cNvSpPr txBox="1"/>
            <p:nvPr/>
          </p:nvSpPr>
          <p:spPr>
            <a:xfrm>
              <a:off x="2518651" y="2778530"/>
              <a:ext cx="160973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05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kumimoji="1" lang="en-US" altLang="ja-JP" sz="105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Anthropic </a:t>
              </a:r>
            </a:p>
            <a:p>
              <a:r>
                <a:rPr kumimoji="1" lang="en-US" altLang="ja-JP" sz="105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 Claude Sonnet4, Opus4</a:t>
              </a:r>
              <a:endParaRPr kumimoji="1" lang="ja-JP" altLang="en-US" sz="105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F89C42E2-9AD5-D3C9-6841-109F7489C287}"/>
                </a:ext>
              </a:extLst>
            </p:cNvPr>
            <p:cNvSpPr txBox="1"/>
            <p:nvPr/>
          </p:nvSpPr>
          <p:spPr>
            <a:xfrm>
              <a:off x="2518651" y="3153306"/>
              <a:ext cx="130195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05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・オリジナル講義資料</a:t>
              </a:r>
              <a:endParaRPr kumimoji="1" lang="en-US" altLang="ja-JP" sz="105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kumimoji="1" lang="ja-JP" altLang="en-US" sz="1050">
                  <a:latin typeface="MS UI Gothic" panose="020B0600070205080204" pitchFamily="34" charset="-128"/>
                  <a:ea typeface="MS UI Gothic" panose="020B0600070205080204" pitchFamily="34" charset="-128"/>
                </a:rPr>
                <a:t>（著作権クリア）</a:t>
              </a:r>
              <a:endParaRPr kumimoji="1" lang="en-US" altLang="ja-JP" sz="105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833C42C7-93F4-B69F-173E-209F7F4E54D7}"/>
                </a:ext>
              </a:extLst>
            </p:cNvPr>
            <p:cNvSpPr txBox="1"/>
            <p:nvPr/>
          </p:nvSpPr>
          <p:spPr>
            <a:xfrm>
              <a:off x="2518651" y="3528083"/>
              <a:ext cx="148790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05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・学習ログの安全な管理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1A734-D22F-014E-BFB1-3628A1AF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9DBDA64-6B75-591A-6987-F8D078978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27461"/>
            <a:ext cx="5829300" cy="2858599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BF67B7-8A1E-8E5E-A108-A26CD1716FB5}"/>
              </a:ext>
            </a:extLst>
          </p:cNvPr>
          <p:cNvSpPr txBox="1"/>
          <p:nvPr/>
        </p:nvSpPr>
        <p:spPr>
          <a:xfrm>
            <a:off x="1634286" y="212883"/>
            <a:ext cx="3589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ー学生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kumimoji="1" lang="ja-JP" altLang="en-US" sz="280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ログイン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1201618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7037B-FC54-8AD7-553C-9C016413B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A79E6A5-E971-EEFD-4170-193F6A848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774" y="674558"/>
            <a:ext cx="3804451" cy="4395849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851654-D7DD-9C15-163D-9E91A4278A13}"/>
              </a:ext>
            </a:extLst>
          </p:cNvPr>
          <p:cNvSpPr txBox="1"/>
          <p:nvPr/>
        </p:nvSpPr>
        <p:spPr>
          <a:xfrm>
            <a:off x="1447538" y="212883"/>
            <a:ext cx="3962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ー学生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kumimoji="1" lang="ja-JP" altLang="en-US" sz="280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質問入力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52151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7AA9-4F43-720F-8D53-2A0ED844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DFB08E5-604C-BD30-4844-0E710B4C4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021" y="680664"/>
            <a:ext cx="3763504" cy="434853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E6B3F4-1E14-009C-A724-98B0E3AEEA24}"/>
              </a:ext>
            </a:extLst>
          </p:cNvPr>
          <p:cNvSpPr txBox="1"/>
          <p:nvPr/>
        </p:nvSpPr>
        <p:spPr>
          <a:xfrm>
            <a:off x="1088468" y="212883"/>
            <a:ext cx="4681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ー学生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kumimoji="1" lang="ja-JP" altLang="en-US" sz="280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練習問題生成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4142549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76FE7-0D40-D8CE-8725-F6FC48BC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D3B5FC8-51AA-6781-26E7-741C54BD8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70" y="736103"/>
            <a:ext cx="4960460" cy="417757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7F9BA0-1433-0E6F-FE46-405F270ADC67}"/>
              </a:ext>
            </a:extLst>
          </p:cNvPr>
          <p:cNvSpPr txBox="1"/>
          <p:nvPr/>
        </p:nvSpPr>
        <p:spPr>
          <a:xfrm>
            <a:off x="1179846" y="212883"/>
            <a:ext cx="44983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ー教師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kumimoji="1" lang="ja-JP" altLang="en-US" sz="280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学習ログ確認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4037501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E868-D8ED-DFC2-8F54-62CE1782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554CD54F-45C4-084A-8CBA-B9D5C5849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38" y="736103"/>
            <a:ext cx="4753924" cy="410451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A77D95-531F-8BE8-3232-6813A9D1CFA4}"/>
              </a:ext>
            </a:extLst>
          </p:cNvPr>
          <p:cNvSpPr txBox="1"/>
          <p:nvPr/>
        </p:nvSpPr>
        <p:spPr>
          <a:xfrm>
            <a:off x="886495" y="212883"/>
            <a:ext cx="5085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魔法の黒板ー教師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kumimoji="1" lang="ja-JP" altLang="en-US" sz="280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分析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2394534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429A-81FB-A634-3195-43C2321D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148AFD5-A789-9994-B234-349D50C5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746578"/>
            <a:ext cx="5829300" cy="3935164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9567F1-6B84-F3A4-29D7-1DF53861618D}"/>
              </a:ext>
            </a:extLst>
          </p:cNvPr>
          <p:cNvSpPr txBox="1"/>
          <p:nvPr/>
        </p:nvSpPr>
        <p:spPr>
          <a:xfrm>
            <a:off x="531430" y="212883"/>
            <a:ext cx="5795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ー教師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kumimoji="1" lang="ja-JP" altLang="en-US" sz="280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つまづきポイント可視化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213345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1BD2-339F-D0CC-FF76-BA593194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9ED625-FB2A-69C4-AE10-63184933FA65}"/>
              </a:ext>
            </a:extLst>
          </p:cNvPr>
          <p:cNvSpPr txBox="1"/>
          <p:nvPr/>
        </p:nvSpPr>
        <p:spPr>
          <a:xfrm>
            <a:off x="1904405" y="212883"/>
            <a:ext cx="3049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ー予想される効果ー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296C8BA-34F9-79A1-9E31-D57E6F03910D}"/>
              </a:ext>
            </a:extLst>
          </p:cNvPr>
          <p:cNvSpPr/>
          <p:nvPr/>
        </p:nvSpPr>
        <p:spPr>
          <a:xfrm>
            <a:off x="428626" y="1271588"/>
            <a:ext cx="2922099" cy="1234195"/>
          </a:xfrm>
          <a:prstGeom prst="roundRect">
            <a:avLst>
              <a:gd name="adj" fmla="val 5788"/>
            </a:avLst>
          </a:prstGeom>
          <a:solidFill>
            <a:srgbClr val="FFFFFF">
              <a:alpha val="95000"/>
            </a:srgbClr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A181E3-C093-5EC2-CF1F-CAA76AFCBE0B}"/>
              </a:ext>
            </a:extLst>
          </p:cNvPr>
          <p:cNvSpPr/>
          <p:nvPr/>
        </p:nvSpPr>
        <p:spPr>
          <a:xfrm>
            <a:off x="571501" y="1400175"/>
            <a:ext cx="270333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spcAft>
                <a:spcPts val="675"/>
              </a:spcAft>
            </a:pPr>
            <a:r>
              <a:rPr lang="en-US" sz="1200" b="1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🎓</a:t>
            </a:r>
            <a:r>
              <a:rPr lang="en-US" sz="1200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学生への効果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406624-423E-12AB-A047-89514AD72319}"/>
              </a:ext>
            </a:extLst>
          </p:cNvPr>
          <p:cNvSpPr/>
          <p:nvPr/>
        </p:nvSpPr>
        <p:spPr>
          <a:xfrm>
            <a:off x="519035" y="1725886"/>
            <a:ext cx="2845671" cy="171448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疑問点の即座解決による学習効率の向上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377BE4-2CC7-0A59-C4C4-3E81E41C106C}"/>
              </a:ext>
            </a:extLst>
          </p:cNvPr>
          <p:cNvSpPr/>
          <p:nvPr/>
        </p:nvSpPr>
        <p:spPr>
          <a:xfrm>
            <a:off x="519036" y="1942989"/>
            <a:ext cx="2703338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24時間対応で学習機会の拡大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4BD128-FBB2-20DB-C9E6-EB6623A04743}"/>
              </a:ext>
            </a:extLst>
          </p:cNvPr>
          <p:cNvSpPr/>
          <p:nvPr/>
        </p:nvSpPr>
        <p:spPr>
          <a:xfrm>
            <a:off x="519036" y="2160092"/>
            <a:ext cx="2703338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個別最適化された学習支援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4CA2FA-2CD6-7A3C-6EFA-5958F314E5D5}"/>
              </a:ext>
            </a:extLst>
          </p:cNvPr>
          <p:cNvSpPr/>
          <p:nvPr/>
        </p:nvSpPr>
        <p:spPr>
          <a:xfrm>
            <a:off x="3493294" y="1271588"/>
            <a:ext cx="2922099" cy="1234195"/>
          </a:xfrm>
          <a:prstGeom prst="roundRect">
            <a:avLst>
              <a:gd name="adj" fmla="val 5788"/>
            </a:avLst>
          </a:prstGeom>
          <a:solidFill>
            <a:srgbClr val="FFFFFF">
              <a:alpha val="95000"/>
            </a:srgbClr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DA3C195-1E74-A1AC-7758-A91509AE9172}"/>
              </a:ext>
            </a:extLst>
          </p:cNvPr>
          <p:cNvSpPr/>
          <p:nvPr/>
        </p:nvSpPr>
        <p:spPr>
          <a:xfrm>
            <a:off x="3636169" y="1400175"/>
            <a:ext cx="270333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spcAft>
                <a:spcPts val="675"/>
              </a:spcAft>
            </a:pPr>
            <a:r>
              <a:rPr lang="en-US" sz="1200" b="1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👨‍🏫</a:t>
            </a:r>
            <a:r>
              <a:rPr lang="en-US" sz="1200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教員への効果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069A8F9-17D5-F10B-F2AD-51D1596EB620}"/>
              </a:ext>
            </a:extLst>
          </p:cNvPr>
          <p:cNvSpPr/>
          <p:nvPr/>
        </p:nvSpPr>
        <p:spPr>
          <a:xfrm>
            <a:off x="3583704" y="1725886"/>
            <a:ext cx="2703338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学生の理解状況の可視化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53E98E2-D665-F61B-6489-6DE98CA5BA28}"/>
              </a:ext>
            </a:extLst>
          </p:cNvPr>
          <p:cNvSpPr/>
          <p:nvPr/>
        </p:nvSpPr>
        <p:spPr>
          <a:xfrm>
            <a:off x="3583704" y="1942989"/>
            <a:ext cx="2703338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つまずきポイントの早期発見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28DF6C-788D-E2C4-AA2D-EBD5EE3D2D30}"/>
              </a:ext>
            </a:extLst>
          </p:cNvPr>
          <p:cNvSpPr/>
          <p:nvPr/>
        </p:nvSpPr>
        <p:spPr>
          <a:xfrm>
            <a:off x="3583704" y="2160092"/>
            <a:ext cx="2703338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講義改善のための客観的データ取得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7BF7C63-55D7-3CD4-EE76-2D4DE35AFE90}"/>
              </a:ext>
            </a:extLst>
          </p:cNvPr>
          <p:cNvSpPr/>
          <p:nvPr/>
        </p:nvSpPr>
        <p:spPr>
          <a:xfrm>
            <a:off x="428625" y="2634370"/>
            <a:ext cx="5972175" cy="1234195"/>
          </a:xfrm>
          <a:prstGeom prst="roundRect">
            <a:avLst>
              <a:gd name="adj" fmla="val 5788"/>
            </a:avLst>
          </a:prstGeom>
          <a:solidFill>
            <a:srgbClr val="FFFFFF">
              <a:alpha val="95000"/>
            </a:srgbClr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77D0043-BF82-0009-D812-9FA79522B034}"/>
              </a:ext>
            </a:extLst>
          </p:cNvPr>
          <p:cNvSpPr/>
          <p:nvPr/>
        </p:nvSpPr>
        <p:spPr>
          <a:xfrm>
            <a:off x="571500" y="2762957"/>
            <a:ext cx="58293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spcAft>
                <a:spcPts val="675"/>
              </a:spcAft>
            </a:pPr>
            <a:r>
              <a:rPr lang="en-US" sz="1200" b="1" dirty="0">
                <a:solidFill>
                  <a:srgbClr val="D32F2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🎯</a:t>
            </a:r>
            <a:r>
              <a:rPr lang="en-US" sz="1200" dirty="0">
                <a:solidFill>
                  <a:srgbClr val="D32F2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D32F2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教育全体への効果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7B9D9B-BCB1-4B93-FA4B-A6F076D10B13}"/>
              </a:ext>
            </a:extLst>
          </p:cNvPr>
          <p:cNvSpPr/>
          <p:nvPr/>
        </p:nvSpPr>
        <p:spPr>
          <a:xfrm>
            <a:off x="519035" y="3088668"/>
            <a:ext cx="5829300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10年分の試験データによる客観的な教育効果検証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29F38AC-0CE3-4126-E831-36647DA9C001}"/>
              </a:ext>
            </a:extLst>
          </p:cNvPr>
          <p:cNvSpPr/>
          <p:nvPr/>
        </p:nvSpPr>
        <p:spPr>
          <a:xfrm>
            <a:off x="519035" y="3305771"/>
            <a:ext cx="5829300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他講義・他分野への展開可能性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2AE2473-297B-EAF7-0242-687E557D1C98}"/>
              </a:ext>
            </a:extLst>
          </p:cNvPr>
          <p:cNvSpPr/>
          <p:nvPr/>
        </p:nvSpPr>
        <p:spPr>
          <a:xfrm>
            <a:off x="519035" y="3522874"/>
            <a:ext cx="5829300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AI時代の薬学教育モデルの構築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3885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4C890-38CE-F586-49BF-44202EBCB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659873-9770-702C-2459-B373931D73F1}"/>
              </a:ext>
            </a:extLst>
          </p:cNvPr>
          <p:cNvSpPr txBox="1"/>
          <p:nvPr/>
        </p:nvSpPr>
        <p:spPr>
          <a:xfrm>
            <a:off x="2648196" y="212883"/>
            <a:ext cx="1561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ーまとめー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CC5D12F-58DA-AEAB-D334-51E95C0E6307}"/>
              </a:ext>
            </a:extLst>
          </p:cNvPr>
          <p:cNvSpPr/>
          <p:nvPr/>
        </p:nvSpPr>
        <p:spPr>
          <a:xfrm>
            <a:off x="428625" y="1271588"/>
            <a:ext cx="6000750" cy="1336997"/>
          </a:xfrm>
          <a:prstGeom prst="roundRect">
            <a:avLst>
              <a:gd name="adj" fmla="val 5343"/>
            </a:avLst>
          </a:prstGeom>
          <a:solidFill>
            <a:srgbClr val="FFFFFF">
              <a:alpha val="95000"/>
            </a:srgbClr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370908-CC05-AA22-3197-C1446993143F}"/>
              </a:ext>
            </a:extLst>
          </p:cNvPr>
          <p:cNvSpPr/>
          <p:nvPr/>
        </p:nvSpPr>
        <p:spPr>
          <a:xfrm>
            <a:off x="571500" y="1371600"/>
            <a:ext cx="58293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spcAft>
                <a:spcPts val="450"/>
              </a:spcAft>
            </a:pPr>
            <a:r>
              <a:rPr lang="en-US" sz="1200" b="1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🎯</a:t>
            </a:r>
            <a:r>
              <a:rPr lang="en-US" sz="1200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本研究のポイント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4FF431-2B30-8E10-2035-0E26EC4D5C7A}"/>
              </a:ext>
            </a:extLst>
          </p:cNvPr>
          <p:cNvSpPr/>
          <p:nvPr/>
        </p:nvSpPr>
        <p:spPr>
          <a:xfrm>
            <a:off x="571500" y="1668736"/>
            <a:ext cx="5829300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394"/>
              </a:spcBef>
              <a:spcAft>
                <a:spcPts val="394"/>
              </a:spcAft>
            </a:pPr>
            <a:r>
              <a:rPr lang="en-US" sz="1200" dirty="0" err="1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薬学教育（医薬品情報学）特化型AIシステム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3278B5-84C9-99BE-275D-55CC38F5F59E}"/>
              </a:ext>
            </a:extLst>
          </p:cNvPr>
          <p:cNvSpPr/>
          <p:nvPr/>
        </p:nvSpPr>
        <p:spPr>
          <a:xfrm>
            <a:off x="571500" y="1878695"/>
            <a:ext cx="5829300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394"/>
              </a:spcBef>
              <a:spcAft>
                <a:spcPts val="394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137項目の知識ベース（著作権完全クリア）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7CFD67-E1BB-C3CE-C313-AD33F5D2843D}"/>
              </a:ext>
            </a:extLst>
          </p:cNvPr>
          <p:cNvSpPr/>
          <p:nvPr/>
        </p:nvSpPr>
        <p:spPr>
          <a:xfrm>
            <a:off x="571500" y="2088655"/>
            <a:ext cx="5829300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394"/>
              </a:spcBef>
              <a:spcAft>
                <a:spcPts val="394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学生・教員双方に価値提供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F8EBDC-6F95-457D-DDFC-6DDA87377123}"/>
              </a:ext>
            </a:extLst>
          </p:cNvPr>
          <p:cNvSpPr/>
          <p:nvPr/>
        </p:nvSpPr>
        <p:spPr>
          <a:xfrm>
            <a:off x="571500" y="2298614"/>
            <a:ext cx="5829300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394"/>
              </a:spcBef>
              <a:spcAft>
                <a:spcPts val="394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2026年度実証実験実施予定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61F70C-ED60-4BA6-04D0-EE6539604B15}"/>
              </a:ext>
            </a:extLst>
          </p:cNvPr>
          <p:cNvSpPr/>
          <p:nvPr/>
        </p:nvSpPr>
        <p:spPr>
          <a:xfrm>
            <a:off x="428625" y="2680022"/>
            <a:ext cx="6000750" cy="1127039"/>
          </a:xfrm>
          <a:prstGeom prst="roundRect">
            <a:avLst>
              <a:gd name="adj" fmla="val 6339"/>
            </a:avLst>
          </a:prstGeom>
          <a:solidFill>
            <a:schemeClr val="bg1">
              <a:lumMod val="95000"/>
              <a:alpha val="15000"/>
            </a:schemeClr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endParaRPr lang="en-US" sz="1200" dirty="0">
              <a:solidFill>
                <a:schemeClr val="bg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4B60F61-A35B-EE23-D0C2-28C952ACB05C}"/>
              </a:ext>
            </a:extLst>
          </p:cNvPr>
          <p:cNvSpPr/>
          <p:nvPr/>
        </p:nvSpPr>
        <p:spPr>
          <a:xfrm>
            <a:off x="446485" y="2680022"/>
            <a:ext cx="0" cy="1127039"/>
          </a:xfrm>
          <a:prstGeom prst="line">
            <a:avLst/>
          </a:prstGeom>
          <a:noFill/>
          <a:ln w="47625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039FC4B-6547-1D28-0D74-3235BDF9D865}"/>
              </a:ext>
            </a:extLst>
          </p:cNvPr>
          <p:cNvSpPr/>
          <p:nvPr/>
        </p:nvSpPr>
        <p:spPr>
          <a:xfrm>
            <a:off x="607219" y="2780035"/>
            <a:ext cx="579286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spcAft>
                <a:spcPts val="450"/>
              </a:spcAft>
            </a:pPr>
            <a:r>
              <a:rPr lang="en-US" sz="1200" b="1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💡</a:t>
            </a:r>
            <a:r>
              <a:rPr lang="en-US" sz="1200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独創性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DAAAF65-E3B7-E483-0554-5FDCB87465BD}"/>
              </a:ext>
            </a:extLst>
          </p:cNvPr>
          <p:cNvSpPr/>
          <p:nvPr/>
        </p:nvSpPr>
        <p:spPr>
          <a:xfrm>
            <a:off x="607219" y="3077171"/>
            <a:ext cx="5792867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394"/>
              </a:spcBef>
              <a:spcAft>
                <a:spcPts val="394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オリジナル教材ベースのRAG技術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59EBA12-B0B9-9455-8DA4-CE9F4293B41D}"/>
              </a:ext>
            </a:extLst>
          </p:cNvPr>
          <p:cNvSpPr/>
          <p:nvPr/>
        </p:nvSpPr>
        <p:spPr>
          <a:xfrm>
            <a:off x="607219" y="3287130"/>
            <a:ext cx="5792867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394"/>
              </a:spcBef>
              <a:spcAft>
                <a:spcPts val="394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つまずきポイントの可視化機能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D57F93-6066-48AC-4EF0-B69C04F96404}"/>
              </a:ext>
            </a:extLst>
          </p:cNvPr>
          <p:cNvSpPr/>
          <p:nvPr/>
        </p:nvSpPr>
        <p:spPr>
          <a:xfrm>
            <a:off x="607219" y="3497089"/>
            <a:ext cx="5792867" cy="159953"/>
          </a:xfrm>
          <a:prstGeom prst="rect">
            <a:avLst/>
          </a:prstGeom>
          <a:noFill/>
          <a:ln/>
        </p:spPr>
        <p:txBody>
          <a:bodyPr wrap="square" lIns="157163" tIns="0" rIns="0" bIns="0" rtlCol="0" anchor="t"/>
          <a:lstStyle/>
          <a:p>
            <a:pPr>
              <a:lnSpc>
                <a:spcPts val="1260"/>
              </a:lnSpc>
              <a:spcBef>
                <a:spcPts val="394"/>
              </a:spcBef>
              <a:spcAft>
                <a:spcPts val="394"/>
              </a:spcAft>
            </a:pPr>
            <a:r>
              <a:rPr lang="en-US" sz="1200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客観的な教育効果検証（10年分データ活用）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66EBFB-AEB9-4FF9-8A2E-DC902F32518E}"/>
              </a:ext>
            </a:extLst>
          </p:cNvPr>
          <p:cNvSpPr/>
          <p:nvPr/>
        </p:nvSpPr>
        <p:spPr>
          <a:xfrm>
            <a:off x="428625" y="3878498"/>
            <a:ext cx="6000750" cy="342900"/>
          </a:xfrm>
          <a:prstGeom prst="roundRect">
            <a:avLst>
              <a:gd name="adj" fmla="val 20833"/>
            </a:avLst>
          </a:prstGeom>
          <a:solidFill>
            <a:srgbClr val="FFFFFF">
              <a:alpha val="95000"/>
            </a:srgbClr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07E31A5-331E-56C6-AA71-3AC966BA1F50}"/>
              </a:ext>
            </a:extLst>
          </p:cNvPr>
          <p:cNvSpPr/>
          <p:nvPr/>
        </p:nvSpPr>
        <p:spPr>
          <a:xfrm>
            <a:off x="441484" y="3949936"/>
            <a:ext cx="59750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575"/>
              </a:lnSpc>
            </a:pPr>
            <a:r>
              <a:rPr lang="en-US" sz="1200" b="1" dirty="0">
                <a:solidFill>
                  <a:srgbClr val="1976D2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ご清聴ありがとうございました</a:t>
            </a:r>
            <a:endParaRPr lang="en-US" sz="1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82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</TotalTime>
  <Words>325</Words>
  <Application>Microsoft Macintosh PowerPoint</Application>
  <PresentationFormat>ユーザー設定</PresentationFormat>
  <Paragraphs>94</Paragraphs>
  <Slides>11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MS UI Gothic</vt:lpstr>
      <vt:lpstr>Arial</vt:lpstr>
      <vt:lpstr>Calibri</vt:lpstr>
      <vt:lpstr>Calibri Light</vt:lpstr>
      <vt:lpstr>Office 2013 - 2022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橋本　保彦</cp:lastModifiedBy>
  <cp:revision>8</cp:revision>
  <dcterms:created xsi:type="dcterms:W3CDTF">2025-12-31T01:50:45Z</dcterms:created>
  <dcterms:modified xsi:type="dcterms:W3CDTF">2026-01-17T06:04:35Z</dcterms:modified>
</cp:coreProperties>
</file>