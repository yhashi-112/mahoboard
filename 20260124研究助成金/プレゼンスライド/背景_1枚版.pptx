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0"/>
  </p:normalViewPr>
  <p:slideViewPr>
    <p:cSldViewPr snapToGrid="0" snapToObjects="1">
      <p:cViewPr varScale="1">
        <p:scale>
          <a:sx n="81" d="100"/>
          <a:sy n="81" d="100"/>
        </p:scale>
        <p:origin x="93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371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962FF"/>
                </a:solidFill>
              </a:defRPr>
            </a:pPr>
            <a:r>
              <a:t>研究の背景と課題:「魔法の黒板」開発の経緯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3716000" cy="18288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C80000"/>
                </a:solidFill>
              </a:defRPr>
            </a:pPr>
            <a:r>
              <a:t>📊 課題の発見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6400800" cy="640080"/>
          </a:xfrm>
          <a:prstGeom prst="rect">
            <a:avLst/>
          </a:prstGeom>
          <a:solidFill>
            <a:srgbClr val="FFC8C8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rPr dirty="0" err="1">
                <a:solidFill>
                  <a:schemeClr val="tx1"/>
                </a:solidFill>
              </a:rPr>
              <a:t>成績不振の顕在化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2514600"/>
            <a:ext cx="6400800" cy="640080"/>
          </a:xfrm>
          <a:prstGeom prst="rect">
            <a:avLst/>
          </a:prstGeom>
          <a:solidFill>
            <a:srgbClr val="FFDCB4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rPr>
                <a:solidFill>
                  <a:schemeClr val="tx1"/>
                </a:solidFill>
              </a:rPr>
              <a:t>反転講義導入→成績の二極化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291840"/>
            <a:ext cx="6400800" cy="640080"/>
          </a:xfrm>
          <a:prstGeom prst="rect">
            <a:avLst/>
          </a:prstGeom>
          <a:solidFill>
            <a:srgbClr val="C8E6FF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rPr>
                <a:solidFill>
                  <a:schemeClr val="tx1"/>
                </a:solidFill>
              </a:rPr>
              <a:t>学生面談実施→本質的課題発見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4C8"/>
                </a:solidFill>
              </a:defRPr>
            </a:pPr>
            <a:r>
              <a:t>💬 学生の声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572000"/>
            <a:ext cx="6400800" cy="457200"/>
          </a:xfrm>
          <a:prstGeom prst="rect">
            <a:avLst/>
          </a:prstGeom>
          <a:solidFill>
            <a:srgbClr val="FFF5E6"/>
          </a:solidFill>
          <a:ln w="12700">
            <a:solidFill>
              <a:srgbClr val="C8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rPr>
                <a:solidFill>
                  <a:schemeClr val="tx1"/>
                </a:solidFill>
              </a:rPr>
              <a:t>• 先生に聞きにくい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120640"/>
            <a:ext cx="6400800" cy="457200"/>
          </a:xfrm>
          <a:prstGeom prst="rect">
            <a:avLst/>
          </a:prstGeom>
          <a:solidFill>
            <a:srgbClr val="FFF5E6"/>
          </a:solidFill>
          <a:ln w="12700">
            <a:solidFill>
              <a:srgbClr val="C8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rPr>
                <a:solidFill>
                  <a:schemeClr val="tx1"/>
                </a:solidFill>
              </a:rPr>
              <a:t>• 何度も質問して怒られないか不安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669279"/>
            <a:ext cx="6400800" cy="457200"/>
          </a:xfrm>
          <a:prstGeom prst="rect">
            <a:avLst/>
          </a:prstGeom>
          <a:solidFill>
            <a:srgbClr val="FFF5E6"/>
          </a:solidFill>
          <a:ln w="12700">
            <a:solidFill>
              <a:srgbClr val="C8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rPr>
                <a:solidFill>
                  <a:schemeClr val="tx1"/>
                </a:solidFill>
              </a:rPr>
              <a:t>• 疑問が解決できず試験日を迎えた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6217919"/>
            <a:ext cx="6400800" cy="457200"/>
          </a:xfrm>
          <a:prstGeom prst="rect">
            <a:avLst/>
          </a:prstGeom>
          <a:solidFill>
            <a:srgbClr val="FFF5E6"/>
          </a:solidFill>
          <a:ln w="12700">
            <a:solidFill>
              <a:srgbClr val="C8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rPr>
                <a:solidFill>
                  <a:schemeClr val="tx1"/>
                </a:solidFill>
              </a:rPr>
              <a:t>• 夜中に疑問が生じても聞けない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1188720"/>
            <a:ext cx="6858000" cy="2011680"/>
          </a:xfrm>
          <a:prstGeom prst="rect">
            <a:avLst/>
          </a:prstGeom>
          <a:solidFill>
            <a:srgbClr val="FFF0F0"/>
          </a:solidFill>
          <a:ln w="31750"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  <a:defRPr sz="2400" b="1">
                <a:solidFill>
                  <a:srgbClr val="C80000"/>
                </a:solidFill>
              </a:defRPr>
            </a:pPr>
            <a:r>
              <a:rPr dirty="0"/>
              <a:t>⚠️ </a:t>
            </a:r>
            <a:r>
              <a:rPr dirty="0" err="1"/>
              <a:t>教員側の課題認識</a:t>
            </a:r>
            <a:endParaRPr dirty="0"/>
          </a:p>
          <a:p>
            <a:pPr>
              <a:spcBef>
                <a:spcPts val="800"/>
              </a:spcBef>
              <a:defRPr sz="1800" b="1"/>
            </a:pPr>
            <a:r>
              <a:rPr dirty="0"/>
              <a:t>❌ </a:t>
            </a:r>
            <a:r>
              <a:rPr dirty="0" err="1">
                <a:solidFill>
                  <a:srgbClr val="FF0000"/>
                </a:solidFill>
              </a:rPr>
              <a:t>学生が困っていることを把握していない</a:t>
            </a:r>
            <a:endParaRPr dirty="0">
              <a:solidFill>
                <a:srgbClr val="FF0000"/>
              </a:solidFill>
            </a:endParaRPr>
          </a:p>
          <a:p>
            <a:pPr>
              <a:spcBef>
                <a:spcPts val="800"/>
              </a:spcBef>
              <a:defRPr sz="1800" b="1"/>
            </a:pPr>
            <a:r>
              <a:rPr dirty="0">
                <a:solidFill>
                  <a:srgbClr val="FF0000"/>
                </a:solidFill>
              </a:rPr>
              <a:t>❌ </a:t>
            </a:r>
            <a:r>
              <a:rPr dirty="0" err="1">
                <a:solidFill>
                  <a:srgbClr val="FF0000"/>
                </a:solidFill>
              </a:rPr>
              <a:t>学習状況を把握していない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00" y="338328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00"/>
                </a:solidFill>
              </a:defRPr>
            </a:pPr>
            <a:r>
              <a:t>💡 解決策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0" y="3931920"/>
            <a:ext cx="457200" cy="457200"/>
          </a:xfrm>
          <a:prstGeom prst="ellipse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3931920"/>
            <a:ext cx="6309360" cy="457200"/>
          </a:xfrm>
          <a:prstGeom prst="rect">
            <a:avLst/>
          </a:prstGeom>
          <a:solidFill>
            <a:srgbClr val="E6F0FF"/>
          </a:solidFill>
          <a:ln w="19050"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rPr>
                <a:solidFill>
                  <a:schemeClr val="tx1"/>
                </a:solidFill>
              </a:rPr>
              <a:t>24時間質問対応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0" y="4572000"/>
            <a:ext cx="457200" cy="457200"/>
          </a:xfrm>
          <a:prstGeom prst="ellipse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4572000"/>
            <a:ext cx="6309360" cy="457200"/>
          </a:xfrm>
          <a:prstGeom prst="rect">
            <a:avLst/>
          </a:prstGeom>
          <a:solidFill>
            <a:srgbClr val="F0FFF0"/>
          </a:solidFill>
          <a:ln w="19050"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rPr>
                <a:solidFill>
                  <a:schemeClr val="tx1"/>
                </a:solidFill>
              </a:rPr>
              <a:t>心理的安全性の確保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0" y="5212080"/>
            <a:ext cx="457200" cy="457200"/>
          </a:xfrm>
          <a:prstGeom prst="ellipse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③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0" y="5212080"/>
            <a:ext cx="6309360" cy="457200"/>
          </a:xfrm>
          <a:prstGeom prst="rect">
            <a:avLst/>
          </a:prstGeom>
          <a:solidFill>
            <a:srgbClr val="FFF5E6"/>
          </a:solidFill>
          <a:ln w="19050"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rPr>
                <a:solidFill>
                  <a:schemeClr val="tx1"/>
                </a:solidFill>
              </a:rPr>
              <a:t>学習状況の可視化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5852160"/>
            <a:ext cx="6858000" cy="1828800"/>
          </a:xfrm>
          <a:prstGeom prst="rect">
            <a:avLst/>
          </a:prstGeom>
          <a:solidFill>
            <a:srgbClr val="FFFADC"/>
          </a:solidFill>
          <a:ln w="38100">
            <a:solidFill>
              <a:srgbClr val="FF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  <a:defRPr sz="3200" b="1">
                <a:solidFill>
                  <a:srgbClr val="C86400"/>
                </a:solidFill>
              </a:defRPr>
            </a:pPr>
            <a:r>
              <a:t>✨「魔法の黒板」の誕生✨</a:t>
            </a:r>
          </a:p>
          <a:p>
            <a:pPr algn="ctr">
              <a:defRPr sz="2000" b="1">
                <a:solidFill>
                  <a:srgbClr val="2962FF"/>
                </a:solidFill>
              </a:defRPr>
            </a:pPr>
            <a:r>
              <a:t>AI技術を活用した教育支援システム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46</Words>
  <Application>Microsoft Macintosh PowerPoint</Application>
  <PresentationFormat>ユーザー設定</PresentationFormat>
  <Paragraphs>22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橋本　保彦</cp:lastModifiedBy>
  <cp:revision>2</cp:revision>
  <dcterms:created xsi:type="dcterms:W3CDTF">2013-01-27T09:14:16Z</dcterms:created>
  <dcterms:modified xsi:type="dcterms:W3CDTF">2026-02-02T22:59:18Z</dcterms:modified>
  <cp:category/>
</cp:coreProperties>
</file>